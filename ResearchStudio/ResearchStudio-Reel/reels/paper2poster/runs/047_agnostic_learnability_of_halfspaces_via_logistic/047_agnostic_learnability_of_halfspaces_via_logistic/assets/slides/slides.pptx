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b23b6a6ad935143.png"/><Relationship Id="rId3" Type="http://schemas.openxmlformats.org/officeDocument/2006/relationships/image" Target="../media/image_8d18585b0341b087.png"/><Relationship Id="rId4" Type="http://schemas.openxmlformats.org/officeDocument/2006/relationships/image" Target="../media/image_2ef3af8e03b0196a.png"/><Relationship Id="rId5" Type="http://schemas.openxmlformats.org/officeDocument/2006/relationships/image" Target="../media/image_11adc0c1fcd0f6ce.png"/><Relationship Id="rId6" Type="http://schemas.openxmlformats.org/officeDocument/2006/relationships/image" Target="../media/image_c88dcc1fab217ac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95250"/>
            </a:xfrm>
            <a:prstGeom prst="rect">
              <a:avLst/>
            </a:prstGeom>
            <a:solidFill>
              <a:schemeClr val="accent1"/>
            </a:solidFill>
            <a:ln>
              <a:noFill/>
            </a:ln>
          </p:spPr>
        </p:sp>
        <p:sp>
          <p:nvSpPr>
            <p:cNvPr id="4" name="Rectangle 4"/>
            <p:cNvSpPr/>
            <p:nvPr/>
          </p:nvSpPr>
          <p:spPr>
            <a:xfrm>
              <a:off x="0" y="0"/>
              <a:ext cx="4095750" cy="95250"/>
            </a:xfrm>
            <a:prstGeom prst="rect">
              <a:avLst/>
            </a:prstGeom>
            <a:solidFill>
              <a:schemeClr val="accent2"/>
            </a:solidFill>
            <a:ln>
              <a:noFill/>
            </a:ln>
          </p:spPr>
        </p:sp>
      </p:grpSp>
      <p:grpSp>
        <p:nvGrpSpPr>
          <p:cNvPr id="8" name="Group 8"/>
          <p:cNvGrpSpPr/>
          <p:nvPr/>
        </p:nvGrpSpPr>
        <p:grpSpPr>
          <a:xfrm>
            <a:off x="566547" y="666750"/>
            <a:ext cx="4602326" cy="409289"/>
            <a:chOff x="566547" y="666750"/>
            <a:chExt cx="4602326" cy="409289"/>
          </a:xfrm>
        </p:grpSpPr>
        <p:sp>
          <p:nvSpPr>
            <p:cNvPr id="6" name="Rectangle 6"/>
            <p:cNvSpPr/>
            <p:nvPr/>
          </p:nvSpPr>
          <p:spPr>
            <a:xfrm>
              <a:off x="571500" y="666750"/>
              <a:ext cx="438150" cy="38100"/>
            </a:xfrm>
            <a:prstGeom prst="rect">
              <a:avLst/>
            </a:prstGeom>
            <a:solidFill>
              <a:schemeClr val="accent2"/>
            </a:solidFill>
            <a:ln>
              <a:noFill/>
            </a:ln>
          </p:spPr>
        </p:sp>
        <p:sp>
          <p:nvSpPr>
            <p:cNvPr id="7" name="TextBox 7"/>
            <p:cNvSpPr txBox="1"/>
            <p:nvPr/>
          </p:nvSpPr>
          <p:spPr>
            <a:xfrm>
              <a:off x="566547" y="885349"/>
              <a:ext cx="4602326" cy="190690"/>
            </a:xfrm>
            <a:prstGeom prst="rect">
              <a:avLst/>
            </a:prstGeom>
            <a:noFill/>
            <a:ln>
              <a:noFill/>
            </a:ln>
          </p:spPr>
          <p:txBody>
            <a:bodyPr wrap="none" lIns="0" tIns="0" rIns="0" bIns="0" anchor="t" anchorCtr="0">
              <a:spAutoFit/>
            </a:bodyPr>
            <a:lstStyle/>
            <a:p>
              <a:pPr algn="l"/>
              <a:r>
                <a:rPr lang="en-US" sz="980" b="1" spc="188" dirty="0">
                  <a:solidFill>
                    <a:schemeClr val="accent2"/>
                  </a:solidFill>
                  <a:latin typeface="+mn-lt"/>
                  <a:ea typeface="+mn-ea"/>
                  <a:cs typeface="+mn-cs"/>
                </a:rPr>
                <a:t>ICML 2022 · LEARNING THEORY · arXiv:2201.13419</a:t>
              </a:r>
            </a:p>
          </p:txBody>
        </p:sp>
      </p:grpSp>
      <p:grpSp>
        <p:nvGrpSpPr>
          <p:cNvPr id="11" name="Group 11"/>
          <p:cNvGrpSpPr/>
          <p:nvPr/>
        </p:nvGrpSpPr>
        <p:grpSpPr>
          <a:xfrm>
            <a:off x="552450" y="1255395"/>
            <a:ext cx="8193302" cy="1352550"/>
            <a:chOff x="552450" y="1255395"/>
            <a:chExt cx="8193302" cy="1352550"/>
          </a:xfrm>
        </p:grpSpPr>
        <p:sp>
          <p:nvSpPr>
            <p:cNvPr id="9" name="TextBox 9"/>
            <p:cNvSpPr txBox="1"/>
            <p:nvPr/>
          </p:nvSpPr>
          <p:spPr>
            <a:xfrm>
              <a:off x="552450" y="1255395"/>
              <a:ext cx="6985790"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mj-lt"/>
                  <a:ea typeface="+mj-ea"/>
                  <a:cs typeface="+mj-cs"/>
                </a:rPr>
                <a:t>Agnostic Learnability of</a:t>
              </a:r>
            </a:p>
          </p:txBody>
        </p:sp>
        <p:sp>
          <p:nvSpPr>
            <p:cNvPr id="10" name="TextBox 10"/>
            <p:cNvSpPr txBox="1"/>
            <p:nvPr/>
          </p:nvSpPr>
          <p:spPr>
            <a:xfrm>
              <a:off x="552450" y="1845945"/>
              <a:ext cx="8193302"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mj-lt"/>
                  <a:ea typeface="+mj-ea"/>
                  <a:cs typeface="+mj-cs"/>
                </a:rPr>
                <a:t xml:space="preserve">Halfspaces via </a:t>
              </a:r>
              <a:r>
                <a:rPr lang="en-US" sz="3900" b="1" dirty="0">
                  <a:solidFill>
                    <a:schemeClr val="accent2"/>
                  </a:solidFill>
                  <a:latin typeface="+mj-lt"/>
                  <a:ea typeface="+mj-ea"/>
                  <a:cs typeface="+mj-cs"/>
                </a:rPr>
                <a:t>Logistic Loss</a:t>
              </a:r>
            </a:p>
          </p:txBody>
        </p:sp>
      </p:grpSp>
      <p:grpSp>
        <p:nvGrpSpPr>
          <p:cNvPr id="15" name="Group 15"/>
          <p:cNvGrpSpPr/>
          <p:nvPr/>
        </p:nvGrpSpPr>
        <p:grpSpPr>
          <a:xfrm>
            <a:off x="564261" y="2647950"/>
            <a:ext cx="7075422" cy="663511"/>
            <a:chOff x="564261" y="2647950"/>
            <a:chExt cx="7075422" cy="663511"/>
          </a:xfrm>
        </p:grpSpPr>
        <p:sp>
          <p:nvSpPr>
            <p:cNvPr id="12" name="Line 12"/>
            <p:cNvSpPr/>
            <p:nvPr/>
          </p:nvSpPr>
          <p:spPr>
            <a:xfrm>
              <a:off x="590550" y="2647950"/>
              <a:ext cx="838200" cy="9525"/>
            </a:xfrm>
            <a:custGeom>
              <a:avLst/>
              <a:gdLst/>
              <a:ahLst/>
              <a:cxnLst/>
              <a:rect l="l" t="t" r="r" b="b"/>
              <a:pathLst>
                <a:path w="838200" h="9525">
                  <a:moveTo>
                    <a:pt x="0" y="0"/>
                  </a:moveTo>
                  <a:lnTo>
                    <a:pt x="838200" y="0"/>
                  </a:lnTo>
                </a:path>
              </a:pathLst>
            </a:custGeom>
            <a:noFill/>
            <a:ln w="14288">
              <a:solidFill>
                <a:schemeClr val="accent1"/>
              </a:solidFill>
            </a:ln>
          </p:spPr>
        </p:sp>
        <p:sp>
          <p:nvSpPr>
            <p:cNvPr id="13" name="TextBox 13"/>
            <p:cNvSpPr txBox="1"/>
            <p:nvPr/>
          </p:nvSpPr>
          <p:spPr>
            <a:xfrm>
              <a:off x="564261" y="2817971"/>
              <a:ext cx="7075422" cy="278702"/>
            </a:xfrm>
            <a:prstGeom prst="rect">
              <a:avLst/>
            </a:prstGeom>
            <a:noFill/>
            <a:ln>
              <a:noFill/>
            </a:ln>
          </p:spPr>
          <p:txBody>
            <a:bodyPr wrap="none" lIns="0" tIns="0" rIns="0" bIns="0" anchor="t" anchorCtr="0">
              <a:spAutoFit/>
            </a:bodyPr>
            <a:lstStyle/>
            <a:p>
              <a:pPr algn="l"/>
              <a:r>
                <a:rPr lang="en-US" sz="1420" i="1" dirty="0">
                  <a:solidFill>
                    <a:schemeClr val="dk1"/>
                  </a:solidFill>
                  <a:latin typeface="+mj-lt"/>
                  <a:ea typeface="+mj-ea"/>
                  <a:cs typeface="+mj-cs"/>
                </a:rPr>
                <a:t>Ziwei Ji · Kwangjun Ahn · Pranjal Awasthi · Satyen Kale · Stefani Karp</a:t>
              </a:r>
            </a:p>
          </p:txBody>
        </p:sp>
        <p:sp>
          <p:nvSpPr>
            <p:cNvPr id="14" name="TextBox 14"/>
            <p:cNvSpPr txBox="1"/>
            <p:nvPr/>
          </p:nvSpPr>
          <p:spPr>
            <a:xfrm>
              <a:off x="566166" y="3106102"/>
              <a:ext cx="39564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UIUC · MIT · Google Research · Carnegie Mellon University</a:t>
              </a:r>
            </a:p>
          </p:txBody>
        </p:sp>
      </p:grpSp>
      <p:grpSp>
        <p:nvGrpSpPr>
          <p:cNvPr id="19" name="Group 19"/>
          <p:cNvGrpSpPr/>
          <p:nvPr/>
        </p:nvGrpSpPr>
        <p:grpSpPr>
          <a:xfrm>
            <a:off x="9315618" y="571500"/>
            <a:ext cx="2571415" cy="2209800"/>
            <a:chOff x="9315618" y="571500"/>
            <a:chExt cx="2571415" cy="2209800"/>
          </a:xfrm>
        </p:grpSpPr>
        <p:sp>
          <p:nvSpPr>
            <p:cNvPr id="16" name="Rectangle 16"/>
            <p:cNvSpPr/>
            <p:nvPr/>
          </p:nvSpPr>
          <p:spPr>
            <a:xfrm>
              <a:off x="9582150" y="571500"/>
              <a:ext cx="2038350" cy="2209800"/>
            </a:xfrm>
            <a:prstGeom prst="roundRect">
              <a:avLst>
                <a:gd name="adj" fmla="val 5607"/>
              </a:avLst>
            </a:prstGeom>
            <a:solidFill>
              <a:schemeClr val="lt2"/>
            </a:solidFill>
            <a:ln w="14288">
              <a:solidFill>
                <a:schemeClr val="accent4"/>
              </a:solidFill>
            </a:ln>
          </p:spPr>
        </p:sp>
        <p:pic>
          <p:nvPicPr>
            <p:cNvPr id="17" name="Image 17"/>
            <p:cNvPicPr>
              <a:picLocks noChangeAspect="1"/>
            </p:cNvPicPr>
            <p:nvPr/>
          </p:nvPicPr>
          <p:blipFill>
            <a:blip r:embed="rId2"/>
            <a:stretch>
              <a:fillRect/>
            </a:stretch>
          </p:blipFill>
          <p:spPr>
            <a:xfrm>
              <a:off x="9696450" y="685800"/>
              <a:ext cx="1809750" cy="1809750"/>
            </a:xfrm>
            <a:prstGeom prst="rect">
              <a:avLst/>
            </a:prstGeom>
          </p:spPr>
        </p:pic>
        <p:sp>
          <p:nvSpPr>
            <p:cNvPr id="18" name="TextBox 18"/>
            <p:cNvSpPr txBox="1"/>
            <p:nvPr/>
          </p:nvSpPr>
          <p:spPr>
            <a:xfrm>
              <a:off x="9315618" y="2588895"/>
              <a:ext cx="2571415" cy="176212"/>
            </a:xfrm>
            <a:prstGeom prst="rect">
              <a:avLst/>
            </a:prstGeom>
            <a:noFill/>
            <a:ln>
              <a:noFill/>
            </a:ln>
          </p:spPr>
          <p:txBody>
            <a:bodyPr wrap="none" lIns="0" tIns="0" rIns="0" bIns="0" anchor="t" anchorCtr="0">
              <a:spAutoFit/>
            </a:bodyPr>
            <a:lstStyle/>
            <a:p>
              <a:pPr algn="ctr"/>
              <a:r>
                <a:rPr lang="en-US" sz="900" b="1" spc="112" dirty="0">
                  <a:solidFill>
                    <a:schemeClr val="accent1"/>
                  </a:solidFill>
                  <a:latin typeface="+mn-lt"/>
                  <a:ea typeface="+mn-ea"/>
                  <a:cs typeface="+mn-cs"/>
                </a:rPr>
                <a:t>SCAN · PAPER · arXiv:2201.13419</a:t>
              </a:r>
            </a:p>
          </p:txBody>
        </p:sp>
      </p:grpSp>
      <p:grpSp>
        <p:nvGrpSpPr>
          <p:cNvPr id="26" name="Group 26"/>
          <p:cNvGrpSpPr/>
          <p:nvPr/>
        </p:nvGrpSpPr>
        <p:grpSpPr>
          <a:xfrm>
            <a:off x="7448550" y="2914650"/>
            <a:ext cx="4171950" cy="704850"/>
            <a:chOff x="7448550" y="2914650"/>
            <a:chExt cx="4171950" cy="704850"/>
          </a:xfrm>
        </p:grpSpPr>
        <p:sp>
          <p:nvSpPr>
            <p:cNvPr id="20" name="Rectangle 20"/>
            <p:cNvSpPr/>
            <p:nvPr/>
          </p:nvSpPr>
          <p:spPr>
            <a:xfrm>
              <a:off x="7448550" y="2914650"/>
              <a:ext cx="4171950" cy="704850"/>
            </a:xfrm>
            <a:prstGeom prst="roundRect">
              <a:avLst>
                <a:gd name="adj" fmla="val 13514"/>
              </a:avLst>
            </a:prstGeom>
            <a:solidFill>
              <a:schemeClr val="lt1"/>
            </a:solidFill>
            <a:ln w="11906">
              <a:solidFill>
                <a:schemeClr val="accent4"/>
              </a:solidFill>
            </a:ln>
          </p:spPr>
        </p:sp>
        <p:sp>
          <p:nvSpPr>
            <p:cNvPr id="21" name="TextBox 21"/>
            <p:cNvSpPr txBox="1"/>
            <p:nvPr/>
          </p:nvSpPr>
          <p:spPr>
            <a:xfrm>
              <a:off x="7634288" y="3035141"/>
              <a:ext cx="925700" cy="161925"/>
            </a:xfrm>
            <a:prstGeom prst="rect">
              <a:avLst/>
            </a:prstGeom>
            <a:noFill/>
            <a:ln>
              <a:noFill/>
            </a:ln>
          </p:spPr>
          <p:txBody>
            <a:bodyPr wrap="none" lIns="0" tIns="0" rIns="0" bIns="0" anchor="t" anchorCtr="0">
              <a:spAutoFit/>
            </a:bodyPr>
            <a:lstStyle/>
            <a:p>
              <a:pPr algn="l"/>
              <a:r>
                <a:rPr lang="en-US" sz="820" b="1" spc="112" dirty="0">
                  <a:solidFill>
                    <a:schemeClr val="dk2"/>
                  </a:solidFill>
                  <a:latin typeface="+mn-lt"/>
                  <a:ea typeface="+mn-ea"/>
                  <a:cs typeface="+mn-cs"/>
                </a:rPr>
                <a:t>INSTITUTIONS</a:t>
              </a:r>
            </a:p>
          </p:txBody>
        </p:sp>
        <p:pic>
          <p:nvPicPr>
            <p:cNvPr id="22" name="Image 22"/>
            <p:cNvPicPr>
              <a:picLocks noChangeAspect="1"/>
            </p:cNvPicPr>
            <p:nvPr/>
          </p:nvPicPr>
          <p:blipFill>
            <a:blip r:embed="rId3"/>
            <a:stretch>
              <a:fillRect/>
            </a:stretch>
          </p:blipFill>
          <p:spPr>
            <a:xfrm>
              <a:off x="7639050" y="3276600"/>
              <a:ext cx="1143000" cy="209550"/>
            </a:xfrm>
            <a:prstGeom prst="rect">
              <a:avLst/>
            </a:prstGeom>
          </p:spPr>
        </p:pic>
        <p:pic>
          <p:nvPicPr>
            <p:cNvPr id="23" name="Image 23"/>
            <p:cNvPicPr>
              <a:picLocks noChangeAspect="1"/>
            </p:cNvPicPr>
            <p:nvPr/>
          </p:nvPicPr>
          <p:blipFill>
            <a:blip r:embed="rId4"/>
            <a:stretch>
              <a:fillRect/>
            </a:stretch>
          </p:blipFill>
          <p:spPr>
            <a:xfrm>
              <a:off x="9010650" y="3264728"/>
              <a:ext cx="438150" cy="233294"/>
            </a:xfrm>
            <a:prstGeom prst="rect">
              <a:avLst/>
            </a:prstGeom>
          </p:spPr>
        </p:pic>
        <p:pic>
          <p:nvPicPr>
            <p:cNvPr id="24" name="Image 24"/>
            <p:cNvPicPr>
              <a:picLocks noChangeAspect="1"/>
            </p:cNvPicPr>
            <p:nvPr/>
          </p:nvPicPr>
          <p:blipFill>
            <a:blip r:embed="rId5"/>
            <a:stretch>
              <a:fillRect/>
            </a:stretch>
          </p:blipFill>
          <p:spPr>
            <a:xfrm>
              <a:off x="9677400" y="3280128"/>
              <a:ext cx="666750" cy="202494"/>
            </a:xfrm>
            <a:prstGeom prst="rect">
              <a:avLst/>
            </a:prstGeom>
          </p:spPr>
        </p:pic>
        <p:pic>
          <p:nvPicPr>
            <p:cNvPr id="25" name="Image 25"/>
            <p:cNvPicPr>
              <a:picLocks noChangeAspect="1"/>
            </p:cNvPicPr>
            <p:nvPr/>
          </p:nvPicPr>
          <p:blipFill>
            <a:blip r:embed="rId6"/>
            <a:stretch>
              <a:fillRect/>
            </a:stretch>
          </p:blipFill>
          <p:spPr>
            <a:xfrm>
              <a:off x="10591800" y="3341359"/>
              <a:ext cx="895350" cy="80031"/>
            </a:xfrm>
            <a:prstGeom prst="rect">
              <a:avLst/>
            </a:prstGeom>
          </p:spPr>
        </p:pic>
      </p:grpSp>
      <p:grpSp>
        <p:nvGrpSpPr>
          <p:cNvPr id="28" name="Group 28"/>
          <p:cNvGrpSpPr/>
          <p:nvPr/>
        </p:nvGrpSpPr>
        <p:grpSpPr>
          <a:xfrm>
            <a:off x="566547" y="3742849"/>
            <a:ext cx="1035592" cy="190690"/>
            <a:chOff x="566547" y="3742849"/>
            <a:chExt cx="1035592" cy="190690"/>
          </a:xfrm>
        </p:grpSpPr>
        <p:sp>
          <p:nvSpPr>
            <p:cNvPr id="27" name="TextBox 27"/>
            <p:cNvSpPr txBox="1"/>
            <p:nvPr/>
          </p:nvSpPr>
          <p:spPr>
            <a:xfrm>
              <a:off x="566547" y="3742849"/>
              <a:ext cx="1035592"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AT A GLANCE</a:t>
              </a:r>
            </a:p>
          </p:txBody>
        </p:sp>
      </p:grpSp>
      <p:grpSp>
        <p:nvGrpSpPr>
          <p:cNvPr id="38" name="Group 38"/>
          <p:cNvGrpSpPr/>
          <p:nvPr/>
        </p:nvGrpSpPr>
        <p:grpSpPr>
          <a:xfrm>
            <a:off x="571500" y="4038600"/>
            <a:ext cx="2571750" cy="2095500"/>
            <a:chOff x="571500" y="4038600"/>
            <a:chExt cx="2571750" cy="2095500"/>
          </a:xfrm>
        </p:grpSpPr>
        <p:sp>
          <p:nvSpPr>
            <p:cNvPr id="29" name="Rectangle 29"/>
            <p:cNvSpPr/>
            <p:nvPr/>
          </p:nvSpPr>
          <p:spPr>
            <a:xfrm>
              <a:off x="571500" y="4038600"/>
              <a:ext cx="2571750" cy="2095500"/>
            </a:xfrm>
            <a:prstGeom prst="roundRect">
              <a:avLst>
                <a:gd name="adj" fmla="val 5455"/>
              </a:avLst>
            </a:prstGeom>
            <a:solidFill>
              <a:schemeClr val="lt2"/>
            </a:solidFill>
            <a:ln w="14288">
              <a:solidFill>
                <a:schemeClr val="accent4"/>
              </a:solidFill>
            </a:ln>
            <a:effectLst>
              <a:outerShdw blurRad="76200" dist="19050" dir="5400000" algn="ctr" rotWithShape="0">
                <a:srgbClr val="12233B">
                  <a:alpha val="5250"/>
                </a:srgbClr>
              </a:outerShdw>
            </a:effectLst>
          </p:spPr>
        </p:sp>
        <p:sp>
          <p:nvSpPr>
            <p:cNvPr id="30" name="Rectangle 30"/>
            <p:cNvSpPr/>
            <p:nvPr/>
          </p:nvSpPr>
          <p:spPr>
            <a:xfrm>
              <a:off x="571500" y="4038600"/>
              <a:ext cx="2571750" cy="57150"/>
            </a:xfrm>
            <a:prstGeom prst="roundRect">
              <a:avLst>
                <a:gd name="adj" fmla="val 50000"/>
              </a:avLst>
            </a:prstGeom>
            <a:solidFill>
              <a:schemeClr val="accent2"/>
            </a:solidFill>
            <a:ln>
              <a:noFill/>
            </a:ln>
          </p:spPr>
        </p:sp>
        <p:sp>
          <p:nvSpPr>
            <p:cNvPr id="31" name="TextBox 31"/>
            <p:cNvSpPr txBox="1"/>
            <p:nvPr/>
          </p:nvSpPr>
          <p:spPr>
            <a:xfrm>
              <a:off x="776288" y="4303395"/>
              <a:ext cx="105847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QUESTION</a:t>
              </a:r>
            </a:p>
          </p:txBody>
        </p:sp>
        <p:sp>
          <p:nvSpPr>
            <p:cNvPr id="32" name="TextBox 32"/>
            <p:cNvSpPr txBox="1"/>
            <p:nvPr/>
          </p:nvSpPr>
          <p:spPr>
            <a:xfrm>
              <a:off x="774192" y="4559618"/>
              <a:ext cx="166164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How good is plain</a:t>
              </a:r>
            </a:p>
          </p:txBody>
        </p:sp>
        <p:sp>
          <p:nvSpPr>
            <p:cNvPr id="33" name="TextBox 33"/>
            <p:cNvSpPr txBox="1"/>
            <p:nvPr/>
          </p:nvSpPr>
          <p:spPr>
            <a:xfrm>
              <a:off x="774192" y="4788218"/>
              <a:ext cx="197956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logistic regression?</a:t>
              </a:r>
            </a:p>
          </p:txBody>
        </p:sp>
        <p:sp>
          <p:nvSpPr>
            <p:cNvPr id="34" name="TextBox 34"/>
            <p:cNvSpPr txBox="1"/>
            <p:nvPr/>
          </p:nvSpPr>
          <p:spPr>
            <a:xfrm>
              <a:off x="775716" y="5125402"/>
              <a:ext cx="16904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Learn a halfspace whose</a:t>
              </a:r>
            </a:p>
          </p:txBody>
        </p:sp>
        <p:sp>
          <p:nvSpPr>
            <p:cNvPr id="35" name="TextBox 35"/>
            <p:cNvSpPr txBox="1"/>
            <p:nvPr/>
          </p:nvSpPr>
          <p:spPr>
            <a:xfrm>
              <a:off x="775716" y="5315902"/>
              <a:ext cx="18987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error is close to OPT, with</a:t>
              </a:r>
            </a:p>
          </p:txBody>
        </p:sp>
        <p:sp>
          <p:nvSpPr>
            <p:cNvPr id="36" name="TextBox 36"/>
            <p:cNvSpPr txBox="1"/>
            <p:nvPr/>
          </p:nvSpPr>
          <p:spPr>
            <a:xfrm>
              <a:off x="775716" y="5506402"/>
              <a:ext cx="166447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 adversary flipping an</a:t>
              </a:r>
            </a:p>
          </p:txBody>
        </p:sp>
        <p:sp>
          <p:nvSpPr>
            <p:cNvPr id="37" name="TextBox 37"/>
            <p:cNvSpPr txBox="1"/>
            <p:nvPr/>
          </p:nvSpPr>
          <p:spPr>
            <a:xfrm>
              <a:off x="775716" y="5696902"/>
              <a:ext cx="16293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OPT fraction of labels.</a:t>
              </a:r>
            </a:p>
          </p:txBody>
        </p:sp>
      </p:grpSp>
      <p:grpSp>
        <p:nvGrpSpPr>
          <p:cNvPr id="48" name="Group 48"/>
          <p:cNvGrpSpPr/>
          <p:nvPr/>
        </p:nvGrpSpPr>
        <p:grpSpPr>
          <a:xfrm>
            <a:off x="3400425" y="4038600"/>
            <a:ext cx="2571750" cy="2095500"/>
            <a:chOff x="3400425" y="4038600"/>
            <a:chExt cx="2571750" cy="2095500"/>
          </a:xfrm>
        </p:grpSpPr>
        <p:sp>
          <p:nvSpPr>
            <p:cNvPr id="39" name="Rectangle 39"/>
            <p:cNvSpPr/>
            <p:nvPr/>
          </p:nvSpPr>
          <p:spPr>
            <a:xfrm>
              <a:off x="3400425" y="4038600"/>
              <a:ext cx="2571750" cy="2095500"/>
            </a:xfrm>
            <a:prstGeom prst="roundRect">
              <a:avLst>
                <a:gd name="adj" fmla="val 5455"/>
              </a:avLst>
            </a:prstGeom>
            <a:solidFill>
              <a:schemeClr val="lt2"/>
            </a:solidFill>
            <a:ln w="14288">
              <a:solidFill>
                <a:schemeClr val="accent4"/>
              </a:solidFill>
            </a:ln>
            <a:effectLst>
              <a:outerShdw blurRad="76200" dist="19050" dir="5400000" algn="ctr" rotWithShape="0">
                <a:srgbClr val="12233B">
                  <a:alpha val="5250"/>
                </a:srgbClr>
              </a:outerShdw>
            </a:effectLst>
          </p:spPr>
        </p:sp>
        <p:sp>
          <p:nvSpPr>
            <p:cNvPr id="40" name="Rectangle 40"/>
            <p:cNvSpPr/>
            <p:nvPr/>
          </p:nvSpPr>
          <p:spPr>
            <a:xfrm>
              <a:off x="3400425" y="4038600"/>
              <a:ext cx="2571750" cy="57150"/>
            </a:xfrm>
            <a:prstGeom prst="roundRect">
              <a:avLst>
                <a:gd name="adj" fmla="val 50000"/>
              </a:avLst>
            </a:prstGeom>
            <a:solidFill>
              <a:schemeClr val="accent3"/>
            </a:solidFill>
            <a:ln>
              <a:noFill/>
            </a:ln>
          </p:spPr>
        </p:sp>
        <p:sp>
          <p:nvSpPr>
            <p:cNvPr id="41" name="TextBox 41"/>
            <p:cNvSpPr txBox="1"/>
            <p:nvPr/>
          </p:nvSpPr>
          <p:spPr>
            <a:xfrm>
              <a:off x="3605212" y="4303395"/>
              <a:ext cx="589011"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GAP</a:t>
              </a:r>
            </a:p>
          </p:txBody>
        </p:sp>
        <p:sp>
          <p:nvSpPr>
            <p:cNvPr id="42" name="TextBox 42"/>
            <p:cNvSpPr txBox="1"/>
            <p:nvPr/>
          </p:nvSpPr>
          <p:spPr>
            <a:xfrm>
              <a:off x="3604641" y="4611052"/>
              <a:ext cx="165522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Lower bound (all convex</a:t>
              </a:r>
            </a:p>
          </p:txBody>
        </p:sp>
        <p:sp>
          <p:nvSpPr>
            <p:cNvPr id="43" name="TextBox 43"/>
            <p:cNvSpPr txBox="1"/>
            <p:nvPr/>
          </p:nvSpPr>
          <p:spPr>
            <a:xfrm>
              <a:off x="3604641" y="4801552"/>
              <a:ext cx="9435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surrogates):</a:t>
              </a:r>
            </a:p>
          </p:txBody>
        </p:sp>
        <p:sp>
          <p:nvSpPr>
            <p:cNvPr id="44" name="TextBox 44"/>
            <p:cNvSpPr txBox="1"/>
            <p:nvPr/>
          </p:nvSpPr>
          <p:spPr>
            <a:xfrm>
              <a:off x="3602736" y="5027771"/>
              <a:ext cx="75675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Consolas"/>
                  <a:ea typeface="Consolas"/>
                  <a:cs typeface="Consolas"/>
                </a:rPr>
                <a:t>Ω̃(OPT)</a:t>
              </a:r>
            </a:p>
          </p:txBody>
        </p:sp>
        <p:sp>
          <p:nvSpPr>
            <p:cNvPr id="45" name="TextBox 45"/>
            <p:cNvSpPr txBox="1"/>
            <p:nvPr/>
          </p:nvSpPr>
          <p:spPr>
            <a:xfrm>
              <a:off x="3604641" y="5392102"/>
              <a:ext cx="147116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Upper bound (logistic</a:t>
              </a:r>
            </a:p>
          </p:txBody>
        </p:sp>
        <p:sp>
          <p:nvSpPr>
            <p:cNvPr id="46" name="TextBox 46"/>
            <p:cNvSpPr txBox="1"/>
            <p:nvPr/>
          </p:nvSpPr>
          <p:spPr>
            <a:xfrm>
              <a:off x="3604641" y="5582602"/>
              <a:ext cx="90824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regression):</a:t>
              </a:r>
            </a:p>
          </p:txBody>
        </p:sp>
        <p:sp>
          <p:nvSpPr>
            <p:cNvPr id="47" name="TextBox 47"/>
            <p:cNvSpPr txBox="1"/>
            <p:nvPr/>
          </p:nvSpPr>
          <p:spPr>
            <a:xfrm>
              <a:off x="3602736" y="5808821"/>
              <a:ext cx="87340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Consolas"/>
                  <a:ea typeface="Consolas"/>
                  <a:cs typeface="Consolas"/>
                </a:rPr>
                <a:t>Õ(√OPT)</a:t>
              </a:r>
            </a:p>
          </p:txBody>
        </p:sp>
      </p:grpSp>
      <p:grpSp>
        <p:nvGrpSpPr>
          <p:cNvPr id="59" name="Group 59"/>
          <p:cNvGrpSpPr/>
          <p:nvPr/>
        </p:nvGrpSpPr>
        <p:grpSpPr>
          <a:xfrm>
            <a:off x="6229350" y="4038600"/>
            <a:ext cx="2571750" cy="2095500"/>
            <a:chOff x="6229350" y="4038600"/>
            <a:chExt cx="2571750" cy="2095500"/>
          </a:xfrm>
        </p:grpSpPr>
        <p:sp>
          <p:nvSpPr>
            <p:cNvPr id="49" name="Rectangle 49"/>
            <p:cNvSpPr/>
            <p:nvPr/>
          </p:nvSpPr>
          <p:spPr>
            <a:xfrm>
              <a:off x="6229350" y="4038600"/>
              <a:ext cx="2571750" cy="2095500"/>
            </a:xfrm>
            <a:prstGeom prst="roundRect">
              <a:avLst>
                <a:gd name="adj" fmla="val 5455"/>
              </a:avLst>
            </a:prstGeom>
            <a:solidFill>
              <a:schemeClr val="lt2"/>
            </a:solidFill>
            <a:ln w="14288">
              <a:solidFill>
                <a:schemeClr val="accent4"/>
              </a:solidFill>
            </a:ln>
            <a:effectLst>
              <a:outerShdw blurRad="76200" dist="19050" dir="5400000" algn="ctr" rotWithShape="0">
                <a:srgbClr val="12233B">
                  <a:alpha val="5250"/>
                </a:srgbClr>
              </a:outerShdw>
            </a:effectLst>
          </p:spPr>
        </p:sp>
        <p:sp>
          <p:nvSpPr>
            <p:cNvPr id="50" name="Rectangle 50"/>
            <p:cNvSpPr/>
            <p:nvPr/>
          </p:nvSpPr>
          <p:spPr>
            <a:xfrm>
              <a:off x="6229350" y="4038600"/>
              <a:ext cx="2571750" cy="57150"/>
            </a:xfrm>
            <a:prstGeom prst="roundRect">
              <a:avLst>
                <a:gd name="adj" fmla="val 50000"/>
              </a:avLst>
            </a:prstGeom>
            <a:solidFill>
              <a:schemeClr val="accent2"/>
            </a:solidFill>
            <a:ln>
              <a:noFill/>
            </a:ln>
          </p:spPr>
        </p:sp>
        <p:sp>
          <p:nvSpPr>
            <p:cNvPr id="51" name="TextBox 51"/>
            <p:cNvSpPr txBox="1"/>
            <p:nvPr/>
          </p:nvSpPr>
          <p:spPr>
            <a:xfrm>
              <a:off x="6434138" y="4303395"/>
              <a:ext cx="88547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GAP CLOSED</a:t>
              </a:r>
            </a:p>
          </p:txBody>
        </p:sp>
        <p:sp>
          <p:nvSpPr>
            <p:cNvPr id="52" name="TextBox 52"/>
            <p:cNvSpPr txBox="1"/>
            <p:nvPr/>
          </p:nvSpPr>
          <p:spPr>
            <a:xfrm>
              <a:off x="6433566" y="4592002"/>
              <a:ext cx="189507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 well-behaved distribution</a:t>
              </a:r>
            </a:p>
          </p:txBody>
        </p:sp>
        <p:sp>
          <p:nvSpPr>
            <p:cNvPr id="53" name="TextBox 53"/>
            <p:cNvSpPr txBox="1"/>
            <p:nvPr/>
          </p:nvSpPr>
          <p:spPr>
            <a:xfrm>
              <a:off x="6433566" y="4782502"/>
              <a:ext cx="200371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forces the logistic minimizer</a:t>
              </a:r>
            </a:p>
          </p:txBody>
        </p:sp>
        <p:sp>
          <p:nvSpPr>
            <p:cNvPr id="54" name="TextBox 54"/>
            <p:cNvSpPr txBox="1"/>
            <p:nvPr/>
          </p:nvSpPr>
          <p:spPr>
            <a:xfrm>
              <a:off x="6433566" y="4973002"/>
              <a:ext cx="159027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 √OPT error — tight.</a:t>
              </a:r>
            </a:p>
          </p:txBody>
        </p:sp>
        <p:sp>
          <p:nvSpPr>
            <p:cNvPr id="55" name="TextBox 55"/>
            <p:cNvSpPr txBox="1"/>
            <p:nvPr/>
          </p:nvSpPr>
          <p:spPr>
            <a:xfrm>
              <a:off x="6433566" y="5315902"/>
              <a:ext cx="170850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Add radial-Lipschitzness</a:t>
              </a:r>
            </a:p>
          </p:txBody>
        </p:sp>
        <p:sp>
          <p:nvSpPr>
            <p:cNvPr id="56" name="TextBox 56"/>
            <p:cNvSpPr txBox="1"/>
            <p:nvPr/>
          </p:nvSpPr>
          <p:spPr>
            <a:xfrm>
              <a:off x="6433566" y="5506402"/>
              <a:ext cx="158673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and logistic regression</a:t>
              </a:r>
            </a:p>
          </p:txBody>
        </p:sp>
        <p:sp>
          <p:nvSpPr>
            <p:cNvPr id="57" name="TextBox 57"/>
            <p:cNvSpPr txBox="1"/>
            <p:nvPr/>
          </p:nvSpPr>
          <p:spPr>
            <a:xfrm>
              <a:off x="6433566" y="5696902"/>
              <a:ext cx="148778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reaches near-optimal</a:t>
              </a:r>
            </a:p>
          </p:txBody>
        </p:sp>
        <p:sp>
          <p:nvSpPr>
            <p:cNvPr id="58" name="TextBox 58"/>
            <p:cNvSpPr txBox="1"/>
            <p:nvPr/>
          </p:nvSpPr>
          <p:spPr>
            <a:xfrm>
              <a:off x="6433185" y="5879306"/>
              <a:ext cx="1163730"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Consolas"/>
                  <a:ea typeface="Consolas"/>
                  <a:cs typeface="Consolas"/>
                </a:rPr>
                <a:t>Õ(OPT) error.</a:t>
              </a:r>
            </a:p>
          </p:txBody>
        </p:sp>
      </p:grpSp>
      <p:grpSp>
        <p:nvGrpSpPr>
          <p:cNvPr id="69" name="Group 69"/>
          <p:cNvGrpSpPr/>
          <p:nvPr/>
        </p:nvGrpSpPr>
        <p:grpSpPr>
          <a:xfrm>
            <a:off x="9058275" y="4038600"/>
            <a:ext cx="2562225" cy="2095500"/>
            <a:chOff x="9058275" y="4038600"/>
            <a:chExt cx="2562225" cy="2095500"/>
          </a:xfrm>
        </p:grpSpPr>
        <p:sp>
          <p:nvSpPr>
            <p:cNvPr id="60" name="Rectangle 60"/>
            <p:cNvSpPr/>
            <p:nvPr/>
          </p:nvSpPr>
          <p:spPr>
            <a:xfrm>
              <a:off x="9058275" y="4038600"/>
              <a:ext cx="2562225" cy="2095500"/>
            </a:xfrm>
            <a:prstGeom prst="roundRect">
              <a:avLst>
                <a:gd name="adj" fmla="val 5455"/>
              </a:avLst>
            </a:prstGeom>
            <a:solidFill>
              <a:schemeClr val="accent1"/>
            </a:solidFill>
            <a:ln w="14288">
              <a:solidFill>
                <a:schemeClr val="accent1"/>
              </a:solidFill>
            </a:ln>
            <a:effectLst>
              <a:outerShdw blurRad="76200" dist="19050" dir="5400000" algn="ctr" rotWithShape="0">
                <a:srgbClr val="12233B">
                  <a:alpha val="5250"/>
                </a:srgbClr>
              </a:outerShdw>
            </a:effectLst>
          </p:spPr>
        </p:sp>
        <p:sp>
          <p:nvSpPr>
            <p:cNvPr id="61" name="Rectangle 61"/>
            <p:cNvSpPr/>
            <p:nvPr/>
          </p:nvSpPr>
          <p:spPr>
            <a:xfrm>
              <a:off x="9058275" y="4038600"/>
              <a:ext cx="2562225" cy="57150"/>
            </a:xfrm>
            <a:prstGeom prst="roundRect">
              <a:avLst>
                <a:gd name="adj" fmla="val 50000"/>
              </a:avLst>
            </a:prstGeom>
            <a:solidFill>
              <a:schemeClr val="accent5"/>
            </a:solidFill>
            <a:ln>
              <a:noFill/>
            </a:ln>
          </p:spPr>
        </p:sp>
        <p:sp>
          <p:nvSpPr>
            <p:cNvPr id="62" name="TextBox 62"/>
            <p:cNvSpPr txBox="1"/>
            <p:nvPr/>
          </p:nvSpPr>
          <p:spPr>
            <a:xfrm>
              <a:off x="9263062" y="4303395"/>
              <a:ext cx="1144102"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THE SIMPLE FIX</a:t>
              </a:r>
            </a:p>
          </p:txBody>
        </p:sp>
        <p:sp>
          <p:nvSpPr>
            <p:cNvPr id="63" name="TextBox 63"/>
            <p:cNvSpPr txBox="1"/>
            <p:nvPr/>
          </p:nvSpPr>
          <p:spPr>
            <a:xfrm>
              <a:off x="9260967" y="4578668"/>
              <a:ext cx="207580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j-lt"/>
                  <a:ea typeface="+mj-ea"/>
                  <a:cs typeface="+mj-cs"/>
                </a:rPr>
                <a:t>Two-phase algorithm</a:t>
              </a:r>
            </a:p>
          </p:txBody>
        </p:sp>
        <p:sp>
          <p:nvSpPr>
            <p:cNvPr id="64" name="TextBox 64"/>
            <p:cNvSpPr txBox="1"/>
            <p:nvPr/>
          </p:nvSpPr>
          <p:spPr>
            <a:xfrm>
              <a:off x="9262491" y="4915852"/>
              <a:ext cx="1591688"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1 · Logistic regression</a:t>
              </a:r>
            </a:p>
          </p:txBody>
        </p:sp>
        <p:sp>
          <p:nvSpPr>
            <p:cNvPr id="65" name="TextBox 65"/>
            <p:cNvSpPr txBox="1"/>
            <p:nvPr/>
          </p:nvSpPr>
          <p:spPr>
            <a:xfrm>
              <a:off x="9262491" y="5144452"/>
              <a:ext cx="1938769"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2 · Perceptron (hinge) step</a:t>
              </a:r>
            </a:p>
          </p:txBody>
        </p:sp>
        <p:sp>
          <p:nvSpPr>
            <p:cNvPr id="66" name="TextBox 66"/>
            <p:cNvSpPr txBox="1"/>
            <p:nvPr/>
          </p:nvSpPr>
          <p:spPr>
            <a:xfrm>
              <a:off x="9262491" y="5468302"/>
              <a:ext cx="1888388"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Near-optimal error for any</a:t>
              </a:r>
            </a:p>
          </p:txBody>
        </p:sp>
        <p:sp>
          <p:nvSpPr>
            <p:cNvPr id="67" name="TextBox 67"/>
            <p:cNvSpPr txBox="1"/>
            <p:nvPr/>
          </p:nvSpPr>
          <p:spPr>
            <a:xfrm>
              <a:off x="9262491" y="5658802"/>
              <a:ext cx="1890636"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well-behaved distribution —</a:t>
              </a:r>
            </a:p>
          </p:txBody>
        </p:sp>
        <p:sp>
          <p:nvSpPr>
            <p:cNvPr id="68" name="TextBox 68"/>
            <p:cNvSpPr txBox="1"/>
            <p:nvPr/>
          </p:nvSpPr>
          <p:spPr>
            <a:xfrm>
              <a:off x="9262491" y="5849302"/>
              <a:ext cx="1933042"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just one extra convex step.</a:t>
              </a:r>
            </a:p>
          </p:txBody>
        </p:sp>
      </p:grpSp>
      <p:grpSp>
        <p:nvGrpSpPr>
          <p:cNvPr id="73" name="Group 73"/>
          <p:cNvGrpSpPr/>
          <p:nvPr/>
        </p:nvGrpSpPr>
        <p:grpSpPr>
          <a:xfrm>
            <a:off x="571500" y="6521291"/>
            <a:ext cx="11053762" cy="161925"/>
            <a:chOff x="571500" y="6521291"/>
            <a:chExt cx="11053762" cy="161925"/>
          </a:xfrm>
        </p:grpSpPr>
        <p:sp>
          <p:nvSpPr>
            <p:cNvPr id="70" name="Line 70"/>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71" name="TextBox 71"/>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72" name="TextBox 72"/>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01</a:t>
              </a:r>
            </a:p>
          </p:txBody>
        </p:sp>
      </p:grpSp>
      <p:sp>
        <p:nvSpPr>
          <p:cNvPr id="74" name="cue_s01_c1_asks_fundamental_question_learning_t" title="cue_s01_c1_asks_fundamental_question_learning_t" descr="cue_s01_c1_asks_fundamental_question_learning_t This paper asks a fundamental question in learning theory: how well does plain logistic regression solve the problem of agnostically learning halfspaces? A halfspace is a linear classifier, and in the agnostic setting an adversary corrupts an OPT fraction of t"/>
          <p:cNvSpPr/>
          <p:nvPr/>
        </p:nvSpPr>
        <p:spPr>
          <a:xfrm>
            <a:off x="571804" y="4038676"/>
            <a:ext cx="25712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1_c2_prior_work_left_wide_gap" title="cue_s01_c2_prior_work_left_wide_gap" descr="cue_s01_c2_prior_work_left_wide_gap Prior work left a wide gap: a lower bound saying no convex surrogate can beat order OPT, and an upper bound showing logistic regression achieves only order square-root of OPT."/>
          <p:cNvSpPr/>
          <p:nvPr/>
        </p:nvSpPr>
        <p:spPr>
          <a:xfrm>
            <a:off x="3400348" y="4038676"/>
            <a:ext cx="25712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1_c3_authors_close_gap_they_construct" title="cue_s01_c3_authors_close_gap_they_construct" descr="cue_s01_c3_authors_close_gap_they_construct The authors close this gap. They construct a well-behaved distribution on which the global minimizer of the logistic risk provably suffers square-root OPT error, matching the known upper bound exactly. They then show that adding a natural radial-Lipschitzness"/>
          <p:cNvSpPr/>
          <p:nvPr/>
        </p:nvSpPr>
        <p:spPr>
          <a:xfrm>
            <a:off x="6228892" y="4038676"/>
            <a:ext cx="2571292"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ue_s01_c4_finally_they_give_strikingly_simple" title="cue_s01_c4_finally_they_give_strikingly_simple" descr="cue_s01_c4_finally_they_give_strikingly_simple Finally, they give a strikingly simple two-phase algorithm, logistic regression followed by a perceptron step, that attains near-optimal error for any well-behaved distribution, replacing the many rounds of optimization that prior methods required."/>
          <p:cNvSpPr/>
          <p:nvPr/>
        </p:nvSpPr>
        <p:spPr>
          <a:xfrm>
            <a:off x="9058656" y="4038676"/>
            <a:ext cx="2562758"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741664" cy="656939"/>
            <a:chOff x="571500" y="495300"/>
            <a:chExt cx="8741664"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852601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problem: agnostically learning halfspaces</a:t>
              </a:r>
            </a:p>
          </p:txBody>
        </p:sp>
        <p:sp>
          <p:nvSpPr>
            <p:cNvPr id="4" name="TextBox 4"/>
            <p:cNvSpPr txBox="1"/>
            <p:nvPr/>
          </p:nvSpPr>
          <p:spPr>
            <a:xfrm>
              <a:off x="795147" y="961549"/>
              <a:ext cx="472171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A FUNDAMENTAL QUESTION IN LEARNING THEORY</a:t>
              </a:r>
            </a:p>
          </p:txBody>
        </p:sp>
      </p:grpSp>
      <p:grpSp>
        <p:nvGrpSpPr>
          <p:cNvPr id="10" name="Group 10"/>
          <p:cNvGrpSpPr/>
          <p:nvPr/>
        </p:nvGrpSpPr>
        <p:grpSpPr>
          <a:xfrm>
            <a:off x="571500" y="1333500"/>
            <a:ext cx="12084122" cy="590550"/>
            <a:chOff x="571500" y="1333500"/>
            <a:chExt cx="12084122" cy="590550"/>
          </a:xfrm>
        </p:grpSpPr>
        <p:sp>
          <p:nvSpPr>
            <p:cNvPr id="6" name="Rectangle 6"/>
            <p:cNvSpPr/>
            <p:nvPr/>
          </p:nvSpPr>
          <p:spPr>
            <a:xfrm>
              <a:off x="571500" y="1333500"/>
              <a:ext cx="11049000" cy="590550"/>
            </a:xfrm>
            <a:prstGeom prst="roundRect">
              <a:avLst>
                <a:gd name="adj" fmla="val 16129"/>
              </a:avLst>
            </a:prstGeom>
            <a:solidFill>
              <a:schemeClr val="lt2"/>
            </a:solidFill>
            <a:ln w="14288">
              <a:solidFill>
                <a:schemeClr val="accent4"/>
              </a:solidFill>
            </a:ln>
          </p:spPr>
        </p:sp>
        <p:sp>
          <p:nvSpPr>
            <p:cNvPr id="7" name="Rectangle 7"/>
            <p:cNvSpPr/>
            <p:nvPr/>
          </p:nvSpPr>
          <p:spPr>
            <a:xfrm>
              <a:off x="571500" y="1333500"/>
              <a:ext cx="57150" cy="590550"/>
            </a:xfrm>
            <a:prstGeom prst="roundRect">
              <a:avLst>
                <a:gd name="adj" fmla="val 50000"/>
              </a:avLst>
            </a:prstGeom>
            <a:solidFill>
              <a:schemeClr val="accent1"/>
            </a:solidFill>
            <a:ln>
              <a:noFill/>
            </a:ln>
          </p:spPr>
        </p:sp>
        <p:sp>
          <p:nvSpPr>
            <p:cNvPr id="8" name="TextBox 8"/>
            <p:cNvSpPr txBox="1"/>
            <p:nvPr/>
          </p:nvSpPr>
          <p:spPr>
            <a:xfrm>
              <a:off x="814388" y="1503045"/>
              <a:ext cx="91484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SETTING</a:t>
              </a:r>
            </a:p>
          </p:txBody>
        </p:sp>
        <p:sp>
          <p:nvSpPr>
            <p:cNvPr id="9" name="TextBox 9"/>
            <p:cNvSpPr txBox="1"/>
            <p:nvPr/>
          </p:nvSpPr>
          <p:spPr>
            <a:xfrm>
              <a:off x="813054" y="1680210"/>
              <a:ext cx="1184256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Agnostically learning homogeneous halfspaces — a linear classifier w through the origin — is one of the most fundamental problems in machine learning.</a:t>
              </a:r>
            </a:p>
          </p:txBody>
        </p:sp>
      </p:grpSp>
      <p:grpSp>
        <p:nvGrpSpPr>
          <p:cNvPr id="20" name="Group 20"/>
          <p:cNvGrpSpPr/>
          <p:nvPr/>
        </p:nvGrpSpPr>
        <p:grpSpPr>
          <a:xfrm>
            <a:off x="571500" y="2133600"/>
            <a:ext cx="5353050" cy="1905000"/>
            <a:chOff x="571500" y="2133600"/>
            <a:chExt cx="5353050" cy="1905000"/>
          </a:xfrm>
        </p:grpSpPr>
        <p:sp>
          <p:nvSpPr>
            <p:cNvPr id="11" name="Rectangle 11"/>
            <p:cNvSpPr/>
            <p:nvPr/>
          </p:nvSpPr>
          <p:spPr>
            <a:xfrm>
              <a:off x="571500" y="2133600"/>
              <a:ext cx="5353050" cy="1905000"/>
            </a:xfrm>
            <a:prstGeom prst="roundRect">
              <a:avLst>
                <a:gd name="adj" fmla="val 6000"/>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12" name="Rectangle 12"/>
            <p:cNvSpPr/>
            <p:nvPr/>
          </p:nvSpPr>
          <p:spPr>
            <a:xfrm>
              <a:off x="571500" y="2133600"/>
              <a:ext cx="57150" cy="1905000"/>
            </a:xfrm>
            <a:prstGeom prst="roundRect">
              <a:avLst>
                <a:gd name="adj" fmla="val 50000"/>
              </a:avLst>
            </a:prstGeom>
            <a:solidFill>
              <a:schemeClr val="accent2"/>
            </a:solidFill>
            <a:ln>
              <a:noFill/>
            </a:ln>
          </p:spPr>
        </p:sp>
        <p:sp>
          <p:nvSpPr>
            <p:cNvPr id="13" name="TextBox 13"/>
            <p:cNvSpPr txBox="1"/>
            <p:nvPr/>
          </p:nvSpPr>
          <p:spPr>
            <a:xfrm>
              <a:off x="814388" y="2341245"/>
              <a:ext cx="70575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GOAL</a:t>
              </a:r>
            </a:p>
          </p:txBody>
        </p:sp>
        <p:sp>
          <p:nvSpPr>
            <p:cNvPr id="14" name="TextBox 14"/>
            <p:cNvSpPr txBox="1"/>
            <p:nvPr/>
          </p:nvSpPr>
          <p:spPr>
            <a:xfrm>
              <a:off x="813435" y="2602706"/>
              <a:ext cx="279149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Given samples (x, y) from an unknown</a:t>
              </a:r>
            </a:p>
          </p:txBody>
        </p:sp>
        <p:sp>
          <p:nvSpPr>
            <p:cNvPr id="15" name="TextBox 15"/>
            <p:cNvSpPr txBox="1"/>
            <p:nvPr/>
          </p:nvSpPr>
          <p:spPr>
            <a:xfrm>
              <a:off x="813435" y="2812256"/>
              <a:ext cx="336616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distribution over feature–label pairs, output</a:t>
              </a:r>
            </a:p>
          </p:txBody>
        </p:sp>
        <p:sp>
          <p:nvSpPr>
            <p:cNvPr id="16" name="TextBox 16"/>
            <p:cNvSpPr txBox="1"/>
            <p:nvPr/>
          </p:nvSpPr>
          <p:spPr>
            <a:xfrm>
              <a:off x="813435" y="3021806"/>
              <a:ext cx="288368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halfspace with small zero-one error.</a:t>
              </a:r>
            </a:p>
          </p:txBody>
        </p:sp>
        <p:sp>
          <p:nvSpPr>
            <p:cNvPr id="17" name="Rectangle 17"/>
            <p:cNvSpPr/>
            <p:nvPr/>
          </p:nvSpPr>
          <p:spPr>
            <a:xfrm>
              <a:off x="819150" y="3314700"/>
              <a:ext cx="4857750" cy="533400"/>
            </a:xfrm>
            <a:prstGeom prst="roundRect">
              <a:avLst>
                <a:gd name="adj" fmla="val 14286"/>
              </a:avLst>
            </a:prstGeom>
            <a:solidFill>
              <a:schemeClr val="lt2"/>
            </a:solidFill>
            <a:ln w="9525">
              <a:solidFill>
                <a:schemeClr val="accent4"/>
              </a:solidFill>
            </a:ln>
          </p:spPr>
        </p:sp>
        <p:sp>
          <p:nvSpPr>
            <p:cNvPr id="18" name="TextBox 18"/>
            <p:cNvSpPr txBox="1"/>
            <p:nvPr/>
          </p:nvSpPr>
          <p:spPr>
            <a:xfrm>
              <a:off x="984504" y="3413760"/>
              <a:ext cx="3162666"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OPT = min over halfspaces of R₀₋₁(w)</a:t>
              </a:r>
            </a:p>
          </p:txBody>
        </p:sp>
        <p:sp>
          <p:nvSpPr>
            <p:cNvPr id="19" name="TextBox 19"/>
            <p:cNvSpPr txBox="1"/>
            <p:nvPr/>
          </p:nvSpPr>
          <p:spPr>
            <a:xfrm>
              <a:off x="985647" y="3638074"/>
              <a:ext cx="431734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best zero-one error achievable by any homogeneous halfspace.</a:t>
              </a:r>
            </a:p>
          </p:txBody>
        </p:sp>
      </p:grpSp>
      <p:grpSp>
        <p:nvGrpSpPr>
          <p:cNvPr id="45" name="Group 45"/>
          <p:cNvGrpSpPr/>
          <p:nvPr/>
        </p:nvGrpSpPr>
        <p:grpSpPr>
          <a:xfrm>
            <a:off x="6267450" y="2133600"/>
            <a:ext cx="6367404" cy="1905000"/>
            <a:chOff x="6267450" y="2133600"/>
            <a:chExt cx="6367404" cy="1905000"/>
          </a:xfrm>
        </p:grpSpPr>
        <p:sp>
          <p:nvSpPr>
            <p:cNvPr id="21" name="Rectangle 21"/>
            <p:cNvSpPr/>
            <p:nvPr/>
          </p:nvSpPr>
          <p:spPr>
            <a:xfrm>
              <a:off x="6267450" y="2133600"/>
              <a:ext cx="5353050" cy="1905000"/>
            </a:xfrm>
            <a:prstGeom prst="roundRect">
              <a:avLst>
                <a:gd name="adj" fmla="val 6000"/>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22" name="TextBox 22"/>
            <p:cNvSpPr txBox="1"/>
            <p:nvPr/>
          </p:nvSpPr>
          <p:spPr>
            <a:xfrm>
              <a:off x="6510338" y="2341245"/>
              <a:ext cx="3732373"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EQUIVALENTLY — AN ADVERSARY FLIPS OPT LABELS</a:t>
              </a:r>
            </a:p>
          </p:txBody>
        </p:sp>
        <p:sp>
          <p:nvSpPr>
            <p:cNvPr id="23" name="Line 23"/>
            <p:cNvSpPr/>
            <p:nvPr/>
          </p:nvSpPr>
          <p:spPr>
            <a:xfrm>
              <a:off x="8915400" y="2571750"/>
              <a:ext cx="2038350" cy="819150"/>
            </a:xfrm>
            <a:custGeom>
              <a:avLst/>
              <a:gdLst/>
              <a:ahLst/>
              <a:cxnLst/>
              <a:rect l="l" t="t" r="r" b="b"/>
              <a:pathLst>
                <a:path w="2038350" h="819150">
                  <a:moveTo>
                    <a:pt x="0" y="0"/>
                  </a:moveTo>
                  <a:lnTo>
                    <a:pt x="2038350" y="819150"/>
                  </a:lnTo>
                </a:path>
              </a:pathLst>
            </a:custGeom>
            <a:noFill/>
            <a:ln w="19050">
              <a:solidFill>
                <a:schemeClr val="accent1"/>
              </a:solidFill>
            </a:ln>
          </p:spPr>
        </p:sp>
        <p:sp>
          <p:nvSpPr>
            <p:cNvPr id="24" name="TextBox 24"/>
            <p:cNvSpPr txBox="1"/>
            <p:nvPr/>
          </p:nvSpPr>
          <p:spPr>
            <a:xfrm>
              <a:off x="11006138" y="3255645"/>
              <a:ext cx="36694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wᵀx=0</a:t>
              </a:r>
            </a:p>
          </p:txBody>
        </p:sp>
        <p:grpSp>
          <p:nvGrpSpPr>
            <p:cNvPr id="31" name="Group 31"/>
            <p:cNvGrpSpPr/>
            <p:nvPr/>
          </p:nvGrpSpPr>
          <p:grpSpPr>
            <a:xfrm>
              <a:off x="9563100" y="2724150"/>
              <a:ext cx="1257300" cy="609600"/>
              <a:chOff x="9563100" y="2724150"/>
              <a:chExt cx="1257300" cy="609600"/>
            </a:xfrm>
          </p:grpSpPr>
          <p:sp>
            <p:nvSpPr>
              <p:cNvPr id="25" name="Ellipse 25"/>
              <p:cNvSpPr/>
              <p:nvPr/>
            </p:nvSpPr>
            <p:spPr>
              <a:xfrm>
                <a:off x="9563100" y="2724150"/>
                <a:ext cx="114300" cy="114300"/>
              </a:xfrm>
              <a:prstGeom prst="ellipse">
                <a:avLst/>
              </a:prstGeom>
              <a:solidFill>
                <a:schemeClr val="accent2"/>
              </a:solidFill>
              <a:ln>
                <a:noFill/>
              </a:ln>
            </p:spPr>
          </p:sp>
          <p:sp>
            <p:nvSpPr>
              <p:cNvPr id="26" name="Ellipse 26"/>
              <p:cNvSpPr/>
              <p:nvPr/>
            </p:nvSpPr>
            <p:spPr>
              <a:xfrm>
                <a:off x="9944100" y="2895600"/>
                <a:ext cx="114300" cy="114300"/>
              </a:xfrm>
              <a:prstGeom prst="ellipse">
                <a:avLst/>
              </a:prstGeom>
              <a:solidFill>
                <a:schemeClr val="accent2"/>
              </a:solidFill>
              <a:ln>
                <a:noFill/>
              </a:ln>
            </p:spPr>
          </p:sp>
          <p:sp>
            <p:nvSpPr>
              <p:cNvPr id="27" name="Ellipse 27"/>
              <p:cNvSpPr/>
              <p:nvPr/>
            </p:nvSpPr>
            <p:spPr>
              <a:xfrm>
                <a:off x="10306050" y="2800350"/>
                <a:ext cx="114300" cy="114300"/>
              </a:xfrm>
              <a:prstGeom prst="ellipse">
                <a:avLst/>
              </a:prstGeom>
              <a:solidFill>
                <a:schemeClr val="accent2"/>
              </a:solidFill>
              <a:ln>
                <a:noFill/>
              </a:ln>
            </p:spPr>
          </p:sp>
          <p:sp>
            <p:nvSpPr>
              <p:cNvPr id="28" name="Ellipse 28"/>
              <p:cNvSpPr/>
              <p:nvPr/>
            </p:nvSpPr>
            <p:spPr>
              <a:xfrm>
                <a:off x="10496550" y="3105150"/>
                <a:ext cx="114300" cy="114300"/>
              </a:xfrm>
              <a:prstGeom prst="ellipse">
                <a:avLst/>
              </a:prstGeom>
              <a:solidFill>
                <a:schemeClr val="accent2"/>
              </a:solidFill>
              <a:ln>
                <a:noFill/>
              </a:ln>
            </p:spPr>
          </p:sp>
          <p:sp>
            <p:nvSpPr>
              <p:cNvPr id="29" name="Ellipse 29"/>
              <p:cNvSpPr/>
              <p:nvPr/>
            </p:nvSpPr>
            <p:spPr>
              <a:xfrm>
                <a:off x="10039350" y="3219450"/>
                <a:ext cx="114300" cy="114300"/>
              </a:xfrm>
              <a:prstGeom prst="ellipse">
                <a:avLst/>
              </a:prstGeom>
              <a:solidFill>
                <a:schemeClr val="accent2"/>
              </a:solidFill>
              <a:ln>
                <a:noFill/>
              </a:ln>
            </p:spPr>
          </p:sp>
          <p:sp>
            <p:nvSpPr>
              <p:cNvPr id="30" name="Ellipse 30"/>
              <p:cNvSpPr/>
              <p:nvPr/>
            </p:nvSpPr>
            <p:spPr>
              <a:xfrm>
                <a:off x="10706100" y="2914650"/>
                <a:ext cx="114300" cy="114300"/>
              </a:xfrm>
              <a:prstGeom prst="ellipse">
                <a:avLst/>
              </a:prstGeom>
              <a:solidFill>
                <a:schemeClr val="accent2"/>
              </a:solidFill>
              <a:ln>
                <a:noFill/>
              </a:ln>
            </p:spPr>
          </p:sp>
        </p:grpSp>
        <p:grpSp>
          <p:nvGrpSpPr>
            <p:cNvPr id="38" name="Group 38"/>
            <p:cNvGrpSpPr/>
            <p:nvPr/>
          </p:nvGrpSpPr>
          <p:grpSpPr>
            <a:xfrm>
              <a:off x="8705850" y="3086100"/>
              <a:ext cx="1028700" cy="819150"/>
              <a:chOff x="8705850" y="3086100"/>
              <a:chExt cx="1028700" cy="819150"/>
            </a:xfrm>
          </p:grpSpPr>
          <p:sp>
            <p:nvSpPr>
              <p:cNvPr id="32" name="Ellipse 32"/>
              <p:cNvSpPr/>
              <p:nvPr/>
            </p:nvSpPr>
            <p:spPr>
              <a:xfrm>
                <a:off x="8934450" y="3371850"/>
                <a:ext cx="114300" cy="114300"/>
              </a:xfrm>
              <a:prstGeom prst="ellipse">
                <a:avLst/>
              </a:prstGeom>
              <a:solidFill>
                <a:srgbClr val="94A3B8"/>
              </a:solidFill>
              <a:ln>
                <a:noFill/>
              </a:ln>
            </p:spPr>
          </p:sp>
          <p:sp>
            <p:nvSpPr>
              <p:cNvPr id="33" name="Ellipse 33"/>
              <p:cNvSpPr/>
              <p:nvPr/>
            </p:nvSpPr>
            <p:spPr>
              <a:xfrm>
                <a:off x="9277350" y="3619500"/>
                <a:ext cx="114300" cy="114300"/>
              </a:xfrm>
              <a:prstGeom prst="ellipse">
                <a:avLst/>
              </a:prstGeom>
              <a:solidFill>
                <a:srgbClr val="94A3B8"/>
              </a:solidFill>
              <a:ln>
                <a:noFill/>
              </a:ln>
            </p:spPr>
          </p:sp>
          <p:sp>
            <p:nvSpPr>
              <p:cNvPr id="34" name="Ellipse 34"/>
              <p:cNvSpPr/>
              <p:nvPr/>
            </p:nvSpPr>
            <p:spPr>
              <a:xfrm>
                <a:off x="9620250" y="3505200"/>
                <a:ext cx="114300" cy="114300"/>
              </a:xfrm>
              <a:prstGeom prst="ellipse">
                <a:avLst/>
              </a:prstGeom>
              <a:solidFill>
                <a:srgbClr val="94A3B8"/>
              </a:solidFill>
              <a:ln>
                <a:noFill/>
              </a:ln>
            </p:spPr>
          </p:sp>
          <p:sp>
            <p:nvSpPr>
              <p:cNvPr id="35" name="Ellipse 35"/>
              <p:cNvSpPr/>
              <p:nvPr/>
            </p:nvSpPr>
            <p:spPr>
              <a:xfrm>
                <a:off x="9086850" y="3086100"/>
                <a:ext cx="114300" cy="114300"/>
              </a:xfrm>
              <a:prstGeom prst="ellipse">
                <a:avLst/>
              </a:prstGeom>
              <a:solidFill>
                <a:srgbClr val="94A3B8"/>
              </a:solidFill>
              <a:ln>
                <a:noFill/>
              </a:ln>
            </p:spPr>
          </p:sp>
          <p:sp>
            <p:nvSpPr>
              <p:cNvPr id="36" name="Ellipse 36"/>
              <p:cNvSpPr/>
              <p:nvPr/>
            </p:nvSpPr>
            <p:spPr>
              <a:xfrm>
                <a:off x="9467850" y="3790950"/>
                <a:ext cx="114300" cy="114300"/>
              </a:xfrm>
              <a:prstGeom prst="ellipse">
                <a:avLst/>
              </a:prstGeom>
              <a:solidFill>
                <a:srgbClr val="94A3B8"/>
              </a:solidFill>
              <a:ln>
                <a:noFill/>
              </a:ln>
            </p:spPr>
          </p:sp>
          <p:sp>
            <p:nvSpPr>
              <p:cNvPr id="37" name="Ellipse 37"/>
              <p:cNvSpPr/>
              <p:nvPr/>
            </p:nvSpPr>
            <p:spPr>
              <a:xfrm>
                <a:off x="8705850" y="3676650"/>
                <a:ext cx="114300" cy="114300"/>
              </a:xfrm>
              <a:prstGeom prst="ellipse">
                <a:avLst/>
              </a:prstGeom>
              <a:solidFill>
                <a:srgbClr val="94A3B8"/>
              </a:solidFill>
              <a:ln>
                <a:noFill/>
              </a:ln>
            </p:spPr>
          </p:sp>
        </p:grpSp>
        <p:grpSp>
          <p:nvGrpSpPr>
            <p:cNvPr id="43" name="Group 43"/>
            <p:cNvGrpSpPr/>
            <p:nvPr/>
          </p:nvGrpSpPr>
          <p:grpSpPr>
            <a:xfrm>
              <a:off x="9315450" y="3257550"/>
              <a:ext cx="723900" cy="228600"/>
              <a:chOff x="9315450" y="3257550"/>
              <a:chExt cx="723900" cy="228600"/>
            </a:xfrm>
          </p:grpSpPr>
          <p:sp>
            <p:nvSpPr>
              <p:cNvPr id="39" name="Ellipse 39"/>
              <p:cNvSpPr/>
              <p:nvPr/>
            </p:nvSpPr>
            <p:spPr>
              <a:xfrm>
                <a:off x="9882188" y="3328988"/>
                <a:ext cx="123825" cy="123825"/>
              </a:xfrm>
              <a:prstGeom prst="ellipse">
                <a:avLst/>
              </a:prstGeom>
              <a:solidFill>
                <a:schemeClr val="accent3"/>
              </a:solidFill>
              <a:ln>
                <a:noFill/>
              </a:ln>
            </p:spPr>
          </p:sp>
          <p:sp>
            <p:nvSpPr>
              <p:cNvPr id="40" name="Ellipse 40"/>
              <p:cNvSpPr/>
              <p:nvPr/>
            </p:nvSpPr>
            <p:spPr>
              <a:xfrm>
                <a:off x="9848850" y="3295650"/>
                <a:ext cx="190500" cy="190500"/>
              </a:xfrm>
              <a:prstGeom prst="ellipse">
                <a:avLst/>
              </a:prstGeom>
              <a:noFill/>
              <a:ln w="14288">
                <a:solidFill>
                  <a:schemeClr val="accent3"/>
                </a:solidFill>
              </a:ln>
            </p:spPr>
          </p:sp>
          <p:sp>
            <p:nvSpPr>
              <p:cNvPr id="41" name="Ellipse 41"/>
              <p:cNvSpPr/>
              <p:nvPr/>
            </p:nvSpPr>
            <p:spPr>
              <a:xfrm>
                <a:off x="9348788" y="3290888"/>
                <a:ext cx="123825" cy="123825"/>
              </a:xfrm>
              <a:prstGeom prst="ellipse">
                <a:avLst/>
              </a:prstGeom>
              <a:solidFill>
                <a:schemeClr val="accent3"/>
              </a:solidFill>
              <a:ln>
                <a:noFill/>
              </a:ln>
            </p:spPr>
          </p:sp>
          <p:sp>
            <p:nvSpPr>
              <p:cNvPr id="42" name="Ellipse 42"/>
              <p:cNvSpPr/>
              <p:nvPr/>
            </p:nvSpPr>
            <p:spPr>
              <a:xfrm>
                <a:off x="9315450" y="3257550"/>
                <a:ext cx="190500" cy="190500"/>
              </a:xfrm>
              <a:prstGeom prst="ellipse">
                <a:avLst/>
              </a:prstGeom>
              <a:noFill/>
              <a:ln w="14288">
                <a:solidFill>
                  <a:schemeClr val="accent3"/>
                </a:solidFill>
              </a:ln>
            </p:spPr>
          </p:sp>
        </p:grpSp>
        <p:sp>
          <p:nvSpPr>
            <p:cNvPr id="44" name="TextBox 44"/>
            <p:cNvSpPr txBox="1"/>
            <p:nvPr/>
          </p:nvSpPr>
          <p:spPr>
            <a:xfrm>
              <a:off x="6510147" y="3799999"/>
              <a:ext cx="6124707" cy="190690"/>
            </a:xfrm>
            <a:prstGeom prst="rect">
              <a:avLst/>
            </a:prstGeom>
            <a:noFill/>
            <a:ln>
              <a:noFill/>
            </a:ln>
          </p:spPr>
          <p:txBody>
            <a:bodyPr wrap="none" lIns="0" tIns="0" rIns="0" bIns="0" anchor="t" anchorCtr="0">
              <a:spAutoFit/>
            </a:bodyPr>
            <a:lstStyle/>
            <a:p>
              <a:pPr algn="l"/>
              <a:r>
                <a:rPr lang="en-US" sz="980" b="1" dirty="0">
                  <a:solidFill>
                    <a:schemeClr val="accent3"/>
                  </a:solidFill>
                  <a:latin typeface="+mn-lt"/>
                  <a:ea typeface="+mn-ea"/>
                  <a:cs typeface="+mn-cs"/>
                </a:rPr>
                <a:t>Red</a:t>
              </a:r>
              <a:r>
                <a:rPr lang="en-US" sz="980" dirty="0">
                  <a:solidFill>
                    <a:schemeClr val="dk1"/>
                  </a:solidFill>
                  <a:latin typeface="+mn-lt"/>
                  <a:ea typeface="+mn-ea"/>
                  <a:cs typeface="+mn-cs"/>
                </a:rPr>
                <a:t xml:space="preserve"> = corrupted labels on the wrong side. Logistic regression is the ubiquitous heuristic here.</a:t>
              </a:r>
            </a:p>
          </p:txBody>
        </p:sp>
      </p:grpSp>
      <p:grpSp>
        <p:nvGrpSpPr>
          <p:cNvPr id="63" name="Group 63"/>
          <p:cNvGrpSpPr/>
          <p:nvPr/>
        </p:nvGrpSpPr>
        <p:grpSpPr>
          <a:xfrm>
            <a:off x="571500" y="4248150"/>
            <a:ext cx="11049000" cy="2019300"/>
            <a:chOff x="571500" y="4248150"/>
            <a:chExt cx="11049000" cy="2019300"/>
          </a:xfrm>
        </p:grpSpPr>
        <p:sp>
          <p:nvSpPr>
            <p:cNvPr id="46" name="Rectangle 46"/>
            <p:cNvSpPr/>
            <p:nvPr/>
          </p:nvSpPr>
          <p:spPr>
            <a:xfrm>
              <a:off x="571500" y="4248150"/>
              <a:ext cx="11049000" cy="2019300"/>
            </a:xfrm>
            <a:prstGeom prst="roundRect">
              <a:avLst>
                <a:gd name="adj" fmla="val 5660"/>
              </a:avLst>
            </a:prstGeom>
            <a:solidFill>
              <a:schemeClr val="lt2"/>
            </a:solidFill>
            <a:ln w="14288">
              <a:solidFill>
                <a:schemeClr val="accent4"/>
              </a:solidFill>
            </a:ln>
          </p:spPr>
        </p:sp>
        <p:sp>
          <p:nvSpPr>
            <p:cNvPr id="47" name="TextBox 47"/>
            <p:cNvSpPr txBox="1"/>
            <p:nvPr/>
          </p:nvSpPr>
          <p:spPr>
            <a:xfrm>
              <a:off x="814197" y="4466749"/>
              <a:ext cx="323864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PRIOR RESULTS LEFT A FRUSTRATING GAP</a:t>
              </a:r>
            </a:p>
          </p:txBody>
        </p:sp>
        <p:sp>
          <p:nvSpPr>
            <p:cNvPr id="48" name="Rectangle 48"/>
            <p:cNvSpPr/>
            <p:nvPr/>
          </p:nvSpPr>
          <p:spPr>
            <a:xfrm>
              <a:off x="819150" y="4743450"/>
              <a:ext cx="3429000" cy="1333500"/>
            </a:xfrm>
            <a:prstGeom prst="roundRect">
              <a:avLst>
                <a:gd name="adj" fmla="val 7143"/>
              </a:avLst>
            </a:prstGeom>
            <a:solidFill>
              <a:schemeClr val="lt1"/>
            </a:solidFill>
            <a:ln w="11906">
              <a:solidFill>
                <a:schemeClr val="accent4"/>
              </a:solidFill>
            </a:ln>
          </p:spPr>
        </p:sp>
        <p:sp>
          <p:nvSpPr>
            <p:cNvPr id="49" name="TextBox 49"/>
            <p:cNvSpPr txBox="1"/>
            <p:nvPr/>
          </p:nvSpPr>
          <p:spPr>
            <a:xfrm>
              <a:off x="1004697" y="4923949"/>
              <a:ext cx="2612131"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Lower bound — every convex surrogate</a:t>
              </a:r>
            </a:p>
          </p:txBody>
        </p:sp>
        <p:sp>
          <p:nvSpPr>
            <p:cNvPr id="50" name="TextBox 50"/>
            <p:cNvSpPr txBox="1"/>
            <p:nvPr/>
          </p:nvSpPr>
          <p:spPr>
            <a:xfrm>
              <a:off x="999744" y="5180648"/>
              <a:ext cx="1039139"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Consolas"/>
                  <a:ea typeface="Consolas"/>
                  <a:cs typeface="Consolas"/>
                </a:rPr>
                <a:t>Ω̃(OPT)</a:t>
              </a:r>
            </a:p>
          </p:txBody>
        </p:sp>
        <p:sp>
          <p:nvSpPr>
            <p:cNvPr id="51" name="TextBox 51"/>
            <p:cNvSpPr txBox="1"/>
            <p:nvPr/>
          </p:nvSpPr>
          <p:spPr>
            <a:xfrm>
              <a:off x="1004697" y="5609749"/>
              <a:ext cx="187668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convex surrogate loss can</a:t>
              </a:r>
            </a:p>
          </p:txBody>
        </p:sp>
        <p:sp>
          <p:nvSpPr>
            <p:cNvPr id="52" name="TextBox 52"/>
            <p:cNvSpPr txBox="1"/>
            <p:nvPr/>
          </p:nvSpPr>
          <p:spPr>
            <a:xfrm>
              <a:off x="1004697" y="5800249"/>
              <a:ext cx="150891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beat order-OPT error.</a:t>
              </a:r>
            </a:p>
          </p:txBody>
        </p:sp>
        <p:sp>
          <p:nvSpPr>
            <p:cNvPr id="53" name="Rectangle 53"/>
            <p:cNvSpPr/>
            <p:nvPr/>
          </p:nvSpPr>
          <p:spPr>
            <a:xfrm>
              <a:off x="4438650" y="4743450"/>
              <a:ext cx="3429000" cy="1333500"/>
            </a:xfrm>
            <a:prstGeom prst="roundRect">
              <a:avLst>
                <a:gd name="adj" fmla="val 7143"/>
              </a:avLst>
            </a:prstGeom>
            <a:solidFill>
              <a:schemeClr val="lt1"/>
            </a:solidFill>
            <a:ln w="11906">
              <a:solidFill>
                <a:schemeClr val="accent4"/>
              </a:solidFill>
            </a:ln>
          </p:spPr>
        </p:sp>
        <p:sp>
          <p:nvSpPr>
            <p:cNvPr id="54" name="TextBox 54"/>
            <p:cNvSpPr txBox="1"/>
            <p:nvPr/>
          </p:nvSpPr>
          <p:spPr>
            <a:xfrm>
              <a:off x="4624197" y="4923949"/>
              <a:ext cx="2251591"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Upper bound — logistic regression</a:t>
              </a:r>
            </a:p>
          </p:txBody>
        </p:sp>
        <p:sp>
          <p:nvSpPr>
            <p:cNvPr id="55" name="TextBox 55"/>
            <p:cNvSpPr txBox="1"/>
            <p:nvPr/>
          </p:nvSpPr>
          <p:spPr>
            <a:xfrm>
              <a:off x="4619244" y="5180648"/>
              <a:ext cx="119931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Consolas"/>
                  <a:ea typeface="Consolas"/>
                  <a:cs typeface="Consolas"/>
                </a:rPr>
                <a:t>Õ(√OPT)</a:t>
              </a:r>
            </a:p>
          </p:txBody>
        </p:sp>
        <p:sp>
          <p:nvSpPr>
            <p:cNvPr id="56" name="TextBox 56"/>
            <p:cNvSpPr txBox="1"/>
            <p:nvPr/>
          </p:nvSpPr>
          <p:spPr>
            <a:xfrm>
              <a:off x="4624197" y="5609749"/>
              <a:ext cx="161282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achieved on well-behaved</a:t>
              </a:r>
            </a:p>
          </p:txBody>
        </p:sp>
        <p:sp>
          <p:nvSpPr>
            <p:cNvPr id="57" name="TextBox 57"/>
            <p:cNvSpPr txBox="1"/>
            <p:nvPr/>
          </p:nvSpPr>
          <p:spPr>
            <a:xfrm>
              <a:off x="4624197" y="5800249"/>
              <a:ext cx="92680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distributions.</a:t>
              </a:r>
            </a:p>
          </p:txBody>
        </p:sp>
        <p:sp>
          <p:nvSpPr>
            <p:cNvPr id="58" name="Rectangle 58"/>
            <p:cNvSpPr/>
            <p:nvPr/>
          </p:nvSpPr>
          <p:spPr>
            <a:xfrm>
              <a:off x="8058150" y="4743450"/>
              <a:ext cx="3352800" cy="1333500"/>
            </a:xfrm>
            <a:prstGeom prst="roundRect">
              <a:avLst>
                <a:gd name="adj" fmla="val 7143"/>
              </a:avLst>
            </a:prstGeom>
            <a:solidFill>
              <a:schemeClr val="accent1"/>
            </a:solidFill>
            <a:ln>
              <a:noFill/>
            </a:ln>
          </p:spPr>
        </p:sp>
        <p:sp>
          <p:nvSpPr>
            <p:cNvPr id="59" name="TextBox 59"/>
            <p:cNvSpPr txBox="1"/>
            <p:nvPr/>
          </p:nvSpPr>
          <p:spPr>
            <a:xfrm>
              <a:off x="8243888" y="4932045"/>
              <a:ext cx="1417914"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CENTRAL QUESTION</a:t>
              </a:r>
            </a:p>
          </p:txBody>
        </p:sp>
        <p:sp>
          <p:nvSpPr>
            <p:cNvPr id="60" name="TextBox 60"/>
            <p:cNvSpPr txBox="1"/>
            <p:nvPr/>
          </p:nvSpPr>
          <p:spPr>
            <a:xfrm>
              <a:off x="8241411" y="5199221"/>
              <a:ext cx="2203445"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j-lt"/>
                  <a:ea typeface="+mj-ea"/>
                  <a:cs typeface="+mj-cs"/>
                </a:rPr>
                <a:t>Which bound reflects</a:t>
              </a:r>
            </a:p>
          </p:txBody>
        </p:sp>
        <p:sp>
          <p:nvSpPr>
            <p:cNvPr id="61" name="TextBox 61"/>
            <p:cNvSpPr txBox="1"/>
            <p:nvPr/>
          </p:nvSpPr>
          <p:spPr>
            <a:xfrm>
              <a:off x="8241411" y="5446871"/>
              <a:ext cx="2262524"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j-lt"/>
                  <a:ea typeface="+mj-ea"/>
                  <a:cs typeface="+mj-cs"/>
                </a:rPr>
                <a:t>the truth for logistic</a:t>
              </a:r>
            </a:p>
          </p:txBody>
        </p:sp>
        <p:sp>
          <p:nvSpPr>
            <p:cNvPr id="62" name="TextBox 62"/>
            <p:cNvSpPr txBox="1"/>
            <p:nvPr/>
          </p:nvSpPr>
          <p:spPr>
            <a:xfrm>
              <a:off x="8241411" y="5694521"/>
              <a:ext cx="1244541"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j-lt"/>
                  <a:ea typeface="+mj-ea"/>
                  <a:cs typeface="+mj-cs"/>
                </a:rPr>
                <a:t>regression?</a:t>
              </a:r>
            </a:p>
          </p:txBody>
        </p:sp>
      </p:grpSp>
      <p:grpSp>
        <p:nvGrpSpPr>
          <p:cNvPr id="67" name="Group 67"/>
          <p:cNvGrpSpPr/>
          <p:nvPr/>
        </p:nvGrpSpPr>
        <p:grpSpPr>
          <a:xfrm>
            <a:off x="571500" y="6521291"/>
            <a:ext cx="11053762" cy="161925"/>
            <a:chOff x="571500" y="6521291"/>
            <a:chExt cx="11053762" cy="161925"/>
          </a:xfrm>
        </p:grpSpPr>
        <p:sp>
          <p:nvSpPr>
            <p:cNvPr id="64" name="Line 64"/>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65" name="TextBox 65"/>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66" name="TextBox 66"/>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02</a:t>
              </a:r>
            </a:p>
          </p:txBody>
        </p:sp>
      </p:grpSp>
      <p:sp>
        <p:nvSpPr>
          <p:cNvPr id="68" name="cue_s02_c1_studies_agnostic_learning_homogeneou" title="cue_s02_c1_studies_agnostic_learning_homogeneou" descr="cue_s02_c1_studies_agnostic_learning_homogeneou The paper studies the agnostic learning of homogeneous halfspaces, one of the most fundamental problems in machine learning."/>
          <p:cNvSpPr/>
          <p:nvPr/>
        </p:nvSpPr>
        <p:spPr>
          <a:xfrm>
            <a:off x="571804" y="1333195"/>
            <a:ext cx="11620195" cy="590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2_c2_given_samples_unknown_distribution_o" title="cue_s02_c2_given_samples_unknown_distribution_o" descr="cue_s02_c2_given_samples_unknown_distribution_o We are given samples from an unknown distribution over feature-label pairs, and we want a linear classifier whose zero-one error is close to OPT, the best error achievable by any homogeneous halfspace."/>
          <p:cNvSpPr/>
          <p:nvPr/>
        </p:nvSpPr>
        <p:spPr>
          <a:xfrm>
            <a:off x="571804" y="2133523"/>
            <a:ext cx="5353507"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2_c3_equivalently_adversary_allowed_flip" title="cue_s02_c3_equivalently_adversary_allowed_flip" descr="cue_s02_c3_equivalently_adversary_allowed_flip Equivalently, an adversary is allowed to flip an OPT fraction of the labels of an otherwise perfectly linearly separable dataset. Logistic regression is the natural, ubiquitous heuristic here, yet its theoretical guarantees for this problem were poorly underst"/>
          <p:cNvSpPr/>
          <p:nvPr/>
        </p:nvSpPr>
        <p:spPr>
          <a:xfrm>
            <a:off x="6267907" y="2133523"/>
            <a:ext cx="5353507"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2_c4_prior_results_left_frustrating_gap" title="cue_s02_c4_prior_results_left_frustrating_gap" descr="cue_s02_c4_prior_results_left_frustrating_gap Prior results left a frustrating gap: a lower bound saying no convex surrogate loss can beat order OPT error, against an upper bound showing logistic regression reaches only order square-root of OPT. The central question is which of these bounds reflects the t"/>
          <p:cNvSpPr/>
          <p:nvPr/>
        </p:nvSpPr>
        <p:spPr>
          <a:xfrm>
            <a:off x="571804" y="4247845"/>
            <a:ext cx="1104839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5509987" cy="656939"/>
            <a:chOff x="571500" y="495300"/>
            <a:chExt cx="5509987"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529434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the exact rate matters</a:t>
              </a:r>
            </a:p>
          </p:txBody>
        </p:sp>
        <p:sp>
          <p:nvSpPr>
            <p:cNvPr id="4" name="TextBox 4"/>
            <p:cNvSpPr txBox="1"/>
            <p:nvPr/>
          </p:nvSpPr>
          <p:spPr>
            <a:xfrm>
              <a:off x="795147" y="961549"/>
              <a:ext cx="522582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A DEFAULT ALGORITHM WITH UNKNOWN GUARANTEES</a:t>
              </a:r>
            </a:p>
          </p:txBody>
        </p:sp>
      </p:grpSp>
      <p:grpSp>
        <p:nvGrpSpPr>
          <p:cNvPr id="10" name="Group 10"/>
          <p:cNvGrpSpPr/>
          <p:nvPr/>
        </p:nvGrpSpPr>
        <p:grpSpPr>
          <a:xfrm>
            <a:off x="571500" y="1333500"/>
            <a:ext cx="11085318" cy="628650"/>
            <a:chOff x="571500" y="1333500"/>
            <a:chExt cx="11085318" cy="628650"/>
          </a:xfrm>
        </p:grpSpPr>
        <p:sp>
          <p:nvSpPr>
            <p:cNvPr id="6" name="Rectangle 6"/>
            <p:cNvSpPr/>
            <p:nvPr/>
          </p:nvSpPr>
          <p:spPr>
            <a:xfrm>
              <a:off x="571500" y="1333500"/>
              <a:ext cx="11049000" cy="628650"/>
            </a:xfrm>
            <a:prstGeom prst="roundRect">
              <a:avLst>
                <a:gd name="adj" fmla="val 15152"/>
              </a:avLst>
            </a:prstGeom>
            <a:solidFill>
              <a:schemeClr val="accent1"/>
            </a:solidFill>
            <a:ln>
              <a:noFill/>
            </a:ln>
          </p:spPr>
        </p:sp>
        <p:sp>
          <p:nvSpPr>
            <p:cNvPr id="7" name="Rectangle 7"/>
            <p:cNvSpPr/>
            <p:nvPr/>
          </p:nvSpPr>
          <p:spPr>
            <a:xfrm>
              <a:off x="571500" y="1333500"/>
              <a:ext cx="57150" cy="628650"/>
            </a:xfrm>
            <a:prstGeom prst="roundRect">
              <a:avLst>
                <a:gd name="adj" fmla="val 50000"/>
              </a:avLst>
            </a:prstGeom>
            <a:solidFill>
              <a:schemeClr val="accent2"/>
            </a:solidFill>
            <a:ln>
              <a:noFill/>
            </a:ln>
          </p:spPr>
        </p:sp>
        <p:sp>
          <p:nvSpPr>
            <p:cNvPr id="8" name="TextBox 8"/>
            <p:cNvSpPr txBox="1"/>
            <p:nvPr/>
          </p:nvSpPr>
          <p:spPr>
            <a:xfrm>
              <a:off x="833438" y="1522095"/>
              <a:ext cx="2597795"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A DEFAULT ALGORITHM IN PRACTICE</a:t>
              </a:r>
            </a:p>
          </p:txBody>
        </p:sp>
        <p:sp>
          <p:nvSpPr>
            <p:cNvPr id="9" name="TextBox 9"/>
            <p:cNvSpPr txBox="1"/>
            <p:nvPr/>
          </p:nvSpPr>
          <p:spPr>
            <a:xfrm>
              <a:off x="832104" y="1718310"/>
              <a:ext cx="10824714"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Logistic regression is arguably the most widely deployed classifier — so understanding its statistical guarantees is not merely academic.</a:t>
              </a:r>
            </a:p>
          </p:txBody>
        </p:sp>
      </p:grpSp>
      <p:grpSp>
        <p:nvGrpSpPr>
          <p:cNvPr id="24" name="Group 24"/>
          <p:cNvGrpSpPr/>
          <p:nvPr/>
        </p:nvGrpSpPr>
        <p:grpSpPr>
          <a:xfrm>
            <a:off x="571500" y="2152650"/>
            <a:ext cx="3552825" cy="3848100"/>
            <a:chOff x="571500" y="2152650"/>
            <a:chExt cx="3552825" cy="3848100"/>
          </a:xfrm>
        </p:grpSpPr>
        <p:sp>
          <p:nvSpPr>
            <p:cNvPr id="11" name="Rectangle 11"/>
            <p:cNvSpPr/>
            <p:nvPr/>
          </p:nvSpPr>
          <p:spPr>
            <a:xfrm>
              <a:off x="571500" y="2152650"/>
              <a:ext cx="3552825" cy="38481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12" name="Rectangle 12"/>
            <p:cNvSpPr/>
            <p:nvPr/>
          </p:nvSpPr>
          <p:spPr>
            <a:xfrm>
              <a:off x="571500" y="2152650"/>
              <a:ext cx="3552825" cy="57150"/>
            </a:xfrm>
            <a:prstGeom prst="roundRect">
              <a:avLst>
                <a:gd name="adj" fmla="val 50000"/>
              </a:avLst>
            </a:prstGeom>
            <a:solidFill>
              <a:schemeClr val="accent3"/>
            </a:solidFill>
            <a:ln>
              <a:noFill/>
            </a:ln>
          </p:spPr>
        </p:sp>
        <p:sp>
          <p:nvSpPr>
            <p:cNvPr id="13" name="TextBox 13"/>
            <p:cNvSpPr txBox="1"/>
            <p:nvPr/>
          </p:nvSpPr>
          <p:spPr>
            <a:xfrm>
              <a:off x="795338" y="2417445"/>
              <a:ext cx="1943633"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WORRY — WORST CASE</a:t>
              </a:r>
            </a:p>
          </p:txBody>
        </p:sp>
        <p:sp>
          <p:nvSpPr>
            <p:cNvPr id="14" name="TextBox 14"/>
            <p:cNvSpPr txBox="1"/>
            <p:nvPr/>
          </p:nvSpPr>
          <p:spPr>
            <a:xfrm>
              <a:off x="794385" y="2717006"/>
              <a:ext cx="181782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On an adversarially built</a:t>
              </a:r>
            </a:p>
          </p:txBody>
        </p:sp>
        <p:sp>
          <p:nvSpPr>
            <p:cNvPr id="15" name="TextBox 15"/>
            <p:cNvSpPr txBox="1"/>
            <p:nvPr/>
          </p:nvSpPr>
          <p:spPr>
            <a:xfrm>
              <a:off x="794385" y="2926556"/>
              <a:ext cx="220519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distribution, the logistic risk</a:t>
              </a:r>
            </a:p>
          </p:txBody>
        </p:sp>
        <p:sp>
          <p:nvSpPr>
            <p:cNvPr id="16" name="TextBox 16"/>
            <p:cNvSpPr txBox="1"/>
            <p:nvPr/>
          </p:nvSpPr>
          <p:spPr>
            <a:xfrm>
              <a:off x="794385" y="3136106"/>
              <a:ext cx="191118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minimizer can be wrong on</a:t>
              </a:r>
            </a:p>
          </p:txBody>
        </p:sp>
        <p:sp>
          <p:nvSpPr>
            <p:cNvPr id="17" name="TextBox 17"/>
            <p:cNvSpPr txBox="1"/>
            <p:nvPr/>
          </p:nvSpPr>
          <p:spPr>
            <a:xfrm>
              <a:off x="794385" y="3345656"/>
              <a:ext cx="166241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almost every example.</a:t>
              </a:r>
            </a:p>
          </p:txBody>
        </p:sp>
        <p:sp>
          <p:nvSpPr>
            <p:cNvPr id="18" name="Rectangle 18"/>
            <p:cNvSpPr/>
            <p:nvPr/>
          </p:nvSpPr>
          <p:spPr>
            <a:xfrm>
              <a:off x="800100" y="3676650"/>
              <a:ext cx="3095625" cy="1143000"/>
            </a:xfrm>
            <a:prstGeom prst="roundRect">
              <a:avLst>
                <a:gd name="adj" fmla="val 8333"/>
              </a:avLst>
            </a:prstGeom>
            <a:solidFill>
              <a:srgbClr val="FEF2F2"/>
            </a:solidFill>
            <a:ln w="11906">
              <a:solidFill>
                <a:srgbClr val="FCA5A5"/>
              </a:solidFill>
            </a:ln>
          </p:spPr>
        </p:sp>
        <p:sp>
          <p:nvSpPr>
            <p:cNvPr id="19" name="TextBox 19"/>
            <p:cNvSpPr txBox="1"/>
            <p:nvPr/>
          </p:nvSpPr>
          <p:spPr>
            <a:xfrm>
              <a:off x="1492084" y="3908108"/>
              <a:ext cx="1702133" cy="616077"/>
            </a:xfrm>
            <a:prstGeom prst="rect">
              <a:avLst/>
            </a:prstGeom>
            <a:noFill/>
            <a:ln>
              <a:noFill/>
            </a:ln>
          </p:spPr>
          <p:txBody>
            <a:bodyPr wrap="none" lIns="0" tIns="0" rIns="0" bIns="0" anchor="t" anchorCtr="0">
              <a:spAutoFit/>
            </a:bodyPr>
            <a:lstStyle/>
            <a:p>
              <a:pPr algn="ctr"/>
              <a:r>
                <a:rPr lang="en-US" sz="3150" b="1" dirty="0">
                  <a:solidFill>
                    <a:schemeClr val="accent3"/>
                  </a:solidFill>
                  <a:latin typeface="Consolas"/>
                  <a:ea typeface="Consolas"/>
                  <a:cs typeface="Consolas"/>
                </a:rPr>
                <a:t>1 − OPT</a:t>
              </a:r>
            </a:p>
          </p:txBody>
        </p:sp>
        <p:sp>
          <p:nvSpPr>
            <p:cNvPr id="20" name="TextBox 20"/>
            <p:cNvSpPr txBox="1"/>
            <p:nvPr/>
          </p:nvSpPr>
          <p:spPr>
            <a:xfrm>
              <a:off x="1262987" y="4466749"/>
              <a:ext cx="216032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zero-one error in the worst case</a:t>
              </a:r>
            </a:p>
          </p:txBody>
        </p:sp>
        <p:sp>
          <p:nvSpPr>
            <p:cNvPr id="21" name="TextBox 21"/>
            <p:cNvSpPr txBox="1"/>
            <p:nvPr/>
          </p:nvSpPr>
          <p:spPr>
            <a:xfrm>
              <a:off x="795147" y="5000149"/>
              <a:ext cx="251509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Ben-David et al. (2012): the pathology</a:t>
              </a:r>
            </a:p>
          </p:txBody>
        </p:sp>
        <p:sp>
          <p:nvSpPr>
            <p:cNvPr id="22" name="TextBox 22"/>
            <p:cNvSpPr txBox="1"/>
            <p:nvPr/>
          </p:nvSpPr>
          <p:spPr>
            <a:xfrm>
              <a:off x="795147" y="5190649"/>
              <a:ext cx="194924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can be arbitrarily bad without</a:t>
              </a:r>
            </a:p>
          </p:txBody>
        </p:sp>
        <p:sp>
          <p:nvSpPr>
            <p:cNvPr id="23" name="TextBox 23"/>
            <p:cNvSpPr txBox="1"/>
            <p:nvPr/>
          </p:nvSpPr>
          <p:spPr>
            <a:xfrm>
              <a:off x="795147" y="5381149"/>
              <a:ext cx="237800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structural assumptions on the data.</a:t>
              </a:r>
            </a:p>
          </p:txBody>
        </p:sp>
      </p:grpSp>
      <p:grpSp>
        <p:nvGrpSpPr>
          <p:cNvPr id="41" name="Group 41"/>
          <p:cNvGrpSpPr/>
          <p:nvPr/>
        </p:nvGrpSpPr>
        <p:grpSpPr>
          <a:xfrm>
            <a:off x="4314825" y="2152650"/>
            <a:ext cx="3552825" cy="3848100"/>
            <a:chOff x="4314825" y="2152650"/>
            <a:chExt cx="3552825" cy="3848100"/>
          </a:xfrm>
        </p:grpSpPr>
        <p:sp>
          <p:nvSpPr>
            <p:cNvPr id="25" name="Rectangle 25"/>
            <p:cNvSpPr/>
            <p:nvPr/>
          </p:nvSpPr>
          <p:spPr>
            <a:xfrm>
              <a:off x="4314825" y="2152650"/>
              <a:ext cx="3552825" cy="38481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26" name="Rectangle 26"/>
            <p:cNvSpPr/>
            <p:nvPr/>
          </p:nvSpPr>
          <p:spPr>
            <a:xfrm>
              <a:off x="4314825" y="2152650"/>
              <a:ext cx="3552825" cy="57150"/>
            </a:xfrm>
            <a:prstGeom prst="roundRect">
              <a:avLst>
                <a:gd name="adj" fmla="val 50000"/>
              </a:avLst>
            </a:prstGeom>
            <a:solidFill>
              <a:schemeClr val="accent2"/>
            </a:solidFill>
            <a:ln>
              <a:noFill/>
            </a:ln>
          </p:spPr>
        </p:sp>
        <p:sp>
          <p:nvSpPr>
            <p:cNvPr id="27" name="TextBox 27"/>
            <p:cNvSpPr txBox="1"/>
            <p:nvPr/>
          </p:nvSpPr>
          <p:spPr>
            <a:xfrm>
              <a:off x="4538662" y="2417445"/>
              <a:ext cx="2278680"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FIX — WELL-BEHAVED DATA</a:t>
              </a:r>
            </a:p>
          </p:txBody>
        </p:sp>
        <p:sp>
          <p:nvSpPr>
            <p:cNvPr id="28" name="TextBox 28"/>
            <p:cNvSpPr txBox="1"/>
            <p:nvPr/>
          </p:nvSpPr>
          <p:spPr>
            <a:xfrm>
              <a:off x="4537710" y="2717006"/>
              <a:ext cx="245135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To rule out pathologies, restrict</a:t>
              </a:r>
            </a:p>
          </p:txBody>
        </p:sp>
        <p:sp>
          <p:nvSpPr>
            <p:cNvPr id="29" name="TextBox 29"/>
            <p:cNvSpPr txBox="1"/>
            <p:nvPr/>
          </p:nvSpPr>
          <p:spPr>
            <a:xfrm>
              <a:off x="4537710" y="2926556"/>
              <a:ext cx="231074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to well-behaved distributions —</a:t>
              </a:r>
            </a:p>
          </p:txBody>
        </p:sp>
        <p:sp>
          <p:nvSpPr>
            <p:cNvPr id="30" name="TextBox 30"/>
            <p:cNvSpPr txBox="1"/>
            <p:nvPr/>
          </p:nvSpPr>
          <p:spPr>
            <a:xfrm>
              <a:off x="4537710" y="3136106"/>
              <a:ext cx="251428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isotropic, log-concave marginals.</a:t>
              </a:r>
            </a:p>
          </p:txBody>
        </p:sp>
        <p:sp>
          <p:nvSpPr>
            <p:cNvPr id="31" name="TextBox 31"/>
            <p:cNvSpPr txBox="1"/>
            <p:nvPr/>
          </p:nvSpPr>
          <p:spPr>
            <a:xfrm>
              <a:off x="4538472" y="3495199"/>
              <a:ext cx="2244997"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But the precise rate stays open:</a:t>
              </a:r>
            </a:p>
          </p:txBody>
        </p:sp>
        <p:sp>
          <p:nvSpPr>
            <p:cNvPr id="32" name="Rectangle 32"/>
            <p:cNvSpPr/>
            <p:nvPr/>
          </p:nvSpPr>
          <p:spPr>
            <a:xfrm>
              <a:off x="4543425" y="3790950"/>
              <a:ext cx="3095625" cy="1257300"/>
            </a:xfrm>
            <a:prstGeom prst="roundRect">
              <a:avLst>
                <a:gd name="adj" fmla="val 7576"/>
              </a:avLst>
            </a:prstGeom>
            <a:solidFill>
              <a:schemeClr val="lt2"/>
            </a:solidFill>
            <a:ln w="11906">
              <a:solidFill>
                <a:schemeClr val="accent4"/>
              </a:solidFill>
            </a:ln>
          </p:spPr>
        </p:sp>
        <p:sp>
          <p:nvSpPr>
            <p:cNvPr id="33" name="Line 33"/>
            <p:cNvSpPr/>
            <p:nvPr/>
          </p:nvSpPr>
          <p:spPr>
            <a:xfrm>
              <a:off x="4810125" y="4476750"/>
              <a:ext cx="2571750" cy="9525"/>
            </a:xfrm>
            <a:custGeom>
              <a:avLst/>
              <a:gdLst/>
              <a:ahLst/>
              <a:cxnLst/>
              <a:rect l="l" t="t" r="r" b="b"/>
              <a:pathLst>
                <a:path w="2571750" h="9525">
                  <a:moveTo>
                    <a:pt x="0" y="0"/>
                  </a:moveTo>
                  <a:lnTo>
                    <a:pt x="2571750" y="0"/>
                  </a:lnTo>
                </a:path>
              </a:pathLst>
            </a:custGeom>
            <a:noFill/>
            <a:ln w="19050">
              <a:solidFill>
                <a:srgbClr val="94A3B8"/>
              </a:solidFill>
            </a:ln>
          </p:spPr>
        </p:sp>
        <p:sp>
          <p:nvSpPr>
            <p:cNvPr id="34" name="Ellipse 34"/>
            <p:cNvSpPr/>
            <p:nvPr/>
          </p:nvSpPr>
          <p:spPr>
            <a:xfrm>
              <a:off x="4762500" y="4429125"/>
              <a:ext cx="95250" cy="95250"/>
            </a:xfrm>
            <a:prstGeom prst="ellipse">
              <a:avLst/>
            </a:prstGeom>
            <a:solidFill>
              <a:schemeClr val="accent5"/>
            </a:solidFill>
            <a:ln>
              <a:noFill/>
            </a:ln>
          </p:spPr>
        </p:sp>
        <p:sp>
          <p:nvSpPr>
            <p:cNvPr id="35" name="Ellipse 35"/>
            <p:cNvSpPr/>
            <p:nvPr/>
          </p:nvSpPr>
          <p:spPr>
            <a:xfrm>
              <a:off x="7334250" y="4429125"/>
              <a:ext cx="95250" cy="95250"/>
            </a:xfrm>
            <a:prstGeom prst="ellipse">
              <a:avLst/>
            </a:prstGeom>
            <a:solidFill>
              <a:schemeClr val="accent3"/>
            </a:solidFill>
            <a:ln>
              <a:noFill/>
            </a:ln>
          </p:spPr>
        </p:sp>
        <p:sp>
          <p:nvSpPr>
            <p:cNvPr id="36" name="TextBox 36"/>
            <p:cNvSpPr txBox="1"/>
            <p:nvPr/>
          </p:nvSpPr>
          <p:spPr>
            <a:xfrm>
              <a:off x="4649681" y="4183856"/>
              <a:ext cx="320887" cy="220028"/>
            </a:xfrm>
            <a:prstGeom prst="rect">
              <a:avLst/>
            </a:prstGeom>
            <a:noFill/>
            <a:ln>
              <a:noFill/>
            </a:ln>
          </p:spPr>
          <p:txBody>
            <a:bodyPr wrap="none" lIns="0" tIns="0" rIns="0" bIns="0" anchor="t" anchorCtr="0">
              <a:spAutoFit/>
            </a:bodyPr>
            <a:lstStyle/>
            <a:p>
              <a:pPr algn="ctr"/>
              <a:r>
                <a:rPr lang="en-US" sz="1120" b="1" dirty="0">
                  <a:solidFill>
                    <a:schemeClr val="accent5"/>
                  </a:solidFill>
                  <a:latin typeface="Consolas"/>
                  <a:ea typeface="Consolas"/>
                  <a:cs typeface="Consolas"/>
                </a:rPr>
                <a:t>OPT</a:t>
              </a:r>
            </a:p>
          </p:txBody>
        </p:sp>
        <p:sp>
          <p:nvSpPr>
            <p:cNvPr id="37" name="TextBox 37"/>
            <p:cNvSpPr txBox="1"/>
            <p:nvPr/>
          </p:nvSpPr>
          <p:spPr>
            <a:xfrm>
              <a:off x="7175431" y="4183856"/>
              <a:ext cx="412888"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Consolas"/>
                  <a:ea typeface="Consolas"/>
                  <a:cs typeface="Consolas"/>
                </a:rPr>
                <a:t>√OPT</a:t>
              </a:r>
            </a:p>
          </p:txBody>
        </p:sp>
        <p:sp>
          <p:nvSpPr>
            <p:cNvPr id="38" name="TextBox 38"/>
            <p:cNvSpPr txBox="1"/>
            <p:nvPr/>
          </p:nvSpPr>
          <p:spPr>
            <a:xfrm>
              <a:off x="4933382" y="4657249"/>
              <a:ext cx="2325235" cy="190690"/>
            </a:xfrm>
            <a:prstGeom prst="rect">
              <a:avLst/>
            </a:prstGeom>
            <a:noFill/>
            <a:ln>
              <a:noFill/>
            </a:ln>
          </p:spPr>
          <p:txBody>
            <a:bodyPr wrap="none" lIns="0" tIns="0" rIns="0" bIns="0" anchor="t" anchorCtr="0">
              <a:spAutoFit/>
            </a:bodyPr>
            <a:lstStyle/>
            <a:p>
              <a:pPr algn="ctr"/>
              <a:r>
                <a:rPr lang="en-US" sz="980" i="1" dirty="0">
                  <a:solidFill>
                    <a:schemeClr val="dk2"/>
                  </a:solidFill>
                  <a:latin typeface="+mn-lt"/>
                  <a:ea typeface="+mn-ea"/>
                  <a:cs typeface="+mn-cs"/>
                </a:rPr>
                <a:t>true rate = ? somewhere in between</a:t>
              </a:r>
            </a:p>
          </p:txBody>
        </p:sp>
        <p:sp>
          <p:nvSpPr>
            <p:cNvPr id="39" name="TextBox 39"/>
            <p:cNvSpPr txBox="1"/>
            <p:nvPr/>
          </p:nvSpPr>
          <p:spPr>
            <a:xfrm>
              <a:off x="4538472" y="5228749"/>
              <a:ext cx="188752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exact error rate logistic</a:t>
              </a:r>
            </a:p>
          </p:txBody>
        </p:sp>
        <p:sp>
          <p:nvSpPr>
            <p:cNvPr id="40" name="TextBox 40"/>
            <p:cNvSpPr txBox="1"/>
            <p:nvPr/>
          </p:nvSpPr>
          <p:spPr>
            <a:xfrm>
              <a:off x="4538472" y="5419249"/>
              <a:ext cx="254951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regression achieves here was unknown.</a:t>
              </a:r>
            </a:p>
          </p:txBody>
        </p:sp>
      </p:grpSp>
      <p:grpSp>
        <p:nvGrpSpPr>
          <p:cNvPr id="63" name="Group 63"/>
          <p:cNvGrpSpPr/>
          <p:nvPr/>
        </p:nvGrpSpPr>
        <p:grpSpPr>
          <a:xfrm>
            <a:off x="8058150" y="2152650"/>
            <a:ext cx="3562350" cy="3848100"/>
            <a:chOff x="8058150" y="2152650"/>
            <a:chExt cx="3562350" cy="3848100"/>
          </a:xfrm>
        </p:grpSpPr>
        <p:sp>
          <p:nvSpPr>
            <p:cNvPr id="42" name="Rectangle 42"/>
            <p:cNvSpPr/>
            <p:nvPr/>
          </p:nvSpPr>
          <p:spPr>
            <a:xfrm>
              <a:off x="8058150" y="2152650"/>
              <a:ext cx="3562350" cy="3848100"/>
            </a:xfrm>
            <a:prstGeom prst="roundRect">
              <a:avLst>
                <a:gd name="adj" fmla="val 3209"/>
              </a:avLst>
            </a:prstGeom>
            <a:solidFill>
              <a:srgbClr val="EEF4FF"/>
            </a:solidFill>
            <a:ln w="14288">
              <a:solidFill>
                <a:srgbClr val="BFD4FE"/>
              </a:solidFill>
            </a:ln>
            <a:effectLst>
              <a:outerShdw blurRad="76200" dist="19050" dir="5400000" algn="ctr" rotWithShape="0">
                <a:srgbClr val="12233B">
                  <a:alpha val="4500"/>
                </a:srgbClr>
              </a:outerShdw>
            </a:effectLst>
          </p:spPr>
        </p:sp>
        <p:sp>
          <p:nvSpPr>
            <p:cNvPr id="43" name="Rectangle 43"/>
            <p:cNvSpPr/>
            <p:nvPr/>
          </p:nvSpPr>
          <p:spPr>
            <a:xfrm>
              <a:off x="8058150" y="2152650"/>
              <a:ext cx="3562350" cy="57150"/>
            </a:xfrm>
            <a:prstGeom prst="roundRect">
              <a:avLst>
                <a:gd name="adj" fmla="val 50000"/>
              </a:avLst>
            </a:prstGeom>
            <a:solidFill>
              <a:schemeClr val="accent2"/>
            </a:solidFill>
            <a:ln>
              <a:noFill/>
            </a:ln>
          </p:spPr>
        </p:sp>
        <p:sp>
          <p:nvSpPr>
            <p:cNvPr id="44" name="TextBox 44"/>
            <p:cNvSpPr txBox="1"/>
            <p:nvPr/>
          </p:nvSpPr>
          <p:spPr>
            <a:xfrm>
              <a:off x="8281988" y="2417445"/>
              <a:ext cx="1301171"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WHAT'S AT STAKE</a:t>
              </a:r>
            </a:p>
          </p:txBody>
        </p:sp>
        <p:sp>
          <p:nvSpPr>
            <p:cNvPr id="45" name="TextBox 45"/>
            <p:cNvSpPr txBox="1"/>
            <p:nvPr/>
          </p:nvSpPr>
          <p:spPr>
            <a:xfrm>
              <a:off x="8279130" y="2695575"/>
              <a:ext cx="239553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Pinning down the rate</a:t>
              </a:r>
            </a:p>
          </p:txBody>
        </p:sp>
        <p:sp>
          <p:nvSpPr>
            <p:cNvPr id="46" name="TextBox 46"/>
            <p:cNvSpPr txBox="1"/>
            <p:nvPr/>
          </p:nvSpPr>
          <p:spPr>
            <a:xfrm>
              <a:off x="8279130" y="2924175"/>
              <a:ext cx="22779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answers two things:</a:t>
              </a:r>
            </a:p>
          </p:txBody>
        </p:sp>
        <p:grpSp>
          <p:nvGrpSpPr>
            <p:cNvPr id="52" name="Group 52"/>
            <p:cNvGrpSpPr/>
            <p:nvPr/>
          </p:nvGrpSpPr>
          <p:grpSpPr>
            <a:xfrm>
              <a:off x="8324850" y="3307556"/>
              <a:ext cx="2150897" cy="613505"/>
              <a:chOff x="8324850" y="3307556"/>
              <a:chExt cx="2150897" cy="613505"/>
            </a:xfrm>
          </p:grpSpPr>
          <p:sp>
            <p:nvSpPr>
              <p:cNvPr id="47" name="Ellipse 47"/>
              <p:cNvSpPr/>
              <p:nvPr/>
            </p:nvSpPr>
            <p:spPr>
              <a:xfrm>
                <a:off x="8324850" y="3352800"/>
                <a:ext cx="266700" cy="266700"/>
              </a:xfrm>
              <a:prstGeom prst="ellipse">
                <a:avLst/>
              </a:prstGeom>
              <a:solidFill>
                <a:schemeClr val="accent2"/>
              </a:solidFill>
              <a:ln>
                <a:noFill/>
              </a:ln>
            </p:spPr>
          </p:sp>
          <p:sp>
            <p:nvSpPr>
              <p:cNvPr id="48" name="TextBox 48"/>
              <p:cNvSpPr txBox="1"/>
              <p:nvPr/>
            </p:nvSpPr>
            <p:spPr>
              <a:xfrm>
                <a:off x="8409741" y="3420428"/>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j-lt"/>
                    <a:ea typeface="+mj-ea"/>
                    <a:cs typeface="+mj-cs"/>
                  </a:rPr>
                  <a:t>1</a:t>
                </a:r>
              </a:p>
            </p:txBody>
          </p:sp>
          <p:sp>
            <p:nvSpPr>
              <p:cNvPr id="49" name="TextBox 49"/>
              <p:cNvSpPr txBox="1"/>
              <p:nvPr/>
            </p:nvSpPr>
            <p:spPr>
              <a:xfrm>
                <a:off x="8700135" y="3307556"/>
                <a:ext cx="1465461"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Is it near-optimal?</a:t>
                </a:r>
              </a:p>
            </p:txBody>
          </p:sp>
          <p:sp>
            <p:nvSpPr>
              <p:cNvPr id="50" name="TextBox 50"/>
              <p:cNvSpPr txBox="1"/>
              <p:nvPr/>
            </p:nvSpPr>
            <p:spPr>
              <a:xfrm>
                <a:off x="8700516" y="3525202"/>
                <a:ext cx="177523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Or does it leave accuracy</a:t>
                </a:r>
              </a:p>
            </p:txBody>
          </p:sp>
          <p:sp>
            <p:nvSpPr>
              <p:cNvPr id="51" name="TextBox 51"/>
              <p:cNvSpPr txBox="1"/>
              <p:nvPr/>
            </p:nvSpPr>
            <p:spPr>
              <a:xfrm>
                <a:off x="8700516" y="3715702"/>
                <a:ext cx="9153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on the table?</a:t>
                </a:r>
              </a:p>
            </p:txBody>
          </p:sp>
        </p:grpSp>
        <p:grpSp>
          <p:nvGrpSpPr>
            <p:cNvPr id="58" name="Group 58"/>
            <p:cNvGrpSpPr/>
            <p:nvPr/>
          </p:nvGrpSpPr>
          <p:grpSpPr>
            <a:xfrm>
              <a:off x="8324850" y="4126706"/>
              <a:ext cx="2075478" cy="613505"/>
              <a:chOff x="8324850" y="4126706"/>
              <a:chExt cx="2075478" cy="613505"/>
            </a:xfrm>
          </p:grpSpPr>
          <p:sp>
            <p:nvSpPr>
              <p:cNvPr id="53" name="Ellipse 53"/>
              <p:cNvSpPr/>
              <p:nvPr/>
            </p:nvSpPr>
            <p:spPr>
              <a:xfrm>
                <a:off x="8324850" y="4171950"/>
                <a:ext cx="266700" cy="266700"/>
              </a:xfrm>
              <a:prstGeom prst="ellipse">
                <a:avLst/>
              </a:prstGeom>
              <a:solidFill>
                <a:schemeClr val="accent2"/>
              </a:solidFill>
              <a:ln>
                <a:noFill/>
              </a:ln>
            </p:spPr>
          </p:sp>
          <p:sp>
            <p:nvSpPr>
              <p:cNvPr id="54" name="TextBox 54"/>
              <p:cNvSpPr txBox="1"/>
              <p:nvPr/>
            </p:nvSpPr>
            <p:spPr>
              <a:xfrm>
                <a:off x="8409741" y="4239578"/>
                <a:ext cx="969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j-lt"/>
                    <a:ea typeface="+mj-ea"/>
                    <a:cs typeface="+mj-cs"/>
                  </a:rPr>
                  <a:t>2</a:t>
                </a:r>
              </a:p>
            </p:txBody>
          </p:sp>
          <p:sp>
            <p:nvSpPr>
              <p:cNvPr id="55" name="TextBox 55"/>
              <p:cNvSpPr txBox="1"/>
              <p:nvPr/>
            </p:nvSpPr>
            <p:spPr>
              <a:xfrm>
                <a:off x="8700135" y="4126706"/>
                <a:ext cx="1267160"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What minimal fix</a:t>
                </a:r>
              </a:p>
            </p:txBody>
          </p:sp>
          <p:sp>
            <p:nvSpPr>
              <p:cNvPr id="56" name="TextBox 56"/>
              <p:cNvSpPr txBox="1"/>
              <p:nvPr/>
            </p:nvSpPr>
            <p:spPr>
              <a:xfrm>
                <a:off x="8700516" y="4344352"/>
                <a:ext cx="169981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recovers optimality if it</a:t>
                </a:r>
              </a:p>
            </p:txBody>
          </p:sp>
          <p:sp>
            <p:nvSpPr>
              <p:cNvPr id="57" name="TextBox 57"/>
              <p:cNvSpPr txBox="1"/>
              <p:nvPr/>
            </p:nvSpPr>
            <p:spPr>
              <a:xfrm>
                <a:off x="8700516" y="4534852"/>
                <a:ext cx="83757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falls short?</a:t>
                </a:r>
              </a:p>
            </p:txBody>
          </p:sp>
        </p:grpSp>
        <p:sp>
          <p:nvSpPr>
            <p:cNvPr id="59" name="Rectangle 59"/>
            <p:cNvSpPr/>
            <p:nvPr/>
          </p:nvSpPr>
          <p:spPr>
            <a:xfrm>
              <a:off x="8286750" y="4914900"/>
              <a:ext cx="3105150" cy="876300"/>
            </a:xfrm>
            <a:prstGeom prst="roundRect">
              <a:avLst>
                <a:gd name="adj" fmla="val 10870"/>
              </a:avLst>
            </a:prstGeom>
            <a:solidFill>
              <a:schemeClr val="accent1"/>
            </a:solidFill>
            <a:ln>
              <a:noFill/>
            </a:ln>
          </p:spPr>
        </p:sp>
        <p:sp>
          <p:nvSpPr>
            <p:cNvPr id="60" name="TextBox 60"/>
            <p:cNvSpPr txBox="1"/>
            <p:nvPr/>
          </p:nvSpPr>
          <p:spPr>
            <a:xfrm>
              <a:off x="8434197" y="5095399"/>
              <a:ext cx="2012799"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A principled recommendation to</a:t>
              </a:r>
            </a:p>
          </p:txBody>
        </p:sp>
        <p:sp>
          <p:nvSpPr>
            <p:cNvPr id="61" name="TextBox 61"/>
            <p:cNvSpPr txBox="1"/>
            <p:nvPr/>
          </p:nvSpPr>
          <p:spPr>
            <a:xfrm>
              <a:off x="8434197" y="5285899"/>
              <a:ext cx="2331832"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use — or repair — logistic regression</a:t>
              </a:r>
            </a:p>
          </p:txBody>
        </p:sp>
        <p:sp>
          <p:nvSpPr>
            <p:cNvPr id="62" name="TextBox 62"/>
            <p:cNvSpPr txBox="1"/>
            <p:nvPr/>
          </p:nvSpPr>
          <p:spPr>
            <a:xfrm>
              <a:off x="8434197" y="5476399"/>
              <a:ext cx="1698579"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hinges on this exact rate.</a:t>
              </a:r>
            </a:p>
          </p:txBody>
        </p:sp>
      </p:grpSp>
      <p:grpSp>
        <p:nvGrpSpPr>
          <p:cNvPr id="67" name="Group 67"/>
          <p:cNvGrpSpPr/>
          <p:nvPr/>
        </p:nvGrpSpPr>
        <p:grpSpPr>
          <a:xfrm>
            <a:off x="571500" y="6521291"/>
            <a:ext cx="11053762" cy="161925"/>
            <a:chOff x="571500" y="6521291"/>
            <a:chExt cx="11053762" cy="161925"/>
          </a:xfrm>
        </p:grpSpPr>
        <p:sp>
          <p:nvSpPr>
            <p:cNvPr id="64" name="Line 64"/>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65" name="TextBox 65"/>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66" name="TextBox 66"/>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03</a:t>
              </a:r>
            </a:p>
          </p:txBody>
        </p:sp>
      </p:grpSp>
      <p:sp>
        <p:nvSpPr>
          <p:cNvPr id="68" name="cue_s03_c1_logistic_regression_arguably_most_wi" title="cue_s03_c1_logistic_regression_arguably_most_wi" descr="cue_s03_c1_logistic_regression_arguably_most_wi Logistic regression is arguably the most widely deployed classification algorithm, so understanding its statistical guarantees is not merely academic."/>
          <p:cNvSpPr/>
          <p:nvPr/>
        </p:nvSpPr>
        <p:spPr>
          <a:xfrm>
            <a:off x="571804" y="1333195"/>
            <a:ext cx="11084966"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3_c2_worry_logistic_regression_behave_ter" title="cue_s03_c2_worry_logistic_regression_behave_ter" descr="cue_s03_c2_worry_logistic_regression_behave_ter The worry is that logistic regression can behave terribly in the worst case; earlier work showed its risk minimizer can be wrong on nearly a one-minus-OPT fraction of examples on an adversarially built distribution."/>
          <p:cNvSpPr/>
          <p:nvPr/>
        </p:nvSpPr>
        <p:spPr>
          <a:xfrm>
            <a:off x="571804" y="2152726"/>
            <a:ext cx="3552748"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3_c3_rule_out_such_pathologies_community" title="cue_s03_c3_rule_out_such_pathologies_community" descr="cue_s03_c3_rule_out_such_pathologies_community To rule out such pathologies, the community focuses on well-behaved distributions, such as isotropic log-concave ones, where much stronger guarantees are possible. But even under these assumptions the precise error rate of logistic regression was unknown, sitt"/>
          <p:cNvSpPr/>
          <p:nvPr/>
        </p:nvSpPr>
        <p:spPr>
          <a:xfrm>
            <a:off x="4314748" y="2152726"/>
            <a:ext cx="3552748"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3_c4_pinning_down_rate_tells_whether" title="cue_s03_c4_pinning_down_rate_tells_whether" descr="cue_s03_c4_pinning_down_rate_tells_whether Pinning down this rate tells us whether logistic regression is a near-optimal agnostic learner or whether it fundamentally leaves accuracy on the table, and if so, what minimal fix recovers optimality."/>
          <p:cNvSpPr/>
          <p:nvPr/>
        </p:nvSpPr>
        <p:spPr>
          <a:xfrm>
            <a:off x="8057692" y="2152726"/>
            <a:ext cx="3562502" cy="3848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7905140" cy="656939"/>
            <a:chOff x="571500" y="495300"/>
            <a:chExt cx="7905140"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768949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 that resolve the gap</a:t>
              </a:r>
            </a:p>
          </p:txBody>
        </p:sp>
        <p:sp>
          <p:nvSpPr>
            <p:cNvPr id="4" name="TextBox 4"/>
            <p:cNvSpPr txBox="1"/>
            <p:nvPr/>
          </p:nvSpPr>
          <p:spPr>
            <a:xfrm>
              <a:off x="795147" y="961549"/>
              <a:ext cx="543462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A LOWER BOUND, A CONDITION, AND AN ALGORITHM</a:t>
              </a:r>
            </a:p>
          </p:txBody>
        </p:sp>
      </p:grpSp>
      <p:grpSp>
        <p:nvGrpSpPr>
          <p:cNvPr id="21" name="Group 21"/>
          <p:cNvGrpSpPr/>
          <p:nvPr/>
        </p:nvGrpSpPr>
        <p:grpSpPr>
          <a:xfrm>
            <a:off x="571500" y="1428750"/>
            <a:ext cx="3552825" cy="3619500"/>
            <a:chOff x="571500" y="1428750"/>
            <a:chExt cx="3552825" cy="3619500"/>
          </a:xfrm>
        </p:grpSpPr>
        <p:sp>
          <p:nvSpPr>
            <p:cNvPr id="6" name="Rectangle 6"/>
            <p:cNvSpPr/>
            <p:nvPr/>
          </p:nvSpPr>
          <p:spPr>
            <a:xfrm>
              <a:off x="571500" y="1428750"/>
              <a:ext cx="3552825" cy="36195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7" name="Rectangle 7"/>
            <p:cNvSpPr/>
            <p:nvPr/>
          </p:nvSpPr>
          <p:spPr>
            <a:xfrm>
              <a:off x="571500" y="1428750"/>
              <a:ext cx="3552825" cy="57150"/>
            </a:xfrm>
            <a:prstGeom prst="roundRect">
              <a:avLst>
                <a:gd name="adj" fmla="val 50000"/>
              </a:avLst>
            </a:prstGeom>
            <a:solidFill>
              <a:schemeClr val="accent3"/>
            </a:solidFill>
            <a:ln>
              <a:noFill/>
            </a:ln>
          </p:spPr>
        </p:sp>
        <p:sp>
          <p:nvSpPr>
            <p:cNvPr id="8" name="Ellipse 8"/>
            <p:cNvSpPr/>
            <p:nvPr/>
          </p:nvSpPr>
          <p:spPr>
            <a:xfrm>
              <a:off x="762000" y="1695450"/>
              <a:ext cx="342900" cy="342900"/>
            </a:xfrm>
            <a:prstGeom prst="ellipse">
              <a:avLst/>
            </a:prstGeom>
            <a:solidFill>
              <a:schemeClr val="accent3"/>
            </a:solidFill>
            <a:ln>
              <a:noFill/>
            </a:ln>
          </p:spPr>
        </p:sp>
        <p:sp>
          <p:nvSpPr>
            <p:cNvPr id="9" name="TextBox 9"/>
            <p:cNvSpPr txBox="1"/>
            <p:nvPr/>
          </p:nvSpPr>
          <p:spPr>
            <a:xfrm>
              <a:off x="871145" y="1778318"/>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0" name="TextBox 10"/>
            <p:cNvSpPr txBox="1"/>
            <p:nvPr/>
          </p:nvSpPr>
          <p:spPr>
            <a:xfrm>
              <a:off x="1214438" y="1731645"/>
              <a:ext cx="1943633"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A MATCHING LOWER BOUND</a:t>
              </a:r>
            </a:p>
          </p:txBody>
        </p:sp>
        <p:sp>
          <p:nvSpPr>
            <p:cNvPr id="11" name="TextBox 11"/>
            <p:cNvSpPr txBox="1"/>
            <p:nvPr/>
          </p:nvSpPr>
          <p:spPr>
            <a:xfrm>
              <a:off x="1212723" y="1881664"/>
              <a:ext cx="1882158"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√OPT is unavoidable</a:t>
              </a:r>
            </a:p>
          </p:txBody>
        </p:sp>
        <p:sp>
          <p:nvSpPr>
            <p:cNvPr id="12" name="TextBox 12"/>
            <p:cNvSpPr txBox="1"/>
            <p:nvPr/>
          </p:nvSpPr>
          <p:spPr>
            <a:xfrm>
              <a:off x="794385" y="2316956"/>
              <a:ext cx="195984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 explicit 2-D, isotropic,</a:t>
              </a:r>
            </a:p>
          </p:txBody>
        </p:sp>
        <p:sp>
          <p:nvSpPr>
            <p:cNvPr id="13" name="TextBox 13"/>
            <p:cNvSpPr txBox="1"/>
            <p:nvPr/>
          </p:nvSpPr>
          <p:spPr>
            <a:xfrm>
              <a:off x="794385" y="2526506"/>
              <a:ext cx="209965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well-behaved distribution on</a:t>
              </a:r>
            </a:p>
          </p:txBody>
        </p:sp>
        <p:sp>
          <p:nvSpPr>
            <p:cNvPr id="14" name="TextBox 14"/>
            <p:cNvSpPr txBox="1"/>
            <p:nvPr/>
          </p:nvSpPr>
          <p:spPr>
            <a:xfrm>
              <a:off x="794385" y="2736056"/>
              <a:ext cx="215242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which the global logistic-risk</a:t>
              </a:r>
            </a:p>
          </p:txBody>
        </p:sp>
        <p:sp>
          <p:nvSpPr>
            <p:cNvPr id="15" name="TextBox 15"/>
            <p:cNvSpPr txBox="1"/>
            <p:nvPr/>
          </p:nvSpPr>
          <p:spPr>
            <a:xfrm>
              <a:off x="794385" y="2945606"/>
              <a:ext cx="208457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minimizer provably suffers:</a:t>
              </a:r>
            </a:p>
          </p:txBody>
        </p:sp>
        <p:sp>
          <p:nvSpPr>
            <p:cNvPr id="16" name="Rectangle 16"/>
            <p:cNvSpPr/>
            <p:nvPr/>
          </p:nvSpPr>
          <p:spPr>
            <a:xfrm>
              <a:off x="800100" y="3238500"/>
              <a:ext cx="3095625" cy="685800"/>
            </a:xfrm>
            <a:prstGeom prst="roundRect">
              <a:avLst>
                <a:gd name="adj" fmla="val 13889"/>
              </a:avLst>
            </a:prstGeom>
            <a:solidFill>
              <a:srgbClr val="FEF2F2"/>
            </a:solidFill>
            <a:ln w="11906">
              <a:solidFill>
                <a:srgbClr val="FCA5A5"/>
              </a:solidFill>
            </a:ln>
          </p:spPr>
        </p:sp>
        <p:sp>
          <p:nvSpPr>
            <p:cNvPr id="17" name="TextBox 17"/>
            <p:cNvSpPr txBox="1"/>
            <p:nvPr/>
          </p:nvSpPr>
          <p:spPr>
            <a:xfrm>
              <a:off x="1446666" y="3433762"/>
              <a:ext cx="1792969"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Consolas"/>
                  <a:ea typeface="Consolas"/>
                  <a:cs typeface="Consolas"/>
                </a:rPr>
                <a:t>√OPT error</a:t>
              </a:r>
            </a:p>
          </p:txBody>
        </p:sp>
        <p:sp>
          <p:nvSpPr>
            <p:cNvPr id="18" name="TextBox 18"/>
            <p:cNvSpPr txBox="1"/>
            <p:nvPr/>
          </p:nvSpPr>
          <p:spPr>
            <a:xfrm>
              <a:off x="794766" y="4134802"/>
              <a:ext cx="21853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Matches the known upper bound</a:t>
              </a:r>
            </a:p>
          </p:txBody>
        </p:sp>
        <p:sp>
          <p:nvSpPr>
            <p:cNvPr id="19" name="TextBox 19"/>
            <p:cNvSpPr txBox="1"/>
            <p:nvPr/>
          </p:nvSpPr>
          <p:spPr>
            <a:xfrm>
              <a:off x="794766" y="4325302"/>
              <a:ext cx="21804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exactly — so logistic regression</a:t>
              </a:r>
            </a:p>
          </p:txBody>
        </p:sp>
        <p:sp>
          <p:nvSpPr>
            <p:cNvPr id="20" name="TextBox 20"/>
            <p:cNvSpPr txBox="1"/>
            <p:nvPr/>
          </p:nvSpPr>
          <p:spPr>
            <a:xfrm>
              <a:off x="794766" y="4515802"/>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alone cannot do better.</a:t>
              </a:r>
            </a:p>
          </p:txBody>
        </p:sp>
      </p:grpSp>
      <p:grpSp>
        <p:nvGrpSpPr>
          <p:cNvPr id="38" name="Group 38"/>
          <p:cNvGrpSpPr/>
          <p:nvPr/>
        </p:nvGrpSpPr>
        <p:grpSpPr>
          <a:xfrm>
            <a:off x="4314825" y="1428750"/>
            <a:ext cx="3552825" cy="3619500"/>
            <a:chOff x="4314825" y="1428750"/>
            <a:chExt cx="3552825" cy="3619500"/>
          </a:xfrm>
        </p:grpSpPr>
        <p:sp>
          <p:nvSpPr>
            <p:cNvPr id="22" name="Rectangle 22"/>
            <p:cNvSpPr/>
            <p:nvPr/>
          </p:nvSpPr>
          <p:spPr>
            <a:xfrm>
              <a:off x="4314825" y="1428750"/>
              <a:ext cx="3552825" cy="36195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23" name="Rectangle 23"/>
            <p:cNvSpPr/>
            <p:nvPr/>
          </p:nvSpPr>
          <p:spPr>
            <a:xfrm>
              <a:off x="4314825" y="1428750"/>
              <a:ext cx="3552825" cy="57150"/>
            </a:xfrm>
            <a:prstGeom prst="roundRect">
              <a:avLst>
                <a:gd name="adj" fmla="val 50000"/>
              </a:avLst>
            </a:prstGeom>
            <a:solidFill>
              <a:schemeClr val="accent2"/>
            </a:solidFill>
            <a:ln>
              <a:noFill/>
            </a:ln>
          </p:spPr>
        </p:sp>
        <p:sp>
          <p:nvSpPr>
            <p:cNvPr id="24" name="Ellipse 24"/>
            <p:cNvSpPr/>
            <p:nvPr/>
          </p:nvSpPr>
          <p:spPr>
            <a:xfrm>
              <a:off x="4505325" y="1695450"/>
              <a:ext cx="342900" cy="342900"/>
            </a:xfrm>
            <a:prstGeom prst="ellipse">
              <a:avLst/>
            </a:prstGeom>
            <a:solidFill>
              <a:schemeClr val="accent2"/>
            </a:solidFill>
            <a:ln>
              <a:noFill/>
            </a:ln>
          </p:spPr>
        </p:sp>
        <p:sp>
          <p:nvSpPr>
            <p:cNvPr id="25" name="TextBox 25"/>
            <p:cNvSpPr txBox="1"/>
            <p:nvPr/>
          </p:nvSpPr>
          <p:spPr>
            <a:xfrm>
              <a:off x="4614470" y="1778318"/>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6" name="TextBox 26"/>
            <p:cNvSpPr txBox="1"/>
            <p:nvPr/>
          </p:nvSpPr>
          <p:spPr>
            <a:xfrm>
              <a:off x="4957762" y="1731645"/>
              <a:ext cx="1822658"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A SUFFICIENT CONDITION</a:t>
              </a:r>
            </a:p>
          </p:txBody>
        </p:sp>
        <p:sp>
          <p:nvSpPr>
            <p:cNvPr id="27" name="TextBox 27"/>
            <p:cNvSpPr txBox="1"/>
            <p:nvPr/>
          </p:nvSpPr>
          <p:spPr>
            <a:xfrm>
              <a:off x="4956048" y="1881664"/>
              <a:ext cx="1918910"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Radial Lipschitzness</a:t>
              </a:r>
            </a:p>
          </p:txBody>
        </p:sp>
        <p:sp>
          <p:nvSpPr>
            <p:cNvPr id="28" name="TextBox 28"/>
            <p:cNvSpPr txBox="1"/>
            <p:nvPr/>
          </p:nvSpPr>
          <p:spPr>
            <a:xfrm>
              <a:off x="4537710" y="2316956"/>
              <a:ext cx="174268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clean condition on the</a:t>
              </a:r>
            </a:p>
          </p:txBody>
        </p:sp>
        <p:sp>
          <p:nvSpPr>
            <p:cNvPr id="29" name="TextBox 29"/>
            <p:cNvSpPr txBox="1"/>
            <p:nvPr/>
          </p:nvSpPr>
          <p:spPr>
            <a:xfrm>
              <a:off x="4537710" y="2526506"/>
              <a:ext cx="173025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feature density: radial</a:t>
              </a:r>
            </a:p>
          </p:txBody>
        </p:sp>
        <p:sp>
          <p:nvSpPr>
            <p:cNvPr id="30" name="TextBox 30"/>
            <p:cNvSpPr txBox="1"/>
            <p:nvPr/>
          </p:nvSpPr>
          <p:spPr>
            <a:xfrm>
              <a:off x="4537710" y="2736056"/>
              <a:ext cx="110173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Lipschitzness.</a:t>
              </a:r>
            </a:p>
          </p:txBody>
        </p:sp>
        <p:sp>
          <p:nvSpPr>
            <p:cNvPr id="31" name="Rectangle 31"/>
            <p:cNvSpPr/>
            <p:nvPr/>
          </p:nvSpPr>
          <p:spPr>
            <a:xfrm>
              <a:off x="4543425" y="3048000"/>
              <a:ext cx="3095625" cy="876300"/>
            </a:xfrm>
            <a:prstGeom prst="roundRect">
              <a:avLst>
                <a:gd name="adj" fmla="val 10870"/>
              </a:avLst>
            </a:prstGeom>
            <a:solidFill>
              <a:srgbClr val="EEF4FF"/>
            </a:solidFill>
            <a:ln w="11906">
              <a:solidFill>
                <a:srgbClr val="BFD4FE"/>
              </a:solidFill>
            </a:ln>
          </p:spPr>
        </p:sp>
        <p:sp>
          <p:nvSpPr>
            <p:cNvPr id="32" name="TextBox 32"/>
            <p:cNvSpPr txBox="1"/>
            <p:nvPr/>
          </p:nvSpPr>
          <p:spPr>
            <a:xfrm>
              <a:off x="4728591" y="3239452"/>
              <a:ext cx="198697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Under it, logistic regression</a:t>
              </a:r>
            </a:p>
          </p:txBody>
        </p:sp>
        <p:sp>
          <p:nvSpPr>
            <p:cNvPr id="33" name="TextBox 33"/>
            <p:cNvSpPr txBox="1"/>
            <p:nvPr/>
          </p:nvSpPr>
          <p:spPr>
            <a:xfrm>
              <a:off x="4728591" y="3449002"/>
              <a:ext cx="15796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alone already reaches:</a:t>
              </a:r>
            </a:p>
          </p:txBody>
        </p:sp>
        <p:sp>
          <p:nvSpPr>
            <p:cNvPr id="34" name="TextBox 34"/>
            <p:cNvSpPr txBox="1"/>
            <p:nvPr/>
          </p:nvSpPr>
          <p:spPr>
            <a:xfrm>
              <a:off x="5646839" y="3631882"/>
              <a:ext cx="879272"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Consolas"/>
                  <a:ea typeface="Consolas"/>
                  <a:cs typeface="Consolas"/>
                </a:rPr>
                <a:t>Õ(OPT)</a:t>
              </a:r>
            </a:p>
          </p:txBody>
        </p:sp>
        <p:sp>
          <p:nvSpPr>
            <p:cNvPr id="35" name="TextBox 35"/>
            <p:cNvSpPr txBox="1"/>
            <p:nvPr/>
          </p:nvSpPr>
          <p:spPr>
            <a:xfrm>
              <a:off x="4538091" y="4134802"/>
              <a:ext cx="24416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near-optimal order-OPT rate —</a:t>
              </a:r>
            </a:p>
          </p:txBody>
        </p:sp>
        <p:sp>
          <p:nvSpPr>
            <p:cNvPr id="36" name="TextBox 36"/>
            <p:cNvSpPr txBox="1"/>
            <p:nvPr/>
          </p:nvSpPr>
          <p:spPr>
            <a:xfrm>
              <a:off x="4538091" y="4325302"/>
              <a:ext cx="23853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 algorithmic change needed when</a:t>
              </a:r>
            </a:p>
          </p:txBody>
        </p:sp>
        <p:sp>
          <p:nvSpPr>
            <p:cNvPr id="37" name="TextBox 37"/>
            <p:cNvSpPr txBox="1"/>
            <p:nvPr/>
          </p:nvSpPr>
          <p:spPr>
            <a:xfrm>
              <a:off x="4538091" y="4515802"/>
              <a:ext cx="21309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density is radially smooth.</a:t>
              </a:r>
            </a:p>
          </p:txBody>
        </p:sp>
      </p:grpSp>
      <p:grpSp>
        <p:nvGrpSpPr>
          <p:cNvPr id="60" name="Group 60"/>
          <p:cNvGrpSpPr/>
          <p:nvPr/>
        </p:nvGrpSpPr>
        <p:grpSpPr>
          <a:xfrm>
            <a:off x="8058150" y="1428750"/>
            <a:ext cx="3562350" cy="3619500"/>
            <a:chOff x="8058150" y="1428750"/>
            <a:chExt cx="3562350" cy="3619500"/>
          </a:xfrm>
        </p:grpSpPr>
        <p:sp>
          <p:nvSpPr>
            <p:cNvPr id="39" name="Rectangle 39"/>
            <p:cNvSpPr/>
            <p:nvPr/>
          </p:nvSpPr>
          <p:spPr>
            <a:xfrm>
              <a:off x="8058150" y="1428750"/>
              <a:ext cx="3562350" cy="3619500"/>
            </a:xfrm>
            <a:prstGeom prst="roundRect">
              <a:avLst>
                <a:gd name="adj" fmla="val 3209"/>
              </a:avLst>
            </a:prstGeom>
            <a:solidFill>
              <a:schemeClr val="accent1"/>
            </a:solidFill>
            <a:ln>
              <a:noFill/>
            </a:ln>
            <a:effectLst>
              <a:outerShdw blurRad="76200" dist="19050" dir="5400000" algn="ctr" rotWithShape="0">
                <a:srgbClr val="12233B">
                  <a:alpha val="4500"/>
                </a:srgbClr>
              </a:outerShdw>
            </a:effectLst>
          </p:spPr>
        </p:sp>
        <p:sp>
          <p:nvSpPr>
            <p:cNvPr id="40" name="Rectangle 40"/>
            <p:cNvSpPr/>
            <p:nvPr/>
          </p:nvSpPr>
          <p:spPr>
            <a:xfrm>
              <a:off x="8058150" y="1428750"/>
              <a:ext cx="3562350" cy="57150"/>
            </a:xfrm>
            <a:prstGeom prst="roundRect">
              <a:avLst>
                <a:gd name="adj" fmla="val 50000"/>
              </a:avLst>
            </a:prstGeom>
            <a:solidFill>
              <a:schemeClr val="accent5"/>
            </a:solidFill>
            <a:ln>
              <a:noFill/>
            </a:ln>
          </p:spPr>
        </p:sp>
        <p:sp>
          <p:nvSpPr>
            <p:cNvPr id="41" name="Ellipse 41"/>
            <p:cNvSpPr/>
            <p:nvPr/>
          </p:nvSpPr>
          <p:spPr>
            <a:xfrm>
              <a:off x="8248650" y="1695450"/>
              <a:ext cx="342900" cy="342900"/>
            </a:xfrm>
            <a:prstGeom prst="ellipse">
              <a:avLst/>
            </a:prstGeom>
            <a:solidFill>
              <a:schemeClr val="accent5"/>
            </a:solidFill>
            <a:ln>
              <a:noFill/>
            </a:ln>
          </p:spPr>
        </p:sp>
        <p:sp>
          <p:nvSpPr>
            <p:cNvPr id="42" name="TextBox 42"/>
            <p:cNvSpPr txBox="1"/>
            <p:nvPr/>
          </p:nvSpPr>
          <p:spPr>
            <a:xfrm>
              <a:off x="8357795" y="1778318"/>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43" name="TextBox 43"/>
            <p:cNvSpPr txBox="1"/>
            <p:nvPr/>
          </p:nvSpPr>
          <p:spPr>
            <a:xfrm>
              <a:off x="8701088" y="1731645"/>
              <a:ext cx="1148334"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THE ALGORITHM</a:t>
              </a:r>
            </a:p>
          </p:txBody>
        </p:sp>
        <p:sp>
          <p:nvSpPr>
            <p:cNvPr id="44" name="TextBox 44"/>
            <p:cNvSpPr txBox="1"/>
            <p:nvPr/>
          </p:nvSpPr>
          <p:spPr>
            <a:xfrm>
              <a:off x="8699373" y="1881664"/>
              <a:ext cx="175982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j-lt"/>
                  <a:ea typeface="+mj-ea"/>
                  <a:cs typeface="+mj-cs"/>
                </a:rPr>
                <a:t>Two-phase, simple</a:t>
              </a:r>
            </a:p>
          </p:txBody>
        </p:sp>
        <p:grpSp>
          <p:nvGrpSpPr>
            <p:cNvPr id="50" name="Group 50"/>
            <p:cNvGrpSpPr/>
            <p:nvPr/>
          </p:nvGrpSpPr>
          <p:grpSpPr>
            <a:xfrm>
              <a:off x="8286750" y="2324100"/>
              <a:ext cx="3105150" cy="790289"/>
              <a:chOff x="8286750" y="2324100"/>
              <a:chExt cx="3105150" cy="790289"/>
            </a:xfrm>
          </p:grpSpPr>
          <p:sp>
            <p:nvSpPr>
              <p:cNvPr id="45" name="Rectangle 45"/>
              <p:cNvSpPr/>
              <p:nvPr/>
            </p:nvSpPr>
            <p:spPr>
              <a:xfrm>
                <a:off x="8286750" y="2324100"/>
                <a:ext cx="3105150" cy="781050"/>
              </a:xfrm>
              <a:prstGeom prst="roundRect">
                <a:avLst>
                  <a:gd name="adj" fmla="val 12195"/>
                </a:avLst>
              </a:prstGeom>
              <a:solidFill>
                <a:srgbClr val="1B3252"/>
              </a:solidFill>
              <a:ln>
                <a:noFill/>
              </a:ln>
            </p:spPr>
          </p:sp>
          <p:sp>
            <p:nvSpPr>
              <p:cNvPr id="46" name="Rectangle 46"/>
              <p:cNvSpPr/>
              <p:nvPr/>
            </p:nvSpPr>
            <p:spPr>
              <a:xfrm>
                <a:off x="8286750" y="2324100"/>
                <a:ext cx="76200" cy="781050"/>
              </a:xfrm>
              <a:prstGeom prst="roundRect">
                <a:avLst>
                  <a:gd name="adj" fmla="val 50000"/>
                </a:avLst>
              </a:prstGeom>
              <a:solidFill>
                <a:schemeClr val="accent2"/>
              </a:solidFill>
              <a:ln>
                <a:noFill/>
              </a:ln>
            </p:spPr>
          </p:sp>
          <p:sp>
            <p:nvSpPr>
              <p:cNvPr id="47" name="TextBox 47"/>
              <p:cNvSpPr txBox="1"/>
              <p:nvPr/>
            </p:nvSpPr>
            <p:spPr>
              <a:xfrm>
                <a:off x="8491538" y="2493645"/>
                <a:ext cx="557433" cy="176212"/>
              </a:xfrm>
              <a:prstGeom prst="rect">
                <a:avLst/>
              </a:prstGeom>
              <a:noFill/>
              <a:ln>
                <a:noFill/>
              </a:ln>
            </p:spPr>
            <p:txBody>
              <a:bodyPr wrap="none" lIns="0" tIns="0" rIns="0" bIns="0" anchor="t" anchorCtr="0">
                <a:spAutoFit/>
              </a:bodyPr>
              <a:lstStyle/>
              <a:p>
                <a:pPr algn="l"/>
                <a:r>
                  <a:rPr lang="en-US" sz="900" b="1" spc="75" dirty="0">
                    <a:solidFill>
                      <a:srgbClr val="8FB6FF"/>
                    </a:solidFill>
                    <a:latin typeface="+mn-lt"/>
                    <a:ea typeface="+mn-ea"/>
                    <a:cs typeface="+mn-cs"/>
                  </a:rPr>
                  <a:t>PHASE 1</a:t>
                </a:r>
              </a:p>
            </p:txBody>
          </p:sp>
          <p:sp>
            <p:nvSpPr>
              <p:cNvPr id="48" name="TextBox 48"/>
              <p:cNvSpPr txBox="1"/>
              <p:nvPr/>
            </p:nvSpPr>
            <p:spPr>
              <a:xfrm>
                <a:off x="8490585" y="2717006"/>
                <a:ext cx="1512194"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Logistic regression</a:t>
                </a:r>
              </a:p>
            </p:txBody>
          </p:sp>
          <p:sp>
            <p:nvSpPr>
              <p:cNvPr id="49" name="TextBox 49"/>
              <p:cNvSpPr txBox="1"/>
              <p:nvPr/>
            </p:nvSpPr>
            <p:spPr>
              <a:xfrm>
                <a:off x="8491347" y="2923699"/>
                <a:ext cx="1751350"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warm-start direction v ≈ ū</a:t>
                </a:r>
              </a:p>
            </p:txBody>
          </p:sp>
        </p:grpSp>
        <p:sp>
          <p:nvSpPr>
            <p:cNvPr id="51" name="TextBox 51"/>
            <p:cNvSpPr txBox="1"/>
            <p:nvPr/>
          </p:nvSpPr>
          <p:spPr>
            <a:xfrm>
              <a:off x="9782489" y="3130868"/>
              <a:ext cx="113671" cy="264033"/>
            </a:xfrm>
            <a:prstGeom prst="rect">
              <a:avLst/>
            </a:prstGeom>
            <a:noFill/>
            <a:ln>
              <a:noFill/>
            </a:ln>
          </p:spPr>
          <p:txBody>
            <a:bodyPr wrap="none" lIns="0" tIns="0" rIns="0" bIns="0" anchor="t" anchorCtr="0">
              <a:spAutoFit/>
            </a:bodyPr>
            <a:lstStyle/>
            <a:p>
              <a:pPr algn="ctr"/>
              <a:r>
                <a:rPr lang="en-US" sz="1350" dirty="0">
                  <a:solidFill>
                    <a:srgbClr val="7FE0B6"/>
                  </a:solidFill>
                  <a:latin typeface="+mn-lt"/>
                  <a:ea typeface="+mn-ea"/>
                  <a:cs typeface="+mn-cs"/>
                </a:rPr>
                <a:t>↓</a:t>
              </a:r>
            </a:p>
          </p:txBody>
        </p:sp>
        <p:grpSp>
          <p:nvGrpSpPr>
            <p:cNvPr id="57" name="Group 57"/>
            <p:cNvGrpSpPr/>
            <p:nvPr/>
          </p:nvGrpSpPr>
          <p:grpSpPr>
            <a:xfrm>
              <a:off x="8286750" y="3352800"/>
              <a:ext cx="3105150" cy="790289"/>
              <a:chOff x="8286750" y="3352800"/>
              <a:chExt cx="3105150" cy="790289"/>
            </a:xfrm>
          </p:grpSpPr>
          <p:sp>
            <p:nvSpPr>
              <p:cNvPr id="52" name="Rectangle 52"/>
              <p:cNvSpPr/>
              <p:nvPr/>
            </p:nvSpPr>
            <p:spPr>
              <a:xfrm>
                <a:off x="8286750" y="3352800"/>
                <a:ext cx="3105150" cy="781050"/>
              </a:xfrm>
              <a:prstGeom prst="roundRect">
                <a:avLst>
                  <a:gd name="adj" fmla="val 12195"/>
                </a:avLst>
              </a:prstGeom>
              <a:solidFill>
                <a:srgbClr val="123A2C"/>
              </a:solidFill>
              <a:ln>
                <a:noFill/>
              </a:ln>
            </p:spPr>
          </p:sp>
          <p:sp>
            <p:nvSpPr>
              <p:cNvPr id="53" name="Rectangle 53"/>
              <p:cNvSpPr/>
              <p:nvPr/>
            </p:nvSpPr>
            <p:spPr>
              <a:xfrm>
                <a:off x="8286750" y="3352800"/>
                <a:ext cx="76200" cy="781050"/>
              </a:xfrm>
              <a:prstGeom prst="roundRect">
                <a:avLst>
                  <a:gd name="adj" fmla="val 50000"/>
                </a:avLst>
              </a:prstGeom>
              <a:solidFill>
                <a:schemeClr val="accent5"/>
              </a:solidFill>
              <a:ln>
                <a:noFill/>
              </a:ln>
            </p:spPr>
          </p:sp>
          <p:sp>
            <p:nvSpPr>
              <p:cNvPr id="54" name="TextBox 54"/>
              <p:cNvSpPr txBox="1"/>
              <p:nvPr/>
            </p:nvSpPr>
            <p:spPr>
              <a:xfrm>
                <a:off x="8491538" y="3522345"/>
                <a:ext cx="557433" cy="176212"/>
              </a:xfrm>
              <a:prstGeom prst="rect">
                <a:avLst/>
              </a:prstGeom>
              <a:noFill/>
              <a:ln>
                <a:noFill/>
              </a:ln>
            </p:spPr>
            <p:txBody>
              <a:bodyPr wrap="none" lIns="0" tIns="0" rIns="0" bIns="0" anchor="t" anchorCtr="0">
                <a:spAutoFit/>
              </a:bodyPr>
              <a:lstStyle/>
              <a:p>
                <a:pPr algn="l"/>
                <a:r>
                  <a:rPr lang="en-US" sz="900" b="1" spc="75" dirty="0">
                    <a:solidFill>
                      <a:srgbClr val="7FE0B6"/>
                    </a:solidFill>
                    <a:latin typeface="+mn-lt"/>
                    <a:ea typeface="+mn-ea"/>
                    <a:cs typeface="+mn-cs"/>
                  </a:rPr>
                  <a:t>PHASE 2</a:t>
                </a:r>
              </a:p>
            </p:txBody>
          </p:sp>
          <p:sp>
            <p:nvSpPr>
              <p:cNvPr id="55" name="TextBox 55"/>
              <p:cNvSpPr txBox="1"/>
              <p:nvPr/>
            </p:nvSpPr>
            <p:spPr>
              <a:xfrm>
                <a:off x="8490585" y="3745706"/>
                <a:ext cx="1861272"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Perceptron / hinge step</a:t>
                </a:r>
              </a:p>
            </p:txBody>
          </p:sp>
          <p:sp>
            <p:nvSpPr>
              <p:cNvPr id="56" name="TextBox 56"/>
              <p:cNvSpPr txBox="1"/>
              <p:nvPr/>
            </p:nvSpPr>
            <p:spPr>
              <a:xfrm>
                <a:off x="8491347" y="3952399"/>
                <a:ext cx="1738203"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SGD on a restricted domain</a:t>
                </a:r>
              </a:p>
            </p:txBody>
          </p:sp>
        </p:grpSp>
        <p:sp>
          <p:nvSpPr>
            <p:cNvPr id="58" name="TextBox 58"/>
            <p:cNvSpPr txBox="1"/>
            <p:nvPr/>
          </p:nvSpPr>
          <p:spPr>
            <a:xfrm>
              <a:off x="8281416" y="4325302"/>
              <a:ext cx="2708168"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Warm-started at the logistic solution,</a:t>
              </a:r>
            </a:p>
          </p:txBody>
        </p:sp>
        <p:sp>
          <p:nvSpPr>
            <p:cNvPr id="59" name="TextBox 59"/>
            <p:cNvSpPr txBox="1"/>
            <p:nvPr/>
          </p:nvSpPr>
          <p:spPr>
            <a:xfrm>
              <a:off x="8281416" y="4515802"/>
              <a:ext cx="2081460"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confined to a bounded domain.</a:t>
              </a:r>
            </a:p>
          </p:txBody>
        </p:sp>
      </p:grpSp>
      <p:grpSp>
        <p:nvGrpSpPr>
          <p:cNvPr id="69" name="Group 69"/>
          <p:cNvGrpSpPr/>
          <p:nvPr/>
        </p:nvGrpSpPr>
        <p:grpSpPr>
          <a:xfrm>
            <a:off x="571500" y="5200650"/>
            <a:ext cx="11049000" cy="1066800"/>
            <a:chOff x="571500" y="5200650"/>
            <a:chExt cx="11049000" cy="1066800"/>
          </a:xfrm>
        </p:grpSpPr>
        <p:sp>
          <p:nvSpPr>
            <p:cNvPr id="61" name="Rectangle 61"/>
            <p:cNvSpPr/>
            <p:nvPr/>
          </p:nvSpPr>
          <p:spPr>
            <a:xfrm>
              <a:off x="571500" y="5200650"/>
              <a:ext cx="11049000" cy="1066800"/>
            </a:xfrm>
            <a:prstGeom prst="roundRect">
              <a:avLst>
                <a:gd name="adj" fmla="val 10714"/>
              </a:avLst>
            </a:prstGeom>
            <a:solidFill>
              <a:schemeClr val="lt2"/>
            </a:solidFill>
            <a:ln w="14288">
              <a:solidFill>
                <a:schemeClr val="accent4"/>
              </a:solidFill>
            </a:ln>
          </p:spPr>
        </p:sp>
        <p:sp>
          <p:nvSpPr>
            <p:cNvPr id="62" name="Rectangle 62"/>
            <p:cNvSpPr/>
            <p:nvPr/>
          </p:nvSpPr>
          <p:spPr>
            <a:xfrm>
              <a:off x="571500" y="5200650"/>
              <a:ext cx="57150" cy="1066800"/>
            </a:xfrm>
            <a:prstGeom prst="roundRect">
              <a:avLst>
                <a:gd name="adj" fmla="val 50000"/>
              </a:avLst>
            </a:prstGeom>
            <a:solidFill>
              <a:schemeClr val="accent5"/>
            </a:solidFill>
            <a:ln>
              <a:noFill/>
            </a:ln>
          </p:spPr>
        </p:sp>
        <p:sp>
          <p:nvSpPr>
            <p:cNvPr id="63" name="TextBox 63"/>
            <p:cNvSpPr txBox="1"/>
            <p:nvPr/>
          </p:nvSpPr>
          <p:spPr>
            <a:xfrm>
              <a:off x="833438" y="5389245"/>
              <a:ext cx="885474"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THE PAYOFF</a:t>
              </a:r>
            </a:p>
          </p:txBody>
        </p:sp>
        <p:sp>
          <p:nvSpPr>
            <p:cNvPr id="64" name="TextBox 64"/>
            <p:cNvSpPr txBox="1"/>
            <p:nvPr/>
          </p:nvSpPr>
          <p:spPr>
            <a:xfrm>
              <a:off x="830580" y="5610225"/>
              <a:ext cx="623785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Near-optimal error for every well-behaved distribution.</a:t>
              </a:r>
            </a:p>
          </p:txBody>
        </p:sp>
        <p:sp>
          <p:nvSpPr>
            <p:cNvPr id="65" name="TextBox 65"/>
            <p:cNvSpPr txBox="1"/>
            <p:nvPr/>
          </p:nvSpPr>
          <p:spPr>
            <a:xfrm>
              <a:off x="832485" y="5936456"/>
              <a:ext cx="696555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No radial-Lipschitz assumption needed — just one extra convex step vs O(log(1/OPT)) before.</a:t>
              </a:r>
            </a:p>
          </p:txBody>
        </p:sp>
        <p:sp>
          <p:nvSpPr>
            <p:cNvPr id="66" name="Rectangle 66"/>
            <p:cNvSpPr/>
            <p:nvPr/>
          </p:nvSpPr>
          <p:spPr>
            <a:xfrm>
              <a:off x="9334500" y="5391150"/>
              <a:ext cx="2095500" cy="704850"/>
            </a:xfrm>
            <a:prstGeom prst="roundRect">
              <a:avLst>
                <a:gd name="adj" fmla="val 13514"/>
              </a:avLst>
            </a:prstGeom>
            <a:solidFill>
              <a:schemeClr val="lt1"/>
            </a:solidFill>
            <a:ln w="11906">
              <a:solidFill>
                <a:schemeClr val="accent4"/>
              </a:solidFill>
            </a:ln>
          </p:spPr>
        </p:sp>
        <p:sp>
          <p:nvSpPr>
            <p:cNvPr id="67" name="TextBox 67"/>
            <p:cNvSpPr txBox="1"/>
            <p:nvPr/>
          </p:nvSpPr>
          <p:spPr>
            <a:xfrm>
              <a:off x="9457152" y="5482590"/>
              <a:ext cx="1850197"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Consolas"/>
                  <a:ea typeface="Consolas"/>
                  <a:cs typeface="Consolas"/>
                </a:rPr>
                <a:t>2 convex steps</a:t>
              </a:r>
            </a:p>
          </p:txBody>
        </p:sp>
        <p:sp>
          <p:nvSpPr>
            <p:cNvPr id="68" name="TextBox 68"/>
            <p:cNvSpPr txBox="1"/>
            <p:nvPr/>
          </p:nvSpPr>
          <p:spPr>
            <a:xfrm>
              <a:off x="9553695" y="5819299"/>
              <a:ext cx="1657109"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vs O(log(1/OPT)) before</a:t>
              </a:r>
            </a:p>
          </p:txBody>
        </p:sp>
      </p:grpSp>
      <p:grpSp>
        <p:nvGrpSpPr>
          <p:cNvPr id="73" name="Group 73"/>
          <p:cNvGrpSpPr/>
          <p:nvPr/>
        </p:nvGrpSpPr>
        <p:grpSpPr>
          <a:xfrm>
            <a:off x="571500" y="6521291"/>
            <a:ext cx="11053762" cy="161925"/>
            <a:chOff x="571500" y="6521291"/>
            <a:chExt cx="11053762" cy="161925"/>
          </a:xfrm>
        </p:grpSpPr>
        <p:sp>
          <p:nvSpPr>
            <p:cNvPr id="70" name="Line 70"/>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71" name="TextBox 71"/>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72" name="TextBox 72"/>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04</a:t>
              </a:r>
            </a:p>
          </p:txBody>
        </p:sp>
      </p:grpSp>
      <p:sp>
        <p:nvSpPr>
          <p:cNvPr id="74" name="cue_s04_c1_makes_three_contributions_together_r" title="cue_s04_c1_makes_three_contributions_together_r" descr="cue_s04_c1_makes_three_contributions_together_r The paper makes three contributions that together resolve the gap. First, it constructs an explicit two-dimensional, isotropic, well-behaved distribution on which the global minimizer of the logistic risk provably attains square-root OPT zero-one error, matchi"/>
          <p:cNvSpPr/>
          <p:nvPr/>
        </p:nvSpPr>
        <p:spPr>
          <a:xfrm>
            <a:off x="571804" y="1428521"/>
            <a:ext cx="3552748"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4_c2_second_identifies_clean_sufficient_c" title="cue_s04_c2_second_identifies_clean_sufficient_c" descr="cue_s04_c2_second_identifies_clean_sufficient_c Second, it identifies a clean sufficient condition, radial Lipschitzness of the density, under which logistic regression does reach the near-optimal order-OPT rate."/>
          <p:cNvSpPr/>
          <p:nvPr/>
        </p:nvSpPr>
        <p:spPr>
          <a:xfrm>
            <a:off x="4314748" y="1428521"/>
            <a:ext cx="3552748"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4_c3_third_most_usefully_introduces_simpl" title="cue_s04_c3_third_most_usefully_introduces_simpl" descr="cue_s04_c3_third_most_usefully_introduces_simpl Third, and most usefully, it introduces a simple two-phase algorithm: run logistic regression, then run a perceptron-style hinge-loss step from that warm start on a restricted domain."/>
          <p:cNvSpPr/>
          <p:nvPr/>
        </p:nvSpPr>
        <p:spPr>
          <a:xfrm>
            <a:off x="8057692" y="1428521"/>
            <a:ext cx="3562502"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ue_s04_c4_attains_near_optimal_error_every_wel" title="cue_s04_c4_attains_near_optimal_error_every_wel" descr="cue_s04_c4_attains_near_optimal_error_every_wel This attains near-optimal error for every well-behaved distribution without the radial-Lipschitz assumption, at the cost of just one additional convex optimization, and it is far simpler than prior algorithms that required solving a logarithmic number of minim"/>
          <p:cNvSpPr/>
          <p:nvPr/>
        </p:nvSpPr>
        <p:spPr>
          <a:xfrm>
            <a:off x="571804" y="5200421"/>
            <a:ext cx="110483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38150"/>
            <a:ext cx="7320113" cy="656939"/>
            <a:chOff x="571500" y="438150"/>
            <a:chExt cx="7320113" cy="656939"/>
          </a:xfrm>
        </p:grpSpPr>
        <p:sp>
          <p:nvSpPr>
            <p:cNvPr id="2" name="Rectangle 2"/>
            <p:cNvSpPr/>
            <p:nvPr/>
          </p:nvSpPr>
          <p:spPr>
            <a:xfrm>
              <a:off x="571500" y="438150"/>
              <a:ext cx="57150" cy="400050"/>
            </a:xfrm>
            <a:prstGeom prst="rect">
              <a:avLst/>
            </a:prstGeom>
            <a:solidFill>
              <a:schemeClr val="accent2"/>
            </a:solidFill>
            <a:ln>
              <a:noFill/>
            </a:ln>
          </p:spPr>
        </p:sp>
        <p:sp>
          <p:nvSpPr>
            <p:cNvPr id="3" name="TextBox 3"/>
            <p:cNvSpPr txBox="1"/>
            <p:nvPr/>
          </p:nvSpPr>
          <p:spPr>
            <a:xfrm>
              <a:off x="787146" y="467678"/>
              <a:ext cx="710446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Method: two convex losses, one angle</a:t>
              </a:r>
            </a:p>
          </p:txBody>
        </p:sp>
        <p:sp>
          <p:nvSpPr>
            <p:cNvPr id="4" name="TextBox 4"/>
            <p:cNvSpPr txBox="1"/>
            <p:nvPr/>
          </p:nvSpPr>
          <p:spPr>
            <a:xfrm>
              <a:off x="795147" y="904399"/>
              <a:ext cx="565675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LOGISTIC + HINGE · LOWER BOUND · TWO-PHASE ALGORITHM</a:t>
              </a:r>
            </a:p>
          </p:txBody>
        </p:sp>
      </p:grpSp>
      <p:grpSp>
        <p:nvGrpSpPr>
          <p:cNvPr id="18" name="Group 18"/>
          <p:cNvGrpSpPr/>
          <p:nvPr/>
        </p:nvGrpSpPr>
        <p:grpSpPr>
          <a:xfrm>
            <a:off x="571500" y="1181100"/>
            <a:ext cx="11049000" cy="933450"/>
            <a:chOff x="571500" y="1181100"/>
            <a:chExt cx="11049000" cy="933450"/>
          </a:xfrm>
        </p:grpSpPr>
        <p:sp>
          <p:nvSpPr>
            <p:cNvPr id="6" name="Rectangle 6"/>
            <p:cNvSpPr/>
            <p:nvPr/>
          </p:nvSpPr>
          <p:spPr>
            <a:xfrm>
              <a:off x="571500" y="1181100"/>
              <a:ext cx="11049000" cy="933450"/>
            </a:xfrm>
            <a:prstGeom prst="roundRect">
              <a:avLst>
                <a:gd name="adj" fmla="val 12245"/>
              </a:avLst>
            </a:prstGeom>
            <a:solidFill>
              <a:schemeClr val="lt2"/>
            </a:solidFill>
            <a:ln w="14288">
              <a:solidFill>
                <a:schemeClr val="accent4"/>
              </a:solidFill>
            </a:ln>
          </p:spPr>
        </p:sp>
        <p:sp>
          <p:nvSpPr>
            <p:cNvPr id="7" name="Rectangle 7"/>
            <p:cNvSpPr/>
            <p:nvPr/>
          </p:nvSpPr>
          <p:spPr>
            <a:xfrm>
              <a:off x="571500" y="1181100"/>
              <a:ext cx="57150" cy="933450"/>
            </a:xfrm>
            <a:prstGeom prst="roundRect">
              <a:avLst>
                <a:gd name="adj" fmla="val 50000"/>
              </a:avLst>
            </a:prstGeom>
            <a:solidFill>
              <a:schemeClr val="accent1"/>
            </a:solidFill>
            <a:ln>
              <a:noFill/>
            </a:ln>
          </p:spPr>
        </p:sp>
        <p:sp>
          <p:nvSpPr>
            <p:cNvPr id="8" name="TextBox 8"/>
            <p:cNvSpPr txBox="1"/>
            <p:nvPr/>
          </p:nvSpPr>
          <p:spPr>
            <a:xfrm>
              <a:off x="833438" y="1331595"/>
              <a:ext cx="366690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TECHNICAL CORE — TWO CONVEX SURROGATES</a:t>
              </a:r>
            </a:p>
          </p:txBody>
        </p:sp>
        <p:sp>
          <p:nvSpPr>
            <p:cNvPr id="9" name="Rectangle 9"/>
            <p:cNvSpPr/>
            <p:nvPr/>
          </p:nvSpPr>
          <p:spPr>
            <a:xfrm>
              <a:off x="838200" y="1543050"/>
              <a:ext cx="3352800" cy="457200"/>
            </a:xfrm>
            <a:prstGeom prst="roundRect">
              <a:avLst>
                <a:gd name="adj" fmla="val 16667"/>
              </a:avLst>
            </a:prstGeom>
            <a:solidFill>
              <a:schemeClr val="lt1"/>
            </a:solidFill>
            <a:ln w="9525">
              <a:solidFill>
                <a:schemeClr val="accent4"/>
              </a:solidFill>
            </a:ln>
          </p:spPr>
        </p:sp>
        <p:sp>
          <p:nvSpPr>
            <p:cNvPr id="10" name="TextBox 10"/>
            <p:cNvSpPr txBox="1"/>
            <p:nvPr/>
          </p:nvSpPr>
          <p:spPr>
            <a:xfrm>
              <a:off x="985838" y="1644491"/>
              <a:ext cx="842312" cy="161925"/>
            </a:xfrm>
            <a:prstGeom prst="rect">
              <a:avLst/>
            </a:prstGeom>
            <a:noFill/>
            <a:ln>
              <a:noFill/>
            </a:ln>
          </p:spPr>
          <p:txBody>
            <a:bodyPr wrap="none" lIns="0" tIns="0" rIns="0" bIns="0" anchor="t" anchorCtr="0">
              <a:spAutoFit/>
            </a:bodyPr>
            <a:lstStyle/>
            <a:p>
              <a:pPr algn="l"/>
              <a:r>
                <a:rPr lang="en-US" sz="820" b="1" dirty="0">
                  <a:solidFill>
                    <a:schemeClr val="accent2"/>
                  </a:solidFill>
                  <a:latin typeface="+mn-lt"/>
                  <a:ea typeface="+mn-ea"/>
                  <a:cs typeface="+mn-cs"/>
                </a:rPr>
                <a:t>LOGISTIC LOSS</a:t>
              </a:r>
            </a:p>
          </p:txBody>
        </p:sp>
        <p:sp>
          <p:nvSpPr>
            <p:cNvPr id="11" name="TextBox 11"/>
            <p:cNvSpPr txBox="1"/>
            <p:nvPr/>
          </p:nvSpPr>
          <p:spPr>
            <a:xfrm>
              <a:off x="984504" y="1794510"/>
              <a:ext cx="2090052"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ℓ_log(z) = ln(1 + e^(−z))</a:t>
              </a:r>
            </a:p>
          </p:txBody>
        </p:sp>
        <p:sp>
          <p:nvSpPr>
            <p:cNvPr id="12" name="Rectangle 12"/>
            <p:cNvSpPr/>
            <p:nvPr/>
          </p:nvSpPr>
          <p:spPr>
            <a:xfrm>
              <a:off x="4343400" y="1543050"/>
              <a:ext cx="3143250" cy="457200"/>
            </a:xfrm>
            <a:prstGeom prst="roundRect">
              <a:avLst>
                <a:gd name="adj" fmla="val 16667"/>
              </a:avLst>
            </a:prstGeom>
            <a:solidFill>
              <a:schemeClr val="lt1"/>
            </a:solidFill>
            <a:ln w="9525">
              <a:solidFill>
                <a:schemeClr val="accent4"/>
              </a:solidFill>
            </a:ln>
          </p:spPr>
        </p:sp>
        <p:sp>
          <p:nvSpPr>
            <p:cNvPr id="13" name="TextBox 13"/>
            <p:cNvSpPr txBox="1"/>
            <p:nvPr/>
          </p:nvSpPr>
          <p:spPr>
            <a:xfrm>
              <a:off x="4491038" y="1644491"/>
              <a:ext cx="646362" cy="161925"/>
            </a:xfrm>
            <a:prstGeom prst="rect">
              <a:avLst/>
            </a:prstGeom>
            <a:noFill/>
            <a:ln>
              <a:noFill/>
            </a:ln>
          </p:spPr>
          <p:txBody>
            <a:bodyPr wrap="none" lIns="0" tIns="0" rIns="0" bIns="0" anchor="t" anchorCtr="0">
              <a:spAutoFit/>
            </a:bodyPr>
            <a:lstStyle/>
            <a:p>
              <a:pPr algn="l"/>
              <a:r>
                <a:rPr lang="en-US" sz="820" b="1" dirty="0">
                  <a:solidFill>
                    <a:schemeClr val="accent5"/>
                  </a:solidFill>
                  <a:latin typeface="+mn-lt"/>
                  <a:ea typeface="+mn-ea"/>
                  <a:cs typeface="+mn-cs"/>
                </a:rPr>
                <a:t>HINGE LOSS</a:t>
              </a:r>
            </a:p>
          </p:txBody>
        </p:sp>
        <p:sp>
          <p:nvSpPr>
            <p:cNvPr id="14" name="TextBox 14"/>
            <p:cNvSpPr txBox="1"/>
            <p:nvPr/>
          </p:nvSpPr>
          <p:spPr>
            <a:xfrm>
              <a:off x="4489704" y="1794510"/>
              <a:ext cx="1691442"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ℓ_h(z) = max{−z, 0}</a:t>
              </a:r>
            </a:p>
          </p:txBody>
        </p:sp>
        <p:sp>
          <p:nvSpPr>
            <p:cNvPr id="15" name="Rectangle 15"/>
            <p:cNvSpPr/>
            <p:nvPr/>
          </p:nvSpPr>
          <p:spPr>
            <a:xfrm>
              <a:off x="7639050" y="1543050"/>
              <a:ext cx="3771900" cy="457200"/>
            </a:xfrm>
            <a:prstGeom prst="roundRect">
              <a:avLst>
                <a:gd name="adj" fmla="val 16667"/>
              </a:avLst>
            </a:prstGeom>
            <a:solidFill>
              <a:schemeClr val="lt1"/>
            </a:solidFill>
            <a:ln w="9525">
              <a:solidFill>
                <a:schemeClr val="accent4"/>
              </a:solidFill>
            </a:ln>
          </p:spPr>
        </p:sp>
        <p:sp>
          <p:nvSpPr>
            <p:cNvPr id="16" name="TextBox 16"/>
            <p:cNvSpPr txBox="1"/>
            <p:nvPr/>
          </p:nvSpPr>
          <p:spPr>
            <a:xfrm>
              <a:off x="7786688" y="1644491"/>
              <a:ext cx="854559"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EMPIRICAL RISK</a:t>
              </a:r>
            </a:p>
          </p:txBody>
        </p:sp>
        <p:sp>
          <p:nvSpPr>
            <p:cNvPr id="17" name="TextBox 17"/>
            <p:cNvSpPr txBox="1"/>
            <p:nvPr/>
          </p:nvSpPr>
          <p:spPr>
            <a:xfrm>
              <a:off x="7785354" y="1794510"/>
              <a:ext cx="2709695"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Consolas"/>
                  <a:ea typeface="Consolas"/>
                  <a:cs typeface="Consolas"/>
                </a:rPr>
                <a:t>R̂_ℓ(w) = (1/n) Σᵢ ℓ(yᵢ⟨w, xᵢ⟩)</a:t>
              </a:r>
            </a:p>
          </p:txBody>
        </p:sp>
      </p:grpSp>
      <p:grpSp>
        <p:nvGrpSpPr>
          <p:cNvPr id="46" name="Group 46"/>
          <p:cNvGrpSpPr/>
          <p:nvPr/>
        </p:nvGrpSpPr>
        <p:grpSpPr>
          <a:xfrm>
            <a:off x="571500" y="2266950"/>
            <a:ext cx="3552825" cy="4019550"/>
            <a:chOff x="571500" y="2266950"/>
            <a:chExt cx="3552825" cy="4019550"/>
          </a:xfrm>
        </p:grpSpPr>
        <p:sp>
          <p:nvSpPr>
            <p:cNvPr id="19" name="Rectangle 19"/>
            <p:cNvSpPr/>
            <p:nvPr/>
          </p:nvSpPr>
          <p:spPr>
            <a:xfrm>
              <a:off x="571500" y="2266950"/>
              <a:ext cx="3552825" cy="401955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20" name="Rectangle 20"/>
            <p:cNvSpPr/>
            <p:nvPr/>
          </p:nvSpPr>
          <p:spPr>
            <a:xfrm>
              <a:off x="571500" y="2266950"/>
              <a:ext cx="3552825" cy="57150"/>
            </a:xfrm>
            <a:prstGeom prst="roundRect">
              <a:avLst>
                <a:gd name="adj" fmla="val 50000"/>
              </a:avLst>
            </a:prstGeom>
            <a:solidFill>
              <a:schemeClr val="accent3"/>
            </a:solidFill>
            <a:ln>
              <a:noFill/>
            </a:ln>
          </p:spPr>
        </p:sp>
        <p:sp>
          <p:nvSpPr>
            <p:cNvPr id="21" name="TextBox 21"/>
            <p:cNvSpPr txBox="1"/>
            <p:nvPr/>
          </p:nvSpPr>
          <p:spPr>
            <a:xfrm>
              <a:off x="795338" y="2493645"/>
              <a:ext cx="2240097"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LOWER BOUND — CONSTRUCT Q</a:t>
              </a:r>
            </a:p>
          </p:txBody>
        </p:sp>
        <p:sp>
          <p:nvSpPr>
            <p:cNvPr id="22" name="TextBox 22"/>
            <p:cNvSpPr txBox="1"/>
            <p:nvPr/>
          </p:nvSpPr>
          <p:spPr>
            <a:xfrm>
              <a:off x="793623" y="2662714"/>
              <a:ext cx="2570953"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A 4-part distribution on R²</a:t>
              </a:r>
            </a:p>
          </p:txBody>
        </p:sp>
        <p:grpSp>
          <p:nvGrpSpPr>
            <p:cNvPr id="39" name="Group 39"/>
            <p:cNvGrpSpPr/>
            <p:nvPr/>
          </p:nvGrpSpPr>
          <p:grpSpPr>
            <a:xfrm>
              <a:off x="800100" y="2933700"/>
              <a:ext cx="3164599" cy="1866900"/>
              <a:chOff x="800100" y="2933700"/>
              <a:chExt cx="3164599" cy="1866900"/>
            </a:xfrm>
          </p:grpSpPr>
          <p:sp>
            <p:nvSpPr>
              <p:cNvPr id="23" name="Rectangle 23"/>
              <p:cNvSpPr/>
              <p:nvPr/>
            </p:nvSpPr>
            <p:spPr>
              <a:xfrm>
                <a:off x="800100" y="2933700"/>
                <a:ext cx="3095625" cy="1866900"/>
              </a:xfrm>
              <a:prstGeom prst="roundRect">
                <a:avLst>
                  <a:gd name="adj" fmla="val 5102"/>
                </a:avLst>
              </a:prstGeom>
              <a:solidFill>
                <a:srgbClr val="F9FAFB"/>
              </a:solidFill>
              <a:ln w="9525">
                <a:solidFill>
                  <a:schemeClr val="accent4"/>
                </a:solidFill>
              </a:ln>
            </p:spPr>
          </p:sp>
          <p:sp>
            <p:nvSpPr>
              <p:cNvPr id="24" name="Line 24"/>
              <p:cNvSpPr/>
              <p:nvPr/>
            </p:nvSpPr>
            <p:spPr>
              <a:xfrm>
                <a:off x="1047750" y="3867150"/>
                <a:ext cx="2609850" cy="9525"/>
              </a:xfrm>
              <a:custGeom>
                <a:avLst/>
                <a:gdLst/>
                <a:ahLst/>
                <a:cxnLst/>
                <a:rect l="l" t="t" r="r" b="b"/>
                <a:pathLst>
                  <a:path w="2609850" h="9525">
                    <a:moveTo>
                      <a:pt x="0" y="0"/>
                    </a:moveTo>
                    <a:lnTo>
                      <a:pt x="2609850" y="0"/>
                    </a:lnTo>
                  </a:path>
                </a:pathLst>
              </a:custGeom>
              <a:noFill/>
              <a:ln w="9525">
                <a:solidFill>
                  <a:srgbClr val="CBD5E1"/>
                </a:solidFill>
              </a:ln>
            </p:spPr>
          </p:sp>
          <p:sp>
            <p:nvSpPr>
              <p:cNvPr id="25" name="Line 25"/>
              <p:cNvSpPr/>
              <p:nvPr/>
            </p:nvSpPr>
            <p:spPr>
              <a:xfrm>
                <a:off x="2352675" y="3143250"/>
                <a:ext cx="9525" cy="1485900"/>
              </a:xfrm>
              <a:custGeom>
                <a:avLst/>
                <a:gdLst/>
                <a:ahLst/>
                <a:cxnLst/>
                <a:rect l="l" t="t" r="r" b="b"/>
                <a:pathLst>
                  <a:path w="9525" h="1485900">
                    <a:moveTo>
                      <a:pt x="0" y="0"/>
                    </a:moveTo>
                    <a:lnTo>
                      <a:pt x="0" y="1485900"/>
                    </a:lnTo>
                  </a:path>
                </a:pathLst>
              </a:custGeom>
              <a:noFill/>
              <a:ln w="9525">
                <a:solidFill>
                  <a:srgbClr val="CBD5E1"/>
                </a:solidFill>
              </a:ln>
            </p:spPr>
          </p:sp>
          <p:sp>
            <p:nvSpPr>
              <p:cNvPr id="26" name="Line 26"/>
              <p:cNvSpPr/>
              <p:nvPr/>
            </p:nvSpPr>
            <p:spPr>
              <a:xfrm>
                <a:off x="1428750" y="3143250"/>
                <a:ext cx="1847850" cy="1485900"/>
              </a:xfrm>
              <a:custGeom>
                <a:avLst/>
                <a:gdLst/>
                <a:ahLst/>
                <a:cxnLst/>
                <a:rect l="l" t="t" r="r" b="b"/>
                <a:pathLst>
                  <a:path w="1847850" h="1485900">
                    <a:moveTo>
                      <a:pt x="0" y="1485900"/>
                    </a:moveTo>
                    <a:lnTo>
                      <a:pt x="1847850" y="0"/>
                    </a:lnTo>
                  </a:path>
                </a:pathLst>
              </a:custGeom>
              <a:noFill/>
              <a:ln w="23812">
                <a:solidFill>
                  <a:schemeClr val="accent5"/>
                </a:solidFill>
              </a:ln>
            </p:spPr>
          </p:sp>
          <p:sp>
            <p:nvSpPr>
              <p:cNvPr id="27" name="TextBox 27"/>
              <p:cNvSpPr txBox="1"/>
              <p:nvPr/>
            </p:nvSpPr>
            <p:spPr>
              <a:xfrm>
                <a:off x="3348038" y="3073241"/>
                <a:ext cx="61666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ū (optimal)</a:t>
                </a:r>
              </a:p>
            </p:txBody>
          </p:sp>
          <p:sp>
            <p:nvSpPr>
              <p:cNvPr id="28" name="Line 28"/>
              <p:cNvSpPr/>
              <p:nvPr/>
            </p:nvSpPr>
            <p:spPr>
              <a:xfrm>
                <a:off x="1676400" y="3276600"/>
                <a:ext cx="1466850" cy="1352550"/>
              </a:xfrm>
              <a:custGeom>
                <a:avLst/>
                <a:gdLst/>
                <a:ahLst/>
                <a:cxnLst/>
                <a:rect l="l" t="t" r="r" b="b"/>
                <a:pathLst>
                  <a:path w="1466850" h="1352550">
                    <a:moveTo>
                      <a:pt x="0" y="1352550"/>
                    </a:moveTo>
                    <a:lnTo>
                      <a:pt x="1466850" y="0"/>
                    </a:lnTo>
                  </a:path>
                </a:pathLst>
              </a:custGeom>
              <a:noFill/>
              <a:ln w="23812">
                <a:solidFill>
                  <a:schemeClr val="accent3"/>
                </a:solidFill>
                <a:custDash>
                  <a:ds d="200000" sp="160000"/>
                </a:custDash>
              </a:ln>
            </p:spPr>
          </p:sp>
          <p:sp>
            <p:nvSpPr>
              <p:cNvPr id="29" name="TextBox 29"/>
              <p:cNvSpPr txBox="1"/>
              <p:nvPr/>
            </p:nvSpPr>
            <p:spPr>
              <a:xfrm>
                <a:off x="2852738" y="4387691"/>
                <a:ext cx="589064" cy="161925"/>
              </a:xfrm>
              <a:prstGeom prst="rect">
                <a:avLst/>
              </a:prstGeom>
              <a:noFill/>
              <a:ln>
                <a:noFill/>
              </a:ln>
            </p:spPr>
            <p:txBody>
              <a:bodyPr wrap="none" lIns="0" tIns="0" rIns="0" bIns="0" anchor="t" anchorCtr="0">
                <a:spAutoFit/>
              </a:bodyPr>
              <a:lstStyle/>
              <a:p>
                <a:pPr algn="l"/>
                <a:r>
                  <a:rPr lang="en-US" sz="820" dirty="0">
                    <a:solidFill>
                      <a:schemeClr val="accent3"/>
                    </a:solidFill>
                    <a:latin typeface="+mn-lt"/>
                    <a:ea typeface="+mn-ea"/>
                    <a:cs typeface="+mn-cs"/>
                  </a:rPr>
                  <a:t>logistic w*</a:t>
                </a:r>
              </a:p>
            </p:txBody>
          </p:sp>
          <p:sp>
            <p:nvSpPr>
              <p:cNvPr id="30" name="Freeform 30"/>
              <p:cNvSpPr/>
              <p:nvPr/>
            </p:nvSpPr>
            <p:spPr>
              <a:xfrm>
                <a:off x="2781300" y="3676650"/>
                <a:ext cx="76200" cy="190500"/>
              </a:xfrm>
              <a:custGeom>
                <a:avLst/>
                <a:gdLst/>
                <a:ahLst/>
                <a:cxnLst/>
                <a:rect l="l" t="t" r="r" b="b"/>
                <a:pathLst>
                  <a:path w="76200" h="190500">
                    <a:moveTo>
                      <a:pt x="76200" y="190500"/>
                    </a:moveTo>
                    <a:cubicBezTo>
                      <a:pt x="28093" y="138623"/>
                      <a:pt x="941" y="70744"/>
                      <a:pt x="0" y="0"/>
                    </a:cubicBezTo>
                  </a:path>
                </a:pathLst>
              </a:custGeom>
              <a:noFill/>
              <a:ln w="14288">
                <a:solidFill>
                  <a:schemeClr val="accent1"/>
                </a:solidFill>
              </a:ln>
            </p:spPr>
          </p:sp>
          <p:sp>
            <p:nvSpPr>
              <p:cNvPr id="31" name="TextBox 31"/>
              <p:cNvSpPr txBox="1"/>
              <p:nvPr/>
            </p:nvSpPr>
            <p:spPr>
              <a:xfrm>
                <a:off x="2909888" y="3701891"/>
                <a:ext cx="285496" cy="161925"/>
              </a:xfrm>
              <a:prstGeom prst="rect">
                <a:avLst/>
              </a:prstGeom>
              <a:noFill/>
              <a:ln>
                <a:noFill/>
              </a:ln>
            </p:spPr>
            <p:txBody>
              <a:bodyPr wrap="none" lIns="0" tIns="0" rIns="0" bIns="0" anchor="t" anchorCtr="0">
                <a:spAutoFit/>
              </a:bodyPr>
              <a:lstStyle/>
              <a:p>
                <a:pPr algn="l"/>
                <a:r>
                  <a:rPr lang="en-US" sz="820" i="1" dirty="0">
                    <a:solidFill>
                      <a:schemeClr val="accent1"/>
                    </a:solidFill>
                    <a:latin typeface="+mn-lt"/>
                    <a:ea typeface="+mn-ea"/>
                    <a:cs typeface="+mn-cs"/>
                  </a:rPr>
                  <a:t>angle</a:t>
                </a:r>
              </a:p>
            </p:txBody>
          </p:sp>
          <p:sp>
            <p:nvSpPr>
              <p:cNvPr id="32" name="Ellipse 32"/>
              <p:cNvSpPr/>
              <p:nvPr/>
            </p:nvSpPr>
            <p:spPr>
              <a:xfrm>
                <a:off x="2819400" y="3390900"/>
                <a:ext cx="76200" cy="76200"/>
              </a:xfrm>
              <a:prstGeom prst="ellipse">
                <a:avLst/>
              </a:prstGeom>
              <a:solidFill>
                <a:schemeClr val="accent2"/>
              </a:solidFill>
              <a:ln>
                <a:noFill/>
              </a:ln>
            </p:spPr>
          </p:sp>
          <p:sp>
            <p:nvSpPr>
              <p:cNvPr id="33" name="Ellipse 33"/>
              <p:cNvSpPr/>
              <p:nvPr/>
            </p:nvSpPr>
            <p:spPr>
              <a:xfrm>
                <a:off x="3009900" y="3505200"/>
                <a:ext cx="76200" cy="76200"/>
              </a:xfrm>
              <a:prstGeom prst="ellipse">
                <a:avLst/>
              </a:prstGeom>
              <a:solidFill>
                <a:schemeClr val="accent2"/>
              </a:solidFill>
              <a:ln>
                <a:noFill/>
              </a:ln>
            </p:spPr>
          </p:sp>
          <p:sp>
            <p:nvSpPr>
              <p:cNvPr id="34" name="Ellipse 34"/>
              <p:cNvSpPr/>
              <p:nvPr/>
            </p:nvSpPr>
            <p:spPr>
              <a:xfrm>
                <a:off x="1866900" y="4267200"/>
                <a:ext cx="76200" cy="76200"/>
              </a:xfrm>
              <a:prstGeom prst="ellipse">
                <a:avLst/>
              </a:prstGeom>
              <a:solidFill>
                <a:srgbClr val="94A3B8"/>
              </a:solidFill>
              <a:ln>
                <a:noFill/>
              </a:ln>
            </p:spPr>
          </p:sp>
          <p:sp>
            <p:nvSpPr>
              <p:cNvPr id="35" name="Ellipse 35"/>
              <p:cNvSpPr/>
              <p:nvPr/>
            </p:nvSpPr>
            <p:spPr>
              <a:xfrm>
                <a:off x="1676400" y="4152900"/>
                <a:ext cx="76200" cy="76200"/>
              </a:xfrm>
              <a:prstGeom prst="ellipse">
                <a:avLst/>
              </a:prstGeom>
              <a:solidFill>
                <a:srgbClr val="94A3B8"/>
              </a:solidFill>
              <a:ln>
                <a:noFill/>
              </a:ln>
            </p:spPr>
          </p:sp>
          <p:sp>
            <p:nvSpPr>
              <p:cNvPr id="36" name="Ellipse 36"/>
              <p:cNvSpPr/>
              <p:nvPr/>
            </p:nvSpPr>
            <p:spPr>
              <a:xfrm>
                <a:off x="2476500" y="4057650"/>
                <a:ext cx="76200" cy="76200"/>
              </a:xfrm>
              <a:prstGeom prst="ellipse">
                <a:avLst/>
              </a:prstGeom>
              <a:solidFill>
                <a:schemeClr val="accent3"/>
              </a:solidFill>
              <a:ln>
                <a:noFill/>
              </a:ln>
            </p:spPr>
          </p:sp>
          <p:sp>
            <p:nvSpPr>
              <p:cNvPr id="37" name="Ellipse 37"/>
              <p:cNvSpPr/>
              <p:nvPr/>
            </p:nvSpPr>
            <p:spPr>
              <a:xfrm>
                <a:off x="2343150" y="4210050"/>
                <a:ext cx="76200" cy="76200"/>
              </a:xfrm>
              <a:prstGeom prst="ellipse">
                <a:avLst/>
              </a:prstGeom>
              <a:solidFill>
                <a:schemeClr val="accent3"/>
              </a:solidFill>
              <a:ln>
                <a:noFill/>
              </a:ln>
            </p:spPr>
          </p:sp>
          <p:sp>
            <p:nvSpPr>
              <p:cNvPr id="38" name="TextBox 38"/>
              <p:cNvSpPr txBox="1"/>
              <p:nvPr/>
            </p:nvSpPr>
            <p:spPr>
              <a:xfrm>
                <a:off x="909638" y="3024188"/>
                <a:ext cx="1627937" cy="147638"/>
              </a:xfrm>
              <a:prstGeom prst="rect">
                <a:avLst/>
              </a:prstGeom>
              <a:noFill/>
              <a:ln>
                <a:noFill/>
              </a:ln>
            </p:spPr>
            <p:txBody>
              <a:bodyPr wrap="none" lIns="0" tIns="0" rIns="0" bIns="0" anchor="t" anchorCtr="0">
                <a:spAutoFit/>
              </a:bodyPr>
              <a:lstStyle/>
              <a:p>
                <a:pPr algn="l"/>
                <a:r>
                  <a:rPr lang="en-US" sz="750" dirty="0">
                    <a:solidFill>
                      <a:schemeClr val="dk2"/>
                    </a:solidFill>
                    <a:latin typeface="+mn-lt"/>
                    <a:ea typeface="+mn-ea"/>
                    <a:cs typeface="+mn-cs"/>
                  </a:rPr>
                  <a:t>Q₁ Q₂ Q₃ Q₄ — small noisy region</a:t>
                </a:r>
              </a:p>
            </p:txBody>
          </p:sp>
        </p:grpSp>
        <p:sp>
          <p:nvSpPr>
            <p:cNvPr id="40" name="TextBox 40"/>
            <p:cNvSpPr txBox="1"/>
            <p:nvPr/>
          </p:nvSpPr>
          <p:spPr>
            <a:xfrm>
              <a:off x="794956" y="4938951"/>
              <a:ext cx="232390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Valid when OPT ≤ 1/16. The optimal</a:t>
              </a:r>
            </a:p>
          </p:txBody>
        </p:sp>
        <p:sp>
          <p:nvSpPr>
            <p:cNvPr id="41" name="TextBox 41"/>
            <p:cNvSpPr txBox="1"/>
            <p:nvPr/>
          </p:nvSpPr>
          <p:spPr>
            <a:xfrm>
              <a:off x="794956" y="5129451"/>
              <a:ext cx="243728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halfspace errs only on a tiny region,</a:t>
              </a:r>
            </a:p>
          </p:txBody>
        </p:sp>
        <p:sp>
          <p:nvSpPr>
            <p:cNvPr id="42" name="TextBox 42"/>
            <p:cNvSpPr txBox="1"/>
            <p:nvPr/>
          </p:nvSpPr>
          <p:spPr>
            <a:xfrm>
              <a:off x="794956" y="5319951"/>
              <a:ext cx="228092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yet the logistic minimizer is pulled</a:t>
              </a:r>
            </a:p>
          </p:txBody>
        </p:sp>
        <p:sp>
          <p:nvSpPr>
            <p:cNvPr id="43" name="TextBox 43"/>
            <p:cNvSpPr txBox="1"/>
            <p:nvPr/>
          </p:nvSpPr>
          <p:spPr>
            <a:xfrm>
              <a:off x="794956" y="5510451"/>
              <a:ext cx="185942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off-axis and misclassifies a</a:t>
              </a:r>
            </a:p>
          </p:txBody>
        </p:sp>
        <p:sp>
          <p:nvSpPr>
            <p:cNvPr id="44" name="TextBox 44"/>
            <p:cNvSpPr txBox="1"/>
            <p:nvPr/>
          </p:nvSpPr>
          <p:spPr>
            <a:xfrm>
              <a:off x="794385" y="5688806"/>
              <a:ext cx="412888"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Consolas"/>
                  <a:ea typeface="Consolas"/>
                  <a:cs typeface="Consolas"/>
                </a:rPr>
                <a:t>√OPT</a:t>
              </a:r>
            </a:p>
          </p:txBody>
        </p:sp>
        <p:sp>
          <p:nvSpPr>
            <p:cNvPr id="45" name="TextBox 45"/>
            <p:cNvSpPr txBox="1"/>
            <p:nvPr/>
          </p:nvSpPr>
          <p:spPr>
            <a:xfrm>
              <a:off x="1233106" y="5700951"/>
              <a:ext cx="129516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fraction of points.</a:t>
              </a:r>
            </a:p>
          </p:txBody>
        </p:sp>
      </p:grpSp>
      <p:grpSp>
        <p:nvGrpSpPr>
          <p:cNvPr id="64" name="Group 64"/>
          <p:cNvGrpSpPr/>
          <p:nvPr/>
        </p:nvGrpSpPr>
        <p:grpSpPr>
          <a:xfrm>
            <a:off x="4314825" y="2266950"/>
            <a:ext cx="3552825" cy="4019550"/>
            <a:chOff x="4314825" y="2266950"/>
            <a:chExt cx="3552825" cy="4019550"/>
          </a:xfrm>
        </p:grpSpPr>
        <p:sp>
          <p:nvSpPr>
            <p:cNvPr id="47" name="Rectangle 47"/>
            <p:cNvSpPr/>
            <p:nvPr/>
          </p:nvSpPr>
          <p:spPr>
            <a:xfrm>
              <a:off x="4314825" y="2266950"/>
              <a:ext cx="3552825" cy="401955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48" name="Rectangle 48"/>
            <p:cNvSpPr/>
            <p:nvPr/>
          </p:nvSpPr>
          <p:spPr>
            <a:xfrm>
              <a:off x="4314825" y="2266950"/>
              <a:ext cx="3552825" cy="57150"/>
            </a:xfrm>
            <a:prstGeom prst="roundRect">
              <a:avLst>
                <a:gd name="adj" fmla="val 50000"/>
              </a:avLst>
            </a:prstGeom>
            <a:solidFill>
              <a:schemeClr val="accent2"/>
            </a:solidFill>
            <a:ln>
              <a:noFill/>
            </a:ln>
          </p:spPr>
        </p:sp>
        <p:sp>
          <p:nvSpPr>
            <p:cNvPr id="49" name="Ellipse 49"/>
            <p:cNvSpPr/>
            <p:nvPr/>
          </p:nvSpPr>
          <p:spPr>
            <a:xfrm>
              <a:off x="4505325" y="2533650"/>
              <a:ext cx="342900" cy="342900"/>
            </a:xfrm>
            <a:prstGeom prst="ellipse">
              <a:avLst/>
            </a:prstGeom>
            <a:solidFill>
              <a:schemeClr val="accent2"/>
            </a:solidFill>
            <a:ln>
              <a:noFill/>
            </a:ln>
          </p:spPr>
        </p:sp>
        <p:sp>
          <p:nvSpPr>
            <p:cNvPr id="50" name="TextBox 50"/>
            <p:cNvSpPr txBox="1"/>
            <p:nvPr/>
          </p:nvSpPr>
          <p:spPr>
            <a:xfrm>
              <a:off x="4617726" y="2624614"/>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j-lt"/>
                  <a:ea typeface="+mj-ea"/>
                  <a:cs typeface="+mj-cs"/>
                </a:rPr>
                <a:t>1</a:t>
              </a:r>
            </a:p>
          </p:txBody>
        </p:sp>
        <p:sp>
          <p:nvSpPr>
            <p:cNvPr id="51" name="TextBox 51"/>
            <p:cNvSpPr txBox="1"/>
            <p:nvPr/>
          </p:nvSpPr>
          <p:spPr>
            <a:xfrm>
              <a:off x="4957762" y="2550795"/>
              <a:ext cx="1705915"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PHASE 1 — LOGISTIC GD</a:t>
              </a:r>
            </a:p>
          </p:txBody>
        </p:sp>
        <p:sp>
          <p:nvSpPr>
            <p:cNvPr id="52" name="TextBox 52"/>
            <p:cNvSpPr txBox="1"/>
            <p:nvPr/>
          </p:nvSpPr>
          <p:spPr>
            <a:xfrm>
              <a:off x="4956429" y="2708910"/>
              <a:ext cx="2285532"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j-lt"/>
                  <a:ea typeface="+mj-ea"/>
                  <a:cs typeface="+mj-cs"/>
                </a:rPr>
                <a:t>Key object: the angle to ū</a:t>
              </a:r>
            </a:p>
          </p:txBody>
        </p:sp>
        <p:sp>
          <p:nvSpPr>
            <p:cNvPr id="53" name="Rectangle 53"/>
            <p:cNvSpPr/>
            <p:nvPr/>
          </p:nvSpPr>
          <p:spPr>
            <a:xfrm>
              <a:off x="4543425" y="3009900"/>
              <a:ext cx="3095625" cy="666750"/>
            </a:xfrm>
            <a:prstGeom prst="roundRect">
              <a:avLst>
                <a:gd name="adj" fmla="val 14286"/>
              </a:avLst>
            </a:prstGeom>
            <a:solidFill>
              <a:srgbClr val="EEF4FF"/>
            </a:solidFill>
            <a:ln w="11906">
              <a:solidFill>
                <a:srgbClr val="BFD4FE"/>
              </a:solidFill>
            </a:ln>
          </p:spPr>
        </p:sp>
        <p:sp>
          <p:nvSpPr>
            <p:cNvPr id="54" name="TextBox 54"/>
            <p:cNvSpPr txBox="1"/>
            <p:nvPr/>
          </p:nvSpPr>
          <p:spPr>
            <a:xfrm>
              <a:off x="4691062" y="3149441"/>
              <a:ext cx="1693469" cy="161925"/>
            </a:xfrm>
            <a:prstGeom prst="rect">
              <a:avLst/>
            </a:prstGeom>
            <a:noFill/>
            <a:ln>
              <a:noFill/>
            </a:ln>
          </p:spPr>
          <p:txBody>
            <a:bodyPr wrap="none" lIns="0" tIns="0" rIns="0" bIns="0" anchor="t" anchorCtr="0">
              <a:spAutoFit/>
            </a:bodyPr>
            <a:lstStyle/>
            <a:p>
              <a:pPr algn="l"/>
              <a:r>
                <a:rPr lang="en-US" sz="820" b="1" dirty="0">
                  <a:solidFill>
                    <a:schemeClr val="accent2"/>
                  </a:solidFill>
                  <a:latin typeface="+mn-lt"/>
                  <a:ea typeface="+mn-ea"/>
                  <a:cs typeface="+mn-cs"/>
                </a:rPr>
                <a:t>PROJECTED GRADIENT DESCENT</a:t>
              </a:r>
            </a:p>
          </p:txBody>
        </p:sp>
        <p:sp>
          <p:nvSpPr>
            <p:cNvPr id="55" name="TextBox 55"/>
            <p:cNvSpPr txBox="1"/>
            <p:nvPr/>
          </p:nvSpPr>
          <p:spPr>
            <a:xfrm>
              <a:off x="4690682" y="3376851"/>
              <a:ext cx="2507824" cy="198025"/>
            </a:xfrm>
            <a:prstGeom prst="rect">
              <a:avLst/>
            </a:prstGeom>
            <a:noFill/>
            <a:ln>
              <a:noFill/>
            </a:ln>
          </p:spPr>
          <p:txBody>
            <a:bodyPr wrap="none" lIns="0" tIns="0" rIns="0" bIns="0" anchor="t" anchorCtr="0">
              <a:spAutoFit/>
            </a:bodyPr>
            <a:lstStyle/>
            <a:p>
              <a:pPr algn="l"/>
              <a:r>
                <a:rPr lang="en-US" sz="1010" b="1" dirty="0">
                  <a:solidFill>
                    <a:schemeClr val="accent1"/>
                  </a:solidFill>
                  <a:latin typeface="Consolas"/>
                  <a:ea typeface="Consolas"/>
                  <a:cs typeface="Consolas"/>
                </a:rPr>
                <a:t>w_{t+1}=Π_B(1/√ε)[w_t − η∇R̂_log]</a:t>
              </a:r>
            </a:p>
          </p:txBody>
        </p:sp>
        <p:sp>
          <p:nvSpPr>
            <p:cNvPr id="56" name="TextBox 56"/>
            <p:cNvSpPr txBox="1"/>
            <p:nvPr/>
          </p:nvSpPr>
          <p:spPr>
            <a:xfrm>
              <a:off x="4538091" y="3849052"/>
              <a:ext cx="229779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Minimize the logistic risk inside a</a:t>
              </a:r>
            </a:p>
          </p:txBody>
        </p:sp>
        <p:sp>
          <p:nvSpPr>
            <p:cNvPr id="57" name="TextBox 57"/>
            <p:cNvSpPr txBox="1"/>
            <p:nvPr/>
          </p:nvSpPr>
          <p:spPr>
            <a:xfrm>
              <a:off x="4538091" y="4049078"/>
              <a:ext cx="251802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ball of radius 1/√ε. On well-behaved</a:t>
              </a:r>
            </a:p>
          </p:txBody>
        </p:sp>
        <p:sp>
          <p:nvSpPr>
            <p:cNvPr id="58" name="TextBox 58"/>
            <p:cNvSpPr txBox="1"/>
            <p:nvPr/>
          </p:nvSpPr>
          <p:spPr>
            <a:xfrm>
              <a:off x="4538091" y="4249102"/>
              <a:ext cx="256205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data this returns a direction v with:</a:t>
              </a:r>
            </a:p>
          </p:txBody>
        </p:sp>
        <p:sp>
          <p:nvSpPr>
            <p:cNvPr id="59" name="Rectangle 59"/>
            <p:cNvSpPr/>
            <p:nvPr/>
          </p:nvSpPr>
          <p:spPr>
            <a:xfrm>
              <a:off x="4543425" y="4514850"/>
              <a:ext cx="3095625" cy="571500"/>
            </a:xfrm>
            <a:prstGeom prst="roundRect">
              <a:avLst>
                <a:gd name="adj" fmla="val 16667"/>
              </a:avLst>
            </a:prstGeom>
            <a:solidFill>
              <a:schemeClr val="lt2"/>
            </a:solidFill>
            <a:ln w="11906">
              <a:solidFill>
                <a:schemeClr val="accent4"/>
              </a:solidFill>
            </a:ln>
          </p:spPr>
        </p:sp>
        <p:sp>
          <p:nvSpPr>
            <p:cNvPr id="60" name="TextBox 60"/>
            <p:cNvSpPr txBox="1"/>
            <p:nvPr/>
          </p:nvSpPr>
          <p:spPr>
            <a:xfrm>
              <a:off x="4991380" y="4722971"/>
              <a:ext cx="2190190"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Consolas"/>
                  <a:ea typeface="Consolas"/>
                  <a:cs typeface="Consolas"/>
                </a:rPr>
                <a:t>∠(v, ū) = Õ(√OPT + ε)</a:t>
              </a:r>
            </a:p>
          </p:txBody>
        </p:sp>
        <p:sp>
          <p:nvSpPr>
            <p:cNvPr id="61" name="TextBox 61"/>
            <p:cNvSpPr txBox="1"/>
            <p:nvPr/>
          </p:nvSpPr>
          <p:spPr>
            <a:xfrm>
              <a:off x="4538091" y="5277802"/>
              <a:ext cx="23267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good warm start — but still only</a:t>
              </a:r>
            </a:p>
          </p:txBody>
        </p:sp>
        <p:sp>
          <p:nvSpPr>
            <p:cNvPr id="62" name="TextBox 62"/>
            <p:cNvSpPr txBox="1"/>
            <p:nvPr/>
          </p:nvSpPr>
          <p:spPr>
            <a:xfrm>
              <a:off x="4538091" y="5477828"/>
              <a:ext cx="25264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√OPT accurate on its own. The angle</a:t>
              </a:r>
            </a:p>
          </p:txBody>
        </p:sp>
        <p:sp>
          <p:nvSpPr>
            <p:cNvPr id="63" name="TextBox 63"/>
            <p:cNvSpPr txBox="1"/>
            <p:nvPr/>
          </p:nvSpPr>
          <p:spPr>
            <a:xfrm>
              <a:off x="4538091" y="5677852"/>
              <a:ext cx="28376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is the quantity the next phase sharpens.</a:t>
              </a:r>
            </a:p>
          </p:txBody>
        </p:sp>
      </p:grpSp>
      <p:grpSp>
        <p:nvGrpSpPr>
          <p:cNvPr id="83" name="Group 83"/>
          <p:cNvGrpSpPr/>
          <p:nvPr/>
        </p:nvGrpSpPr>
        <p:grpSpPr>
          <a:xfrm>
            <a:off x="8058150" y="2266950"/>
            <a:ext cx="3562350" cy="4019550"/>
            <a:chOff x="8058150" y="2266950"/>
            <a:chExt cx="3562350" cy="4019550"/>
          </a:xfrm>
        </p:grpSpPr>
        <p:sp>
          <p:nvSpPr>
            <p:cNvPr id="65" name="Rectangle 65"/>
            <p:cNvSpPr/>
            <p:nvPr/>
          </p:nvSpPr>
          <p:spPr>
            <a:xfrm>
              <a:off x="8058150" y="2266950"/>
              <a:ext cx="3562350" cy="4019550"/>
            </a:xfrm>
            <a:prstGeom prst="roundRect">
              <a:avLst>
                <a:gd name="adj" fmla="val 3209"/>
              </a:avLst>
            </a:prstGeom>
            <a:solidFill>
              <a:schemeClr val="accent1"/>
            </a:solidFill>
            <a:ln>
              <a:noFill/>
            </a:ln>
            <a:effectLst>
              <a:outerShdw blurRad="76200" dist="19050" dir="5400000" algn="ctr" rotWithShape="0">
                <a:srgbClr val="12233B">
                  <a:alpha val="4500"/>
                </a:srgbClr>
              </a:outerShdw>
            </a:effectLst>
          </p:spPr>
        </p:sp>
        <p:sp>
          <p:nvSpPr>
            <p:cNvPr id="66" name="Rectangle 66"/>
            <p:cNvSpPr/>
            <p:nvPr/>
          </p:nvSpPr>
          <p:spPr>
            <a:xfrm>
              <a:off x="8058150" y="2266950"/>
              <a:ext cx="3562350" cy="57150"/>
            </a:xfrm>
            <a:prstGeom prst="roundRect">
              <a:avLst>
                <a:gd name="adj" fmla="val 50000"/>
              </a:avLst>
            </a:prstGeom>
            <a:solidFill>
              <a:schemeClr val="accent5"/>
            </a:solidFill>
            <a:ln>
              <a:noFill/>
            </a:ln>
          </p:spPr>
        </p:sp>
        <p:sp>
          <p:nvSpPr>
            <p:cNvPr id="67" name="Ellipse 67"/>
            <p:cNvSpPr/>
            <p:nvPr/>
          </p:nvSpPr>
          <p:spPr>
            <a:xfrm>
              <a:off x="8248650" y="2533650"/>
              <a:ext cx="342900" cy="342900"/>
            </a:xfrm>
            <a:prstGeom prst="ellipse">
              <a:avLst/>
            </a:prstGeom>
            <a:solidFill>
              <a:schemeClr val="accent5"/>
            </a:solidFill>
            <a:ln>
              <a:noFill/>
            </a:ln>
          </p:spPr>
        </p:sp>
        <p:sp>
          <p:nvSpPr>
            <p:cNvPr id="68" name="TextBox 68"/>
            <p:cNvSpPr txBox="1"/>
            <p:nvPr/>
          </p:nvSpPr>
          <p:spPr>
            <a:xfrm>
              <a:off x="8361051" y="2624614"/>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j-lt"/>
                  <a:ea typeface="+mj-ea"/>
                  <a:cs typeface="+mj-cs"/>
                </a:rPr>
                <a:t>2</a:t>
              </a:r>
            </a:p>
          </p:txBody>
        </p:sp>
        <p:sp>
          <p:nvSpPr>
            <p:cNvPr id="69" name="TextBox 69"/>
            <p:cNvSpPr txBox="1"/>
            <p:nvPr/>
          </p:nvSpPr>
          <p:spPr>
            <a:xfrm>
              <a:off x="8701088" y="2550795"/>
              <a:ext cx="1532915"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PHASE 2 — HINGE SGD</a:t>
              </a:r>
            </a:p>
          </p:txBody>
        </p:sp>
        <p:sp>
          <p:nvSpPr>
            <p:cNvPr id="70" name="TextBox 70"/>
            <p:cNvSpPr txBox="1"/>
            <p:nvPr/>
          </p:nvSpPr>
          <p:spPr>
            <a:xfrm>
              <a:off x="8699754" y="2708910"/>
              <a:ext cx="230623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j-lt"/>
                  <a:ea typeface="+mj-ea"/>
                  <a:cs typeface="+mj-cs"/>
                </a:rPr>
                <a:t>= the classical perceptron</a:t>
              </a:r>
            </a:p>
          </p:txBody>
        </p:sp>
        <p:sp>
          <p:nvSpPr>
            <p:cNvPr id="71" name="Rectangle 71"/>
            <p:cNvSpPr/>
            <p:nvPr/>
          </p:nvSpPr>
          <p:spPr>
            <a:xfrm>
              <a:off x="8286750" y="3009900"/>
              <a:ext cx="3105150" cy="666750"/>
            </a:xfrm>
            <a:prstGeom prst="roundRect">
              <a:avLst>
                <a:gd name="adj" fmla="val 14286"/>
              </a:avLst>
            </a:prstGeom>
            <a:solidFill>
              <a:srgbClr val="123A2C"/>
            </a:solidFill>
            <a:ln>
              <a:noFill/>
            </a:ln>
          </p:spPr>
        </p:sp>
        <p:sp>
          <p:nvSpPr>
            <p:cNvPr id="72" name="TextBox 72"/>
            <p:cNvSpPr txBox="1"/>
            <p:nvPr/>
          </p:nvSpPr>
          <p:spPr>
            <a:xfrm>
              <a:off x="8434388" y="3149441"/>
              <a:ext cx="1221965" cy="161925"/>
            </a:xfrm>
            <a:prstGeom prst="rect">
              <a:avLst/>
            </a:prstGeom>
            <a:noFill/>
            <a:ln>
              <a:noFill/>
            </a:ln>
          </p:spPr>
          <p:txBody>
            <a:bodyPr wrap="none" lIns="0" tIns="0" rIns="0" bIns="0" anchor="t" anchorCtr="0">
              <a:spAutoFit/>
            </a:bodyPr>
            <a:lstStyle/>
            <a:p>
              <a:pPr algn="l"/>
              <a:r>
                <a:rPr lang="en-US" sz="820" b="1" dirty="0">
                  <a:solidFill>
                    <a:srgbClr val="7FE0B6"/>
                  </a:solidFill>
                  <a:latin typeface="+mn-lt"/>
                  <a:ea typeface="+mn-ea"/>
                  <a:cs typeface="+mn-cs"/>
                </a:rPr>
                <a:t>PROJECTED HINGE SGD</a:t>
              </a:r>
            </a:p>
          </p:txBody>
        </p:sp>
        <p:sp>
          <p:nvSpPr>
            <p:cNvPr id="73" name="TextBox 73"/>
            <p:cNvSpPr txBox="1"/>
            <p:nvPr/>
          </p:nvSpPr>
          <p:spPr>
            <a:xfrm>
              <a:off x="8434388" y="3384947"/>
              <a:ext cx="2551164" cy="183356"/>
            </a:xfrm>
            <a:prstGeom prst="rect">
              <a:avLst/>
            </a:prstGeom>
            <a:noFill/>
            <a:ln>
              <a:noFill/>
            </a:ln>
          </p:spPr>
          <p:txBody>
            <a:bodyPr wrap="none" lIns="0" tIns="0" rIns="0" bIns="0" anchor="t" anchorCtr="0">
              <a:spAutoFit/>
            </a:bodyPr>
            <a:lstStyle/>
            <a:p>
              <a:pPr algn="l"/>
              <a:r>
                <a:rPr lang="en-US" sz="940" b="1" dirty="0">
                  <a:solidFill>
                    <a:srgbClr val="FFFFFF"/>
                  </a:solidFill>
                  <a:latin typeface="Consolas"/>
                  <a:ea typeface="Consolas"/>
                  <a:cs typeface="Consolas"/>
                </a:rPr>
                <a:t>w_{t+1}=Π_D[w_t − η ℓ_h′(·) y_t x_t]</a:t>
              </a:r>
            </a:p>
          </p:txBody>
        </p:sp>
        <p:sp>
          <p:nvSpPr>
            <p:cNvPr id="74" name="TextBox 74"/>
            <p:cNvSpPr txBox="1"/>
            <p:nvPr/>
          </p:nvSpPr>
          <p:spPr>
            <a:xfrm>
              <a:off x="8281416" y="3849052"/>
              <a:ext cx="2439519"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This SGD update on the hinge loss is</a:t>
              </a:r>
            </a:p>
          </p:txBody>
        </p:sp>
        <p:sp>
          <p:nvSpPr>
            <p:cNvPr id="75" name="TextBox 75"/>
            <p:cNvSpPr txBox="1"/>
            <p:nvPr/>
          </p:nvSpPr>
          <p:spPr>
            <a:xfrm>
              <a:off x="8281416" y="4049078"/>
              <a:ext cx="2858891"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exactly the perceptron update, run from</a:t>
              </a:r>
            </a:p>
          </p:txBody>
        </p:sp>
        <p:sp>
          <p:nvSpPr>
            <p:cNvPr id="76" name="TextBox 76"/>
            <p:cNvSpPr txBox="1"/>
            <p:nvPr/>
          </p:nvSpPr>
          <p:spPr>
            <a:xfrm>
              <a:off x="8281416" y="4249102"/>
              <a:ext cx="2779294"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the Phase-1 warm start on a restricted</a:t>
              </a:r>
            </a:p>
          </p:txBody>
        </p:sp>
        <p:sp>
          <p:nvSpPr>
            <p:cNvPr id="77" name="TextBox 77"/>
            <p:cNvSpPr txBox="1"/>
            <p:nvPr/>
          </p:nvSpPr>
          <p:spPr>
            <a:xfrm>
              <a:off x="8281416" y="4449128"/>
              <a:ext cx="673265"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domain D.</a:t>
              </a:r>
            </a:p>
          </p:txBody>
        </p:sp>
        <p:sp>
          <p:nvSpPr>
            <p:cNvPr id="78" name="Rectangle 78"/>
            <p:cNvSpPr/>
            <p:nvPr/>
          </p:nvSpPr>
          <p:spPr>
            <a:xfrm>
              <a:off x="8286750" y="4724400"/>
              <a:ext cx="3105150" cy="609600"/>
            </a:xfrm>
            <a:prstGeom prst="roundRect">
              <a:avLst>
                <a:gd name="adj" fmla="val 15625"/>
              </a:avLst>
            </a:prstGeom>
            <a:solidFill>
              <a:srgbClr val="123A2C"/>
            </a:solidFill>
            <a:ln w="11906">
              <a:solidFill>
                <a:schemeClr val="accent5"/>
              </a:solidFill>
            </a:ln>
          </p:spPr>
        </p:sp>
        <p:sp>
          <p:nvSpPr>
            <p:cNvPr id="79" name="TextBox 79"/>
            <p:cNvSpPr txBox="1"/>
            <p:nvPr/>
          </p:nvSpPr>
          <p:spPr>
            <a:xfrm>
              <a:off x="9201848" y="4889897"/>
              <a:ext cx="1274953" cy="183356"/>
            </a:xfrm>
            <a:prstGeom prst="rect">
              <a:avLst/>
            </a:prstGeom>
            <a:noFill/>
            <a:ln>
              <a:noFill/>
            </a:ln>
          </p:spPr>
          <p:txBody>
            <a:bodyPr wrap="none" lIns="0" tIns="0" rIns="0" bIns="0" anchor="t" anchorCtr="0">
              <a:spAutoFit/>
            </a:bodyPr>
            <a:lstStyle/>
            <a:p>
              <a:pPr algn="ctr"/>
              <a:r>
                <a:rPr lang="en-US" sz="940" dirty="0">
                  <a:solidFill>
                    <a:srgbClr val="7FE0B6"/>
                  </a:solidFill>
                  <a:latin typeface="+mn-lt"/>
                  <a:ea typeface="+mn-ea"/>
                  <a:cs typeface="+mn-cs"/>
                </a:rPr>
                <a:t>sharpens the angle →</a:t>
              </a:r>
            </a:p>
          </p:txBody>
        </p:sp>
        <p:sp>
          <p:nvSpPr>
            <p:cNvPr id="80" name="TextBox 80"/>
            <p:cNvSpPr txBox="1"/>
            <p:nvPr/>
          </p:nvSpPr>
          <p:spPr>
            <a:xfrm>
              <a:off x="9119849" y="5057775"/>
              <a:ext cx="1438951"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Consolas"/>
                  <a:ea typeface="Consolas"/>
                  <a:cs typeface="Consolas"/>
                </a:rPr>
                <a:t>Õ(OPT) error</a:t>
              </a:r>
            </a:p>
          </p:txBody>
        </p:sp>
        <p:sp>
          <p:nvSpPr>
            <p:cNvPr id="81" name="TextBox 81"/>
            <p:cNvSpPr txBox="1"/>
            <p:nvPr/>
          </p:nvSpPr>
          <p:spPr>
            <a:xfrm>
              <a:off x="8281416" y="5525452"/>
              <a:ext cx="2319520"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One extra convex step drives the</a:t>
              </a:r>
            </a:p>
          </p:txBody>
        </p:sp>
        <p:sp>
          <p:nvSpPr>
            <p:cNvPr id="82" name="TextBox 82"/>
            <p:cNvSpPr txBox="1"/>
            <p:nvPr/>
          </p:nvSpPr>
          <p:spPr>
            <a:xfrm>
              <a:off x="8281416" y="5725478"/>
              <a:ext cx="2443557"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zero-one error to near order OPT.</a:t>
              </a:r>
            </a:p>
          </p:txBody>
        </p:sp>
      </p:grpSp>
      <p:grpSp>
        <p:nvGrpSpPr>
          <p:cNvPr id="87" name="Group 87"/>
          <p:cNvGrpSpPr/>
          <p:nvPr/>
        </p:nvGrpSpPr>
        <p:grpSpPr>
          <a:xfrm>
            <a:off x="571500" y="6521291"/>
            <a:ext cx="11053762" cy="161925"/>
            <a:chOff x="571500" y="6521291"/>
            <a:chExt cx="11053762" cy="161925"/>
          </a:xfrm>
        </p:grpSpPr>
        <p:sp>
          <p:nvSpPr>
            <p:cNvPr id="84" name="Line 84"/>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85" name="TextBox 85"/>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86" name="TextBox 86"/>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05</a:t>
              </a:r>
            </a:p>
          </p:txBody>
        </p:sp>
      </p:grpSp>
      <p:sp>
        <p:nvSpPr>
          <p:cNvPr id="88" name="cue_s05_c1_technical_core_rests_two_convex" title="cue_s05_c1_technical_core_rests_two_convex" descr="cue_s05_c1_technical_core_rests_two_convex The technical core rests on two convex surrogate losses. The logistic loss is the log of one plus e to the minus margin, and the hinge loss is the positive part of the negative margin; both are minimized as empirical averages over the samples."/>
          <p:cNvSpPr/>
          <p:nvPr/>
        </p:nvSpPr>
        <p:spPr>
          <a:xfrm>
            <a:off x="571804" y="1180947"/>
            <a:ext cx="1104839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ue_s05_c2_lower_bound_authors_hand_design_dist" title="cue_s05_c2_lower_bound_authors_hand_design_dist" descr="cue_s05_c2_lower_bound_authors_hand_design_dist For the lower bound, the authors hand-design a distribution Q on the plane with four parts, a construction valid when OPT is at most one over sixteen, engineered so that the true optimal halfspace is only wrong on a small noisy region, yet the logistic risk mi"/>
          <p:cNvSpPr/>
          <p:nvPr/>
        </p:nvSpPr>
        <p:spPr>
          <a:xfrm>
            <a:off x="571804" y="2267254"/>
            <a:ext cx="3552748" cy="4019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ue_s05_c3_upper_bound_algorithm_key_object" title="cue_s05_c3_upper_bound_algorithm_key_object" descr="cue_s05_c3_upper_bound_algorithm_key_object For the upper bound and the algorithm, the key object is the angle between the learned direction and the ground-truth direction. Phase one runs projected gradient descent on the logistic risk inside a ball of radius one over square-root epsilon, which under we"/>
          <p:cNvSpPr/>
          <p:nvPr/>
        </p:nvSpPr>
        <p:spPr>
          <a:xfrm>
            <a:off x="4314748" y="2267254"/>
            <a:ext cx="3552748" cy="4019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ue_s05_c4_phase_two_runs_projected_stochastic" title="cue_s05_c4_phase_two_runs_projected_stochastic" descr="cue_s05_c4_phase_two_runs_projected_stochastic Phase two then runs projected stochastic gradient descent on the hinge loss, which is exactly the classical perceptron update, starting from that warm start and confined to a restricted domain. This second convex step sharpens the angle and drives the zero-one"/>
          <p:cNvSpPr/>
          <p:nvPr/>
        </p:nvSpPr>
        <p:spPr>
          <a:xfrm>
            <a:off x="8057692" y="2267254"/>
            <a:ext cx="3562502" cy="4019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9258563" cy="656939"/>
            <a:chOff x="571500" y="495300"/>
            <a:chExt cx="9258563"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904291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No datasets — distribution classes and theorems</a:t>
              </a:r>
            </a:p>
          </p:txBody>
        </p:sp>
        <p:sp>
          <p:nvSpPr>
            <p:cNvPr id="4" name="TextBox 4"/>
            <p:cNvSpPr txBox="1"/>
            <p:nvPr/>
          </p:nvSpPr>
          <p:spPr>
            <a:xfrm>
              <a:off x="795147" y="961549"/>
              <a:ext cx="493911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SETTING · WHAT PLAYS THE ROLE OF DATA IN A THEORY PAPER</a:t>
              </a:r>
            </a:p>
          </p:txBody>
        </p:sp>
      </p:grpSp>
      <p:grpSp>
        <p:nvGrpSpPr>
          <p:cNvPr id="10" name="Group 10"/>
          <p:cNvGrpSpPr/>
          <p:nvPr/>
        </p:nvGrpSpPr>
        <p:grpSpPr>
          <a:xfrm>
            <a:off x="571500" y="1333500"/>
            <a:ext cx="11049000" cy="609600"/>
            <a:chOff x="571500" y="1333500"/>
            <a:chExt cx="11049000" cy="609600"/>
          </a:xfrm>
        </p:grpSpPr>
        <p:sp>
          <p:nvSpPr>
            <p:cNvPr id="6" name="Rectangle 6"/>
            <p:cNvSpPr/>
            <p:nvPr/>
          </p:nvSpPr>
          <p:spPr>
            <a:xfrm>
              <a:off x="571500" y="1333500"/>
              <a:ext cx="11049000" cy="609600"/>
            </a:xfrm>
            <a:prstGeom prst="roundRect">
              <a:avLst>
                <a:gd name="adj" fmla="val 15625"/>
              </a:avLst>
            </a:prstGeom>
            <a:solidFill>
              <a:schemeClr val="lt2"/>
            </a:solidFill>
            <a:ln w="14288">
              <a:solidFill>
                <a:schemeClr val="accent4"/>
              </a:solidFill>
            </a:ln>
          </p:spPr>
        </p:sp>
        <p:sp>
          <p:nvSpPr>
            <p:cNvPr id="7" name="Rectangle 7"/>
            <p:cNvSpPr/>
            <p:nvPr/>
          </p:nvSpPr>
          <p:spPr>
            <a:xfrm>
              <a:off x="571500" y="1333500"/>
              <a:ext cx="57150" cy="609600"/>
            </a:xfrm>
            <a:prstGeom prst="roundRect">
              <a:avLst>
                <a:gd name="adj" fmla="val 50000"/>
              </a:avLst>
            </a:prstGeom>
            <a:solidFill>
              <a:schemeClr val="accent1"/>
            </a:solidFill>
            <a:ln>
              <a:noFill/>
            </a:ln>
          </p:spPr>
        </p:sp>
        <p:sp>
          <p:nvSpPr>
            <p:cNvPr id="8" name="TextBox 8"/>
            <p:cNvSpPr txBox="1"/>
            <p:nvPr/>
          </p:nvSpPr>
          <p:spPr>
            <a:xfrm>
              <a:off x="833438" y="1503045"/>
              <a:ext cx="2006610"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NO EMPIRICAL BENCHMARKS</a:t>
              </a:r>
            </a:p>
          </p:txBody>
        </p:sp>
        <p:sp>
          <p:nvSpPr>
            <p:cNvPr id="9" name="TextBox 9"/>
            <p:cNvSpPr txBox="1"/>
            <p:nvPr/>
          </p:nvSpPr>
          <p:spPr>
            <a:xfrm>
              <a:off x="832104" y="1689735"/>
              <a:ext cx="957058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There are no datasets or tables. The "data" are distribution classes; the results are theorems with explicit constants.</a:t>
              </a:r>
            </a:p>
          </p:txBody>
        </p:sp>
      </p:grpSp>
      <p:grpSp>
        <p:nvGrpSpPr>
          <p:cNvPr id="29" name="Group 29"/>
          <p:cNvGrpSpPr/>
          <p:nvPr/>
        </p:nvGrpSpPr>
        <p:grpSpPr>
          <a:xfrm>
            <a:off x="571500" y="2133600"/>
            <a:ext cx="3552825" cy="4152900"/>
            <a:chOff x="571500" y="2133600"/>
            <a:chExt cx="3552825" cy="4152900"/>
          </a:xfrm>
        </p:grpSpPr>
        <p:sp>
          <p:nvSpPr>
            <p:cNvPr id="11" name="Rectangle 11"/>
            <p:cNvSpPr/>
            <p:nvPr/>
          </p:nvSpPr>
          <p:spPr>
            <a:xfrm>
              <a:off x="571500" y="2133600"/>
              <a:ext cx="3552825" cy="41529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12" name="Rectangle 12"/>
            <p:cNvSpPr/>
            <p:nvPr/>
          </p:nvSpPr>
          <p:spPr>
            <a:xfrm>
              <a:off x="571500" y="2133600"/>
              <a:ext cx="3552825" cy="57150"/>
            </a:xfrm>
            <a:prstGeom prst="roundRect">
              <a:avLst>
                <a:gd name="adj" fmla="val 50000"/>
              </a:avLst>
            </a:prstGeom>
            <a:solidFill>
              <a:schemeClr val="accent5"/>
            </a:solidFill>
            <a:ln>
              <a:noFill/>
            </a:ln>
          </p:spPr>
        </p:sp>
        <p:sp>
          <p:nvSpPr>
            <p:cNvPr id="13" name="TextBox 13"/>
            <p:cNvSpPr txBox="1"/>
            <p:nvPr/>
          </p:nvSpPr>
          <p:spPr>
            <a:xfrm>
              <a:off x="795338" y="2398395"/>
              <a:ext cx="2152726"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POSITIVE RESULTS HOLD FOR</a:t>
              </a:r>
            </a:p>
          </p:txBody>
        </p:sp>
        <p:sp>
          <p:nvSpPr>
            <p:cNvPr id="14" name="TextBox 14"/>
            <p:cNvSpPr txBox="1"/>
            <p:nvPr/>
          </p:nvSpPr>
          <p:spPr>
            <a:xfrm>
              <a:off x="792861" y="2570321"/>
              <a:ext cx="279613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Well-behaved distributions</a:t>
              </a:r>
            </a:p>
          </p:txBody>
        </p:sp>
        <p:sp>
          <p:nvSpPr>
            <p:cNvPr id="15" name="TextBox 15"/>
            <p:cNvSpPr txBox="1"/>
            <p:nvPr/>
          </p:nvSpPr>
          <p:spPr>
            <a:xfrm>
              <a:off x="794766" y="2858452"/>
              <a:ext cx="27458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standard family used in prior work.</a:t>
              </a:r>
            </a:p>
          </p:txBody>
        </p:sp>
        <p:grpSp>
          <p:nvGrpSpPr>
            <p:cNvPr id="25" name="Group 25"/>
            <p:cNvGrpSpPr/>
            <p:nvPr/>
          </p:nvGrpSpPr>
          <p:grpSpPr>
            <a:xfrm>
              <a:off x="800100" y="3143250"/>
              <a:ext cx="3095625" cy="1905000"/>
              <a:chOff x="800100" y="3143250"/>
              <a:chExt cx="3095625" cy="1905000"/>
            </a:xfrm>
          </p:grpSpPr>
          <p:sp>
            <p:nvSpPr>
              <p:cNvPr id="16" name="Rectangle 16"/>
              <p:cNvSpPr/>
              <p:nvPr/>
            </p:nvSpPr>
            <p:spPr>
              <a:xfrm>
                <a:off x="800100" y="3143250"/>
                <a:ext cx="3095625" cy="571500"/>
              </a:xfrm>
              <a:prstGeom prst="roundRect">
                <a:avLst>
                  <a:gd name="adj" fmla="val 15000"/>
                </a:avLst>
              </a:prstGeom>
              <a:solidFill>
                <a:srgbClr val="F0FDF4"/>
              </a:solidFill>
              <a:ln w="11906">
                <a:solidFill>
                  <a:srgbClr val="A7F3D0"/>
                </a:solidFill>
              </a:ln>
            </p:spPr>
          </p:sp>
          <p:sp>
            <p:nvSpPr>
              <p:cNvPr id="17" name="TextBox 17"/>
              <p:cNvSpPr txBox="1"/>
              <p:nvPr/>
            </p:nvSpPr>
            <p:spPr>
              <a:xfrm>
                <a:off x="966216" y="3277552"/>
                <a:ext cx="132854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Isotropic marginal</a:t>
                </a:r>
              </a:p>
            </p:txBody>
          </p:sp>
          <p:sp>
            <p:nvSpPr>
              <p:cNvPr id="18" name="TextBox 18"/>
              <p:cNvSpPr txBox="1"/>
              <p:nvPr/>
            </p:nvSpPr>
            <p:spPr>
              <a:xfrm>
                <a:off x="966597" y="3495199"/>
                <a:ext cx="242418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e.g. isotropic log-concave features.</a:t>
                </a:r>
              </a:p>
            </p:txBody>
          </p:sp>
          <p:sp>
            <p:nvSpPr>
              <p:cNvPr id="19" name="Rectangle 19"/>
              <p:cNvSpPr/>
              <p:nvPr/>
            </p:nvSpPr>
            <p:spPr>
              <a:xfrm>
                <a:off x="800100" y="3810000"/>
                <a:ext cx="3095625" cy="571500"/>
              </a:xfrm>
              <a:prstGeom prst="roundRect">
                <a:avLst>
                  <a:gd name="adj" fmla="val 15000"/>
                </a:avLst>
              </a:prstGeom>
              <a:solidFill>
                <a:srgbClr val="F0FDF4"/>
              </a:solidFill>
              <a:ln w="11906">
                <a:solidFill>
                  <a:srgbClr val="A7F3D0"/>
                </a:solidFill>
              </a:ln>
            </p:spPr>
          </p:sp>
          <p:sp>
            <p:nvSpPr>
              <p:cNvPr id="20" name="TextBox 20"/>
              <p:cNvSpPr txBox="1"/>
              <p:nvPr/>
            </p:nvSpPr>
            <p:spPr>
              <a:xfrm>
                <a:off x="966216" y="3944302"/>
                <a:ext cx="1610921"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Soft-margin condition</a:t>
                </a:r>
              </a:p>
            </p:txBody>
          </p:sp>
          <p:sp>
            <p:nvSpPr>
              <p:cNvPr id="21" name="TextBox 21"/>
              <p:cNvSpPr txBox="1"/>
              <p:nvPr/>
            </p:nvSpPr>
            <p:spPr>
              <a:xfrm>
                <a:off x="966597" y="4161949"/>
                <a:ext cx="219330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controls mass near the boundary.</a:t>
                </a:r>
              </a:p>
            </p:txBody>
          </p:sp>
          <p:sp>
            <p:nvSpPr>
              <p:cNvPr id="22" name="Rectangle 22"/>
              <p:cNvSpPr/>
              <p:nvPr/>
            </p:nvSpPr>
            <p:spPr>
              <a:xfrm>
                <a:off x="800100" y="4476750"/>
                <a:ext cx="3095625" cy="571500"/>
              </a:xfrm>
              <a:prstGeom prst="roundRect">
                <a:avLst>
                  <a:gd name="adj" fmla="val 15000"/>
                </a:avLst>
              </a:prstGeom>
              <a:solidFill>
                <a:srgbClr val="F0FDF4"/>
              </a:solidFill>
              <a:ln w="11906">
                <a:solidFill>
                  <a:srgbClr val="A7F3D0"/>
                </a:solidFill>
              </a:ln>
            </p:spPr>
          </p:sp>
          <p:sp>
            <p:nvSpPr>
              <p:cNvPr id="23" name="TextBox 23"/>
              <p:cNvSpPr txBox="1"/>
              <p:nvPr/>
            </p:nvSpPr>
            <p:spPr>
              <a:xfrm>
                <a:off x="966216" y="4611052"/>
                <a:ext cx="1952098"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Sub-exponential regularity</a:t>
                </a:r>
              </a:p>
            </p:txBody>
          </p:sp>
          <p:sp>
            <p:nvSpPr>
              <p:cNvPr id="24" name="TextBox 24"/>
              <p:cNvSpPr txBox="1"/>
              <p:nvPr/>
            </p:nvSpPr>
            <p:spPr>
              <a:xfrm>
                <a:off x="966597" y="4828699"/>
                <a:ext cx="216692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tail control on the feature norm.</a:t>
                </a:r>
              </a:p>
            </p:txBody>
          </p:sp>
        </p:grpSp>
        <p:sp>
          <p:nvSpPr>
            <p:cNvPr id="26" name="TextBox 26"/>
            <p:cNvSpPr txBox="1"/>
            <p:nvPr/>
          </p:nvSpPr>
          <p:spPr>
            <a:xfrm>
              <a:off x="795147" y="5209699"/>
              <a:ext cx="236844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Following Diakonikolas et al. (2020d)</a:t>
              </a:r>
            </a:p>
          </p:txBody>
        </p:sp>
        <p:sp>
          <p:nvSpPr>
            <p:cNvPr id="27" name="TextBox 27"/>
            <p:cNvSpPr txBox="1"/>
            <p:nvPr/>
          </p:nvSpPr>
          <p:spPr>
            <a:xfrm>
              <a:off x="795147" y="5400199"/>
              <a:ext cx="244334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and Frei et al. (2021b) — the settings</a:t>
              </a:r>
            </a:p>
          </p:txBody>
        </p:sp>
        <p:sp>
          <p:nvSpPr>
            <p:cNvPr id="28" name="TextBox 28"/>
            <p:cNvSpPr txBox="1"/>
            <p:nvPr/>
          </p:nvSpPr>
          <p:spPr>
            <a:xfrm>
              <a:off x="795147" y="5590699"/>
              <a:ext cx="289252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that matter for isotropic log-concave data.</a:t>
              </a:r>
            </a:p>
          </p:txBody>
        </p:sp>
      </p:grpSp>
      <p:grpSp>
        <p:nvGrpSpPr>
          <p:cNvPr id="52" name="Group 52"/>
          <p:cNvGrpSpPr/>
          <p:nvPr/>
        </p:nvGrpSpPr>
        <p:grpSpPr>
          <a:xfrm>
            <a:off x="4314825" y="2133600"/>
            <a:ext cx="3552825" cy="4152900"/>
            <a:chOff x="4314825" y="2133600"/>
            <a:chExt cx="3552825" cy="4152900"/>
          </a:xfrm>
        </p:grpSpPr>
        <p:sp>
          <p:nvSpPr>
            <p:cNvPr id="30" name="Rectangle 30"/>
            <p:cNvSpPr/>
            <p:nvPr/>
          </p:nvSpPr>
          <p:spPr>
            <a:xfrm>
              <a:off x="4314825" y="2133600"/>
              <a:ext cx="3552825" cy="41529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31" name="Rectangle 31"/>
            <p:cNvSpPr/>
            <p:nvPr/>
          </p:nvSpPr>
          <p:spPr>
            <a:xfrm>
              <a:off x="4314825" y="2133600"/>
              <a:ext cx="3552825" cy="57150"/>
            </a:xfrm>
            <a:prstGeom prst="roundRect">
              <a:avLst>
                <a:gd name="adj" fmla="val 50000"/>
              </a:avLst>
            </a:prstGeom>
            <a:solidFill>
              <a:schemeClr val="accent3"/>
            </a:solidFill>
            <a:ln>
              <a:noFill/>
            </a:ln>
          </p:spPr>
        </p:sp>
        <p:sp>
          <p:nvSpPr>
            <p:cNvPr id="32" name="TextBox 32"/>
            <p:cNvSpPr txBox="1"/>
            <p:nvPr/>
          </p:nvSpPr>
          <p:spPr>
            <a:xfrm>
              <a:off x="4538662" y="2398395"/>
              <a:ext cx="2934584"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NEGATIVE RESULT — A COUNTEREXAMPLE</a:t>
              </a:r>
            </a:p>
          </p:txBody>
        </p:sp>
        <p:sp>
          <p:nvSpPr>
            <p:cNvPr id="33" name="TextBox 33"/>
            <p:cNvSpPr txBox="1"/>
            <p:nvPr/>
          </p:nvSpPr>
          <p:spPr>
            <a:xfrm>
              <a:off x="4536186" y="2570321"/>
              <a:ext cx="256880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The distribution Q on R²</a:t>
              </a:r>
            </a:p>
          </p:txBody>
        </p:sp>
        <p:grpSp>
          <p:nvGrpSpPr>
            <p:cNvPr id="47" name="Group 47"/>
            <p:cNvGrpSpPr/>
            <p:nvPr/>
          </p:nvGrpSpPr>
          <p:grpSpPr>
            <a:xfrm>
              <a:off x="4543425" y="2895600"/>
              <a:ext cx="3095625" cy="2019300"/>
              <a:chOff x="4543425" y="2895600"/>
              <a:chExt cx="3095625" cy="2019300"/>
            </a:xfrm>
          </p:grpSpPr>
          <p:sp>
            <p:nvSpPr>
              <p:cNvPr id="34" name="Rectangle 34"/>
              <p:cNvSpPr/>
              <p:nvPr/>
            </p:nvSpPr>
            <p:spPr>
              <a:xfrm>
                <a:off x="4543425" y="2895600"/>
                <a:ext cx="3095625" cy="2019300"/>
              </a:xfrm>
              <a:prstGeom prst="roundRect">
                <a:avLst>
                  <a:gd name="adj" fmla="val 4717"/>
                </a:avLst>
              </a:prstGeom>
              <a:solidFill>
                <a:srgbClr val="F9FAFB"/>
              </a:solidFill>
              <a:ln w="9525">
                <a:solidFill>
                  <a:schemeClr val="accent4"/>
                </a:solidFill>
              </a:ln>
            </p:spPr>
          </p:sp>
          <p:sp>
            <p:nvSpPr>
              <p:cNvPr id="35" name="TextBox 35"/>
              <p:cNvSpPr txBox="1"/>
              <p:nvPr/>
            </p:nvSpPr>
            <p:spPr>
              <a:xfrm>
                <a:off x="4691062" y="3016091"/>
                <a:ext cx="1717963" cy="161925"/>
              </a:xfrm>
              <a:prstGeom prst="rect">
                <a:avLst/>
              </a:prstGeom>
              <a:noFill/>
              <a:ln>
                <a:noFill/>
              </a:ln>
            </p:spPr>
            <p:txBody>
              <a:bodyPr wrap="none" lIns="0" tIns="0" rIns="0" bIns="0" anchor="t" anchorCtr="0">
                <a:spAutoFit/>
              </a:bodyPr>
              <a:lstStyle/>
              <a:p>
                <a:pPr algn="l"/>
                <a:r>
                  <a:rPr lang="en-US" sz="820" b="1" dirty="0">
                    <a:solidFill>
                      <a:schemeClr val="dk2"/>
                    </a:solidFill>
                    <a:latin typeface="+mn-lt"/>
                    <a:ea typeface="+mn-ea"/>
                    <a:cs typeface="+mn-cs"/>
                  </a:rPr>
                  <a:t>FIGURE 1 — FOUR PARTS Q₁–Q₄</a:t>
                </a:r>
              </a:p>
            </p:txBody>
          </p:sp>
          <p:sp>
            <p:nvSpPr>
              <p:cNvPr id="36" name="Line 36"/>
              <p:cNvSpPr/>
              <p:nvPr/>
            </p:nvSpPr>
            <p:spPr>
              <a:xfrm>
                <a:off x="6086475" y="3238500"/>
                <a:ext cx="9525" cy="1485900"/>
              </a:xfrm>
              <a:custGeom>
                <a:avLst/>
                <a:gdLst/>
                <a:ahLst/>
                <a:cxnLst/>
                <a:rect l="l" t="t" r="r" b="b"/>
                <a:pathLst>
                  <a:path w="9525" h="1485900">
                    <a:moveTo>
                      <a:pt x="0" y="0"/>
                    </a:moveTo>
                    <a:lnTo>
                      <a:pt x="0" y="1485900"/>
                    </a:lnTo>
                  </a:path>
                </a:pathLst>
              </a:custGeom>
              <a:noFill/>
              <a:ln w="9525">
                <a:solidFill>
                  <a:srgbClr val="CBD5E1"/>
                </a:solidFill>
              </a:ln>
            </p:spPr>
          </p:sp>
          <p:sp>
            <p:nvSpPr>
              <p:cNvPr id="37" name="Line 37"/>
              <p:cNvSpPr/>
              <p:nvPr/>
            </p:nvSpPr>
            <p:spPr>
              <a:xfrm>
                <a:off x="4791075" y="3981450"/>
                <a:ext cx="2590800" cy="9525"/>
              </a:xfrm>
              <a:custGeom>
                <a:avLst/>
                <a:gdLst/>
                <a:ahLst/>
                <a:cxnLst/>
                <a:rect l="l" t="t" r="r" b="b"/>
                <a:pathLst>
                  <a:path w="2590800" h="9525">
                    <a:moveTo>
                      <a:pt x="0" y="0"/>
                    </a:moveTo>
                    <a:lnTo>
                      <a:pt x="2590800" y="0"/>
                    </a:lnTo>
                  </a:path>
                </a:pathLst>
              </a:custGeom>
              <a:noFill/>
              <a:ln w="9525">
                <a:solidFill>
                  <a:srgbClr val="CBD5E1"/>
                </a:solidFill>
              </a:ln>
            </p:spPr>
          </p:sp>
          <p:sp>
            <p:nvSpPr>
              <p:cNvPr id="38" name="Ellipse 38"/>
              <p:cNvSpPr/>
              <p:nvPr/>
            </p:nvSpPr>
            <p:spPr>
              <a:xfrm>
                <a:off x="6419850" y="3295650"/>
                <a:ext cx="495300" cy="495300"/>
              </a:xfrm>
              <a:prstGeom prst="ellipse">
                <a:avLst/>
              </a:prstGeom>
              <a:solidFill>
                <a:schemeClr val="accent2">
                  <a:alpha val="14000"/>
                </a:schemeClr>
              </a:solidFill>
              <a:ln w="14288">
                <a:solidFill>
                  <a:schemeClr val="accent2"/>
                </a:solidFill>
              </a:ln>
            </p:spPr>
          </p:sp>
          <p:sp>
            <p:nvSpPr>
              <p:cNvPr id="39" name="TextBox 39"/>
              <p:cNvSpPr txBox="1"/>
              <p:nvPr/>
            </p:nvSpPr>
            <p:spPr>
              <a:xfrm>
                <a:off x="6575367" y="3484245"/>
                <a:ext cx="184267"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Q₁</a:t>
                </a:r>
              </a:p>
            </p:txBody>
          </p:sp>
          <p:sp>
            <p:nvSpPr>
              <p:cNvPr id="40" name="Ellipse 40"/>
              <p:cNvSpPr/>
              <p:nvPr/>
            </p:nvSpPr>
            <p:spPr>
              <a:xfrm>
                <a:off x="5257800" y="4171950"/>
                <a:ext cx="495300" cy="495300"/>
              </a:xfrm>
              <a:prstGeom prst="ellipse">
                <a:avLst/>
              </a:prstGeom>
              <a:solidFill>
                <a:srgbClr val="94A3B8">
                  <a:alpha val="18000"/>
                </a:srgbClr>
              </a:solidFill>
              <a:ln w="14288">
                <a:solidFill>
                  <a:srgbClr val="94A3B8"/>
                </a:solidFill>
              </a:ln>
            </p:spPr>
          </p:sp>
          <p:sp>
            <p:nvSpPr>
              <p:cNvPr id="41" name="TextBox 41"/>
              <p:cNvSpPr txBox="1"/>
              <p:nvPr/>
            </p:nvSpPr>
            <p:spPr>
              <a:xfrm>
                <a:off x="5413317" y="4360545"/>
                <a:ext cx="184267"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Q₂</a:t>
                </a:r>
              </a:p>
            </p:txBody>
          </p:sp>
          <p:sp>
            <p:nvSpPr>
              <p:cNvPr id="42" name="Ellipse 42"/>
              <p:cNvSpPr/>
              <p:nvPr/>
            </p:nvSpPr>
            <p:spPr>
              <a:xfrm>
                <a:off x="6438900" y="4305300"/>
                <a:ext cx="342900" cy="342900"/>
              </a:xfrm>
              <a:prstGeom prst="ellipse">
                <a:avLst/>
              </a:prstGeom>
              <a:solidFill>
                <a:schemeClr val="accent3">
                  <a:alpha val="16000"/>
                </a:schemeClr>
              </a:solidFill>
              <a:ln w="14288">
                <a:solidFill>
                  <a:schemeClr val="accent3"/>
                </a:solidFill>
              </a:ln>
            </p:spPr>
          </p:sp>
          <p:sp>
            <p:nvSpPr>
              <p:cNvPr id="43" name="TextBox 43"/>
              <p:cNvSpPr txBox="1"/>
              <p:nvPr/>
            </p:nvSpPr>
            <p:spPr>
              <a:xfrm>
                <a:off x="6525983" y="4425791"/>
                <a:ext cx="168734"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mn-lt"/>
                    <a:ea typeface="+mn-ea"/>
                    <a:cs typeface="+mn-cs"/>
                  </a:rPr>
                  <a:t>Q₃</a:t>
                </a:r>
              </a:p>
            </p:txBody>
          </p:sp>
          <p:sp>
            <p:nvSpPr>
              <p:cNvPr id="44" name="Ellipse 44"/>
              <p:cNvSpPr/>
              <p:nvPr/>
            </p:nvSpPr>
            <p:spPr>
              <a:xfrm>
                <a:off x="5219700" y="3333750"/>
                <a:ext cx="342900" cy="342900"/>
              </a:xfrm>
              <a:prstGeom prst="ellipse">
                <a:avLst/>
              </a:prstGeom>
              <a:solidFill>
                <a:schemeClr val="accent3">
                  <a:alpha val="16000"/>
                </a:schemeClr>
              </a:solidFill>
              <a:ln w="14288">
                <a:solidFill>
                  <a:schemeClr val="accent3"/>
                </a:solidFill>
              </a:ln>
            </p:spPr>
          </p:sp>
          <p:sp>
            <p:nvSpPr>
              <p:cNvPr id="45" name="TextBox 45"/>
              <p:cNvSpPr txBox="1"/>
              <p:nvPr/>
            </p:nvSpPr>
            <p:spPr>
              <a:xfrm>
                <a:off x="5306783" y="3454241"/>
                <a:ext cx="168734"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mn-lt"/>
                    <a:ea typeface="+mn-ea"/>
                    <a:cs typeface="+mn-cs"/>
                  </a:rPr>
                  <a:t>Q₄</a:t>
                </a:r>
              </a:p>
            </p:txBody>
          </p:sp>
          <p:sp>
            <p:nvSpPr>
              <p:cNvPr id="46" name="TextBox 46"/>
              <p:cNvSpPr txBox="1"/>
              <p:nvPr/>
            </p:nvSpPr>
            <p:spPr>
              <a:xfrm>
                <a:off x="4691062" y="4749641"/>
                <a:ext cx="2769235" cy="161925"/>
              </a:xfrm>
              <a:prstGeom prst="rect">
                <a:avLst/>
              </a:prstGeom>
              <a:noFill/>
              <a:ln>
                <a:noFill/>
              </a:ln>
            </p:spPr>
            <p:txBody>
              <a:bodyPr wrap="none" lIns="0" tIns="0" rIns="0" bIns="0" anchor="t" anchorCtr="0">
                <a:spAutoFit/>
              </a:bodyPr>
              <a:lstStyle/>
              <a:p>
                <a:pPr algn="l"/>
                <a:r>
                  <a:rPr lang="en-US" sz="820" i="1" dirty="0">
                    <a:solidFill>
                      <a:schemeClr val="dk2"/>
                    </a:solidFill>
                    <a:latin typeface="+mn-lt"/>
                    <a:ea typeface="+mn-ea"/>
                    <a:cs typeface="+mn-cs"/>
                  </a:rPr>
                  <a:t>fully well-behaved, yet defeats logistic regression</a:t>
                </a:r>
              </a:p>
            </p:txBody>
          </p:sp>
        </p:grpSp>
        <p:sp>
          <p:nvSpPr>
            <p:cNvPr id="48" name="TextBox 48"/>
            <p:cNvSpPr txBox="1"/>
            <p:nvPr/>
          </p:nvSpPr>
          <p:spPr>
            <a:xfrm>
              <a:off x="4538091" y="5087302"/>
              <a:ext cx="210013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 explicit, fully well-behaved</a:t>
              </a:r>
            </a:p>
          </p:txBody>
        </p:sp>
        <p:sp>
          <p:nvSpPr>
            <p:cNvPr id="49" name="TextBox 49"/>
            <p:cNvSpPr txBox="1"/>
            <p:nvPr/>
          </p:nvSpPr>
          <p:spPr>
            <a:xfrm>
              <a:off x="4538091" y="5287328"/>
              <a:ext cx="248431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distribution built from four parts —</a:t>
              </a:r>
            </a:p>
          </p:txBody>
        </p:sp>
        <p:sp>
          <p:nvSpPr>
            <p:cNvPr id="50" name="TextBox 50"/>
            <p:cNvSpPr txBox="1"/>
            <p:nvPr/>
          </p:nvSpPr>
          <p:spPr>
            <a:xfrm>
              <a:off x="4538091" y="5487352"/>
              <a:ext cx="271047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single counterexample that carries</a:t>
              </a:r>
            </a:p>
          </p:txBody>
        </p:sp>
        <p:sp>
          <p:nvSpPr>
            <p:cNvPr id="51" name="TextBox 51"/>
            <p:cNvSpPr txBox="1"/>
            <p:nvPr/>
          </p:nvSpPr>
          <p:spPr>
            <a:xfrm>
              <a:off x="4538091" y="5687378"/>
              <a:ext cx="160086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whole lower bound.</a:t>
              </a:r>
            </a:p>
          </p:txBody>
        </p:sp>
      </p:grpSp>
      <p:grpSp>
        <p:nvGrpSpPr>
          <p:cNvPr id="72" name="Group 72"/>
          <p:cNvGrpSpPr/>
          <p:nvPr/>
        </p:nvGrpSpPr>
        <p:grpSpPr>
          <a:xfrm>
            <a:off x="8058150" y="2133600"/>
            <a:ext cx="3562350" cy="4152900"/>
            <a:chOff x="8058150" y="2133600"/>
            <a:chExt cx="3562350" cy="4152900"/>
          </a:xfrm>
        </p:grpSpPr>
        <p:sp>
          <p:nvSpPr>
            <p:cNvPr id="53" name="Rectangle 53"/>
            <p:cNvSpPr/>
            <p:nvPr/>
          </p:nvSpPr>
          <p:spPr>
            <a:xfrm>
              <a:off x="8058150" y="2133600"/>
              <a:ext cx="3562350" cy="4152900"/>
            </a:xfrm>
            <a:prstGeom prst="roundRect">
              <a:avLst>
                <a:gd name="adj" fmla="val 3209"/>
              </a:avLst>
            </a:prstGeom>
            <a:solidFill>
              <a:srgbClr val="EEF4FF"/>
            </a:solidFill>
            <a:ln w="14288">
              <a:solidFill>
                <a:srgbClr val="BFD4FE"/>
              </a:solidFill>
            </a:ln>
            <a:effectLst>
              <a:outerShdw blurRad="76200" dist="19050" dir="5400000" algn="ctr" rotWithShape="0">
                <a:srgbClr val="12233B">
                  <a:alpha val="4500"/>
                </a:srgbClr>
              </a:outerShdw>
            </a:effectLst>
          </p:spPr>
        </p:sp>
        <p:sp>
          <p:nvSpPr>
            <p:cNvPr id="54" name="Rectangle 54"/>
            <p:cNvSpPr/>
            <p:nvPr/>
          </p:nvSpPr>
          <p:spPr>
            <a:xfrm>
              <a:off x="8058150" y="2133600"/>
              <a:ext cx="3562350" cy="57150"/>
            </a:xfrm>
            <a:prstGeom prst="roundRect">
              <a:avLst>
                <a:gd name="adj" fmla="val 50000"/>
              </a:avLst>
            </a:prstGeom>
            <a:solidFill>
              <a:schemeClr val="accent2"/>
            </a:solidFill>
            <a:ln>
              <a:noFill/>
            </a:ln>
          </p:spPr>
        </p:sp>
        <p:sp>
          <p:nvSpPr>
            <p:cNvPr id="55" name="TextBox 55"/>
            <p:cNvSpPr txBox="1"/>
            <p:nvPr/>
          </p:nvSpPr>
          <p:spPr>
            <a:xfrm>
              <a:off x="8281988" y="2398395"/>
              <a:ext cx="2269470"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UPPER BOUNDS — TWO REGIMES</a:t>
              </a:r>
            </a:p>
          </p:txBody>
        </p:sp>
        <p:sp>
          <p:nvSpPr>
            <p:cNvPr id="56" name="TextBox 56"/>
            <p:cNvSpPr txBox="1"/>
            <p:nvPr/>
          </p:nvSpPr>
          <p:spPr>
            <a:xfrm>
              <a:off x="8279511" y="2570321"/>
              <a:ext cx="278766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Where the guarantees hold</a:t>
              </a:r>
            </a:p>
          </p:txBody>
        </p:sp>
        <p:grpSp>
          <p:nvGrpSpPr>
            <p:cNvPr id="63" name="Group 63"/>
            <p:cNvGrpSpPr/>
            <p:nvPr/>
          </p:nvGrpSpPr>
          <p:grpSpPr>
            <a:xfrm>
              <a:off x="8286750" y="2914650"/>
              <a:ext cx="3105150" cy="1428750"/>
              <a:chOff x="8286750" y="2914650"/>
              <a:chExt cx="3105150" cy="1428750"/>
            </a:xfrm>
          </p:grpSpPr>
          <p:sp>
            <p:nvSpPr>
              <p:cNvPr id="57" name="Rectangle 57"/>
              <p:cNvSpPr/>
              <p:nvPr/>
            </p:nvSpPr>
            <p:spPr>
              <a:xfrm>
                <a:off x="8286750" y="2914650"/>
                <a:ext cx="3105150" cy="1428750"/>
              </a:xfrm>
              <a:prstGeom prst="roundRect">
                <a:avLst>
                  <a:gd name="adj" fmla="val 6667"/>
                </a:avLst>
              </a:prstGeom>
              <a:solidFill>
                <a:schemeClr val="lt1"/>
              </a:solidFill>
              <a:ln w="11906">
                <a:solidFill>
                  <a:srgbClr val="BFD4FE"/>
                </a:solidFill>
              </a:ln>
            </p:spPr>
          </p:sp>
          <p:sp>
            <p:nvSpPr>
              <p:cNvPr id="58" name="TextBox 58"/>
              <p:cNvSpPr txBox="1"/>
              <p:nvPr/>
            </p:nvSpPr>
            <p:spPr>
              <a:xfrm>
                <a:off x="8472488" y="3084195"/>
                <a:ext cx="1440957"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REGIME A · BOUNDED</a:t>
                </a:r>
              </a:p>
            </p:txBody>
          </p:sp>
          <p:sp>
            <p:nvSpPr>
              <p:cNvPr id="59" name="TextBox 59"/>
              <p:cNvSpPr txBox="1"/>
              <p:nvPr/>
            </p:nvSpPr>
            <p:spPr>
              <a:xfrm>
                <a:off x="8468868" y="3308032"/>
                <a:ext cx="82019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Consolas"/>
                    <a:ea typeface="Consolas"/>
                    <a:cs typeface="Consolas"/>
                  </a:rPr>
                  <a:t>‖x‖ ≤ B</a:t>
                </a:r>
              </a:p>
            </p:txBody>
          </p:sp>
          <p:sp>
            <p:nvSpPr>
              <p:cNvPr id="60" name="TextBox 60"/>
              <p:cNvSpPr txBox="1"/>
              <p:nvPr/>
            </p:nvSpPr>
            <p:spPr>
              <a:xfrm>
                <a:off x="8471916" y="3677602"/>
                <a:ext cx="209165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Feature norm is bounded by B.</a:t>
                </a:r>
              </a:p>
            </p:txBody>
          </p:sp>
          <p:sp>
            <p:nvSpPr>
              <p:cNvPr id="61" name="TextBox 61"/>
              <p:cNvSpPr txBox="1"/>
              <p:nvPr/>
            </p:nvSpPr>
            <p:spPr>
              <a:xfrm>
                <a:off x="8471916" y="3887152"/>
                <a:ext cx="210220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Gives the cleanest O(OPT + ε)</a:t>
                </a:r>
              </a:p>
            </p:txBody>
          </p:sp>
          <p:sp>
            <p:nvSpPr>
              <p:cNvPr id="62" name="TextBox 62"/>
              <p:cNvSpPr txBox="1"/>
              <p:nvPr/>
            </p:nvSpPr>
            <p:spPr>
              <a:xfrm>
                <a:off x="8471916" y="4077652"/>
                <a:ext cx="203905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guarantee for the algorithm.</a:t>
                </a:r>
              </a:p>
            </p:txBody>
          </p:sp>
        </p:grpSp>
        <p:grpSp>
          <p:nvGrpSpPr>
            <p:cNvPr id="71" name="Group 71"/>
            <p:cNvGrpSpPr/>
            <p:nvPr/>
          </p:nvGrpSpPr>
          <p:grpSpPr>
            <a:xfrm>
              <a:off x="8286750" y="4495800"/>
              <a:ext cx="3105150" cy="1577911"/>
              <a:chOff x="8286750" y="4495800"/>
              <a:chExt cx="3105150" cy="1577911"/>
            </a:xfrm>
          </p:grpSpPr>
          <p:sp>
            <p:nvSpPr>
              <p:cNvPr id="64" name="Rectangle 64"/>
              <p:cNvSpPr/>
              <p:nvPr/>
            </p:nvSpPr>
            <p:spPr>
              <a:xfrm>
                <a:off x="8286750" y="4495800"/>
                <a:ext cx="3105150" cy="1562100"/>
              </a:xfrm>
              <a:prstGeom prst="roundRect">
                <a:avLst>
                  <a:gd name="adj" fmla="val 6098"/>
                </a:avLst>
              </a:prstGeom>
              <a:solidFill>
                <a:schemeClr val="lt1"/>
              </a:solidFill>
              <a:ln w="11906">
                <a:solidFill>
                  <a:srgbClr val="BFD4FE"/>
                </a:solidFill>
              </a:ln>
            </p:spPr>
          </p:sp>
          <p:sp>
            <p:nvSpPr>
              <p:cNvPr id="65" name="TextBox 65"/>
              <p:cNvSpPr txBox="1"/>
              <p:nvPr/>
            </p:nvSpPr>
            <p:spPr>
              <a:xfrm>
                <a:off x="8472488" y="4665345"/>
                <a:ext cx="2084131"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REGIME B · SUB-EXPONENTIAL</a:t>
                </a:r>
              </a:p>
            </p:txBody>
          </p:sp>
          <p:sp>
            <p:nvSpPr>
              <p:cNvPr id="66" name="TextBox 66"/>
              <p:cNvSpPr txBox="1"/>
              <p:nvPr/>
            </p:nvSpPr>
            <p:spPr>
              <a:xfrm>
                <a:off x="8469630" y="4905375"/>
                <a:ext cx="194468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(α₁, α₂)-sub-exp.</a:t>
                </a:r>
              </a:p>
            </p:txBody>
          </p:sp>
          <p:sp>
            <p:nvSpPr>
              <p:cNvPr id="67" name="TextBox 67"/>
              <p:cNvSpPr txBox="1"/>
              <p:nvPr/>
            </p:nvSpPr>
            <p:spPr>
              <a:xfrm>
                <a:off x="8471916" y="5239702"/>
                <a:ext cx="218495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Heavier tails — covers isotropic</a:t>
                </a:r>
              </a:p>
            </p:txBody>
          </p:sp>
          <p:sp>
            <p:nvSpPr>
              <p:cNvPr id="68" name="TextBox 68"/>
              <p:cNvSpPr txBox="1"/>
              <p:nvPr/>
            </p:nvSpPr>
            <p:spPr>
              <a:xfrm>
                <a:off x="8471916" y="5430202"/>
                <a:ext cx="157259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log-concave features.</a:t>
                </a:r>
              </a:p>
            </p:txBody>
          </p:sp>
          <p:sp>
            <p:nvSpPr>
              <p:cNvPr id="69" name="TextBox 69"/>
              <p:cNvSpPr txBox="1"/>
              <p:nvPr/>
            </p:nvSpPr>
            <p:spPr>
              <a:xfrm>
                <a:off x="8471916" y="5677852"/>
                <a:ext cx="210378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Costs only an extra ln(1/OPT)</a:t>
                </a:r>
              </a:p>
            </p:txBody>
          </p:sp>
          <p:sp>
            <p:nvSpPr>
              <p:cNvPr id="70" name="TextBox 70"/>
              <p:cNvSpPr txBox="1"/>
              <p:nvPr/>
            </p:nvSpPr>
            <p:spPr>
              <a:xfrm>
                <a:off x="8471916" y="5868352"/>
                <a:ext cx="177755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factor (see next slides).</a:t>
                </a:r>
              </a:p>
            </p:txBody>
          </p:sp>
        </p:grpSp>
      </p:grpSp>
      <p:grpSp>
        <p:nvGrpSpPr>
          <p:cNvPr id="76" name="Group 76"/>
          <p:cNvGrpSpPr/>
          <p:nvPr/>
        </p:nvGrpSpPr>
        <p:grpSpPr>
          <a:xfrm>
            <a:off x="571500" y="6521291"/>
            <a:ext cx="11053762" cy="161925"/>
            <a:chOff x="571500" y="6521291"/>
            <a:chExt cx="11053762" cy="161925"/>
          </a:xfrm>
        </p:grpSpPr>
        <p:sp>
          <p:nvSpPr>
            <p:cNvPr id="73" name="Line 73"/>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74" name="TextBox 74"/>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75" name="TextBox 75"/>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06</a:t>
              </a:r>
            </a:p>
          </p:txBody>
        </p:sp>
      </p:grpSp>
      <p:sp>
        <p:nvSpPr>
          <p:cNvPr id="77" name="cue_s06_c1_because_learning_theory_benchmark_da" title="cue_s06_c1_because_learning_theory_benchmark_da" descr="cue_s06_c1_because_learning_theory_benchmark_da Because this is a learning-theory paper, there are no benchmark datasets or empirical tables; the &quot;data&quot; are distribution classes and the results are theorems with explicit constants."/>
          <p:cNvSpPr/>
          <p:nvPr/>
        </p:nvSpPr>
        <p:spPr>
          <a:xfrm>
            <a:off x="571804" y="1333195"/>
            <a:ext cx="1104839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ue_s06_c2_positive_results_hold_standard_famil" title="cue_s06_c2_positive_results_hold_standard_famil" descr="cue_s06_c2_positive_results_hold_standard_famil The positive results hold for the standard family of well-behaved distributions used in prior work, meaning the marginal on features is isotropic and satisfies soft-margin and sub-exponential regularity conditions."/>
          <p:cNvSpPr/>
          <p:nvPr/>
        </p:nvSpPr>
        <p:spPr>
          <a:xfrm>
            <a:off x="571804"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ue_s06_c3_negative_result_carried_concrete_cou" title="cue_s06_c3_negative_result_carried_concrete_cou" descr="cue_s06_c3_negative_result_carried_concrete_cou The negative result is carried by a concrete counterexample: an explicit distribution Q on the two-dimensional plane, built from four parts and illustrated in the paper's single figure, that is fully well-behaved yet defeats logistic regression."/>
          <p:cNvSpPr/>
          <p:nvPr/>
        </p:nvSpPr>
        <p:spPr>
          <a:xfrm>
            <a:off x="4314748"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ue_s06_c4_upper_bounds_stated_two_regimes" title="cue_s06_c4_upper_bounds_stated_two_regimes" descr="cue_s06_c4_upper_bounds_stated_two_regimes The upper bounds are stated in two regimes, one for bounded feature distributions where the norm is at most B, and one for sub-exponential feature distributions, so the guarantees span the settings that matter for isotropic log-concave data."/>
          <p:cNvSpPr/>
          <p:nvPr/>
        </p:nvSpPr>
        <p:spPr>
          <a:xfrm>
            <a:off x="8057692" y="2133523"/>
            <a:ext cx="3562502"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7583624" cy="656939"/>
            <a:chOff x="571500" y="495300"/>
            <a:chExt cx="7583624"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736797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headline: a matching pair of bounds</a:t>
              </a:r>
            </a:p>
          </p:txBody>
        </p:sp>
        <p:sp>
          <p:nvSpPr>
            <p:cNvPr id="4" name="TextBox 4"/>
            <p:cNvSpPr txBox="1"/>
            <p:nvPr/>
          </p:nvSpPr>
          <p:spPr>
            <a:xfrm>
              <a:off x="795147" y="961549"/>
              <a:ext cx="443371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√OPT IS TIGHT, THEN RECOVERED TO OPT</a:t>
              </a:r>
            </a:p>
          </p:txBody>
        </p:sp>
      </p:grpSp>
      <p:grpSp>
        <p:nvGrpSpPr>
          <p:cNvPr id="10" name="Group 10"/>
          <p:cNvGrpSpPr/>
          <p:nvPr/>
        </p:nvGrpSpPr>
        <p:grpSpPr>
          <a:xfrm>
            <a:off x="571500" y="1333500"/>
            <a:ext cx="11049000" cy="609600"/>
            <a:chOff x="571500" y="1333500"/>
            <a:chExt cx="11049000" cy="609600"/>
          </a:xfrm>
        </p:grpSpPr>
        <p:sp>
          <p:nvSpPr>
            <p:cNvPr id="6" name="Rectangle 6"/>
            <p:cNvSpPr/>
            <p:nvPr/>
          </p:nvSpPr>
          <p:spPr>
            <a:xfrm>
              <a:off x="571500" y="1333500"/>
              <a:ext cx="11049000" cy="609600"/>
            </a:xfrm>
            <a:prstGeom prst="roundRect">
              <a:avLst>
                <a:gd name="adj" fmla="val 15625"/>
              </a:avLst>
            </a:prstGeom>
            <a:solidFill>
              <a:schemeClr val="accent1"/>
            </a:solidFill>
            <a:ln>
              <a:noFill/>
            </a:ln>
          </p:spPr>
        </p:sp>
        <p:sp>
          <p:nvSpPr>
            <p:cNvPr id="7" name="Rectangle 7"/>
            <p:cNvSpPr/>
            <p:nvPr/>
          </p:nvSpPr>
          <p:spPr>
            <a:xfrm>
              <a:off x="571500" y="1333500"/>
              <a:ext cx="57150" cy="609600"/>
            </a:xfrm>
            <a:prstGeom prst="roundRect">
              <a:avLst>
                <a:gd name="adj" fmla="val 50000"/>
              </a:avLst>
            </a:prstGeom>
            <a:solidFill>
              <a:schemeClr val="accent2"/>
            </a:solidFill>
            <a:ln>
              <a:noFill/>
            </a:ln>
          </p:spPr>
        </p:sp>
        <p:sp>
          <p:nvSpPr>
            <p:cNvPr id="8" name="TextBox 8"/>
            <p:cNvSpPr txBox="1"/>
            <p:nvPr/>
          </p:nvSpPr>
          <p:spPr>
            <a:xfrm>
              <a:off x="833438" y="1503045"/>
              <a:ext cx="1622776"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THE HEADLINE FINDING</a:t>
              </a:r>
            </a:p>
          </p:txBody>
        </p:sp>
        <p:sp>
          <p:nvSpPr>
            <p:cNvPr id="9" name="TextBox 9"/>
            <p:cNvSpPr txBox="1"/>
            <p:nvPr/>
          </p:nvSpPr>
          <p:spPr>
            <a:xfrm>
              <a:off x="832104" y="1689735"/>
              <a:ext cx="9276081"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A matching pair of bounds: logistic regression alone is stuck at √OPT — and a tiny change recovers near-optimal OPT.</a:t>
              </a:r>
            </a:p>
          </p:txBody>
        </p:sp>
      </p:grpSp>
      <p:grpSp>
        <p:nvGrpSpPr>
          <p:cNvPr id="28" name="Group 28"/>
          <p:cNvGrpSpPr/>
          <p:nvPr/>
        </p:nvGrpSpPr>
        <p:grpSpPr>
          <a:xfrm>
            <a:off x="571500" y="2133600"/>
            <a:ext cx="3552825" cy="4152900"/>
            <a:chOff x="571500" y="2133600"/>
            <a:chExt cx="3552825" cy="4152900"/>
          </a:xfrm>
        </p:grpSpPr>
        <p:sp>
          <p:nvSpPr>
            <p:cNvPr id="11" name="Rectangle 11"/>
            <p:cNvSpPr/>
            <p:nvPr/>
          </p:nvSpPr>
          <p:spPr>
            <a:xfrm>
              <a:off x="571500" y="2133600"/>
              <a:ext cx="3552825" cy="41529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12" name="Rectangle 12"/>
            <p:cNvSpPr/>
            <p:nvPr/>
          </p:nvSpPr>
          <p:spPr>
            <a:xfrm>
              <a:off x="571500" y="2133600"/>
              <a:ext cx="3552825" cy="57150"/>
            </a:xfrm>
            <a:prstGeom prst="roundRect">
              <a:avLst>
                <a:gd name="adj" fmla="val 50000"/>
              </a:avLst>
            </a:prstGeom>
            <a:solidFill>
              <a:schemeClr val="accent3"/>
            </a:solidFill>
            <a:ln>
              <a:noFill/>
            </a:ln>
          </p:spPr>
        </p:sp>
        <p:sp>
          <p:nvSpPr>
            <p:cNvPr id="13" name="TextBox 13"/>
            <p:cNvSpPr txBox="1"/>
            <p:nvPr/>
          </p:nvSpPr>
          <p:spPr>
            <a:xfrm>
              <a:off x="795338" y="2398395"/>
              <a:ext cx="2442469"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LOWER BOUND — LOGISTIC ALONE</a:t>
              </a:r>
            </a:p>
          </p:txBody>
        </p:sp>
        <p:sp>
          <p:nvSpPr>
            <p:cNvPr id="14" name="TextBox 14"/>
            <p:cNvSpPr txBox="1"/>
            <p:nvPr/>
          </p:nvSpPr>
          <p:spPr>
            <a:xfrm>
              <a:off x="793242" y="2597468"/>
              <a:ext cx="215292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√OPT error is forced</a:t>
              </a:r>
            </a:p>
          </p:txBody>
        </p:sp>
        <p:sp>
          <p:nvSpPr>
            <p:cNvPr id="15" name="TextBox 15"/>
            <p:cNvSpPr txBox="1"/>
            <p:nvPr/>
          </p:nvSpPr>
          <p:spPr>
            <a:xfrm>
              <a:off x="794766" y="285845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the constructed distribution.</a:t>
              </a:r>
            </a:p>
          </p:txBody>
        </p:sp>
        <p:sp>
          <p:nvSpPr>
            <p:cNvPr id="16" name="Rectangle 16"/>
            <p:cNvSpPr/>
            <p:nvPr/>
          </p:nvSpPr>
          <p:spPr>
            <a:xfrm>
              <a:off x="800100" y="3143250"/>
              <a:ext cx="3095625" cy="914400"/>
            </a:xfrm>
            <a:prstGeom prst="roundRect">
              <a:avLst>
                <a:gd name="adj" fmla="val 10417"/>
              </a:avLst>
            </a:prstGeom>
            <a:solidFill>
              <a:srgbClr val="FEF2F2"/>
            </a:solidFill>
            <a:ln w="11906">
              <a:solidFill>
                <a:srgbClr val="FCA5A5"/>
              </a:solidFill>
            </a:ln>
          </p:spPr>
        </p:sp>
        <p:sp>
          <p:nvSpPr>
            <p:cNvPr id="17" name="TextBox 17"/>
            <p:cNvSpPr txBox="1"/>
            <p:nvPr/>
          </p:nvSpPr>
          <p:spPr>
            <a:xfrm>
              <a:off x="1829687" y="3367564"/>
              <a:ext cx="1026926"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Consolas"/>
                  <a:ea typeface="Consolas"/>
                  <a:cs typeface="Consolas"/>
                </a:rPr>
                <a:t>R₀₋₁(w*) ≥</a:t>
              </a:r>
            </a:p>
          </p:txBody>
        </p:sp>
        <p:sp>
          <p:nvSpPr>
            <p:cNvPr id="18" name="TextBox 18"/>
            <p:cNvSpPr txBox="1"/>
            <p:nvPr/>
          </p:nvSpPr>
          <p:spPr>
            <a:xfrm>
              <a:off x="1428136" y="3637598"/>
              <a:ext cx="1830028" cy="381381"/>
            </a:xfrm>
            <a:prstGeom prst="rect">
              <a:avLst/>
            </a:prstGeom>
            <a:noFill/>
            <a:ln>
              <a:noFill/>
            </a:ln>
          </p:spPr>
          <p:txBody>
            <a:bodyPr wrap="none" lIns="0" tIns="0" rIns="0" bIns="0" anchor="t" anchorCtr="0">
              <a:spAutoFit/>
            </a:bodyPr>
            <a:lstStyle/>
            <a:p>
              <a:pPr algn="ctr"/>
              <a:r>
                <a:rPr lang="en-US" sz="1950" b="1" dirty="0">
                  <a:solidFill>
                    <a:schemeClr val="accent3"/>
                  </a:solidFill>
                  <a:latin typeface="Consolas"/>
                  <a:ea typeface="Consolas"/>
                  <a:cs typeface="Consolas"/>
                </a:rPr>
                <a:t>√OPT / (60π)</a:t>
              </a:r>
            </a:p>
          </p:txBody>
        </p:sp>
        <p:sp>
          <p:nvSpPr>
            <p:cNvPr id="19" name="TextBox 19"/>
            <p:cNvSpPr txBox="1"/>
            <p:nvPr/>
          </p:nvSpPr>
          <p:spPr>
            <a:xfrm>
              <a:off x="794766" y="4230052"/>
              <a:ext cx="185275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global minimizer of the</a:t>
              </a:r>
            </a:p>
          </p:txBody>
        </p:sp>
        <p:sp>
          <p:nvSpPr>
            <p:cNvPr id="20" name="TextBox 20"/>
            <p:cNvSpPr txBox="1"/>
            <p:nvPr/>
          </p:nvSpPr>
          <p:spPr>
            <a:xfrm>
              <a:off x="794766" y="4430078"/>
              <a:ext cx="210266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population logistic risk cannot</a:t>
              </a:r>
            </a:p>
          </p:txBody>
        </p:sp>
        <p:sp>
          <p:nvSpPr>
            <p:cNvPr id="21" name="TextBox 21"/>
            <p:cNvSpPr txBox="1"/>
            <p:nvPr/>
          </p:nvSpPr>
          <p:spPr>
            <a:xfrm>
              <a:off x="794766" y="4630102"/>
              <a:ext cx="142417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do better than this.</a:t>
              </a:r>
            </a:p>
          </p:txBody>
        </p:sp>
        <p:sp>
          <p:nvSpPr>
            <p:cNvPr id="22" name="Rectangle 22"/>
            <p:cNvSpPr/>
            <p:nvPr/>
          </p:nvSpPr>
          <p:spPr>
            <a:xfrm>
              <a:off x="800100" y="4914900"/>
              <a:ext cx="3095625" cy="1143000"/>
            </a:xfrm>
            <a:prstGeom prst="roundRect">
              <a:avLst>
                <a:gd name="adj" fmla="val 8333"/>
              </a:avLst>
            </a:prstGeom>
            <a:solidFill>
              <a:schemeClr val="lt2"/>
            </a:solidFill>
            <a:ln w="11906">
              <a:solidFill>
                <a:schemeClr val="accent4"/>
              </a:solidFill>
            </a:ln>
          </p:spPr>
        </p:sp>
        <p:sp>
          <p:nvSpPr>
            <p:cNvPr id="23" name="TextBox 23"/>
            <p:cNvSpPr txBox="1"/>
            <p:nvPr/>
          </p:nvSpPr>
          <p:spPr>
            <a:xfrm>
              <a:off x="966597" y="5076349"/>
              <a:ext cx="2101919"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Matches Frei et al.'s Õ(√OPT)</a:t>
              </a:r>
            </a:p>
          </p:txBody>
        </p:sp>
        <p:sp>
          <p:nvSpPr>
            <p:cNvPr id="24" name="TextBox 24"/>
            <p:cNvSpPr txBox="1"/>
            <p:nvPr/>
          </p:nvSpPr>
          <p:spPr>
            <a:xfrm>
              <a:off x="966597" y="5285899"/>
              <a:ext cx="18700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upper bound asymptotically —</a:t>
              </a:r>
            </a:p>
          </p:txBody>
        </p:sp>
        <p:sp>
          <p:nvSpPr>
            <p:cNvPr id="25" name="TextBox 25"/>
            <p:cNvSpPr txBox="1"/>
            <p:nvPr/>
          </p:nvSpPr>
          <p:spPr>
            <a:xfrm>
              <a:off x="966597" y="5476399"/>
              <a:ext cx="185187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so √OPT is the true rate for</a:t>
              </a:r>
            </a:p>
          </p:txBody>
        </p:sp>
        <p:sp>
          <p:nvSpPr>
            <p:cNvPr id="26" name="TextBox 26"/>
            <p:cNvSpPr txBox="1"/>
            <p:nvPr/>
          </p:nvSpPr>
          <p:spPr>
            <a:xfrm>
              <a:off x="966597" y="5666899"/>
              <a:ext cx="166559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logistic regression alone.</a:t>
              </a:r>
            </a:p>
          </p:txBody>
        </p:sp>
        <p:sp>
          <p:nvSpPr>
            <p:cNvPr id="27" name="TextBox 27"/>
            <p:cNvSpPr txBox="1"/>
            <p:nvPr/>
          </p:nvSpPr>
          <p:spPr>
            <a:xfrm>
              <a:off x="966788" y="5884545"/>
              <a:ext cx="1361123" cy="176212"/>
            </a:xfrm>
            <a:prstGeom prst="rect">
              <a:avLst/>
            </a:prstGeom>
            <a:noFill/>
            <a:ln>
              <a:noFill/>
            </a:ln>
          </p:spPr>
          <p:txBody>
            <a:bodyPr wrap="none" lIns="0" tIns="0" rIns="0" bIns="0" anchor="t" anchorCtr="0">
              <a:spAutoFit/>
            </a:bodyPr>
            <a:lstStyle/>
            <a:p>
              <a:pPr algn="l"/>
              <a:r>
                <a:rPr lang="en-US" sz="900" i="1" dirty="0">
                  <a:solidFill>
                    <a:schemeClr val="accent3"/>
                  </a:solidFill>
                  <a:latin typeface="+mn-lt"/>
                  <a:ea typeface="+mn-ea"/>
                  <a:cs typeface="+mn-cs"/>
                </a:rPr>
                <a:t>valid when OPT ≤ 1/100</a:t>
              </a:r>
            </a:p>
          </p:txBody>
        </p:sp>
      </p:grpSp>
      <p:grpSp>
        <p:nvGrpSpPr>
          <p:cNvPr id="46" name="Group 46"/>
          <p:cNvGrpSpPr/>
          <p:nvPr/>
        </p:nvGrpSpPr>
        <p:grpSpPr>
          <a:xfrm>
            <a:off x="4314825" y="2133600"/>
            <a:ext cx="3552825" cy="4152900"/>
            <a:chOff x="4314825" y="2133600"/>
            <a:chExt cx="3552825" cy="4152900"/>
          </a:xfrm>
        </p:grpSpPr>
        <p:sp>
          <p:nvSpPr>
            <p:cNvPr id="29" name="Rectangle 29"/>
            <p:cNvSpPr/>
            <p:nvPr/>
          </p:nvSpPr>
          <p:spPr>
            <a:xfrm>
              <a:off x="4314825" y="2133600"/>
              <a:ext cx="3552825" cy="4152900"/>
            </a:xfrm>
            <a:prstGeom prst="roundRect">
              <a:avLst>
                <a:gd name="adj" fmla="val 3217"/>
              </a:avLst>
            </a:prstGeom>
            <a:solidFill>
              <a:srgbClr val="EEF4FF"/>
            </a:solidFill>
            <a:ln w="14288">
              <a:solidFill>
                <a:srgbClr val="BFD4FE"/>
              </a:solidFill>
            </a:ln>
            <a:effectLst>
              <a:outerShdw blurRad="76200" dist="19050" dir="5400000" algn="ctr" rotWithShape="0">
                <a:srgbClr val="12233B">
                  <a:alpha val="4500"/>
                </a:srgbClr>
              </a:outerShdw>
            </a:effectLst>
          </p:spPr>
        </p:sp>
        <p:sp>
          <p:nvSpPr>
            <p:cNvPr id="30" name="Rectangle 30"/>
            <p:cNvSpPr/>
            <p:nvPr/>
          </p:nvSpPr>
          <p:spPr>
            <a:xfrm>
              <a:off x="4314825" y="2133600"/>
              <a:ext cx="3552825" cy="57150"/>
            </a:xfrm>
            <a:prstGeom prst="roundRect">
              <a:avLst>
                <a:gd name="adj" fmla="val 50000"/>
              </a:avLst>
            </a:prstGeom>
            <a:solidFill>
              <a:schemeClr val="accent2"/>
            </a:solidFill>
            <a:ln>
              <a:noFill/>
            </a:ln>
          </p:spPr>
        </p:sp>
        <p:sp>
          <p:nvSpPr>
            <p:cNvPr id="31" name="TextBox 31"/>
            <p:cNvSpPr txBox="1"/>
            <p:nvPr/>
          </p:nvSpPr>
          <p:spPr>
            <a:xfrm>
              <a:off x="4538662" y="2398395"/>
              <a:ext cx="233916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GAP CLOSED → THEN RECOVERED</a:t>
              </a:r>
            </a:p>
          </p:txBody>
        </p:sp>
        <p:sp>
          <p:nvSpPr>
            <p:cNvPr id="32" name="TextBox 32"/>
            <p:cNvSpPr txBox="1"/>
            <p:nvPr/>
          </p:nvSpPr>
          <p:spPr>
            <a:xfrm>
              <a:off x="4536567" y="2597468"/>
              <a:ext cx="241868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Add radial Lipschitzness</a:t>
              </a:r>
            </a:p>
          </p:txBody>
        </p:sp>
        <p:sp>
          <p:nvSpPr>
            <p:cNvPr id="33" name="TextBox 33"/>
            <p:cNvSpPr txBox="1"/>
            <p:nvPr/>
          </p:nvSpPr>
          <p:spPr>
            <a:xfrm>
              <a:off x="4538091" y="2858452"/>
              <a:ext cx="22934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the same minimizer jumps to:</a:t>
              </a:r>
            </a:p>
          </p:txBody>
        </p:sp>
        <p:sp>
          <p:nvSpPr>
            <p:cNvPr id="34" name="Rectangle 34"/>
            <p:cNvSpPr/>
            <p:nvPr/>
          </p:nvSpPr>
          <p:spPr>
            <a:xfrm>
              <a:off x="4543425" y="3143250"/>
              <a:ext cx="3095625" cy="914400"/>
            </a:xfrm>
            <a:prstGeom prst="roundRect">
              <a:avLst>
                <a:gd name="adj" fmla="val 10417"/>
              </a:avLst>
            </a:prstGeom>
            <a:solidFill>
              <a:schemeClr val="lt1"/>
            </a:solidFill>
            <a:ln w="11906">
              <a:solidFill>
                <a:srgbClr val="BFD4FE"/>
              </a:solidFill>
            </a:ln>
          </p:spPr>
        </p:sp>
        <p:sp>
          <p:nvSpPr>
            <p:cNvPr id="35" name="TextBox 35"/>
            <p:cNvSpPr txBox="1"/>
            <p:nvPr/>
          </p:nvSpPr>
          <p:spPr>
            <a:xfrm>
              <a:off x="5573012" y="3367564"/>
              <a:ext cx="1026926"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Consolas"/>
                  <a:ea typeface="Consolas"/>
                  <a:cs typeface="Consolas"/>
                </a:rPr>
                <a:t>R₀₋₁(w*) =</a:t>
              </a:r>
            </a:p>
          </p:txBody>
        </p:sp>
        <p:sp>
          <p:nvSpPr>
            <p:cNvPr id="36" name="TextBox 36"/>
            <p:cNvSpPr txBox="1"/>
            <p:nvPr/>
          </p:nvSpPr>
          <p:spPr>
            <a:xfrm>
              <a:off x="4991615" y="3653790"/>
              <a:ext cx="2189719"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Consolas"/>
                  <a:ea typeface="Consolas"/>
                  <a:cs typeface="Consolas"/>
                </a:rPr>
                <a:t>O((1 + Cκ)·OPT)</a:t>
              </a:r>
            </a:p>
          </p:txBody>
        </p:sp>
        <p:sp>
          <p:nvSpPr>
            <p:cNvPr id="37" name="TextBox 37"/>
            <p:cNvSpPr txBox="1"/>
            <p:nvPr/>
          </p:nvSpPr>
          <p:spPr>
            <a:xfrm>
              <a:off x="4538091" y="4230052"/>
              <a:ext cx="224368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Near-optimal order-OPT error —</a:t>
              </a:r>
            </a:p>
          </p:txBody>
        </p:sp>
        <p:sp>
          <p:nvSpPr>
            <p:cNvPr id="38" name="TextBox 38"/>
            <p:cNvSpPr txBox="1"/>
            <p:nvPr/>
          </p:nvSpPr>
          <p:spPr>
            <a:xfrm>
              <a:off x="4538091" y="4430078"/>
              <a:ext cx="20107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no algorithmic change, just a</a:t>
              </a:r>
            </a:p>
          </p:txBody>
        </p:sp>
        <p:sp>
          <p:nvSpPr>
            <p:cNvPr id="39" name="TextBox 39"/>
            <p:cNvSpPr txBox="1"/>
            <p:nvPr/>
          </p:nvSpPr>
          <p:spPr>
            <a:xfrm>
              <a:off x="4538091" y="4630102"/>
              <a:ext cx="17422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condition on the density.</a:t>
              </a:r>
            </a:p>
          </p:txBody>
        </p:sp>
        <p:sp>
          <p:nvSpPr>
            <p:cNvPr id="40" name="Rectangle 40"/>
            <p:cNvSpPr/>
            <p:nvPr/>
          </p:nvSpPr>
          <p:spPr>
            <a:xfrm>
              <a:off x="4543425" y="4914900"/>
              <a:ext cx="3095625" cy="1143000"/>
            </a:xfrm>
            <a:prstGeom prst="roundRect">
              <a:avLst>
                <a:gd name="adj" fmla="val 8333"/>
              </a:avLst>
            </a:prstGeom>
            <a:solidFill>
              <a:schemeClr val="lt1"/>
            </a:solidFill>
            <a:ln w="11906">
              <a:solidFill>
                <a:srgbClr val="BFD4FE"/>
              </a:solidFill>
            </a:ln>
          </p:spPr>
        </p:sp>
        <p:sp>
          <p:nvSpPr>
            <p:cNvPr id="41" name="TextBox 41"/>
            <p:cNvSpPr txBox="1"/>
            <p:nvPr/>
          </p:nvSpPr>
          <p:spPr>
            <a:xfrm>
              <a:off x="4709922" y="5076349"/>
              <a:ext cx="1092816"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The constant Cκ</a:t>
              </a:r>
            </a:p>
          </p:txBody>
        </p:sp>
        <p:sp>
          <p:nvSpPr>
            <p:cNvPr id="42" name="TextBox 42"/>
            <p:cNvSpPr txBox="1"/>
            <p:nvPr/>
          </p:nvSpPr>
          <p:spPr>
            <a:xfrm>
              <a:off x="4709922" y="5285899"/>
              <a:ext cx="178433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is an integral of the radial-</a:t>
              </a:r>
            </a:p>
          </p:txBody>
        </p:sp>
        <p:sp>
          <p:nvSpPr>
            <p:cNvPr id="43" name="TextBox 43"/>
            <p:cNvSpPr txBox="1"/>
            <p:nvPr/>
          </p:nvSpPr>
          <p:spPr>
            <a:xfrm>
              <a:off x="4709922" y="5476399"/>
              <a:ext cx="206335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Lipschitzness modulus. It stays</a:t>
              </a:r>
            </a:p>
          </p:txBody>
        </p:sp>
        <p:sp>
          <p:nvSpPr>
            <p:cNvPr id="44" name="TextBox 44"/>
            <p:cNvSpPr txBox="1"/>
            <p:nvPr/>
          </p:nvSpPr>
          <p:spPr>
            <a:xfrm>
              <a:off x="4709922" y="5666899"/>
              <a:ext cx="20877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bounded whenever the density is</a:t>
              </a:r>
            </a:p>
          </p:txBody>
        </p:sp>
        <p:sp>
          <p:nvSpPr>
            <p:cNvPr id="45" name="TextBox 45"/>
            <p:cNvSpPr txBox="1"/>
            <p:nvPr/>
          </p:nvSpPr>
          <p:spPr>
            <a:xfrm>
              <a:off x="4709922" y="5857399"/>
              <a:ext cx="189413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Lipschitz; vanishes if radial.</a:t>
              </a:r>
            </a:p>
          </p:txBody>
        </p:sp>
      </p:grpSp>
      <p:grpSp>
        <p:nvGrpSpPr>
          <p:cNvPr id="66" name="Group 66"/>
          <p:cNvGrpSpPr/>
          <p:nvPr/>
        </p:nvGrpSpPr>
        <p:grpSpPr>
          <a:xfrm>
            <a:off x="8058150" y="2133600"/>
            <a:ext cx="3562350" cy="4152900"/>
            <a:chOff x="8058150" y="2133600"/>
            <a:chExt cx="3562350" cy="4152900"/>
          </a:xfrm>
        </p:grpSpPr>
        <p:sp>
          <p:nvSpPr>
            <p:cNvPr id="47" name="Rectangle 47"/>
            <p:cNvSpPr/>
            <p:nvPr/>
          </p:nvSpPr>
          <p:spPr>
            <a:xfrm>
              <a:off x="8058150" y="2133600"/>
              <a:ext cx="3562350" cy="4152900"/>
            </a:xfrm>
            <a:prstGeom prst="roundRect">
              <a:avLst>
                <a:gd name="adj" fmla="val 3209"/>
              </a:avLst>
            </a:prstGeom>
            <a:solidFill>
              <a:schemeClr val="accent1"/>
            </a:solidFill>
            <a:ln>
              <a:noFill/>
            </a:ln>
            <a:effectLst>
              <a:outerShdw blurRad="76200" dist="19050" dir="5400000" algn="ctr" rotWithShape="0">
                <a:srgbClr val="12233B">
                  <a:alpha val="4500"/>
                </a:srgbClr>
              </a:outerShdw>
            </a:effectLst>
          </p:spPr>
        </p:sp>
        <p:sp>
          <p:nvSpPr>
            <p:cNvPr id="48" name="Rectangle 48"/>
            <p:cNvSpPr/>
            <p:nvPr/>
          </p:nvSpPr>
          <p:spPr>
            <a:xfrm>
              <a:off x="8058150" y="2133600"/>
              <a:ext cx="3562350" cy="57150"/>
            </a:xfrm>
            <a:prstGeom prst="roundRect">
              <a:avLst>
                <a:gd name="adj" fmla="val 50000"/>
              </a:avLst>
            </a:prstGeom>
            <a:solidFill>
              <a:schemeClr val="accent5"/>
            </a:solidFill>
            <a:ln>
              <a:noFill/>
            </a:ln>
          </p:spPr>
        </p:sp>
        <p:sp>
          <p:nvSpPr>
            <p:cNvPr id="49" name="TextBox 49"/>
            <p:cNvSpPr txBox="1"/>
            <p:nvPr/>
          </p:nvSpPr>
          <p:spPr>
            <a:xfrm>
              <a:off x="8281988" y="2398395"/>
              <a:ext cx="2240097"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TWO-PHASE — NO ASSUMPTION</a:t>
              </a:r>
            </a:p>
          </p:txBody>
        </p:sp>
        <p:sp>
          <p:nvSpPr>
            <p:cNvPr id="50" name="TextBox 50"/>
            <p:cNvSpPr txBox="1"/>
            <p:nvPr/>
          </p:nvSpPr>
          <p:spPr>
            <a:xfrm>
              <a:off x="8279892" y="2597468"/>
              <a:ext cx="199413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j-lt"/>
                  <a:ea typeface="+mj-ea"/>
                  <a:cs typeface="+mj-cs"/>
                </a:rPr>
                <a:t>Near-optimal for all</a:t>
              </a:r>
            </a:p>
          </p:txBody>
        </p:sp>
        <p:sp>
          <p:nvSpPr>
            <p:cNvPr id="51" name="TextBox 51"/>
            <p:cNvSpPr txBox="1"/>
            <p:nvPr/>
          </p:nvSpPr>
          <p:spPr>
            <a:xfrm>
              <a:off x="8281416" y="2858452"/>
              <a:ext cx="2682202"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well-behaved distributions — no radial-</a:t>
              </a:r>
            </a:p>
          </p:txBody>
        </p:sp>
        <p:sp>
          <p:nvSpPr>
            <p:cNvPr id="52" name="TextBox 52"/>
            <p:cNvSpPr txBox="1"/>
            <p:nvPr/>
          </p:nvSpPr>
          <p:spPr>
            <a:xfrm>
              <a:off x="8281416" y="3048952"/>
              <a:ext cx="2163707"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Lipschitz assumption required.</a:t>
              </a:r>
            </a:p>
          </p:txBody>
        </p:sp>
        <p:sp>
          <p:nvSpPr>
            <p:cNvPr id="53" name="Rectangle 53"/>
            <p:cNvSpPr/>
            <p:nvPr/>
          </p:nvSpPr>
          <p:spPr>
            <a:xfrm>
              <a:off x="8286750" y="3333750"/>
              <a:ext cx="3105150" cy="876300"/>
            </a:xfrm>
            <a:prstGeom prst="roundRect">
              <a:avLst>
                <a:gd name="adj" fmla="val 10870"/>
              </a:avLst>
            </a:prstGeom>
            <a:solidFill>
              <a:srgbClr val="1B3252"/>
            </a:solidFill>
            <a:ln>
              <a:noFill/>
            </a:ln>
          </p:spPr>
        </p:sp>
        <p:sp>
          <p:nvSpPr>
            <p:cNvPr id="54" name="Rectangle 54"/>
            <p:cNvSpPr/>
            <p:nvPr/>
          </p:nvSpPr>
          <p:spPr>
            <a:xfrm>
              <a:off x="8286750" y="3333750"/>
              <a:ext cx="76200" cy="876300"/>
            </a:xfrm>
            <a:prstGeom prst="roundRect">
              <a:avLst>
                <a:gd name="adj" fmla="val 50000"/>
              </a:avLst>
            </a:prstGeom>
            <a:solidFill>
              <a:schemeClr val="accent2"/>
            </a:solidFill>
            <a:ln>
              <a:noFill/>
            </a:ln>
          </p:spPr>
        </p:sp>
        <p:sp>
          <p:nvSpPr>
            <p:cNvPr id="55" name="TextBox 55"/>
            <p:cNvSpPr txBox="1"/>
            <p:nvPr/>
          </p:nvSpPr>
          <p:spPr>
            <a:xfrm>
              <a:off x="8491538" y="3484245"/>
              <a:ext cx="617921" cy="176212"/>
            </a:xfrm>
            <a:prstGeom prst="rect">
              <a:avLst/>
            </a:prstGeom>
            <a:noFill/>
            <a:ln>
              <a:noFill/>
            </a:ln>
          </p:spPr>
          <p:txBody>
            <a:bodyPr wrap="none" lIns="0" tIns="0" rIns="0" bIns="0" anchor="t" anchorCtr="0">
              <a:spAutoFit/>
            </a:bodyPr>
            <a:lstStyle/>
            <a:p>
              <a:pPr algn="l"/>
              <a:r>
                <a:rPr lang="en-US" sz="900" b="1" spc="75" dirty="0">
                  <a:solidFill>
                    <a:srgbClr val="8FB6FF"/>
                  </a:solidFill>
                  <a:latin typeface="+mn-lt"/>
                  <a:ea typeface="+mn-ea"/>
                  <a:cs typeface="+mn-cs"/>
                </a:rPr>
                <a:t>BOUNDED</a:t>
              </a:r>
            </a:p>
          </p:txBody>
        </p:sp>
        <p:sp>
          <p:nvSpPr>
            <p:cNvPr id="56" name="TextBox 56"/>
            <p:cNvSpPr txBox="1"/>
            <p:nvPr/>
          </p:nvSpPr>
          <p:spPr>
            <a:xfrm>
              <a:off x="8487918" y="3727132"/>
              <a:ext cx="133323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Consolas"/>
                  <a:ea typeface="Consolas"/>
                  <a:cs typeface="Consolas"/>
                </a:rPr>
                <a:t>O(OPT + ε)</a:t>
              </a:r>
            </a:p>
          </p:txBody>
        </p:sp>
        <p:sp>
          <p:nvSpPr>
            <p:cNvPr id="57" name="TextBox 57"/>
            <p:cNvSpPr txBox="1"/>
            <p:nvPr/>
          </p:nvSpPr>
          <p:spPr>
            <a:xfrm>
              <a:off x="8491538" y="4017645"/>
              <a:ext cx="1693621"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in expectation over the run.</a:t>
              </a:r>
            </a:p>
          </p:txBody>
        </p:sp>
        <p:sp>
          <p:nvSpPr>
            <p:cNvPr id="58" name="Rectangle 58"/>
            <p:cNvSpPr/>
            <p:nvPr/>
          </p:nvSpPr>
          <p:spPr>
            <a:xfrm>
              <a:off x="8286750" y="4324350"/>
              <a:ext cx="3105150" cy="876300"/>
            </a:xfrm>
            <a:prstGeom prst="roundRect">
              <a:avLst>
                <a:gd name="adj" fmla="val 10870"/>
              </a:avLst>
            </a:prstGeom>
            <a:solidFill>
              <a:srgbClr val="123A2C"/>
            </a:solidFill>
            <a:ln>
              <a:noFill/>
            </a:ln>
          </p:spPr>
        </p:sp>
        <p:sp>
          <p:nvSpPr>
            <p:cNvPr id="59" name="Rectangle 59"/>
            <p:cNvSpPr/>
            <p:nvPr/>
          </p:nvSpPr>
          <p:spPr>
            <a:xfrm>
              <a:off x="8286750" y="4324350"/>
              <a:ext cx="76200" cy="876300"/>
            </a:xfrm>
            <a:prstGeom prst="roundRect">
              <a:avLst>
                <a:gd name="adj" fmla="val 50000"/>
              </a:avLst>
            </a:prstGeom>
            <a:solidFill>
              <a:schemeClr val="accent5"/>
            </a:solidFill>
            <a:ln>
              <a:noFill/>
            </a:ln>
          </p:spPr>
        </p:sp>
        <p:sp>
          <p:nvSpPr>
            <p:cNvPr id="60" name="TextBox 60"/>
            <p:cNvSpPr txBox="1"/>
            <p:nvPr/>
          </p:nvSpPr>
          <p:spPr>
            <a:xfrm>
              <a:off x="8491538" y="4474845"/>
              <a:ext cx="1261095" cy="176212"/>
            </a:xfrm>
            <a:prstGeom prst="rect">
              <a:avLst/>
            </a:prstGeom>
            <a:noFill/>
            <a:ln>
              <a:noFill/>
            </a:ln>
          </p:spPr>
          <p:txBody>
            <a:bodyPr wrap="none" lIns="0" tIns="0" rIns="0" bIns="0" anchor="t" anchorCtr="0">
              <a:spAutoFit/>
            </a:bodyPr>
            <a:lstStyle/>
            <a:p>
              <a:pPr algn="l"/>
              <a:r>
                <a:rPr lang="en-US" sz="900" b="1" spc="75" dirty="0">
                  <a:solidFill>
                    <a:srgbClr val="7FE0B6"/>
                  </a:solidFill>
                  <a:latin typeface="+mn-lt"/>
                  <a:ea typeface="+mn-ea"/>
                  <a:cs typeface="+mn-cs"/>
                </a:rPr>
                <a:t>SUB-EXPONENTIAL</a:t>
              </a:r>
            </a:p>
          </p:txBody>
        </p:sp>
        <p:sp>
          <p:nvSpPr>
            <p:cNvPr id="61" name="TextBox 61"/>
            <p:cNvSpPr txBox="1"/>
            <p:nvPr/>
          </p:nvSpPr>
          <p:spPr>
            <a:xfrm>
              <a:off x="8489061" y="4742021"/>
              <a:ext cx="2153360"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Consolas"/>
                  <a:ea typeface="Consolas"/>
                  <a:cs typeface="Consolas"/>
                </a:rPr>
                <a:t>O(OPT·ln(1/OPT)+ε)</a:t>
              </a:r>
            </a:p>
          </p:txBody>
        </p:sp>
        <p:sp>
          <p:nvSpPr>
            <p:cNvPr id="62" name="TextBox 62"/>
            <p:cNvSpPr txBox="1"/>
            <p:nvPr/>
          </p:nvSpPr>
          <p:spPr>
            <a:xfrm>
              <a:off x="8491538" y="5008245"/>
              <a:ext cx="1493711" cy="176212"/>
            </a:xfrm>
            <a:prstGeom prst="rect">
              <a:avLst/>
            </a:prstGeom>
            <a:noFill/>
            <a:ln>
              <a:noFill/>
            </a:ln>
          </p:spPr>
          <p:txBody>
            <a:bodyPr wrap="none" lIns="0" tIns="0" rIns="0" bIns="0" anchor="t" anchorCtr="0">
              <a:spAutoFit/>
            </a:bodyPr>
            <a:lstStyle/>
            <a:p>
              <a:pPr algn="l"/>
              <a:r>
                <a:rPr lang="en-US" sz="900" dirty="0">
                  <a:solidFill>
                    <a:schemeClr val="accent6"/>
                  </a:solidFill>
                  <a:latin typeface="+mn-lt"/>
                  <a:ea typeface="+mn-ea"/>
                  <a:cs typeface="+mn-cs"/>
                </a:rPr>
                <a:t>only an extra log factor.</a:t>
              </a:r>
            </a:p>
          </p:txBody>
        </p:sp>
        <p:sp>
          <p:nvSpPr>
            <p:cNvPr id="63" name="TextBox 63"/>
            <p:cNvSpPr txBox="1"/>
            <p:nvPr/>
          </p:nvSpPr>
          <p:spPr>
            <a:xfrm>
              <a:off x="8281606" y="5415201"/>
              <a:ext cx="2550542" cy="198025"/>
            </a:xfrm>
            <a:prstGeom prst="rect">
              <a:avLst/>
            </a:prstGeom>
            <a:noFill/>
            <a:ln>
              <a:noFill/>
            </a:ln>
          </p:spPr>
          <p:txBody>
            <a:bodyPr wrap="none" lIns="0" tIns="0" rIns="0" bIns="0" anchor="t" anchorCtr="0">
              <a:spAutoFit/>
            </a:bodyPr>
            <a:lstStyle/>
            <a:p>
              <a:pPr algn="l"/>
              <a:r>
                <a:rPr lang="en-US" sz="1010" dirty="0">
                  <a:solidFill>
                    <a:schemeClr val="accent6"/>
                  </a:solidFill>
                  <a:latin typeface="+mn-lt"/>
                  <a:ea typeface="+mn-ea"/>
                  <a:cs typeface="+mn-cs"/>
                </a:rPr>
                <a:t>The logistic + perceptron pair reaches</a:t>
              </a:r>
            </a:p>
          </p:txBody>
        </p:sp>
        <p:sp>
          <p:nvSpPr>
            <p:cNvPr id="64" name="TextBox 64"/>
            <p:cNvSpPr txBox="1"/>
            <p:nvPr/>
          </p:nvSpPr>
          <p:spPr>
            <a:xfrm>
              <a:off x="8281606" y="5615226"/>
              <a:ext cx="2872215" cy="198025"/>
            </a:xfrm>
            <a:prstGeom prst="rect">
              <a:avLst/>
            </a:prstGeom>
            <a:noFill/>
            <a:ln>
              <a:noFill/>
            </a:ln>
          </p:spPr>
          <p:txBody>
            <a:bodyPr wrap="none" lIns="0" tIns="0" rIns="0" bIns="0" anchor="t" anchorCtr="0">
              <a:spAutoFit/>
            </a:bodyPr>
            <a:lstStyle/>
            <a:p>
              <a:pPr algn="l"/>
              <a:r>
                <a:rPr lang="en-US" sz="1010" dirty="0">
                  <a:solidFill>
                    <a:schemeClr val="accent6"/>
                  </a:solidFill>
                  <a:latin typeface="+mn-lt"/>
                  <a:ea typeface="+mn-ea"/>
                  <a:cs typeface="+mn-cs"/>
                </a:rPr>
                <a:t>order-OPT error where logistic regression</a:t>
              </a:r>
            </a:p>
          </p:txBody>
        </p:sp>
        <p:sp>
          <p:nvSpPr>
            <p:cNvPr id="65" name="TextBox 65"/>
            <p:cNvSpPr txBox="1"/>
            <p:nvPr/>
          </p:nvSpPr>
          <p:spPr>
            <a:xfrm>
              <a:off x="8281606" y="5815251"/>
              <a:ext cx="1675873" cy="198025"/>
            </a:xfrm>
            <a:prstGeom prst="rect">
              <a:avLst/>
            </a:prstGeom>
            <a:noFill/>
            <a:ln>
              <a:noFill/>
            </a:ln>
          </p:spPr>
          <p:txBody>
            <a:bodyPr wrap="none" lIns="0" tIns="0" rIns="0" bIns="0" anchor="t" anchorCtr="0">
              <a:spAutoFit/>
            </a:bodyPr>
            <a:lstStyle/>
            <a:p>
              <a:pPr algn="l"/>
              <a:r>
                <a:rPr lang="en-US" sz="1010" dirty="0">
                  <a:solidFill>
                    <a:schemeClr val="accent6"/>
                  </a:solidFill>
                  <a:latin typeface="+mn-lt"/>
                  <a:ea typeface="+mn-ea"/>
                  <a:cs typeface="+mn-cs"/>
                </a:rPr>
                <a:t>alone provably could not.</a:t>
              </a:r>
            </a:p>
          </p:txBody>
        </p:sp>
      </p:grpSp>
      <p:grpSp>
        <p:nvGrpSpPr>
          <p:cNvPr id="70" name="Group 70"/>
          <p:cNvGrpSpPr/>
          <p:nvPr/>
        </p:nvGrpSpPr>
        <p:grpSpPr>
          <a:xfrm>
            <a:off x="571500" y="6521291"/>
            <a:ext cx="11053762" cy="161925"/>
            <a:chOff x="571500" y="6521291"/>
            <a:chExt cx="11053762" cy="161925"/>
          </a:xfrm>
        </p:grpSpPr>
        <p:sp>
          <p:nvSpPr>
            <p:cNvPr id="67" name="Line 67"/>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68" name="TextBox 68"/>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69" name="TextBox 69"/>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07</a:t>
              </a:r>
            </a:p>
          </p:txBody>
        </p:sp>
      </p:grpSp>
      <p:sp>
        <p:nvSpPr>
          <p:cNvPr id="71" name="cue_s07_c1_headline_finding_matching_pair_bound" title="cue_s07_c1_headline_finding_matching_pair_bound" descr="cue_s07_c1_headline_finding_matching_pair_bound The headline finding is a matching pair of bounds."/>
          <p:cNvSpPr/>
          <p:nvPr/>
        </p:nvSpPr>
        <p:spPr>
          <a:xfrm>
            <a:off x="571804" y="1333195"/>
            <a:ext cx="1104839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7_c2_constructed_well_behaved_distributio" title="cue_s07_c2_constructed_well_behaved_distributio" descr="cue_s07_c2_constructed_well_behaved_distributio On the constructed well-behaved distribution, the global minimizer of the population logistic risk has zero-one error at least square-root OPT divided by sixty pi, which asymptotically matches the best known upper bound and therefore proves that square-root OP"/>
          <p:cNvSpPr/>
          <p:nvPr/>
        </p:nvSpPr>
        <p:spPr>
          <a:xfrm>
            <a:off x="571804"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ue_s07_c3_sense_which_closes_long_standing_gap" title="cue_s07_c3_sense_which_closes_long_standing_gap" descr="cue_s07_c3_sense_which_closes_long_standing_gap That is the sense in which the paper closes the long-standing gap. Then, by adding radial Lipschitzness of the density, the same logistic minimizer jumps to near-optimal error of order OPT, up to a constant Cκ that is bounded whenever the density is Lipschitz."/>
          <p:cNvSpPr/>
          <p:nvPr/>
        </p:nvSpPr>
        <p:spPr>
          <a:xfrm>
            <a:off x="4314748"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7_c4_without_any_such_assumption_two_phas" title="cue_s07_c4_without_any_such_assumption_two_phas" descr="cue_s07_c4_without_any_such_assumption_two_phas And without any such assumption, the two-phase algorithm achieves order OPT plus epsilon error for bounded distributions and order OPT times log one over OPT for sub-exponential ones, in expectation over the run."/>
          <p:cNvSpPr/>
          <p:nvPr/>
        </p:nvSpPr>
        <p:spPr>
          <a:xfrm>
            <a:off x="8057692" y="2133523"/>
            <a:ext cx="3562502"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363582" cy="656939"/>
            <a:chOff x="571500" y="495300"/>
            <a:chExt cx="8363582"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814793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Analysis: which assumption buys which rate</a:t>
              </a:r>
            </a:p>
          </p:txBody>
        </p:sp>
        <p:sp>
          <p:nvSpPr>
            <p:cNvPr id="4" name="TextBox 4"/>
            <p:cNvSpPr txBox="1"/>
            <p:nvPr/>
          </p:nvSpPr>
          <p:spPr>
            <a:xfrm>
              <a:off x="795147" y="961549"/>
              <a:ext cx="561284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IN THEORY · ONE VERSATILE ARGUMENT, ISOLATED FACTORS</a:t>
              </a:r>
            </a:p>
          </p:txBody>
        </p:sp>
      </p:grpSp>
      <p:grpSp>
        <p:nvGrpSpPr>
          <p:cNvPr id="10" name="Group 10"/>
          <p:cNvGrpSpPr/>
          <p:nvPr/>
        </p:nvGrpSpPr>
        <p:grpSpPr>
          <a:xfrm>
            <a:off x="571500" y="1333500"/>
            <a:ext cx="11049000" cy="609600"/>
            <a:chOff x="571500" y="1333500"/>
            <a:chExt cx="11049000" cy="609600"/>
          </a:xfrm>
        </p:grpSpPr>
        <p:sp>
          <p:nvSpPr>
            <p:cNvPr id="6" name="Rectangle 6"/>
            <p:cNvSpPr/>
            <p:nvPr/>
          </p:nvSpPr>
          <p:spPr>
            <a:xfrm>
              <a:off x="571500" y="1333500"/>
              <a:ext cx="11049000" cy="609600"/>
            </a:xfrm>
            <a:prstGeom prst="roundRect">
              <a:avLst>
                <a:gd name="adj" fmla="val 15625"/>
              </a:avLst>
            </a:prstGeom>
            <a:solidFill>
              <a:schemeClr val="lt2"/>
            </a:solidFill>
            <a:ln w="14288">
              <a:solidFill>
                <a:schemeClr val="accent4"/>
              </a:solidFill>
            </a:ln>
          </p:spPr>
        </p:sp>
        <p:sp>
          <p:nvSpPr>
            <p:cNvPr id="7" name="Rectangle 7"/>
            <p:cNvSpPr/>
            <p:nvPr/>
          </p:nvSpPr>
          <p:spPr>
            <a:xfrm>
              <a:off x="571500" y="1333500"/>
              <a:ext cx="57150" cy="609600"/>
            </a:xfrm>
            <a:prstGeom prst="roundRect">
              <a:avLst>
                <a:gd name="adj" fmla="val 50000"/>
              </a:avLst>
            </a:prstGeom>
            <a:solidFill>
              <a:schemeClr val="accent1"/>
            </a:solidFill>
            <a:ln>
              <a:noFill/>
            </a:ln>
          </p:spPr>
        </p:sp>
        <p:sp>
          <p:nvSpPr>
            <p:cNvPr id="8" name="TextBox 8"/>
            <p:cNvSpPr txBox="1"/>
            <p:nvPr/>
          </p:nvSpPr>
          <p:spPr>
            <a:xfrm>
              <a:off x="833438" y="1503045"/>
              <a:ext cx="3781908"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NO EXPERIMENTS — BUT AN ABLATION IN STRUCTURE</a:t>
              </a:r>
            </a:p>
          </p:txBody>
        </p:sp>
        <p:sp>
          <p:nvSpPr>
            <p:cNvPr id="9" name="TextBox 9"/>
            <p:cNvSpPr txBox="1"/>
            <p:nvPr/>
          </p:nvSpPr>
          <p:spPr>
            <a:xfrm>
              <a:off x="832104" y="1689735"/>
              <a:ext cx="86683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analysis is built to expose which assumptions buy which guarantees — exactly the job an ablation would do.</a:t>
              </a:r>
            </a:p>
          </p:txBody>
        </p:sp>
      </p:grpSp>
      <p:grpSp>
        <p:nvGrpSpPr>
          <p:cNvPr id="31" name="Group 31"/>
          <p:cNvGrpSpPr/>
          <p:nvPr/>
        </p:nvGrpSpPr>
        <p:grpSpPr>
          <a:xfrm>
            <a:off x="571500" y="2133600"/>
            <a:ext cx="3552825" cy="4152900"/>
            <a:chOff x="571500" y="2133600"/>
            <a:chExt cx="3552825" cy="4152900"/>
          </a:xfrm>
        </p:grpSpPr>
        <p:sp>
          <p:nvSpPr>
            <p:cNvPr id="11" name="Rectangle 11"/>
            <p:cNvSpPr/>
            <p:nvPr/>
          </p:nvSpPr>
          <p:spPr>
            <a:xfrm>
              <a:off x="571500" y="2133600"/>
              <a:ext cx="3552825" cy="41529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12" name="Rectangle 12"/>
            <p:cNvSpPr/>
            <p:nvPr/>
          </p:nvSpPr>
          <p:spPr>
            <a:xfrm>
              <a:off x="571500" y="2133600"/>
              <a:ext cx="3552825" cy="57150"/>
            </a:xfrm>
            <a:prstGeom prst="roundRect">
              <a:avLst>
                <a:gd name="adj" fmla="val 50000"/>
              </a:avLst>
            </a:prstGeom>
            <a:solidFill>
              <a:schemeClr val="accent2"/>
            </a:solidFill>
            <a:ln>
              <a:noFill/>
            </a:ln>
          </p:spPr>
        </p:sp>
        <p:sp>
          <p:nvSpPr>
            <p:cNvPr id="13" name="TextBox 13"/>
            <p:cNvSpPr txBox="1"/>
            <p:nvPr/>
          </p:nvSpPr>
          <p:spPr>
            <a:xfrm>
              <a:off x="795338" y="2398395"/>
              <a:ext cx="1923471"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ONE VERSATILE ARGUMENT</a:t>
              </a:r>
            </a:p>
          </p:txBody>
        </p:sp>
        <p:sp>
          <p:nvSpPr>
            <p:cNvPr id="14" name="TextBox 14"/>
            <p:cNvSpPr txBox="1"/>
            <p:nvPr/>
          </p:nvSpPr>
          <p:spPr>
            <a:xfrm>
              <a:off x="793242" y="2597468"/>
              <a:ext cx="321548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The same proof does double duty</a:t>
              </a:r>
            </a:p>
          </p:txBody>
        </p:sp>
        <p:grpSp>
          <p:nvGrpSpPr>
            <p:cNvPr id="20" name="Group 20"/>
            <p:cNvGrpSpPr/>
            <p:nvPr/>
          </p:nvGrpSpPr>
          <p:grpSpPr>
            <a:xfrm>
              <a:off x="800100" y="2933700"/>
              <a:ext cx="3095625" cy="1123950"/>
              <a:chOff x="800100" y="2933700"/>
              <a:chExt cx="3095625" cy="1123950"/>
            </a:xfrm>
          </p:grpSpPr>
          <p:sp>
            <p:nvSpPr>
              <p:cNvPr id="15" name="Rectangle 15"/>
              <p:cNvSpPr/>
              <p:nvPr/>
            </p:nvSpPr>
            <p:spPr>
              <a:xfrm>
                <a:off x="800100" y="2933700"/>
                <a:ext cx="3095625" cy="1123950"/>
              </a:xfrm>
              <a:prstGeom prst="roundRect">
                <a:avLst>
                  <a:gd name="adj" fmla="val 8475"/>
                </a:avLst>
              </a:prstGeom>
              <a:solidFill>
                <a:srgbClr val="EEF4FF"/>
              </a:solidFill>
              <a:ln w="11906">
                <a:solidFill>
                  <a:srgbClr val="BFD4FE"/>
                </a:solidFill>
              </a:ln>
            </p:spPr>
          </p:sp>
          <p:sp>
            <p:nvSpPr>
              <p:cNvPr id="16" name="TextBox 16"/>
              <p:cNvSpPr txBox="1"/>
              <p:nvPr/>
            </p:nvSpPr>
            <p:spPr>
              <a:xfrm>
                <a:off x="966597" y="3095149"/>
                <a:ext cx="1385860"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Recovers prior work</a:t>
                </a:r>
              </a:p>
            </p:txBody>
          </p:sp>
          <p:sp>
            <p:nvSpPr>
              <p:cNvPr id="17" name="TextBox 17"/>
              <p:cNvSpPr txBox="1"/>
              <p:nvPr/>
            </p:nvSpPr>
            <p:spPr>
              <a:xfrm>
                <a:off x="966216" y="3334702"/>
                <a:ext cx="210739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As a special case it re-derives</a:t>
                </a:r>
              </a:p>
            </p:txBody>
          </p:sp>
          <p:sp>
            <p:nvSpPr>
              <p:cNvPr id="18" name="TextBox 18"/>
              <p:cNvSpPr txBox="1"/>
              <p:nvPr/>
            </p:nvSpPr>
            <p:spPr>
              <a:xfrm>
                <a:off x="966216" y="3544252"/>
                <a:ext cx="215376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Frei et al.'s Õ(√OPT) rate for</a:t>
                </a:r>
              </a:p>
            </p:txBody>
          </p:sp>
          <p:sp>
            <p:nvSpPr>
              <p:cNvPr id="19" name="TextBox 19"/>
              <p:cNvSpPr txBox="1"/>
              <p:nvPr/>
            </p:nvSpPr>
            <p:spPr>
              <a:xfrm>
                <a:off x="966216" y="3753802"/>
                <a:ext cx="247724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general well-behaved distributions.</a:t>
                </a:r>
              </a:p>
            </p:txBody>
          </p:sp>
        </p:grpSp>
        <p:grpSp>
          <p:nvGrpSpPr>
            <p:cNvPr id="30" name="Group 30"/>
            <p:cNvGrpSpPr/>
            <p:nvPr/>
          </p:nvGrpSpPr>
          <p:grpSpPr>
            <a:xfrm>
              <a:off x="800100" y="4191000"/>
              <a:ext cx="3095625" cy="1866900"/>
              <a:chOff x="800100" y="4191000"/>
              <a:chExt cx="3095625" cy="1866900"/>
            </a:xfrm>
          </p:grpSpPr>
          <p:sp>
            <p:nvSpPr>
              <p:cNvPr id="21" name="Rectangle 21"/>
              <p:cNvSpPr/>
              <p:nvPr/>
            </p:nvSpPr>
            <p:spPr>
              <a:xfrm>
                <a:off x="800100" y="4191000"/>
                <a:ext cx="3095625" cy="1866900"/>
              </a:xfrm>
              <a:prstGeom prst="roundRect">
                <a:avLst>
                  <a:gd name="adj" fmla="val 5102"/>
                </a:avLst>
              </a:prstGeom>
              <a:solidFill>
                <a:srgbClr val="F0FDF4"/>
              </a:solidFill>
              <a:ln w="11906">
                <a:solidFill>
                  <a:srgbClr val="A7F3D0"/>
                </a:solidFill>
              </a:ln>
            </p:spPr>
          </p:sp>
          <p:sp>
            <p:nvSpPr>
              <p:cNvPr id="22" name="TextBox 22"/>
              <p:cNvSpPr txBox="1"/>
              <p:nvPr/>
            </p:nvSpPr>
            <p:spPr>
              <a:xfrm>
                <a:off x="966597" y="4352449"/>
                <a:ext cx="1953633"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Also applies to the hinge loss</a:t>
                </a:r>
              </a:p>
            </p:txBody>
          </p:sp>
          <p:sp>
            <p:nvSpPr>
              <p:cNvPr id="23" name="TextBox 23"/>
              <p:cNvSpPr txBox="1"/>
              <p:nvPr/>
            </p:nvSpPr>
            <p:spPr>
              <a:xfrm>
                <a:off x="966216" y="4592002"/>
                <a:ext cx="20084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Crucially, the argument goes</a:t>
                </a:r>
              </a:p>
            </p:txBody>
          </p:sp>
          <p:sp>
            <p:nvSpPr>
              <p:cNvPr id="24" name="TextBox 24"/>
              <p:cNvSpPr txBox="1"/>
              <p:nvPr/>
            </p:nvSpPr>
            <p:spPr>
              <a:xfrm>
                <a:off x="966216" y="4801552"/>
                <a:ext cx="217333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through for the hinge loss, not</a:t>
                </a:r>
              </a:p>
            </p:txBody>
          </p:sp>
          <p:sp>
            <p:nvSpPr>
              <p:cNvPr id="25" name="TextBox 25"/>
              <p:cNvSpPr txBox="1"/>
              <p:nvPr/>
            </p:nvSpPr>
            <p:spPr>
              <a:xfrm>
                <a:off x="966216" y="5011102"/>
                <a:ext cx="151605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just the logistic loss.</a:t>
                </a:r>
              </a:p>
            </p:txBody>
          </p:sp>
          <p:sp>
            <p:nvSpPr>
              <p:cNvPr id="26" name="Line 26"/>
              <p:cNvSpPr/>
              <p:nvPr/>
            </p:nvSpPr>
            <p:spPr>
              <a:xfrm>
                <a:off x="971550" y="5276850"/>
                <a:ext cx="2752725" cy="9525"/>
              </a:xfrm>
              <a:custGeom>
                <a:avLst/>
                <a:gdLst/>
                <a:ahLst/>
                <a:cxnLst/>
                <a:rect l="l" t="t" r="r" b="b"/>
                <a:pathLst>
                  <a:path w="2752725" h="9525">
                    <a:moveTo>
                      <a:pt x="0" y="0"/>
                    </a:moveTo>
                    <a:lnTo>
                      <a:pt x="2752725" y="0"/>
                    </a:lnTo>
                  </a:path>
                </a:pathLst>
              </a:custGeom>
              <a:noFill/>
              <a:ln w="9525">
                <a:solidFill>
                  <a:srgbClr val="A7F3D0"/>
                </a:solidFill>
              </a:ln>
            </p:spPr>
          </p:sp>
          <p:sp>
            <p:nvSpPr>
              <p:cNvPr id="27" name="TextBox 27"/>
              <p:cNvSpPr txBox="1"/>
              <p:nvPr/>
            </p:nvSpPr>
            <p:spPr>
              <a:xfrm>
                <a:off x="966216" y="5411152"/>
                <a:ext cx="2308061"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This dual applicability is exactly</a:t>
                </a:r>
              </a:p>
            </p:txBody>
          </p:sp>
          <p:sp>
            <p:nvSpPr>
              <p:cNvPr id="28" name="TextBox 28"/>
              <p:cNvSpPr txBox="1"/>
              <p:nvPr/>
            </p:nvSpPr>
            <p:spPr>
              <a:xfrm>
                <a:off x="966216" y="5620702"/>
                <a:ext cx="1999477"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what makes the perceptron</a:t>
                </a:r>
              </a:p>
            </p:txBody>
          </p:sp>
          <p:sp>
            <p:nvSpPr>
              <p:cNvPr id="29" name="TextBox 29"/>
              <p:cNvSpPr txBox="1"/>
              <p:nvPr/>
            </p:nvSpPr>
            <p:spPr>
              <a:xfrm>
                <a:off x="966216" y="5830252"/>
                <a:ext cx="165811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second phase possible.</a:t>
                </a:r>
              </a:p>
            </p:txBody>
          </p:sp>
        </p:grpSp>
      </p:grpSp>
      <p:grpSp>
        <p:nvGrpSpPr>
          <p:cNvPr id="50" name="Group 50"/>
          <p:cNvGrpSpPr/>
          <p:nvPr/>
        </p:nvGrpSpPr>
        <p:grpSpPr>
          <a:xfrm>
            <a:off x="4314825" y="2133600"/>
            <a:ext cx="3552825" cy="4152900"/>
            <a:chOff x="4314825" y="2133600"/>
            <a:chExt cx="3552825" cy="4152900"/>
          </a:xfrm>
        </p:grpSpPr>
        <p:sp>
          <p:nvSpPr>
            <p:cNvPr id="32" name="Rectangle 32"/>
            <p:cNvSpPr/>
            <p:nvPr/>
          </p:nvSpPr>
          <p:spPr>
            <a:xfrm>
              <a:off x="4314825" y="2133600"/>
              <a:ext cx="3552825" cy="4152900"/>
            </a:xfrm>
            <a:prstGeom prst="roundRect">
              <a:avLst>
                <a:gd name="adj" fmla="val 3217"/>
              </a:avLst>
            </a:prstGeom>
            <a:solidFill>
              <a:schemeClr val="lt1"/>
            </a:solidFill>
            <a:ln w="14288">
              <a:solidFill>
                <a:schemeClr val="accent4"/>
              </a:solidFill>
            </a:ln>
            <a:effectLst>
              <a:outerShdw blurRad="76200" dist="19050" dir="5400000" algn="ctr" rotWithShape="0">
                <a:srgbClr val="12233B">
                  <a:alpha val="4500"/>
                </a:srgbClr>
              </a:outerShdw>
            </a:effectLst>
          </p:spPr>
        </p:sp>
        <p:sp>
          <p:nvSpPr>
            <p:cNvPr id="33" name="Rectangle 33"/>
            <p:cNvSpPr/>
            <p:nvPr/>
          </p:nvSpPr>
          <p:spPr>
            <a:xfrm>
              <a:off x="4314825" y="2133600"/>
              <a:ext cx="3552825" cy="57150"/>
            </a:xfrm>
            <a:prstGeom prst="roundRect">
              <a:avLst>
                <a:gd name="adj" fmla="val 50000"/>
              </a:avLst>
            </a:prstGeom>
            <a:solidFill>
              <a:schemeClr val="accent2"/>
            </a:solidFill>
            <a:ln>
              <a:noFill/>
            </a:ln>
          </p:spPr>
        </p:sp>
        <p:sp>
          <p:nvSpPr>
            <p:cNvPr id="34" name="TextBox 34"/>
            <p:cNvSpPr txBox="1"/>
            <p:nvPr/>
          </p:nvSpPr>
          <p:spPr>
            <a:xfrm>
              <a:off x="4538662" y="2398395"/>
              <a:ext cx="269188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THEOREM 3.4 — SEPARATES REGIMES</a:t>
              </a:r>
            </a:p>
          </p:txBody>
        </p:sp>
        <p:sp>
          <p:nvSpPr>
            <p:cNvPr id="35" name="TextBox 35"/>
            <p:cNvSpPr txBox="1"/>
            <p:nvPr/>
          </p:nvSpPr>
          <p:spPr>
            <a:xfrm>
              <a:off x="4536567" y="2597468"/>
              <a:ext cx="245790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The cost of heavier tails</a:t>
              </a:r>
            </a:p>
          </p:txBody>
        </p:sp>
        <p:sp>
          <p:nvSpPr>
            <p:cNvPr id="36" name="Rectangle 36"/>
            <p:cNvSpPr/>
            <p:nvPr/>
          </p:nvSpPr>
          <p:spPr>
            <a:xfrm>
              <a:off x="4543425" y="2914650"/>
              <a:ext cx="3095625" cy="838200"/>
            </a:xfrm>
            <a:prstGeom prst="roundRect">
              <a:avLst>
                <a:gd name="adj" fmla="val 11364"/>
              </a:avLst>
            </a:prstGeom>
            <a:solidFill>
              <a:schemeClr val="lt2"/>
            </a:solidFill>
            <a:ln w="11906">
              <a:solidFill>
                <a:schemeClr val="accent4"/>
              </a:solidFill>
            </a:ln>
          </p:spPr>
        </p:sp>
        <p:sp>
          <p:nvSpPr>
            <p:cNvPr id="37" name="TextBox 37"/>
            <p:cNvSpPr txBox="1"/>
            <p:nvPr/>
          </p:nvSpPr>
          <p:spPr>
            <a:xfrm>
              <a:off x="4691062" y="3065145"/>
              <a:ext cx="553913"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BOUNDED</a:t>
              </a:r>
            </a:p>
          </p:txBody>
        </p:sp>
        <p:sp>
          <p:nvSpPr>
            <p:cNvPr id="38" name="TextBox 38"/>
            <p:cNvSpPr txBox="1"/>
            <p:nvPr/>
          </p:nvSpPr>
          <p:spPr>
            <a:xfrm>
              <a:off x="4688967" y="3302318"/>
              <a:ext cx="164229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onsolas"/>
                  <a:ea typeface="Consolas"/>
                  <a:cs typeface="Consolas"/>
                </a:rPr>
                <a:t>O((1 + Cκ)·OPT)</a:t>
              </a:r>
            </a:p>
          </p:txBody>
        </p:sp>
        <p:sp>
          <p:nvSpPr>
            <p:cNvPr id="39" name="TextBox 39"/>
            <p:cNvSpPr txBox="1"/>
            <p:nvPr/>
          </p:nvSpPr>
          <p:spPr>
            <a:xfrm>
              <a:off x="4691062" y="3560445"/>
              <a:ext cx="963473"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Cκ = ∫₀ᴮ κ(r) dr</a:t>
              </a:r>
            </a:p>
          </p:txBody>
        </p:sp>
        <p:sp>
          <p:nvSpPr>
            <p:cNvPr id="40" name="TextBox 40"/>
            <p:cNvSpPr txBox="1"/>
            <p:nvPr/>
          </p:nvSpPr>
          <p:spPr>
            <a:xfrm>
              <a:off x="5365078" y="3835718"/>
              <a:ext cx="1442795" cy="264033"/>
            </a:xfrm>
            <a:prstGeom prst="rect">
              <a:avLst/>
            </a:prstGeom>
            <a:noFill/>
            <a:ln>
              <a:noFill/>
            </a:ln>
          </p:spPr>
          <p:txBody>
            <a:bodyPr wrap="none" lIns="0" tIns="0" rIns="0" bIns="0" anchor="t" anchorCtr="0">
              <a:spAutoFit/>
            </a:bodyPr>
            <a:lstStyle/>
            <a:p>
              <a:pPr algn="ctr"/>
              <a:r>
                <a:rPr lang="en-US" sz="1350" dirty="0">
                  <a:solidFill>
                    <a:schemeClr val="accent2"/>
                  </a:solidFill>
                  <a:latin typeface="+mn-lt"/>
                  <a:ea typeface="+mn-ea"/>
                  <a:cs typeface="+mn-cs"/>
                </a:rPr>
                <a:t>↓ add ln(1/OPT)</a:t>
              </a:r>
            </a:p>
          </p:txBody>
        </p:sp>
        <p:sp>
          <p:nvSpPr>
            <p:cNvPr id="41" name="Rectangle 41"/>
            <p:cNvSpPr/>
            <p:nvPr/>
          </p:nvSpPr>
          <p:spPr>
            <a:xfrm>
              <a:off x="4543425" y="4095750"/>
              <a:ext cx="3095625" cy="838200"/>
            </a:xfrm>
            <a:prstGeom prst="roundRect">
              <a:avLst>
                <a:gd name="adj" fmla="val 11364"/>
              </a:avLst>
            </a:prstGeom>
            <a:solidFill>
              <a:schemeClr val="lt2"/>
            </a:solidFill>
            <a:ln w="11906">
              <a:solidFill>
                <a:schemeClr val="accent4"/>
              </a:solidFill>
            </a:ln>
          </p:spPr>
        </p:sp>
        <p:sp>
          <p:nvSpPr>
            <p:cNvPr id="42" name="TextBox 42"/>
            <p:cNvSpPr txBox="1"/>
            <p:nvPr/>
          </p:nvSpPr>
          <p:spPr>
            <a:xfrm>
              <a:off x="4691062" y="4246245"/>
              <a:ext cx="1111743"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SUB-EXPONENTIAL</a:t>
              </a:r>
            </a:p>
          </p:txBody>
        </p:sp>
        <p:sp>
          <p:nvSpPr>
            <p:cNvPr id="43" name="TextBox 43"/>
            <p:cNvSpPr txBox="1"/>
            <p:nvPr/>
          </p:nvSpPr>
          <p:spPr>
            <a:xfrm>
              <a:off x="4689348" y="4491514"/>
              <a:ext cx="246186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Consolas"/>
                  <a:ea typeface="Consolas"/>
                  <a:cs typeface="Consolas"/>
                </a:rPr>
                <a:t>O((1+Cκ)·OPT·ln(1/OPT))</a:t>
              </a:r>
            </a:p>
          </p:txBody>
        </p:sp>
        <p:sp>
          <p:nvSpPr>
            <p:cNvPr id="44" name="TextBox 44"/>
            <p:cNvSpPr txBox="1"/>
            <p:nvPr/>
          </p:nvSpPr>
          <p:spPr>
            <a:xfrm>
              <a:off x="4691062" y="4741545"/>
              <a:ext cx="1933194"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integral taken to 3α₂·ln(1/OPT)</a:t>
              </a:r>
            </a:p>
          </p:txBody>
        </p:sp>
        <p:sp>
          <p:nvSpPr>
            <p:cNvPr id="45" name="Rectangle 45"/>
            <p:cNvSpPr/>
            <p:nvPr/>
          </p:nvSpPr>
          <p:spPr>
            <a:xfrm>
              <a:off x="4543425" y="5086350"/>
              <a:ext cx="3095625" cy="971550"/>
            </a:xfrm>
            <a:prstGeom prst="roundRect">
              <a:avLst>
                <a:gd name="adj" fmla="val 9804"/>
              </a:avLst>
            </a:prstGeom>
            <a:solidFill>
              <a:srgbClr val="EEF4FF"/>
            </a:solidFill>
            <a:ln w="11906">
              <a:solidFill>
                <a:srgbClr val="BFD4FE"/>
              </a:solidFill>
            </a:ln>
          </p:spPr>
        </p:sp>
        <p:sp>
          <p:nvSpPr>
            <p:cNvPr id="46" name="TextBox 46"/>
            <p:cNvSpPr txBox="1"/>
            <p:nvPr/>
          </p:nvSpPr>
          <p:spPr>
            <a:xfrm>
              <a:off x="4709541" y="5239702"/>
              <a:ext cx="217485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The only price of heavier tails</a:t>
              </a:r>
            </a:p>
          </p:txBody>
        </p:sp>
        <p:sp>
          <p:nvSpPr>
            <p:cNvPr id="47" name="TextBox 47"/>
            <p:cNvSpPr txBox="1"/>
            <p:nvPr/>
          </p:nvSpPr>
          <p:spPr>
            <a:xfrm>
              <a:off x="4709541" y="5468302"/>
              <a:ext cx="194010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is a single extra logarithmic</a:t>
              </a:r>
            </a:p>
          </p:txBody>
        </p:sp>
        <p:sp>
          <p:nvSpPr>
            <p:cNvPr id="48" name="TextBox 48"/>
            <p:cNvSpPr txBox="1"/>
            <p:nvPr/>
          </p:nvSpPr>
          <p:spPr>
            <a:xfrm>
              <a:off x="4709541" y="5677852"/>
              <a:ext cx="194309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factor ln(1/OPT) — isolated</a:t>
              </a:r>
            </a:p>
          </p:txBody>
        </p:sp>
        <p:sp>
          <p:nvSpPr>
            <p:cNvPr id="49" name="TextBox 49"/>
            <p:cNvSpPr txBox="1"/>
            <p:nvPr/>
          </p:nvSpPr>
          <p:spPr>
            <a:xfrm>
              <a:off x="4709541" y="5887402"/>
              <a:ext cx="16503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cleanly by the theorem.</a:t>
              </a:r>
            </a:p>
          </p:txBody>
        </p:sp>
      </p:grpSp>
      <p:grpSp>
        <p:nvGrpSpPr>
          <p:cNvPr id="68" name="Group 68"/>
          <p:cNvGrpSpPr/>
          <p:nvPr/>
        </p:nvGrpSpPr>
        <p:grpSpPr>
          <a:xfrm>
            <a:off x="8058150" y="2133600"/>
            <a:ext cx="3562350" cy="4152900"/>
            <a:chOff x="8058150" y="2133600"/>
            <a:chExt cx="3562350" cy="4152900"/>
          </a:xfrm>
        </p:grpSpPr>
        <p:sp>
          <p:nvSpPr>
            <p:cNvPr id="51" name="Rectangle 51"/>
            <p:cNvSpPr/>
            <p:nvPr/>
          </p:nvSpPr>
          <p:spPr>
            <a:xfrm>
              <a:off x="8058150" y="2133600"/>
              <a:ext cx="3562350" cy="4152900"/>
            </a:xfrm>
            <a:prstGeom prst="roundRect">
              <a:avLst>
                <a:gd name="adj" fmla="val 3209"/>
              </a:avLst>
            </a:prstGeom>
            <a:solidFill>
              <a:srgbClr val="EEF4FF"/>
            </a:solidFill>
            <a:ln w="14288">
              <a:solidFill>
                <a:srgbClr val="BFD4FE"/>
              </a:solidFill>
            </a:ln>
            <a:effectLst>
              <a:outerShdw blurRad="76200" dist="19050" dir="5400000" algn="ctr" rotWithShape="0">
                <a:srgbClr val="12233B">
                  <a:alpha val="4500"/>
                </a:srgbClr>
              </a:outerShdw>
            </a:effectLst>
          </p:spPr>
        </p:sp>
        <p:sp>
          <p:nvSpPr>
            <p:cNvPr id="52" name="Rectangle 52"/>
            <p:cNvSpPr/>
            <p:nvPr/>
          </p:nvSpPr>
          <p:spPr>
            <a:xfrm>
              <a:off x="8058150" y="2133600"/>
              <a:ext cx="3562350" cy="57150"/>
            </a:xfrm>
            <a:prstGeom prst="roundRect">
              <a:avLst>
                <a:gd name="adj" fmla="val 50000"/>
              </a:avLst>
            </a:prstGeom>
            <a:solidFill>
              <a:schemeClr val="accent2"/>
            </a:solidFill>
            <a:ln>
              <a:noFill/>
            </a:ln>
          </p:spPr>
        </p:sp>
        <p:sp>
          <p:nvSpPr>
            <p:cNvPr id="53" name="TextBox 53"/>
            <p:cNvSpPr txBox="1"/>
            <p:nvPr/>
          </p:nvSpPr>
          <p:spPr>
            <a:xfrm>
              <a:off x="8281988" y="2398395"/>
              <a:ext cx="2210075"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CONSTANT Cκ — ISOLATED</a:t>
              </a:r>
            </a:p>
          </p:txBody>
        </p:sp>
        <p:sp>
          <p:nvSpPr>
            <p:cNvPr id="54" name="TextBox 54"/>
            <p:cNvSpPr txBox="1"/>
            <p:nvPr/>
          </p:nvSpPr>
          <p:spPr>
            <a:xfrm>
              <a:off x="8279892" y="2597468"/>
              <a:ext cx="304475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How much smoothness matters</a:t>
              </a:r>
            </a:p>
          </p:txBody>
        </p:sp>
        <p:sp>
          <p:nvSpPr>
            <p:cNvPr id="55" name="Rectangle 55"/>
            <p:cNvSpPr/>
            <p:nvPr/>
          </p:nvSpPr>
          <p:spPr>
            <a:xfrm>
              <a:off x="8286750" y="2914650"/>
              <a:ext cx="3105150" cy="819150"/>
            </a:xfrm>
            <a:prstGeom prst="roundRect">
              <a:avLst>
                <a:gd name="adj" fmla="val 11628"/>
              </a:avLst>
            </a:prstGeom>
            <a:solidFill>
              <a:schemeClr val="lt1"/>
            </a:solidFill>
            <a:ln w="11906">
              <a:solidFill>
                <a:srgbClr val="BFD4FE"/>
              </a:solidFill>
            </a:ln>
          </p:spPr>
        </p:sp>
        <p:sp>
          <p:nvSpPr>
            <p:cNvPr id="56" name="TextBox 56"/>
            <p:cNvSpPr txBox="1"/>
            <p:nvPr/>
          </p:nvSpPr>
          <p:spPr>
            <a:xfrm>
              <a:off x="8828536" y="3063240"/>
              <a:ext cx="2021578"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Consolas"/>
                  <a:ea typeface="Consolas"/>
                  <a:cs typeface="Consolas"/>
                </a:rPr>
                <a:t>Cκ = ∫₀ᴮ κ(r) dr</a:t>
              </a:r>
            </a:p>
          </p:txBody>
        </p:sp>
        <p:sp>
          <p:nvSpPr>
            <p:cNvPr id="57" name="TextBox 57"/>
            <p:cNvSpPr txBox="1"/>
            <p:nvPr/>
          </p:nvSpPr>
          <p:spPr>
            <a:xfrm>
              <a:off x="8311807" y="3438049"/>
              <a:ext cx="3055035"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an integral of the radial-Lipschitzness modulus</a:t>
              </a:r>
            </a:p>
          </p:txBody>
        </p:sp>
        <p:sp>
          <p:nvSpPr>
            <p:cNvPr id="58" name="TextBox 58"/>
            <p:cNvSpPr txBox="1"/>
            <p:nvPr/>
          </p:nvSpPr>
          <p:spPr>
            <a:xfrm>
              <a:off x="8281416" y="3925252"/>
              <a:ext cx="227702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Cκ isolates exactly how much the</a:t>
              </a:r>
            </a:p>
          </p:txBody>
        </p:sp>
        <p:sp>
          <p:nvSpPr>
            <p:cNvPr id="59" name="TextBox 59"/>
            <p:cNvSpPr txBox="1"/>
            <p:nvPr/>
          </p:nvSpPr>
          <p:spPr>
            <a:xfrm>
              <a:off x="8281416" y="4125278"/>
              <a:ext cx="25479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density's radial smoothness affects</a:t>
              </a:r>
            </a:p>
          </p:txBody>
        </p:sp>
        <p:sp>
          <p:nvSpPr>
            <p:cNvPr id="60" name="TextBox 60"/>
            <p:cNvSpPr txBox="1"/>
            <p:nvPr/>
          </p:nvSpPr>
          <p:spPr>
            <a:xfrm>
              <a:off x="8281416" y="4325302"/>
              <a:ext cx="106373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guarantee.</a:t>
              </a:r>
            </a:p>
          </p:txBody>
        </p:sp>
        <p:grpSp>
          <p:nvGrpSpPr>
            <p:cNvPr id="67" name="Group 67"/>
            <p:cNvGrpSpPr/>
            <p:nvPr/>
          </p:nvGrpSpPr>
          <p:grpSpPr>
            <a:xfrm>
              <a:off x="8286750" y="4629150"/>
              <a:ext cx="3105150" cy="1428750"/>
              <a:chOff x="8286750" y="4629150"/>
              <a:chExt cx="3105150" cy="1428750"/>
            </a:xfrm>
          </p:grpSpPr>
          <p:sp>
            <p:nvSpPr>
              <p:cNvPr id="61" name="Rectangle 61"/>
              <p:cNvSpPr/>
              <p:nvPr/>
            </p:nvSpPr>
            <p:spPr>
              <a:xfrm>
                <a:off x="8286750" y="4629150"/>
                <a:ext cx="3105150" cy="1428750"/>
              </a:xfrm>
              <a:prstGeom prst="roundRect">
                <a:avLst>
                  <a:gd name="adj" fmla="val 6667"/>
                </a:avLst>
              </a:prstGeom>
              <a:solidFill>
                <a:srgbClr val="F0FDF4"/>
              </a:solidFill>
              <a:ln w="11906">
                <a:solidFill>
                  <a:srgbClr val="A7F3D0"/>
                </a:solidFill>
              </a:ln>
            </p:spPr>
          </p:sp>
          <p:sp>
            <p:nvSpPr>
              <p:cNvPr id="62" name="TextBox 62"/>
              <p:cNvSpPr txBox="1"/>
              <p:nvPr/>
            </p:nvSpPr>
            <p:spPr>
              <a:xfrm>
                <a:off x="8453247" y="4790599"/>
                <a:ext cx="2258375"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Vanishes when radially symmetric</a:t>
                </a:r>
              </a:p>
            </p:txBody>
          </p:sp>
          <p:sp>
            <p:nvSpPr>
              <p:cNvPr id="63" name="TextBox 63"/>
              <p:cNvSpPr txBox="1"/>
              <p:nvPr/>
            </p:nvSpPr>
            <p:spPr>
              <a:xfrm>
                <a:off x="8450580" y="5000625"/>
                <a:ext cx="62571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Consolas"/>
                    <a:ea typeface="Consolas"/>
                    <a:cs typeface="Consolas"/>
                  </a:rPr>
                  <a:t>Cκ → 0</a:t>
                </a:r>
              </a:p>
            </p:txBody>
          </p:sp>
          <p:sp>
            <p:nvSpPr>
              <p:cNvPr id="64" name="TextBox 64"/>
              <p:cNvSpPr txBox="1"/>
              <p:nvPr/>
            </p:nvSpPr>
            <p:spPr>
              <a:xfrm>
                <a:off x="8452866" y="5354002"/>
                <a:ext cx="168290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If the density is radially</a:t>
                </a:r>
              </a:p>
            </p:txBody>
          </p:sp>
          <p:sp>
            <p:nvSpPr>
              <p:cNvPr id="65" name="TextBox 65"/>
              <p:cNvSpPr txBox="1"/>
              <p:nvPr/>
            </p:nvSpPr>
            <p:spPr>
              <a:xfrm>
                <a:off x="8452866" y="5554028"/>
                <a:ext cx="228641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symmetric, the smoothness cost</a:t>
                </a:r>
              </a:p>
            </p:txBody>
          </p:sp>
          <p:sp>
            <p:nvSpPr>
              <p:cNvPr id="66" name="TextBox 66"/>
              <p:cNvSpPr txBox="1"/>
              <p:nvPr/>
            </p:nvSpPr>
            <p:spPr>
              <a:xfrm>
                <a:off x="8452866" y="5754052"/>
                <a:ext cx="142417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disappears entirely.</a:t>
                </a:r>
              </a:p>
            </p:txBody>
          </p:sp>
        </p:grpSp>
      </p:grpSp>
      <p:grpSp>
        <p:nvGrpSpPr>
          <p:cNvPr id="72" name="Group 72"/>
          <p:cNvGrpSpPr/>
          <p:nvPr/>
        </p:nvGrpSpPr>
        <p:grpSpPr>
          <a:xfrm>
            <a:off x="571500" y="6521291"/>
            <a:ext cx="11053762" cy="161925"/>
            <a:chOff x="571500" y="6521291"/>
            <a:chExt cx="11053762" cy="161925"/>
          </a:xfrm>
        </p:grpSpPr>
        <p:sp>
          <p:nvSpPr>
            <p:cNvPr id="69" name="Line 69"/>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70" name="TextBox 70"/>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71" name="TextBox 71"/>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08</a:t>
              </a:r>
            </a:p>
          </p:txBody>
        </p:sp>
      </p:grpSp>
      <p:sp>
        <p:nvSpPr>
          <p:cNvPr id="73" name="cue_s08_c1_although_theory_without_experimental" title="cue_s08_c1_although_theory_without_experimental" descr="cue_s08_c1_although_theory_without_experimental Although this is a theory paper without experimental ablations, the analysis is structured to expose which assumptions buy which guarantees, playing the role an ablation would."/>
          <p:cNvSpPr/>
          <p:nvPr/>
        </p:nvSpPr>
        <p:spPr>
          <a:xfrm>
            <a:off x="571804" y="1333195"/>
            <a:ext cx="1104839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8_c2_single_upper_bound_argument_versatil" title="cue_s08_c2_single_upper_bound_argument_versatil" descr="cue_s08_c2_single_upper_bound_argument_versatil The single upper-bound argument is versatile enough to recover the earlier square-root OPT rate for general well-behaved distributions as a special case, and crucially it also goes through for the hinge loss, not just the logistic loss; this dual applicability"/>
          <p:cNvSpPr/>
          <p:nvPr/>
        </p:nvSpPr>
        <p:spPr>
          <a:xfrm>
            <a:off x="571804"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8_c3_theorem_cleanly_separates_bounded_su" title="cue_s08_c3_theorem_cleanly_separates_bounded_su" descr="cue_s08_c3_theorem_cleanly_separates_bounded_su The theorem cleanly separates the bounded and sub-exponential regimes, showing that the only price of moving from bounded to heavier sub-exponential tails is an extra logarithmic factor in one over OPT."/>
          <p:cNvSpPr/>
          <p:nvPr/>
        </p:nvSpPr>
        <p:spPr>
          <a:xfrm>
            <a:off x="4314748" y="2133523"/>
            <a:ext cx="3552748"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8_c4_likewise_constant_integral_radial_li" title="cue_s08_c4_likewise_constant_integral_radial_li" descr="cue_s08_c4_likewise_constant_integral_radial_li Likewise, the constant Cκ, an integral of the radial-Lipschitzness modulus, isolates exactly how much the density's radial smoothness matters, vanishing when the density is radially symmetric."/>
          <p:cNvSpPr/>
          <p:nvPr/>
        </p:nvSpPr>
        <p:spPr>
          <a:xfrm>
            <a:off x="8057692" y="2133523"/>
            <a:ext cx="3562502" cy="4153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5206676" cy="656939"/>
            <a:chOff x="571500" y="495300"/>
            <a:chExt cx="5206676"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28945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By the numbers</a:t>
              </a:r>
            </a:p>
          </p:txBody>
        </p:sp>
        <p:sp>
          <p:nvSpPr>
            <p:cNvPr id="4" name="TextBox 4"/>
            <p:cNvSpPr txBox="1"/>
            <p:nvPr/>
          </p:nvSpPr>
          <p:spPr>
            <a:xfrm>
              <a:off x="795147" y="961549"/>
              <a:ext cx="498302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FOUR FIGURES THAT CAPTURE THE IMPACT</a:t>
              </a:r>
            </a:p>
          </p:txBody>
        </p:sp>
      </p:grpSp>
      <p:grpSp>
        <p:nvGrpSpPr>
          <p:cNvPr id="14" name="Group 14"/>
          <p:cNvGrpSpPr/>
          <p:nvPr/>
        </p:nvGrpSpPr>
        <p:grpSpPr>
          <a:xfrm>
            <a:off x="571500" y="1428750"/>
            <a:ext cx="5429250" cy="2266950"/>
            <a:chOff x="571500" y="1428750"/>
            <a:chExt cx="5429250" cy="2266950"/>
          </a:xfrm>
        </p:grpSpPr>
        <p:sp>
          <p:nvSpPr>
            <p:cNvPr id="6" name="Rectangle 6"/>
            <p:cNvSpPr/>
            <p:nvPr/>
          </p:nvSpPr>
          <p:spPr>
            <a:xfrm>
              <a:off x="571500" y="1428750"/>
              <a:ext cx="5429250" cy="2266950"/>
            </a:xfrm>
            <a:prstGeom prst="roundRect">
              <a:avLst>
                <a:gd name="adj" fmla="val 5042"/>
              </a:avLst>
            </a:prstGeom>
            <a:solidFill>
              <a:schemeClr val="lt1"/>
            </a:solidFill>
            <a:ln w="14288">
              <a:solidFill>
                <a:schemeClr val="accent4"/>
              </a:solidFill>
            </a:ln>
            <a:effectLst>
              <a:outerShdw blurRad="76200" dist="19050" dir="5400000" algn="ctr" rotWithShape="0">
                <a:srgbClr val="12233B">
                  <a:alpha val="5250"/>
                </a:srgbClr>
              </a:outerShdw>
            </a:effectLst>
          </p:spPr>
        </p:sp>
        <p:sp>
          <p:nvSpPr>
            <p:cNvPr id="7" name="Rectangle 7"/>
            <p:cNvSpPr/>
            <p:nvPr/>
          </p:nvSpPr>
          <p:spPr>
            <a:xfrm>
              <a:off x="571500" y="1428750"/>
              <a:ext cx="57150" cy="2266950"/>
            </a:xfrm>
            <a:prstGeom prst="roundRect">
              <a:avLst>
                <a:gd name="adj" fmla="val 50000"/>
              </a:avLst>
            </a:prstGeom>
            <a:solidFill>
              <a:schemeClr val="accent3"/>
            </a:solidFill>
            <a:ln>
              <a:noFill/>
            </a:ln>
          </p:spPr>
        </p:sp>
        <p:sp>
          <p:nvSpPr>
            <p:cNvPr id="8" name="TextBox 8"/>
            <p:cNvSpPr txBox="1"/>
            <p:nvPr/>
          </p:nvSpPr>
          <p:spPr>
            <a:xfrm>
              <a:off x="833438" y="1693545"/>
              <a:ext cx="2442469"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LOWER BOUND — LOGISTIC ALONE</a:t>
              </a:r>
            </a:p>
          </p:txBody>
        </p:sp>
        <p:sp>
          <p:nvSpPr>
            <p:cNvPr id="9" name="TextBox 9"/>
            <p:cNvSpPr txBox="1"/>
            <p:nvPr/>
          </p:nvSpPr>
          <p:spPr>
            <a:xfrm>
              <a:off x="819150" y="2131695"/>
              <a:ext cx="3026393" cy="762000"/>
            </a:xfrm>
            <a:prstGeom prst="rect">
              <a:avLst/>
            </a:prstGeom>
            <a:noFill/>
            <a:ln>
              <a:noFill/>
            </a:ln>
          </p:spPr>
          <p:txBody>
            <a:bodyPr wrap="none" lIns="0" tIns="0" rIns="0" bIns="0" anchor="t" anchorCtr="0">
              <a:spAutoFit/>
            </a:bodyPr>
            <a:lstStyle/>
            <a:p>
              <a:pPr algn="l"/>
              <a:r>
                <a:rPr lang="en-US" sz="3900" b="1" dirty="0">
                  <a:solidFill>
                    <a:schemeClr val="accent3"/>
                  </a:solidFill>
                  <a:latin typeface="Consolas"/>
                  <a:ea typeface="Consolas"/>
                  <a:cs typeface="Consolas"/>
                </a:rPr>
                <a:t>√OPT / 60π</a:t>
              </a:r>
            </a:p>
          </p:txBody>
        </p:sp>
        <p:sp>
          <p:nvSpPr>
            <p:cNvPr id="10" name="TextBox 10"/>
            <p:cNvSpPr txBox="1"/>
            <p:nvPr/>
          </p:nvSpPr>
          <p:spPr>
            <a:xfrm>
              <a:off x="832104" y="2804160"/>
              <a:ext cx="33695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Zero-one error the logistic-risk minimizer</a:t>
              </a:r>
            </a:p>
          </p:txBody>
        </p:sp>
        <p:sp>
          <p:nvSpPr>
            <p:cNvPr id="11" name="TextBox 11"/>
            <p:cNvSpPr txBox="1"/>
            <p:nvPr/>
          </p:nvSpPr>
          <p:spPr>
            <a:xfrm>
              <a:off x="832104" y="3013710"/>
              <a:ext cx="400232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provably suffers on the constructed distribution.</a:t>
              </a:r>
            </a:p>
          </p:txBody>
        </p:sp>
        <p:sp>
          <p:nvSpPr>
            <p:cNvPr id="12" name="Rectangle 12"/>
            <p:cNvSpPr/>
            <p:nvPr/>
          </p:nvSpPr>
          <p:spPr>
            <a:xfrm>
              <a:off x="838200" y="3314700"/>
              <a:ext cx="1714500" cy="247650"/>
            </a:xfrm>
            <a:prstGeom prst="roundRect">
              <a:avLst>
                <a:gd name="adj" fmla="val 50000"/>
              </a:avLst>
            </a:prstGeom>
            <a:solidFill>
              <a:srgbClr val="FEF2F2"/>
            </a:solidFill>
            <a:ln>
              <a:noFill/>
            </a:ln>
          </p:spPr>
        </p:sp>
        <p:sp>
          <p:nvSpPr>
            <p:cNvPr id="13" name="TextBox 13"/>
            <p:cNvSpPr txBox="1"/>
            <p:nvPr/>
          </p:nvSpPr>
          <p:spPr>
            <a:xfrm>
              <a:off x="917834" y="3380899"/>
              <a:ext cx="1555232" cy="190690"/>
            </a:xfrm>
            <a:prstGeom prst="rect">
              <a:avLst/>
            </a:prstGeom>
            <a:noFill/>
            <a:ln>
              <a:noFill/>
            </a:ln>
          </p:spPr>
          <p:txBody>
            <a:bodyPr wrap="none" lIns="0" tIns="0" rIns="0" bIns="0" anchor="t" anchorCtr="0">
              <a:spAutoFit/>
            </a:bodyPr>
            <a:lstStyle/>
            <a:p>
              <a:pPr algn="ctr"/>
              <a:r>
                <a:rPr lang="en-US" sz="980" b="1" dirty="0">
                  <a:solidFill>
                    <a:schemeClr val="accent3"/>
                  </a:solidFill>
                  <a:latin typeface="+mn-lt"/>
                  <a:ea typeface="+mn-ea"/>
                  <a:cs typeface="+mn-cs"/>
                </a:rPr>
                <a:t>valid when OPT ≤ 1/100</a:t>
              </a:r>
            </a:p>
          </p:txBody>
        </p:sp>
      </p:grpSp>
      <p:grpSp>
        <p:nvGrpSpPr>
          <p:cNvPr id="23" name="Group 23"/>
          <p:cNvGrpSpPr/>
          <p:nvPr/>
        </p:nvGrpSpPr>
        <p:grpSpPr>
          <a:xfrm>
            <a:off x="6191250" y="1428750"/>
            <a:ext cx="5429250" cy="2266950"/>
            <a:chOff x="6191250" y="1428750"/>
            <a:chExt cx="5429250" cy="2266950"/>
          </a:xfrm>
        </p:grpSpPr>
        <p:sp>
          <p:nvSpPr>
            <p:cNvPr id="15" name="Rectangle 15"/>
            <p:cNvSpPr/>
            <p:nvPr/>
          </p:nvSpPr>
          <p:spPr>
            <a:xfrm>
              <a:off x="6191250" y="1428750"/>
              <a:ext cx="5429250" cy="2266950"/>
            </a:xfrm>
            <a:prstGeom prst="roundRect">
              <a:avLst>
                <a:gd name="adj" fmla="val 5042"/>
              </a:avLst>
            </a:prstGeom>
            <a:solidFill>
              <a:schemeClr val="lt1"/>
            </a:solidFill>
            <a:ln w="14288">
              <a:solidFill>
                <a:schemeClr val="accent4"/>
              </a:solidFill>
            </a:ln>
            <a:effectLst>
              <a:outerShdw blurRad="76200" dist="19050" dir="5400000" algn="ctr" rotWithShape="0">
                <a:srgbClr val="12233B">
                  <a:alpha val="5250"/>
                </a:srgbClr>
              </a:outerShdw>
            </a:effectLst>
          </p:spPr>
        </p:sp>
        <p:sp>
          <p:nvSpPr>
            <p:cNvPr id="16" name="Rectangle 16"/>
            <p:cNvSpPr/>
            <p:nvPr/>
          </p:nvSpPr>
          <p:spPr>
            <a:xfrm>
              <a:off x="6191250" y="1428750"/>
              <a:ext cx="57150" cy="2266950"/>
            </a:xfrm>
            <a:prstGeom prst="roundRect">
              <a:avLst>
                <a:gd name="adj" fmla="val 50000"/>
              </a:avLst>
            </a:prstGeom>
            <a:solidFill>
              <a:schemeClr val="accent2"/>
            </a:solidFill>
            <a:ln>
              <a:noFill/>
            </a:ln>
          </p:spPr>
        </p:sp>
        <p:sp>
          <p:nvSpPr>
            <p:cNvPr id="17" name="TextBox 17"/>
            <p:cNvSpPr txBox="1"/>
            <p:nvPr/>
          </p:nvSpPr>
          <p:spPr>
            <a:xfrm>
              <a:off x="6453188" y="1693545"/>
              <a:ext cx="2065355"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WITH RADIAL LIPSCHITZNESS</a:t>
              </a:r>
            </a:p>
          </p:txBody>
        </p:sp>
        <p:sp>
          <p:nvSpPr>
            <p:cNvPr id="18" name="TextBox 18"/>
            <p:cNvSpPr txBox="1"/>
            <p:nvPr/>
          </p:nvSpPr>
          <p:spPr>
            <a:xfrm>
              <a:off x="6438900" y="2131695"/>
              <a:ext cx="2076755" cy="762000"/>
            </a:xfrm>
            <a:prstGeom prst="rect">
              <a:avLst/>
            </a:prstGeom>
            <a:noFill/>
            <a:ln>
              <a:noFill/>
            </a:ln>
          </p:spPr>
          <p:txBody>
            <a:bodyPr wrap="none" lIns="0" tIns="0" rIns="0" bIns="0" anchor="t" anchorCtr="0">
              <a:spAutoFit/>
            </a:bodyPr>
            <a:lstStyle/>
            <a:p>
              <a:pPr algn="l"/>
              <a:r>
                <a:rPr lang="en-US" sz="3900" b="1" dirty="0">
                  <a:solidFill>
                    <a:schemeClr val="accent5"/>
                  </a:solidFill>
                  <a:latin typeface="Consolas"/>
                  <a:ea typeface="Consolas"/>
                  <a:cs typeface="Consolas"/>
                </a:rPr>
                <a:t>Õ(OPT)</a:t>
              </a:r>
            </a:p>
          </p:txBody>
        </p:sp>
        <p:sp>
          <p:nvSpPr>
            <p:cNvPr id="19" name="TextBox 19"/>
            <p:cNvSpPr txBox="1"/>
            <p:nvPr/>
          </p:nvSpPr>
          <p:spPr>
            <a:xfrm>
              <a:off x="6451854" y="2804160"/>
              <a:ext cx="33987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Add radial Lipschitzness of the density and</a:t>
              </a:r>
            </a:p>
          </p:txBody>
        </p:sp>
        <p:sp>
          <p:nvSpPr>
            <p:cNvPr id="20" name="TextBox 20"/>
            <p:cNvSpPr txBox="1"/>
            <p:nvPr/>
          </p:nvSpPr>
          <p:spPr>
            <a:xfrm>
              <a:off x="6451854" y="3013710"/>
              <a:ext cx="380847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logistic regression alone becomes near-optimal.</a:t>
              </a:r>
            </a:p>
          </p:txBody>
        </p:sp>
        <p:sp>
          <p:nvSpPr>
            <p:cNvPr id="21" name="Rectangle 21"/>
            <p:cNvSpPr/>
            <p:nvPr/>
          </p:nvSpPr>
          <p:spPr>
            <a:xfrm>
              <a:off x="6457950" y="3314700"/>
              <a:ext cx="2476500" cy="247650"/>
            </a:xfrm>
            <a:prstGeom prst="roundRect">
              <a:avLst>
                <a:gd name="adj" fmla="val 50000"/>
              </a:avLst>
            </a:prstGeom>
            <a:solidFill>
              <a:srgbClr val="F0FDF4"/>
            </a:solidFill>
            <a:ln>
              <a:noFill/>
            </a:ln>
          </p:spPr>
        </p:sp>
        <p:sp>
          <p:nvSpPr>
            <p:cNvPr id="22" name="TextBox 22"/>
            <p:cNvSpPr txBox="1"/>
            <p:nvPr/>
          </p:nvSpPr>
          <p:spPr>
            <a:xfrm>
              <a:off x="6677744" y="3380899"/>
              <a:ext cx="2036911" cy="190690"/>
            </a:xfrm>
            <a:prstGeom prst="rect">
              <a:avLst/>
            </a:prstGeom>
            <a:noFill/>
            <a:ln>
              <a:noFill/>
            </a:ln>
          </p:spPr>
          <p:txBody>
            <a:bodyPr wrap="none" lIns="0" tIns="0" rIns="0" bIns="0" anchor="t" anchorCtr="0">
              <a:spAutoFit/>
            </a:bodyPr>
            <a:lstStyle/>
            <a:p>
              <a:pPr algn="ctr"/>
              <a:r>
                <a:rPr lang="en-US" sz="980" b="1" dirty="0">
                  <a:solidFill>
                    <a:schemeClr val="accent5"/>
                  </a:solidFill>
                  <a:latin typeface="+mn-lt"/>
                  <a:ea typeface="+mn-ea"/>
                  <a:cs typeface="+mn-cs"/>
                </a:rPr>
                <a:t>from √OPT down to order OPT</a:t>
              </a:r>
            </a:p>
          </p:txBody>
        </p:sp>
      </p:grpSp>
      <p:grpSp>
        <p:nvGrpSpPr>
          <p:cNvPr id="34" name="Group 34"/>
          <p:cNvGrpSpPr/>
          <p:nvPr/>
        </p:nvGrpSpPr>
        <p:grpSpPr>
          <a:xfrm>
            <a:off x="571500" y="3905250"/>
            <a:ext cx="5429250" cy="2266950"/>
            <a:chOff x="571500" y="3905250"/>
            <a:chExt cx="5429250" cy="2266950"/>
          </a:xfrm>
        </p:grpSpPr>
        <p:sp>
          <p:nvSpPr>
            <p:cNvPr id="24" name="Rectangle 24"/>
            <p:cNvSpPr/>
            <p:nvPr/>
          </p:nvSpPr>
          <p:spPr>
            <a:xfrm>
              <a:off x="571500" y="3905250"/>
              <a:ext cx="5429250" cy="2266950"/>
            </a:xfrm>
            <a:prstGeom prst="roundRect">
              <a:avLst>
                <a:gd name="adj" fmla="val 5042"/>
              </a:avLst>
            </a:prstGeom>
            <a:solidFill>
              <a:schemeClr val="lt1"/>
            </a:solidFill>
            <a:ln w="14288">
              <a:solidFill>
                <a:schemeClr val="accent4"/>
              </a:solidFill>
            </a:ln>
            <a:effectLst>
              <a:outerShdw blurRad="76200" dist="19050" dir="5400000" algn="ctr" rotWithShape="0">
                <a:srgbClr val="12233B">
                  <a:alpha val="5250"/>
                </a:srgbClr>
              </a:outerShdw>
            </a:effectLst>
          </p:spPr>
        </p:sp>
        <p:sp>
          <p:nvSpPr>
            <p:cNvPr id="25" name="Rectangle 25"/>
            <p:cNvSpPr/>
            <p:nvPr/>
          </p:nvSpPr>
          <p:spPr>
            <a:xfrm>
              <a:off x="571500" y="3905250"/>
              <a:ext cx="57150" cy="2266950"/>
            </a:xfrm>
            <a:prstGeom prst="roundRect">
              <a:avLst>
                <a:gd name="adj" fmla="val 50000"/>
              </a:avLst>
            </a:prstGeom>
            <a:solidFill>
              <a:schemeClr val="accent2"/>
            </a:solidFill>
            <a:ln>
              <a:noFill/>
            </a:ln>
          </p:spPr>
        </p:sp>
        <p:sp>
          <p:nvSpPr>
            <p:cNvPr id="26" name="TextBox 26"/>
            <p:cNvSpPr txBox="1"/>
            <p:nvPr/>
          </p:nvSpPr>
          <p:spPr>
            <a:xfrm>
              <a:off x="833438" y="4170045"/>
              <a:ext cx="1534658"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SAMPLE COMPLEXITY</a:t>
              </a:r>
            </a:p>
          </p:txBody>
        </p:sp>
        <p:sp>
          <p:nvSpPr>
            <p:cNvPr id="27" name="TextBox 27"/>
            <p:cNvSpPr txBox="1"/>
            <p:nvPr/>
          </p:nvSpPr>
          <p:spPr>
            <a:xfrm>
              <a:off x="819150" y="4608195"/>
              <a:ext cx="2200530"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Consolas"/>
                  <a:ea typeface="Consolas"/>
                  <a:cs typeface="Consolas"/>
                </a:rPr>
                <a:t>Õ(d/ε²)</a:t>
              </a:r>
            </a:p>
          </p:txBody>
        </p:sp>
        <p:sp>
          <p:nvSpPr>
            <p:cNvPr id="28" name="TextBox 28"/>
            <p:cNvSpPr txBox="1"/>
            <p:nvPr/>
          </p:nvSpPr>
          <p:spPr>
            <a:xfrm>
              <a:off x="3422142" y="4750118"/>
              <a:ext cx="726605" cy="264033"/>
            </a:xfrm>
            <a:prstGeom prst="rect">
              <a:avLst/>
            </a:prstGeom>
            <a:noFill/>
            <a:ln>
              <a:noFill/>
            </a:ln>
          </p:spPr>
          <p:txBody>
            <a:bodyPr wrap="none" lIns="0" tIns="0" rIns="0" bIns="0" anchor="t" anchorCtr="0">
              <a:spAutoFit/>
            </a:bodyPr>
            <a:lstStyle/>
            <a:p>
              <a:pPr algn="l"/>
              <a:r>
                <a:rPr lang="en-US" sz="1350" strike="sngStrike" dirty="0">
                  <a:solidFill>
                    <a:srgbClr val="94A3B8"/>
                  </a:solidFill>
                  <a:latin typeface="+mn-lt"/>
                  <a:ea typeface="+mn-ea"/>
                  <a:cs typeface="+mn-cs"/>
                </a:rPr>
                <a:t>Õ(d/ε⁴)</a:t>
              </a:r>
            </a:p>
          </p:txBody>
        </p:sp>
        <p:sp>
          <p:nvSpPr>
            <p:cNvPr id="29" name="TextBox 29"/>
            <p:cNvSpPr txBox="1"/>
            <p:nvPr/>
          </p:nvSpPr>
          <p:spPr>
            <a:xfrm>
              <a:off x="3424047" y="5000149"/>
              <a:ext cx="1032345" cy="190690"/>
            </a:xfrm>
            <a:prstGeom prst="rect">
              <a:avLst/>
            </a:prstGeom>
            <a:noFill/>
            <a:ln>
              <a:noFill/>
            </a:ln>
          </p:spPr>
          <p:txBody>
            <a:bodyPr wrap="none" lIns="0" tIns="0" rIns="0" bIns="0" anchor="t" anchorCtr="0">
              <a:spAutoFit/>
            </a:bodyPr>
            <a:lstStyle/>
            <a:p>
              <a:pPr algn="l"/>
              <a:r>
                <a:rPr lang="en-US" sz="980" dirty="0">
                  <a:solidFill>
                    <a:srgbClr val="94A3B8"/>
                  </a:solidFill>
                  <a:latin typeface="+mn-lt"/>
                  <a:ea typeface="+mn-ea"/>
                  <a:cs typeface="+mn-cs"/>
                </a:rPr>
                <a:t>prior nonconvex</a:t>
              </a:r>
            </a:p>
          </p:txBody>
        </p:sp>
        <p:sp>
          <p:nvSpPr>
            <p:cNvPr id="30" name="TextBox 30"/>
            <p:cNvSpPr txBox="1"/>
            <p:nvPr/>
          </p:nvSpPr>
          <p:spPr>
            <a:xfrm>
              <a:off x="832104" y="5280660"/>
              <a:ext cx="33602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quadratic improvement over the Õ(d/ε⁴)</a:t>
              </a:r>
            </a:p>
          </p:txBody>
        </p:sp>
        <p:sp>
          <p:nvSpPr>
            <p:cNvPr id="31" name="TextBox 31"/>
            <p:cNvSpPr txBox="1"/>
            <p:nvPr/>
          </p:nvSpPr>
          <p:spPr>
            <a:xfrm>
              <a:off x="832104" y="5490210"/>
              <a:ext cx="389732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samples required by prior nonconvex approaches.</a:t>
              </a:r>
            </a:p>
          </p:txBody>
        </p:sp>
        <p:sp>
          <p:nvSpPr>
            <p:cNvPr id="32" name="Rectangle 32"/>
            <p:cNvSpPr/>
            <p:nvPr/>
          </p:nvSpPr>
          <p:spPr>
            <a:xfrm>
              <a:off x="838200" y="5791200"/>
              <a:ext cx="1428750" cy="247650"/>
            </a:xfrm>
            <a:prstGeom prst="roundRect">
              <a:avLst>
                <a:gd name="adj" fmla="val 50000"/>
              </a:avLst>
            </a:prstGeom>
            <a:solidFill>
              <a:srgbClr val="EEF4FF"/>
            </a:solidFill>
            <a:ln>
              <a:noFill/>
            </a:ln>
          </p:spPr>
        </p:sp>
        <p:sp>
          <p:nvSpPr>
            <p:cNvPr id="33" name="TextBox 33"/>
            <p:cNvSpPr txBox="1"/>
            <p:nvPr/>
          </p:nvSpPr>
          <p:spPr>
            <a:xfrm>
              <a:off x="1007378" y="5857399"/>
              <a:ext cx="1090393"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ε² instead of ε⁴</a:t>
              </a:r>
            </a:p>
          </p:txBody>
        </p:sp>
      </p:grpSp>
      <p:grpSp>
        <p:nvGrpSpPr>
          <p:cNvPr id="45" name="Group 45"/>
          <p:cNvGrpSpPr/>
          <p:nvPr/>
        </p:nvGrpSpPr>
        <p:grpSpPr>
          <a:xfrm>
            <a:off x="6191250" y="3905250"/>
            <a:ext cx="5429250" cy="2266950"/>
            <a:chOff x="6191250" y="3905250"/>
            <a:chExt cx="5429250" cy="2266950"/>
          </a:xfrm>
        </p:grpSpPr>
        <p:sp>
          <p:nvSpPr>
            <p:cNvPr id="35" name="Rectangle 35"/>
            <p:cNvSpPr/>
            <p:nvPr/>
          </p:nvSpPr>
          <p:spPr>
            <a:xfrm>
              <a:off x="6191250" y="3905250"/>
              <a:ext cx="5429250" cy="2266950"/>
            </a:xfrm>
            <a:prstGeom prst="roundRect">
              <a:avLst>
                <a:gd name="adj" fmla="val 5042"/>
              </a:avLst>
            </a:prstGeom>
            <a:solidFill>
              <a:schemeClr val="accent1"/>
            </a:solidFill>
            <a:ln>
              <a:noFill/>
            </a:ln>
            <a:effectLst>
              <a:outerShdw blurRad="76200" dist="19050" dir="5400000" algn="ctr" rotWithShape="0">
                <a:srgbClr val="12233B">
                  <a:alpha val="5250"/>
                </a:srgbClr>
              </a:outerShdw>
            </a:effectLst>
          </p:spPr>
        </p:sp>
        <p:sp>
          <p:nvSpPr>
            <p:cNvPr id="36" name="Rectangle 36"/>
            <p:cNvSpPr/>
            <p:nvPr/>
          </p:nvSpPr>
          <p:spPr>
            <a:xfrm>
              <a:off x="6191250" y="3905250"/>
              <a:ext cx="57150" cy="2266950"/>
            </a:xfrm>
            <a:prstGeom prst="roundRect">
              <a:avLst>
                <a:gd name="adj" fmla="val 50000"/>
              </a:avLst>
            </a:prstGeom>
            <a:solidFill>
              <a:schemeClr val="accent5"/>
            </a:solidFill>
            <a:ln>
              <a:noFill/>
            </a:ln>
          </p:spPr>
        </p:sp>
        <p:sp>
          <p:nvSpPr>
            <p:cNvPr id="37" name="TextBox 37"/>
            <p:cNvSpPr txBox="1"/>
            <p:nvPr/>
          </p:nvSpPr>
          <p:spPr>
            <a:xfrm>
              <a:off x="6453188" y="4170045"/>
              <a:ext cx="1773123"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STRUCTURAL SIMPLICITY</a:t>
              </a:r>
            </a:p>
          </p:txBody>
        </p:sp>
        <p:sp>
          <p:nvSpPr>
            <p:cNvPr id="38" name="TextBox 38"/>
            <p:cNvSpPr txBox="1"/>
            <p:nvPr/>
          </p:nvSpPr>
          <p:spPr>
            <a:xfrm>
              <a:off x="6438900" y="4608195"/>
              <a:ext cx="2022668"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Consolas"/>
                  <a:ea typeface="Consolas"/>
                  <a:cs typeface="Consolas"/>
                </a:rPr>
                <a:t>2 steps</a:t>
              </a:r>
            </a:p>
          </p:txBody>
        </p:sp>
        <p:sp>
          <p:nvSpPr>
            <p:cNvPr id="39" name="TextBox 39"/>
            <p:cNvSpPr txBox="1"/>
            <p:nvPr/>
          </p:nvSpPr>
          <p:spPr>
            <a:xfrm>
              <a:off x="8756142" y="4731068"/>
              <a:ext cx="1383308" cy="264033"/>
            </a:xfrm>
            <a:prstGeom prst="rect">
              <a:avLst/>
            </a:prstGeom>
            <a:noFill/>
            <a:ln>
              <a:noFill/>
            </a:ln>
          </p:spPr>
          <p:txBody>
            <a:bodyPr wrap="none" lIns="0" tIns="0" rIns="0" bIns="0" anchor="t" anchorCtr="0">
              <a:spAutoFit/>
            </a:bodyPr>
            <a:lstStyle/>
            <a:p>
              <a:pPr algn="l"/>
              <a:r>
                <a:rPr lang="en-US" sz="1350" dirty="0">
                  <a:solidFill>
                    <a:srgbClr val="8FB6FF"/>
                  </a:solidFill>
                  <a:latin typeface="Consolas"/>
                  <a:ea typeface="Consolas"/>
                  <a:cs typeface="Consolas"/>
                </a:rPr>
                <a:t>O(log(1/OPT))</a:t>
              </a:r>
            </a:p>
          </p:txBody>
        </p:sp>
        <p:sp>
          <p:nvSpPr>
            <p:cNvPr id="40" name="TextBox 40"/>
            <p:cNvSpPr txBox="1"/>
            <p:nvPr/>
          </p:nvSpPr>
          <p:spPr>
            <a:xfrm>
              <a:off x="8758047" y="4981099"/>
              <a:ext cx="1480899" cy="190690"/>
            </a:xfrm>
            <a:prstGeom prst="rect">
              <a:avLst/>
            </a:prstGeom>
            <a:noFill/>
            <a:ln>
              <a:noFill/>
            </a:ln>
          </p:spPr>
          <p:txBody>
            <a:bodyPr wrap="none" lIns="0" tIns="0" rIns="0" bIns="0" anchor="t" anchorCtr="0">
              <a:spAutoFit/>
            </a:bodyPr>
            <a:lstStyle/>
            <a:p>
              <a:pPr algn="l"/>
              <a:r>
                <a:rPr lang="en-US" sz="980" dirty="0">
                  <a:solidFill>
                    <a:srgbClr val="8FB6FF"/>
                  </a:solidFill>
                  <a:latin typeface="+mn-lt"/>
                  <a:ea typeface="+mn-ea"/>
                  <a:cs typeface="+mn-cs"/>
                </a:rPr>
                <a:t>prior — + binary search</a:t>
              </a:r>
            </a:p>
          </p:txBody>
        </p:sp>
        <p:sp>
          <p:nvSpPr>
            <p:cNvPr id="41" name="TextBox 41"/>
            <p:cNvSpPr txBox="1"/>
            <p:nvPr/>
          </p:nvSpPr>
          <p:spPr>
            <a:xfrm>
              <a:off x="6451854" y="5280660"/>
              <a:ext cx="3819629"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Prior order-OPT methods solved O(log(1/OPT))</a:t>
              </a:r>
            </a:p>
          </p:txBody>
        </p:sp>
        <p:sp>
          <p:nvSpPr>
            <p:cNvPr id="42" name="TextBox 42"/>
            <p:cNvSpPr txBox="1"/>
            <p:nvPr/>
          </p:nvSpPr>
          <p:spPr>
            <a:xfrm>
              <a:off x="6451854" y="5490210"/>
              <a:ext cx="403430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minimizations while guessing OPT by binary search.</a:t>
              </a:r>
            </a:p>
          </p:txBody>
        </p:sp>
        <p:sp>
          <p:nvSpPr>
            <p:cNvPr id="43" name="Rectangle 43"/>
            <p:cNvSpPr/>
            <p:nvPr/>
          </p:nvSpPr>
          <p:spPr>
            <a:xfrm>
              <a:off x="6457950" y="5791200"/>
              <a:ext cx="3143250" cy="247650"/>
            </a:xfrm>
            <a:prstGeom prst="roundRect">
              <a:avLst>
                <a:gd name="adj" fmla="val 50000"/>
              </a:avLst>
            </a:prstGeom>
            <a:solidFill>
              <a:srgbClr val="123A2C"/>
            </a:solidFill>
            <a:ln>
              <a:noFill/>
            </a:ln>
          </p:spPr>
        </p:sp>
        <p:sp>
          <p:nvSpPr>
            <p:cNvPr id="44" name="TextBox 44"/>
            <p:cNvSpPr txBox="1"/>
            <p:nvPr/>
          </p:nvSpPr>
          <p:spPr>
            <a:xfrm>
              <a:off x="6424670" y="5857399"/>
              <a:ext cx="3209810" cy="190690"/>
            </a:xfrm>
            <a:prstGeom prst="rect">
              <a:avLst/>
            </a:prstGeom>
            <a:noFill/>
            <a:ln>
              <a:noFill/>
            </a:ln>
          </p:spPr>
          <p:txBody>
            <a:bodyPr wrap="none" lIns="0" tIns="0" rIns="0" bIns="0" anchor="t" anchorCtr="0">
              <a:spAutoFit/>
            </a:bodyPr>
            <a:lstStyle/>
            <a:p>
              <a:pPr algn="ctr"/>
              <a:r>
                <a:rPr lang="en-US" sz="980" b="1" dirty="0">
                  <a:solidFill>
                    <a:srgbClr val="7FE0B6"/>
                  </a:solidFill>
                  <a:latin typeface="+mn-lt"/>
                  <a:ea typeface="+mn-ea"/>
                  <a:cs typeface="+mn-cs"/>
                </a:rPr>
                <a:t>just logistic regression + one perceptron phase</a:t>
              </a:r>
            </a:p>
          </p:txBody>
        </p:sp>
      </p:grpSp>
      <p:grpSp>
        <p:nvGrpSpPr>
          <p:cNvPr id="49" name="Group 49"/>
          <p:cNvGrpSpPr/>
          <p:nvPr/>
        </p:nvGrpSpPr>
        <p:grpSpPr>
          <a:xfrm>
            <a:off x="571500" y="6521291"/>
            <a:ext cx="11053762" cy="161925"/>
            <a:chOff x="571500" y="6521291"/>
            <a:chExt cx="11053762" cy="161925"/>
          </a:xfrm>
        </p:grpSpPr>
        <p:sp>
          <p:nvSpPr>
            <p:cNvPr id="46" name="Line 46"/>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47" name="TextBox 47"/>
            <p:cNvSpPr txBox="1"/>
            <p:nvPr/>
          </p:nvSpPr>
          <p:spPr>
            <a:xfrm>
              <a:off x="1062038" y="6521291"/>
              <a:ext cx="2858038"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a:t>
              </a:r>
            </a:p>
          </p:txBody>
        </p:sp>
        <p:sp>
          <p:nvSpPr>
            <p:cNvPr id="48" name="TextBox 48"/>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09</a:t>
              </a:r>
            </a:p>
          </p:txBody>
        </p:sp>
      </p:grpSp>
      <p:sp>
        <p:nvSpPr>
          <p:cNvPr id="50" name="cue_s09_c1_few_numbers_capture_impact_lower" title="cue_s09_c1_few_numbers_capture_impact_lower" descr="cue_s09_c1_few_numbers_capture_impact_lower A few numbers capture the impact. The lower bound gives a zero-one error of at least square-root OPT over sixty pi for the logistic minimizer, valid whenever OPT is at most one one-hundredth."/>
          <p:cNvSpPr/>
          <p:nvPr/>
        </p:nvSpPr>
        <p:spPr>
          <a:xfrm>
            <a:off x="571804" y="1428521"/>
            <a:ext cx="5429097"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9_c2_under_radial_lipschitzness_logistic" title="cue_s09_c2_under_radial_lipschitzness_logistic" descr="cue_s09_c2_under_radial_lipschitzness_logistic Under radial Lipschitzness, logistic regression reaches near-optimal order-OPT error. The two-phase algorithm achieves order OPT plus epsilon error for bounded distributions and order OPT times log one over OPT for sub-exponential ones."/>
          <p:cNvSpPr/>
          <p:nvPr/>
        </p:nvSpPr>
        <p:spPr>
          <a:xfrm>
            <a:off x="6191097" y="1428521"/>
            <a:ext cx="5429097"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3_does_sample_complexity_order_over" title="cue_s09_c3_does_sample_complexity_order_over" descr="cue_s09_c3_does_sample_complexity_order_over It does so with a sample complexity of order d over epsilon squared, a quadratic improvement over the d over epsilon to the fourth required by prior nonconvex methods."/>
          <p:cNvSpPr/>
          <p:nvPr/>
        </p:nvSpPr>
        <p:spPr>
          <a:xfrm>
            <a:off x="571804" y="3904945"/>
            <a:ext cx="5429097"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9_c4_structurally_whereas_earlier_algorit" title="cue_s09_c4_structurally_whereas_earlier_algorit" descr="cue_s09_c4_structurally_whereas_earlier_algorit And structurally, whereas earlier algorithms that hit order OPT error had to solve a logarithmic number of minimization problems while guessing OPT by binary search, this method needs only two convex steps."/>
          <p:cNvSpPr/>
          <p:nvPr/>
        </p:nvSpPr>
        <p:spPr>
          <a:xfrm>
            <a:off x="6191097" y="3904945"/>
            <a:ext cx="5429097"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975169" cy="656939"/>
            <a:chOff x="571500" y="495300"/>
            <a:chExt cx="8975169" cy="65693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24828"/>
              <a:ext cx="875952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Takeaway: half the answer, cheaply completed</a:t>
              </a:r>
            </a:p>
          </p:txBody>
        </p:sp>
        <p:sp>
          <p:nvSpPr>
            <p:cNvPr id="4" name="TextBox 4"/>
            <p:cNvSpPr txBox="1"/>
            <p:nvPr/>
          </p:nvSpPr>
          <p:spPr>
            <a:xfrm>
              <a:off x="795147" y="961549"/>
              <a:ext cx="378925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 · A TIGHT LIMIT AND A ONE-STEP FIX</a:t>
              </a:r>
            </a:p>
          </p:txBody>
        </p:sp>
      </p:grpSp>
      <p:grpSp>
        <p:nvGrpSpPr>
          <p:cNvPr id="20" name="Group 20"/>
          <p:cNvGrpSpPr/>
          <p:nvPr/>
        </p:nvGrpSpPr>
        <p:grpSpPr>
          <a:xfrm>
            <a:off x="571500" y="1428750"/>
            <a:ext cx="5429250" cy="2590800"/>
            <a:chOff x="571500" y="1428750"/>
            <a:chExt cx="5429250" cy="2590800"/>
          </a:xfrm>
        </p:grpSpPr>
        <p:sp>
          <p:nvSpPr>
            <p:cNvPr id="6" name="Rectangle 6"/>
            <p:cNvSpPr/>
            <p:nvPr/>
          </p:nvSpPr>
          <p:spPr>
            <a:xfrm>
              <a:off x="571500" y="1428750"/>
              <a:ext cx="5429250" cy="2590800"/>
            </a:xfrm>
            <a:prstGeom prst="roundRect">
              <a:avLst>
                <a:gd name="adj" fmla="val 4412"/>
              </a:avLst>
            </a:prstGeom>
            <a:solidFill>
              <a:schemeClr val="lt1"/>
            </a:solidFill>
            <a:ln w="14288">
              <a:solidFill>
                <a:schemeClr val="accent4"/>
              </a:solidFill>
            </a:ln>
            <a:effectLst>
              <a:outerShdw blurRad="76200" dist="19050" dir="5400000" algn="ctr" rotWithShape="0">
                <a:srgbClr val="12233B">
                  <a:alpha val="5250"/>
                </a:srgbClr>
              </a:outerShdw>
            </a:effectLst>
          </p:spPr>
        </p:sp>
        <p:sp>
          <p:nvSpPr>
            <p:cNvPr id="7" name="Rectangle 7"/>
            <p:cNvSpPr/>
            <p:nvPr/>
          </p:nvSpPr>
          <p:spPr>
            <a:xfrm>
              <a:off x="571500" y="1428750"/>
              <a:ext cx="5429250" cy="57150"/>
            </a:xfrm>
            <a:prstGeom prst="roundRect">
              <a:avLst>
                <a:gd name="adj" fmla="val 50000"/>
              </a:avLst>
            </a:prstGeom>
            <a:solidFill>
              <a:schemeClr val="accent3"/>
            </a:solidFill>
            <a:ln>
              <a:noFill/>
            </a:ln>
          </p:spPr>
        </p:sp>
        <p:sp>
          <p:nvSpPr>
            <p:cNvPr id="8" name="Ellipse 8"/>
            <p:cNvSpPr/>
            <p:nvPr/>
          </p:nvSpPr>
          <p:spPr>
            <a:xfrm>
              <a:off x="762000" y="1695450"/>
              <a:ext cx="342900" cy="342900"/>
            </a:xfrm>
            <a:prstGeom prst="ellipse">
              <a:avLst/>
            </a:prstGeom>
            <a:solidFill>
              <a:schemeClr val="accent3"/>
            </a:solidFill>
            <a:ln>
              <a:noFill/>
            </a:ln>
          </p:spPr>
        </p:sp>
        <p:sp>
          <p:nvSpPr>
            <p:cNvPr id="9" name="TextBox 9"/>
            <p:cNvSpPr txBox="1"/>
            <p:nvPr/>
          </p:nvSpPr>
          <p:spPr>
            <a:xfrm>
              <a:off x="871145" y="1778318"/>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0" name="TextBox 10"/>
            <p:cNvSpPr txBox="1"/>
            <p:nvPr/>
          </p:nvSpPr>
          <p:spPr>
            <a:xfrm>
              <a:off x="1214438" y="1731645"/>
              <a:ext cx="1144102"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HARD LIMIT</a:t>
              </a:r>
            </a:p>
          </p:txBody>
        </p:sp>
        <p:sp>
          <p:nvSpPr>
            <p:cNvPr id="11" name="TextBox 11"/>
            <p:cNvSpPr txBox="1"/>
            <p:nvPr/>
          </p:nvSpPr>
          <p:spPr>
            <a:xfrm>
              <a:off x="1212342" y="1873568"/>
              <a:ext cx="290039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j-lt"/>
                  <a:ea typeface="+mj-ea"/>
                  <a:cs typeface="+mj-cs"/>
                </a:rPr>
                <a:t>Logistic regression is capped</a:t>
              </a:r>
            </a:p>
          </p:txBody>
        </p:sp>
        <p:sp>
          <p:nvSpPr>
            <p:cNvPr id="12" name="TextBox 12"/>
            <p:cNvSpPr txBox="1"/>
            <p:nvPr/>
          </p:nvSpPr>
          <p:spPr>
            <a:xfrm>
              <a:off x="832104" y="2366010"/>
              <a:ext cx="330478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By itself, logistic regression cannot beat</a:t>
              </a:r>
            </a:p>
          </p:txBody>
        </p:sp>
        <p:sp>
          <p:nvSpPr>
            <p:cNvPr id="13" name="Rectangle 13"/>
            <p:cNvSpPr/>
            <p:nvPr/>
          </p:nvSpPr>
          <p:spPr>
            <a:xfrm>
              <a:off x="838200" y="2647950"/>
              <a:ext cx="1714500" cy="495300"/>
            </a:xfrm>
            <a:prstGeom prst="roundRect">
              <a:avLst>
                <a:gd name="adj" fmla="val 19231"/>
              </a:avLst>
            </a:prstGeom>
            <a:solidFill>
              <a:srgbClr val="FEF2F2"/>
            </a:solidFill>
            <a:ln w="11906">
              <a:solidFill>
                <a:srgbClr val="FCA5A5"/>
              </a:solidFill>
            </a:ln>
          </p:spPr>
        </p:sp>
        <p:sp>
          <p:nvSpPr>
            <p:cNvPr id="14" name="TextBox 14"/>
            <p:cNvSpPr txBox="1"/>
            <p:nvPr/>
          </p:nvSpPr>
          <p:spPr>
            <a:xfrm>
              <a:off x="1336060" y="2761298"/>
              <a:ext cx="718779" cy="381381"/>
            </a:xfrm>
            <a:prstGeom prst="rect">
              <a:avLst/>
            </a:prstGeom>
            <a:noFill/>
            <a:ln>
              <a:noFill/>
            </a:ln>
          </p:spPr>
          <p:txBody>
            <a:bodyPr wrap="none" lIns="0" tIns="0" rIns="0" bIns="0" anchor="t" anchorCtr="0">
              <a:spAutoFit/>
            </a:bodyPr>
            <a:lstStyle/>
            <a:p>
              <a:pPr algn="ctr"/>
              <a:r>
                <a:rPr lang="en-US" sz="1950" b="1" dirty="0">
                  <a:solidFill>
                    <a:schemeClr val="accent3"/>
                  </a:solidFill>
                  <a:latin typeface="Consolas"/>
                  <a:ea typeface="Consolas"/>
                  <a:cs typeface="Consolas"/>
                </a:rPr>
                <a:t>√OPT</a:t>
              </a:r>
            </a:p>
          </p:txBody>
        </p:sp>
        <p:sp>
          <p:nvSpPr>
            <p:cNvPr id="15" name="TextBox 15"/>
            <p:cNvSpPr txBox="1"/>
            <p:nvPr/>
          </p:nvSpPr>
          <p:spPr>
            <a:xfrm>
              <a:off x="2699004" y="2727960"/>
              <a:ext cx="176494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error for agnostically</a:t>
              </a:r>
            </a:p>
          </p:txBody>
        </p:sp>
        <p:sp>
          <p:nvSpPr>
            <p:cNvPr id="16" name="TextBox 16"/>
            <p:cNvSpPr txBox="1"/>
            <p:nvPr/>
          </p:nvSpPr>
          <p:spPr>
            <a:xfrm>
              <a:off x="2699004" y="2937510"/>
              <a:ext cx="16276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learning halfspaces.</a:t>
              </a:r>
            </a:p>
          </p:txBody>
        </p:sp>
        <p:sp>
          <p:nvSpPr>
            <p:cNvPr id="17" name="TextBox 17"/>
            <p:cNvSpPr txBox="1"/>
            <p:nvPr/>
          </p:nvSpPr>
          <p:spPr>
            <a:xfrm>
              <a:off x="832485" y="3364706"/>
              <a:ext cx="32506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paper proves this rate is exactly tight,</a:t>
              </a:r>
            </a:p>
          </p:txBody>
        </p:sp>
        <p:sp>
          <p:nvSpPr>
            <p:cNvPr id="18" name="TextBox 18"/>
            <p:cNvSpPr txBox="1"/>
            <p:nvPr/>
          </p:nvSpPr>
          <p:spPr>
            <a:xfrm>
              <a:off x="832485" y="3574256"/>
              <a:ext cx="30193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constructing a well-behaved distribution</a:t>
              </a:r>
            </a:p>
          </p:txBody>
        </p:sp>
        <p:sp>
          <p:nvSpPr>
            <p:cNvPr id="19" name="TextBox 19"/>
            <p:cNvSpPr txBox="1"/>
            <p:nvPr/>
          </p:nvSpPr>
          <p:spPr>
            <a:xfrm>
              <a:off x="832485" y="3783806"/>
              <a:ext cx="214694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forces the √OPT error.</a:t>
              </a:r>
            </a:p>
          </p:txBody>
        </p:sp>
      </p:grpSp>
      <p:grpSp>
        <p:nvGrpSpPr>
          <p:cNvPr id="34" name="Group 34"/>
          <p:cNvGrpSpPr/>
          <p:nvPr/>
        </p:nvGrpSpPr>
        <p:grpSpPr>
          <a:xfrm>
            <a:off x="6191250" y="1428750"/>
            <a:ext cx="5429250" cy="2590800"/>
            <a:chOff x="6191250" y="1428750"/>
            <a:chExt cx="5429250" cy="2590800"/>
          </a:xfrm>
        </p:grpSpPr>
        <p:sp>
          <p:nvSpPr>
            <p:cNvPr id="21" name="Rectangle 21"/>
            <p:cNvSpPr/>
            <p:nvPr/>
          </p:nvSpPr>
          <p:spPr>
            <a:xfrm>
              <a:off x="6191250" y="1428750"/>
              <a:ext cx="5429250" cy="2590800"/>
            </a:xfrm>
            <a:prstGeom prst="roundRect">
              <a:avLst>
                <a:gd name="adj" fmla="val 4412"/>
              </a:avLst>
            </a:prstGeom>
            <a:solidFill>
              <a:schemeClr val="accent1"/>
            </a:solidFill>
            <a:ln>
              <a:noFill/>
            </a:ln>
            <a:effectLst>
              <a:outerShdw blurRad="76200" dist="19050" dir="5400000" algn="ctr" rotWithShape="0">
                <a:srgbClr val="12233B">
                  <a:alpha val="5250"/>
                </a:srgbClr>
              </a:outerShdw>
            </a:effectLst>
          </p:spPr>
        </p:sp>
        <p:sp>
          <p:nvSpPr>
            <p:cNvPr id="22" name="Rectangle 22"/>
            <p:cNvSpPr/>
            <p:nvPr/>
          </p:nvSpPr>
          <p:spPr>
            <a:xfrm>
              <a:off x="6191250" y="1428750"/>
              <a:ext cx="5429250" cy="57150"/>
            </a:xfrm>
            <a:prstGeom prst="roundRect">
              <a:avLst>
                <a:gd name="adj" fmla="val 50000"/>
              </a:avLst>
            </a:prstGeom>
            <a:solidFill>
              <a:schemeClr val="accent5"/>
            </a:solidFill>
            <a:ln>
              <a:noFill/>
            </a:ln>
          </p:spPr>
        </p:sp>
        <p:sp>
          <p:nvSpPr>
            <p:cNvPr id="23" name="Ellipse 23"/>
            <p:cNvSpPr/>
            <p:nvPr/>
          </p:nvSpPr>
          <p:spPr>
            <a:xfrm>
              <a:off x="6381750" y="1695450"/>
              <a:ext cx="342900" cy="342900"/>
            </a:xfrm>
            <a:prstGeom prst="ellipse">
              <a:avLst/>
            </a:prstGeom>
            <a:solidFill>
              <a:schemeClr val="accent5"/>
            </a:solidFill>
            <a:ln>
              <a:noFill/>
            </a:ln>
          </p:spPr>
        </p:sp>
        <p:sp>
          <p:nvSpPr>
            <p:cNvPr id="24" name="TextBox 24"/>
            <p:cNvSpPr txBox="1"/>
            <p:nvPr/>
          </p:nvSpPr>
          <p:spPr>
            <a:xfrm>
              <a:off x="6490895" y="1778318"/>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5" name="TextBox 25"/>
            <p:cNvSpPr txBox="1"/>
            <p:nvPr/>
          </p:nvSpPr>
          <p:spPr>
            <a:xfrm>
              <a:off x="6834188" y="1731645"/>
              <a:ext cx="1060963" cy="176212"/>
            </a:xfrm>
            <a:prstGeom prst="rect">
              <a:avLst/>
            </a:prstGeom>
            <a:noFill/>
            <a:ln>
              <a:noFill/>
            </a:ln>
          </p:spPr>
          <p:txBody>
            <a:bodyPr wrap="none" lIns="0" tIns="0" rIns="0" bIns="0" anchor="t" anchorCtr="0">
              <a:spAutoFit/>
            </a:bodyPr>
            <a:lstStyle/>
            <a:p>
              <a:pPr algn="l"/>
              <a:r>
                <a:rPr lang="en-US" sz="900" b="1" spc="112" dirty="0">
                  <a:solidFill>
                    <a:srgbClr val="7FE0B6"/>
                  </a:solidFill>
                  <a:latin typeface="+mn-lt"/>
                  <a:ea typeface="+mn-ea"/>
                  <a:cs typeface="+mn-cs"/>
                </a:rPr>
                <a:t>THE CHEAP FIX</a:t>
              </a:r>
            </a:p>
          </p:txBody>
        </p:sp>
        <p:sp>
          <p:nvSpPr>
            <p:cNvPr id="26" name="TextBox 26"/>
            <p:cNvSpPr txBox="1"/>
            <p:nvPr/>
          </p:nvSpPr>
          <p:spPr>
            <a:xfrm>
              <a:off x="6832092" y="1873568"/>
              <a:ext cx="2257997"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j-lt"/>
                  <a:ea typeface="+mj-ea"/>
                  <a:cs typeface="+mj-cs"/>
                </a:rPr>
                <a:t>One extra convex step</a:t>
              </a:r>
            </a:p>
          </p:txBody>
        </p:sp>
        <p:sp>
          <p:nvSpPr>
            <p:cNvPr id="27" name="TextBox 27"/>
            <p:cNvSpPr txBox="1"/>
            <p:nvPr/>
          </p:nvSpPr>
          <p:spPr>
            <a:xfrm>
              <a:off x="6451854" y="2308860"/>
              <a:ext cx="2876916"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Append one perceptron-style convex</a:t>
              </a:r>
            </a:p>
          </p:txBody>
        </p:sp>
        <p:sp>
          <p:nvSpPr>
            <p:cNvPr id="28" name="TextBox 28"/>
            <p:cNvSpPr txBox="1"/>
            <p:nvPr/>
          </p:nvSpPr>
          <p:spPr>
            <a:xfrm>
              <a:off x="6451854" y="2518410"/>
              <a:ext cx="3049219"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minimization — warm-started from the</a:t>
              </a:r>
            </a:p>
          </p:txBody>
        </p:sp>
        <p:sp>
          <p:nvSpPr>
            <p:cNvPr id="29" name="TextBox 29"/>
            <p:cNvSpPr txBox="1"/>
            <p:nvPr/>
          </p:nvSpPr>
          <p:spPr>
            <a:xfrm>
              <a:off x="6451854" y="2727960"/>
              <a:ext cx="306537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logistic solution, on a bounded domain.</a:t>
              </a:r>
            </a:p>
          </p:txBody>
        </p:sp>
        <p:sp>
          <p:nvSpPr>
            <p:cNvPr id="30" name="Rectangle 30"/>
            <p:cNvSpPr/>
            <p:nvPr/>
          </p:nvSpPr>
          <p:spPr>
            <a:xfrm>
              <a:off x="6457950" y="3048000"/>
              <a:ext cx="4895850" cy="628650"/>
            </a:xfrm>
            <a:prstGeom prst="roundRect">
              <a:avLst>
                <a:gd name="adj" fmla="val 15152"/>
              </a:avLst>
            </a:prstGeom>
            <a:solidFill>
              <a:srgbClr val="123A2C"/>
            </a:solidFill>
            <a:ln w="11906">
              <a:solidFill>
                <a:schemeClr val="accent5"/>
              </a:solidFill>
            </a:ln>
          </p:spPr>
        </p:sp>
        <p:sp>
          <p:nvSpPr>
            <p:cNvPr id="31" name="TextBox 31"/>
            <p:cNvSpPr txBox="1"/>
            <p:nvPr/>
          </p:nvSpPr>
          <p:spPr>
            <a:xfrm>
              <a:off x="6605016" y="3201352"/>
              <a:ext cx="1697505"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Boosts the guarantee to</a:t>
              </a:r>
            </a:p>
          </p:txBody>
        </p:sp>
        <p:sp>
          <p:nvSpPr>
            <p:cNvPr id="32" name="TextBox 32"/>
            <p:cNvSpPr txBox="1"/>
            <p:nvPr/>
          </p:nvSpPr>
          <p:spPr>
            <a:xfrm>
              <a:off x="8373618" y="3174682"/>
              <a:ext cx="87927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Consolas"/>
                  <a:ea typeface="Consolas"/>
                  <a:cs typeface="Consolas"/>
                </a:rPr>
                <a:t>Õ(OPT)</a:t>
              </a:r>
            </a:p>
          </p:txBody>
        </p:sp>
        <p:sp>
          <p:nvSpPr>
            <p:cNvPr id="33" name="TextBox 33"/>
            <p:cNvSpPr txBox="1"/>
            <p:nvPr/>
          </p:nvSpPr>
          <p:spPr>
            <a:xfrm>
              <a:off x="6605016" y="3449002"/>
              <a:ext cx="3608051"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for every well-behaved distribution — near-optimal.</a:t>
              </a:r>
            </a:p>
          </p:txBody>
        </p:sp>
      </p:grpSp>
      <p:grpSp>
        <p:nvGrpSpPr>
          <p:cNvPr id="39" name="Group 39"/>
          <p:cNvGrpSpPr/>
          <p:nvPr/>
        </p:nvGrpSpPr>
        <p:grpSpPr>
          <a:xfrm>
            <a:off x="571500" y="4152900"/>
            <a:ext cx="11082286" cy="628650"/>
            <a:chOff x="571500" y="4152900"/>
            <a:chExt cx="11082286" cy="628650"/>
          </a:xfrm>
        </p:grpSpPr>
        <p:sp>
          <p:nvSpPr>
            <p:cNvPr id="35" name="Rectangle 35"/>
            <p:cNvSpPr/>
            <p:nvPr/>
          </p:nvSpPr>
          <p:spPr>
            <a:xfrm>
              <a:off x="571500" y="4152900"/>
              <a:ext cx="11049000" cy="628650"/>
            </a:xfrm>
            <a:prstGeom prst="roundRect">
              <a:avLst>
                <a:gd name="adj" fmla="val 15152"/>
              </a:avLst>
            </a:prstGeom>
            <a:solidFill>
              <a:srgbClr val="EEF4FF"/>
            </a:solidFill>
            <a:ln w="14288">
              <a:solidFill>
                <a:srgbClr val="BFD4FE"/>
              </a:solidFill>
            </a:ln>
          </p:spPr>
        </p:sp>
        <p:sp>
          <p:nvSpPr>
            <p:cNvPr id="36" name="Rectangle 36"/>
            <p:cNvSpPr/>
            <p:nvPr/>
          </p:nvSpPr>
          <p:spPr>
            <a:xfrm>
              <a:off x="571500" y="4152900"/>
              <a:ext cx="57150" cy="628650"/>
            </a:xfrm>
            <a:prstGeom prst="roundRect">
              <a:avLst>
                <a:gd name="adj" fmla="val 50000"/>
              </a:avLst>
            </a:prstGeom>
            <a:solidFill>
              <a:schemeClr val="accent2"/>
            </a:solidFill>
            <a:ln>
              <a:noFill/>
            </a:ln>
          </p:spPr>
        </p:sp>
        <p:sp>
          <p:nvSpPr>
            <p:cNvPr id="37" name="TextBox 37"/>
            <p:cNvSpPr txBox="1"/>
            <p:nvPr/>
          </p:nvSpPr>
          <p:spPr>
            <a:xfrm>
              <a:off x="833438" y="4322445"/>
              <a:ext cx="114833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ALONG THE WAY</a:t>
              </a:r>
            </a:p>
          </p:txBody>
        </p:sp>
        <p:sp>
          <p:nvSpPr>
            <p:cNvPr id="38" name="TextBox 38"/>
            <p:cNvSpPr txBox="1"/>
            <p:nvPr/>
          </p:nvSpPr>
          <p:spPr>
            <a:xfrm>
              <a:off x="832104" y="4518660"/>
              <a:ext cx="108216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Radial Lipschitzness of the feature density is identified as the natural condition under which logistic regression alone already succeeds.</a:t>
              </a:r>
            </a:p>
          </p:txBody>
        </p:sp>
      </p:grpSp>
      <p:grpSp>
        <p:nvGrpSpPr>
          <p:cNvPr id="45" name="Group 45"/>
          <p:cNvGrpSpPr/>
          <p:nvPr/>
        </p:nvGrpSpPr>
        <p:grpSpPr>
          <a:xfrm>
            <a:off x="571500" y="4933950"/>
            <a:ext cx="11049000" cy="1333500"/>
            <a:chOff x="571500" y="4933950"/>
            <a:chExt cx="11049000" cy="1333500"/>
          </a:xfrm>
        </p:grpSpPr>
        <p:sp>
          <p:nvSpPr>
            <p:cNvPr id="40" name="Rectangle 40"/>
            <p:cNvSpPr/>
            <p:nvPr/>
          </p:nvSpPr>
          <p:spPr>
            <a:xfrm>
              <a:off x="571500" y="4933950"/>
              <a:ext cx="11049000" cy="1333500"/>
            </a:xfrm>
            <a:prstGeom prst="roundRect">
              <a:avLst>
                <a:gd name="adj" fmla="val 8571"/>
              </a:avLst>
            </a:prstGeom>
            <a:solidFill>
              <a:schemeClr val="accent1"/>
            </a:solidFill>
            <a:ln>
              <a:noFill/>
            </a:ln>
            <a:effectLst>
              <a:outerShdw blurRad="76200" dist="19050" dir="5400000" algn="ctr" rotWithShape="0">
                <a:srgbClr val="12233B">
                  <a:alpha val="5250"/>
                </a:srgbClr>
              </a:outerShdw>
            </a:effectLst>
          </p:spPr>
        </p:sp>
        <p:sp>
          <p:nvSpPr>
            <p:cNvPr id="41" name="Rectangle 41"/>
            <p:cNvSpPr/>
            <p:nvPr/>
          </p:nvSpPr>
          <p:spPr>
            <a:xfrm>
              <a:off x="571500" y="4933950"/>
              <a:ext cx="11049000" cy="57150"/>
            </a:xfrm>
            <a:prstGeom prst="roundRect">
              <a:avLst>
                <a:gd name="adj" fmla="val 50000"/>
              </a:avLst>
            </a:prstGeom>
            <a:solidFill>
              <a:schemeClr val="accent2"/>
            </a:solidFill>
            <a:ln>
              <a:noFill/>
            </a:ln>
          </p:spPr>
        </p:sp>
        <p:sp>
          <p:nvSpPr>
            <p:cNvPr id="42" name="TextBox 42"/>
            <p:cNvSpPr txBox="1"/>
            <p:nvPr/>
          </p:nvSpPr>
          <p:spPr>
            <a:xfrm>
              <a:off x="871538" y="5198745"/>
              <a:ext cx="709986" cy="176212"/>
            </a:xfrm>
            <a:prstGeom prst="rect">
              <a:avLst/>
            </a:prstGeom>
            <a:noFill/>
            <a:ln>
              <a:noFill/>
            </a:ln>
          </p:spPr>
          <p:txBody>
            <a:bodyPr wrap="none" lIns="0" tIns="0" rIns="0" bIns="0" anchor="t" anchorCtr="0">
              <a:spAutoFit/>
            </a:bodyPr>
            <a:lstStyle/>
            <a:p>
              <a:pPr algn="l"/>
              <a:r>
                <a:rPr lang="en-US" sz="900" b="1" spc="150" dirty="0">
                  <a:solidFill>
                    <a:srgbClr val="7FE0B6"/>
                  </a:solidFill>
                  <a:latin typeface="+mn-lt"/>
                  <a:ea typeface="+mn-ea"/>
                  <a:cs typeface="+mn-cs"/>
                </a:rPr>
                <a:t>IN SHORT</a:t>
              </a:r>
            </a:p>
          </p:txBody>
        </p:sp>
        <p:sp>
          <p:nvSpPr>
            <p:cNvPr id="43" name="TextBox 43"/>
            <p:cNvSpPr txBox="1"/>
            <p:nvPr/>
          </p:nvSpPr>
          <p:spPr>
            <a:xfrm>
              <a:off x="866013" y="5458301"/>
              <a:ext cx="9124481"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 xml:space="preserve">Logistic regression is </a:t>
              </a:r>
              <a:r>
                <a:rPr lang="en-US" sz="2020" b="1" dirty="0">
                  <a:solidFill>
                    <a:srgbClr val="7FE0B6"/>
                  </a:solidFill>
                  <a:latin typeface="+mj-lt"/>
                  <a:ea typeface="+mj-ea"/>
                  <a:cs typeface="+mj-cs"/>
                </a:rPr>
                <a:t>half the answer</a:t>
              </a:r>
              <a:r>
                <a:rPr lang="en-US" sz="2020" b="1" dirty="0">
                  <a:solidFill>
                    <a:srgbClr val="FFFFFF"/>
                  </a:solidFill>
                  <a:latin typeface="+mj-lt"/>
                  <a:ea typeface="+mj-ea"/>
                  <a:cs typeface="+mj-cs"/>
                </a:rPr>
                <a:t xml:space="preserve"> — a single extra convex</a:t>
              </a:r>
            </a:p>
          </p:txBody>
        </p:sp>
        <p:sp>
          <p:nvSpPr>
            <p:cNvPr id="44" name="TextBox 44"/>
            <p:cNvSpPr txBox="1"/>
            <p:nvPr/>
          </p:nvSpPr>
          <p:spPr>
            <a:xfrm>
              <a:off x="866013" y="5782151"/>
              <a:ext cx="9885871"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 xml:space="preserve">step </a:t>
              </a:r>
              <a:r>
                <a:rPr lang="en-US" sz="2020" b="1" dirty="0">
                  <a:solidFill>
                    <a:srgbClr val="7FE0B6"/>
                  </a:solidFill>
                  <a:latin typeface="+mj-lt"/>
                  <a:ea typeface="+mj-ea"/>
                  <a:cs typeface="+mj-cs"/>
                </a:rPr>
                <a:t>completes it</a:t>
              </a:r>
              <a:r>
                <a:rPr lang="en-US" sz="2020" b="1" dirty="0">
                  <a:solidFill>
                    <a:srgbClr val="FFFFFF"/>
                  </a:solidFill>
                  <a:latin typeface="+mj-lt"/>
                  <a:ea typeface="+mj-ea"/>
                  <a:cs typeface="+mj-cs"/>
                </a:rPr>
                <a:t>, more simply and with better sample complexity.</a:t>
              </a:r>
            </a:p>
          </p:txBody>
        </p:sp>
      </p:grpSp>
      <p:grpSp>
        <p:nvGrpSpPr>
          <p:cNvPr id="49" name="Group 49"/>
          <p:cNvGrpSpPr/>
          <p:nvPr/>
        </p:nvGrpSpPr>
        <p:grpSpPr>
          <a:xfrm>
            <a:off x="571500" y="6521291"/>
            <a:ext cx="11053762" cy="161925"/>
            <a:chOff x="571500" y="6521291"/>
            <a:chExt cx="11053762" cy="161925"/>
          </a:xfrm>
        </p:grpSpPr>
        <p:sp>
          <p:nvSpPr>
            <p:cNvPr id="46" name="Line 46"/>
            <p:cNvSpPr/>
            <p:nvPr/>
          </p:nvSpPr>
          <p:spPr>
            <a:xfrm>
              <a:off x="571500" y="6572250"/>
              <a:ext cx="419100" cy="9525"/>
            </a:xfrm>
            <a:custGeom>
              <a:avLst/>
              <a:gdLst/>
              <a:ahLst/>
              <a:cxnLst/>
              <a:rect l="l" t="t" r="r" b="b"/>
              <a:pathLst>
                <a:path w="419100" h="9525">
                  <a:moveTo>
                    <a:pt x="0" y="0"/>
                  </a:moveTo>
                  <a:lnTo>
                    <a:pt x="419100" y="0"/>
                  </a:lnTo>
                </a:path>
              </a:pathLst>
            </a:custGeom>
            <a:noFill/>
            <a:ln w="9525">
              <a:solidFill>
                <a:srgbClr val="A0AEC0"/>
              </a:solidFill>
            </a:ln>
          </p:spPr>
        </p:sp>
        <p:sp>
          <p:nvSpPr>
            <p:cNvPr id="47" name="TextBox 47"/>
            <p:cNvSpPr txBox="1"/>
            <p:nvPr/>
          </p:nvSpPr>
          <p:spPr>
            <a:xfrm>
              <a:off x="1062038" y="6521291"/>
              <a:ext cx="4597922" cy="161925"/>
            </a:xfrm>
            <a:prstGeom prst="rect">
              <a:avLst/>
            </a:prstGeom>
            <a:noFill/>
            <a:ln>
              <a:noFill/>
            </a:ln>
          </p:spPr>
          <p:txBody>
            <a:bodyPr wrap="none" lIns="0" tIns="0" rIns="0" bIns="0" anchor="t" anchorCtr="0">
              <a:spAutoFit/>
            </a:bodyPr>
            <a:lstStyle/>
            <a:p>
              <a:pPr algn="l"/>
              <a:r>
                <a:rPr lang="en-US" sz="820" dirty="0">
                  <a:solidFill>
                    <a:srgbClr val="A0AEC0"/>
                  </a:solidFill>
                  <a:latin typeface="+mn-lt"/>
                  <a:ea typeface="+mn-ea"/>
                  <a:cs typeface="+mn-cs"/>
                </a:rPr>
                <a:t>Agnostic Learnability of Halfspaces via Logistic Loss · ICML 2022 · arXiv:2201.13419</a:t>
              </a:r>
            </a:p>
          </p:txBody>
        </p:sp>
        <p:sp>
          <p:nvSpPr>
            <p:cNvPr id="48" name="TextBox 48"/>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rgbClr val="A0AEC0"/>
                  </a:solidFill>
                  <a:latin typeface="+mn-lt"/>
                  <a:ea typeface="+mn-ea"/>
                  <a:cs typeface="+mn-cs"/>
                </a:rPr>
                <a:t>10</a:t>
              </a:r>
            </a:p>
          </p:txBody>
        </p:sp>
      </p:grpSp>
      <p:sp>
        <p:nvSpPr>
          <p:cNvPr id="50" name="cue_s10_c1_lasting_message_twofold_first_logist" title="cue_s10_c1_lasting_message_twofold_first_logist" descr="cue_s10_c1_lasting_message_twofold_first_logist The lasting message is twofold. First, logistic regression by itself cannot beat square-root OPT error for agnostically learning halfspaces, and the paper proves this rate is exactly tight by constructing a distribution that forces it."/>
          <p:cNvSpPr/>
          <p:nvPr/>
        </p:nvSpPr>
        <p:spPr>
          <a:xfrm>
            <a:off x="571804" y="1428521"/>
            <a:ext cx="5429097" cy="25909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10_c2_second_fix_remarkably_cheap_appendin" title="cue_s10_c2_second_fix_remarkably_cheap_appendin" descr="cue_s10_c2_second_fix_remarkably_cheap_appendin Second, the fix is remarkably cheap: appending one perceptron-style convex minimization, warm-started from the logistic solution and confined to a bounded domain, provably boosts the guarantee to near-optimal order-OPT error for every well-behaved distribution"/>
          <p:cNvSpPr/>
          <p:nvPr/>
        </p:nvSpPr>
        <p:spPr>
          <a:xfrm>
            <a:off x="6191097" y="1428521"/>
            <a:ext cx="5429097" cy="25909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10_c3_along_way_also_identifies_radial" title="cue_s10_c3_along_way_also_identifies_radial" descr="cue_s10_c3_along_way_also_identifies_radial Along the way the paper also identifies radial Lipschitzness of the feature density as the natural condition under which logistic regression alone already succeeds."/>
          <p:cNvSpPr/>
          <p:nvPr/>
        </p:nvSpPr>
        <p:spPr>
          <a:xfrm>
            <a:off x="571804" y="4153204"/>
            <a:ext cx="11082528"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10_c4_short_passerby_remember_logistic_reg" title="cue_s10_c4_short_passerby_remember_logistic_reg" descr="cue_s10_c4_short_passerby_remember_logistic_reg In short, a passerby can remember that logistic regression is half the answer, and a single extra convex step completes it, more simply and with better sample complexity than any prior method."/>
          <p:cNvSpPr/>
          <p:nvPr/>
        </p:nvSpPr>
        <p:spPr>
          <a:xfrm>
            <a:off x="571804" y="4933645"/>
            <a:ext cx="110483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A202C"/>
      </a:dk1>
      <a:lt1>
        <a:srgbClr val="FFFFFF"/>
      </a:lt1>
      <a:dk2>
        <a:srgbClr val="55606E"/>
      </a:dk2>
      <a:lt2>
        <a:srgbClr val="F4F6FA"/>
      </a:lt2>
      <a:accent1>
        <a:srgbClr val="12233B"/>
      </a:accent1>
      <a:accent2>
        <a:srgbClr val="2563EB"/>
      </a:accent2>
      <a:accent3>
        <a:srgbClr val="DC2626"/>
      </a:accent3>
      <a:accent4>
        <a:srgbClr val="E2E8F0"/>
      </a:accent4>
      <a:accent5>
        <a:srgbClr val="059669"/>
      </a:accent5>
      <a:accent6>
        <a:srgbClr val="DCE3EC"/>
      </a:accent6>
      <a:hlink>
        <a:srgbClr val="2563EB"/>
      </a:hlink>
      <a:folHlink>
        <a:srgbClr val="DC2626"/>
      </a:folHlink>
    </a:clrScheme>
    <a:fontScheme name="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2026-07-14T23:32:17Z</dcterms:created>
  <dcterms:modified xsi:type="dcterms:W3CDTF">2026-07-14T23:32:17Z</dcterms:modified>
  <cp:category/>
  <cp:contentStatus/>
</cp:coreProperties>
</file>
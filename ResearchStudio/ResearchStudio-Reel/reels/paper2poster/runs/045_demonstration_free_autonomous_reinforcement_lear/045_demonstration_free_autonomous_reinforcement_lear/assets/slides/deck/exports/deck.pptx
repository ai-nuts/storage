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95911"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ICML 2023</a:t>
            </a:r>
          </a:p>
        </p:txBody>
      </p:sp>
      <p:sp>
        <p:nvSpPr>
          <p:cNvPr id="3" name="TextBox 3"/>
          <p:cNvSpPr txBox="1"/>
          <p:nvPr/>
        </p:nvSpPr>
        <p:spPr>
          <a:xfrm>
            <a:off x="8859444" y="572452"/>
            <a:ext cx="272829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Seoul National University · AIIS · ASRI</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3598" y="1164908"/>
            <a:ext cx="7118896"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mn-lt"/>
                <a:ea typeface="+mn-ea"/>
                <a:cs typeface="+mn-cs"/>
              </a:rPr>
              <a:t>Demonstration-free Autonomous</a:t>
            </a:r>
          </a:p>
        </p:txBody>
      </p:sp>
      <p:sp>
        <p:nvSpPr>
          <p:cNvPr id="6" name="TextBox 6"/>
          <p:cNvSpPr txBox="1"/>
          <p:nvPr/>
        </p:nvSpPr>
        <p:spPr>
          <a:xfrm>
            <a:off x="593598" y="1603058"/>
            <a:ext cx="5202430"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mn-lt"/>
                <a:ea typeface="+mn-ea"/>
                <a:cs typeface="+mn-cs"/>
              </a:rPr>
              <a:t>Reinforcement Learning</a:t>
            </a:r>
          </a:p>
        </p:txBody>
      </p:sp>
      <p:sp>
        <p:nvSpPr>
          <p:cNvPr id="7" name="TextBox 7"/>
          <p:cNvSpPr txBox="1"/>
          <p:nvPr/>
        </p:nvSpPr>
        <p:spPr>
          <a:xfrm>
            <a:off x="601218" y="2145982"/>
            <a:ext cx="5518457"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via an Implicit and Bidirectional Curriculum (IBC)</a:t>
            </a:r>
          </a:p>
        </p:txBody>
      </p:sp>
      <p:sp>
        <p:nvSpPr>
          <p:cNvPr id="8" name="TextBox 8"/>
          <p:cNvSpPr txBox="1"/>
          <p:nvPr/>
        </p:nvSpPr>
        <p:spPr>
          <a:xfrm>
            <a:off x="603694" y="2522458"/>
            <a:ext cx="476763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Jigang Kim · Daesol Cho · H. Jin Kim — Seoul National University</a:t>
            </a:r>
          </a:p>
        </p:txBody>
      </p:sp>
      <p:grpSp>
        <p:nvGrpSpPr>
          <p:cNvPr id="15" name="Group 15"/>
          <p:cNvGrpSpPr/>
          <p:nvPr/>
        </p:nvGrpSpPr>
        <p:grpSpPr>
          <a:xfrm>
            <a:off x="609600" y="2971800"/>
            <a:ext cx="5334000" cy="1123950"/>
            <a:chOff x="609600" y="2971800"/>
            <a:chExt cx="5334000" cy="1123950"/>
          </a:xfrm>
        </p:grpSpPr>
        <p:sp>
          <p:nvSpPr>
            <p:cNvPr id="9" name="Rectangle 9"/>
            <p:cNvSpPr/>
            <p:nvPr/>
          </p:nvSpPr>
          <p:spPr>
            <a:xfrm>
              <a:off x="609600" y="2971800"/>
              <a:ext cx="5334000" cy="1123950"/>
            </a:xfrm>
            <a:prstGeom prst="roundRect">
              <a:avLst>
                <a:gd name="adj" fmla="val 11864"/>
              </a:avLst>
            </a:prstGeom>
            <a:solidFill>
              <a:schemeClr val="accent5"/>
            </a:solidFill>
            <a:ln w="14288">
              <a:solidFill>
                <a:srgbClr val="26455F"/>
              </a:solidFill>
            </a:ln>
          </p:spPr>
        </p:sp>
        <p:sp>
          <p:nvSpPr>
            <p:cNvPr id="10" name="Rectangle 10"/>
            <p:cNvSpPr/>
            <p:nvPr/>
          </p:nvSpPr>
          <p:spPr>
            <a:xfrm>
              <a:off x="609600" y="2971800"/>
              <a:ext cx="57150" cy="1123950"/>
            </a:xfrm>
            <a:prstGeom prst="roundRect">
              <a:avLst>
                <a:gd name="adj" fmla="val 50000"/>
              </a:avLst>
            </a:prstGeom>
            <a:solidFill>
              <a:schemeClr val="accent2"/>
            </a:solidFill>
            <a:ln>
              <a:noFill/>
            </a:ln>
          </p:spPr>
        </p:sp>
        <p:sp>
          <p:nvSpPr>
            <p:cNvPr id="11" name="TextBox 11"/>
            <p:cNvSpPr txBox="1"/>
            <p:nvPr/>
          </p:nvSpPr>
          <p:spPr>
            <a:xfrm>
              <a:off x="869442" y="3168968"/>
              <a:ext cx="3031793"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RL quietly assumes cheap resets</a:t>
              </a:r>
            </a:p>
          </p:txBody>
        </p:sp>
        <p:sp>
          <p:nvSpPr>
            <p:cNvPr id="12" name="TextBox 12"/>
            <p:cNvSpPr txBox="1"/>
            <p:nvPr/>
          </p:nvSpPr>
          <p:spPr>
            <a:xfrm>
              <a:off x="871156" y="3453051"/>
              <a:ext cx="425007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Reinforcement learning has mastered complex skills, but almost</a:t>
              </a:r>
            </a:p>
          </p:txBody>
        </p:sp>
        <p:sp>
          <p:nvSpPr>
            <p:cNvPr id="13" name="TextBox 13"/>
            <p:cNvSpPr txBox="1"/>
            <p:nvPr/>
          </p:nvSpPr>
          <p:spPr>
            <a:xfrm>
              <a:off x="871156" y="3643551"/>
              <a:ext cx="441559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always by assuming the environment resets to a fixed initial state</a:t>
              </a:r>
            </a:p>
          </p:txBody>
        </p:sp>
        <p:sp>
          <p:nvSpPr>
            <p:cNvPr id="14" name="TextBox 14"/>
            <p:cNvSpPr txBox="1"/>
            <p:nvPr/>
          </p:nvSpPr>
          <p:spPr>
            <a:xfrm>
              <a:off x="871156" y="3834051"/>
              <a:ext cx="140394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after every episode.</a:t>
              </a:r>
            </a:p>
          </p:txBody>
        </p:sp>
      </p:grpSp>
      <p:grpSp>
        <p:nvGrpSpPr>
          <p:cNvPr id="21" name="Group 21"/>
          <p:cNvGrpSpPr/>
          <p:nvPr/>
        </p:nvGrpSpPr>
        <p:grpSpPr>
          <a:xfrm>
            <a:off x="6248400" y="2971800"/>
            <a:ext cx="5334000" cy="1123950"/>
            <a:chOff x="6248400" y="2971800"/>
            <a:chExt cx="5334000" cy="1123950"/>
          </a:xfrm>
        </p:grpSpPr>
        <p:sp>
          <p:nvSpPr>
            <p:cNvPr id="16" name="Rectangle 16"/>
            <p:cNvSpPr/>
            <p:nvPr/>
          </p:nvSpPr>
          <p:spPr>
            <a:xfrm>
              <a:off x="6248400" y="2971800"/>
              <a:ext cx="5334000" cy="1123950"/>
            </a:xfrm>
            <a:prstGeom prst="roundRect">
              <a:avLst>
                <a:gd name="adj" fmla="val 11864"/>
              </a:avLst>
            </a:prstGeom>
            <a:solidFill>
              <a:schemeClr val="accent5"/>
            </a:solidFill>
            <a:ln w="14288">
              <a:solidFill>
                <a:srgbClr val="26455F"/>
              </a:solidFill>
            </a:ln>
          </p:spPr>
        </p:sp>
        <p:sp>
          <p:nvSpPr>
            <p:cNvPr id="17" name="Rectangle 17"/>
            <p:cNvSpPr/>
            <p:nvPr/>
          </p:nvSpPr>
          <p:spPr>
            <a:xfrm>
              <a:off x="6248400" y="2971800"/>
              <a:ext cx="57150" cy="1123950"/>
            </a:xfrm>
            <a:prstGeom prst="roundRect">
              <a:avLst>
                <a:gd name="adj" fmla="val 50000"/>
              </a:avLst>
            </a:prstGeom>
            <a:solidFill>
              <a:srgbClr val="F2685C"/>
            </a:solidFill>
            <a:ln>
              <a:noFill/>
            </a:ln>
          </p:spPr>
        </p:sp>
        <p:sp>
          <p:nvSpPr>
            <p:cNvPr id="18" name="TextBox 18"/>
            <p:cNvSpPr txBox="1"/>
            <p:nvPr/>
          </p:nvSpPr>
          <p:spPr>
            <a:xfrm>
              <a:off x="6508242" y="3168968"/>
              <a:ext cx="356931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Resets are expensive in the real world</a:t>
              </a:r>
            </a:p>
          </p:txBody>
        </p:sp>
        <p:sp>
          <p:nvSpPr>
            <p:cNvPr id="19" name="TextBox 19"/>
            <p:cNvSpPr txBox="1"/>
            <p:nvPr/>
          </p:nvSpPr>
          <p:spPr>
            <a:xfrm>
              <a:off x="6509956" y="3453051"/>
              <a:ext cx="442012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In robotics a reset means human supervision or scripted routines,</a:t>
              </a:r>
            </a:p>
          </p:txBody>
        </p:sp>
        <p:sp>
          <p:nvSpPr>
            <p:cNvPr id="20" name="TextBox 20"/>
            <p:cNvSpPr txBox="1"/>
            <p:nvPr/>
          </p:nvSpPr>
          <p:spPr>
            <a:xfrm>
              <a:off x="6509956" y="3643551"/>
              <a:ext cx="423883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so an agent that never needs to be reset is far more practical.</a:t>
              </a:r>
            </a:p>
          </p:txBody>
        </p:sp>
      </p:grpSp>
      <p:grpSp>
        <p:nvGrpSpPr>
          <p:cNvPr id="27" name="Group 27"/>
          <p:cNvGrpSpPr/>
          <p:nvPr/>
        </p:nvGrpSpPr>
        <p:grpSpPr>
          <a:xfrm>
            <a:off x="609600" y="4267200"/>
            <a:ext cx="5334000" cy="1123950"/>
            <a:chOff x="609600" y="4267200"/>
            <a:chExt cx="5334000" cy="1123950"/>
          </a:xfrm>
        </p:grpSpPr>
        <p:sp>
          <p:nvSpPr>
            <p:cNvPr id="22" name="Rectangle 22"/>
            <p:cNvSpPr/>
            <p:nvPr/>
          </p:nvSpPr>
          <p:spPr>
            <a:xfrm>
              <a:off x="609600" y="4267200"/>
              <a:ext cx="5334000" cy="1123950"/>
            </a:xfrm>
            <a:prstGeom prst="roundRect">
              <a:avLst>
                <a:gd name="adj" fmla="val 11864"/>
              </a:avLst>
            </a:prstGeom>
            <a:solidFill>
              <a:schemeClr val="accent5"/>
            </a:solidFill>
            <a:ln w="14288">
              <a:solidFill>
                <a:srgbClr val="26455F"/>
              </a:solidFill>
            </a:ln>
          </p:spPr>
        </p:sp>
        <p:sp>
          <p:nvSpPr>
            <p:cNvPr id="23" name="Rectangle 23"/>
            <p:cNvSpPr/>
            <p:nvPr/>
          </p:nvSpPr>
          <p:spPr>
            <a:xfrm>
              <a:off x="609600" y="4267200"/>
              <a:ext cx="57150" cy="1123950"/>
            </a:xfrm>
            <a:prstGeom prst="roundRect">
              <a:avLst>
                <a:gd name="adj" fmla="val 50000"/>
              </a:avLst>
            </a:prstGeom>
            <a:solidFill>
              <a:srgbClr val="34D3C0"/>
            </a:solidFill>
            <a:ln>
              <a:noFill/>
            </a:ln>
          </p:spPr>
        </p:sp>
        <p:sp>
          <p:nvSpPr>
            <p:cNvPr id="24" name="TextBox 24"/>
            <p:cNvSpPr txBox="1"/>
            <p:nvPr/>
          </p:nvSpPr>
          <p:spPr>
            <a:xfrm>
              <a:off x="869442" y="4464368"/>
              <a:ext cx="280631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No resets, no demonstrations</a:t>
              </a:r>
            </a:p>
          </p:txBody>
        </p:sp>
        <p:sp>
          <p:nvSpPr>
            <p:cNvPr id="25" name="TextBox 25"/>
            <p:cNvSpPr txBox="1"/>
            <p:nvPr/>
          </p:nvSpPr>
          <p:spPr>
            <a:xfrm>
              <a:off x="871156" y="4748451"/>
              <a:ext cx="407864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IBC does autonomous RL without any environment resets and,</a:t>
              </a:r>
            </a:p>
          </p:txBody>
        </p:sp>
        <p:sp>
          <p:nvSpPr>
            <p:cNvPr id="26" name="TextBox 26"/>
            <p:cNvSpPr txBox="1"/>
            <p:nvPr/>
          </p:nvSpPr>
          <p:spPr>
            <a:xfrm>
              <a:off x="871156" y="4938951"/>
              <a:ext cx="358619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crucially, without any demonstration data to lean on.</a:t>
              </a:r>
            </a:p>
          </p:txBody>
        </p:sp>
      </p:grpSp>
      <p:grpSp>
        <p:nvGrpSpPr>
          <p:cNvPr id="33" name="Group 33"/>
          <p:cNvGrpSpPr/>
          <p:nvPr/>
        </p:nvGrpSpPr>
        <p:grpSpPr>
          <a:xfrm>
            <a:off x="6248400" y="4267200"/>
            <a:ext cx="5334000" cy="1123950"/>
            <a:chOff x="6248400" y="4267200"/>
            <a:chExt cx="5334000" cy="1123950"/>
          </a:xfrm>
        </p:grpSpPr>
        <p:sp>
          <p:nvSpPr>
            <p:cNvPr id="28" name="Rectangle 28"/>
            <p:cNvSpPr/>
            <p:nvPr/>
          </p:nvSpPr>
          <p:spPr>
            <a:xfrm>
              <a:off x="6248400" y="4267200"/>
              <a:ext cx="5334000" cy="1123950"/>
            </a:xfrm>
            <a:prstGeom prst="roundRect">
              <a:avLst>
                <a:gd name="adj" fmla="val 11864"/>
              </a:avLst>
            </a:prstGeom>
            <a:solidFill>
              <a:schemeClr val="accent5"/>
            </a:solidFill>
            <a:ln w="14288">
              <a:solidFill>
                <a:srgbClr val="26455F"/>
              </a:solidFill>
            </a:ln>
          </p:spPr>
        </p:sp>
        <p:sp>
          <p:nvSpPr>
            <p:cNvPr id="29" name="Rectangle 29"/>
            <p:cNvSpPr/>
            <p:nvPr/>
          </p:nvSpPr>
          <p:spPr>
            <a:xfrm>
              <a:off x="6248400" y="4267200"/>
              <a:ext cx="57150" cy="1123950"/>
            </a:xfrm>
            <a:prstGeom prst="roundRect">
              <a:avLst>
                <a:gd name="adj" fmla="val 50000"/>
              </a:avLst>
            </a:prstGeom>
            <a:solidFill>
              <a:srgbClr val="48C78E"/>
            </a:solidFill>
            <a:ln>
              <a:noFill/>
            </a:ln>
          </p:spPr>
        </p:sp>
        <p:sp>
          <p:nvSpPr>
            <p:cNvPr id="30" name="TextBox 30"/>
            <p:cNvSpPr txBox="1"/>
            <p:nvPr/>
          </p:nvSpPr>
          <p:spPr>
            <a:xfrm>
              <a:off x="6508242" y="4464368"/>
              <a:ext cx="363643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Matches methods that use expert data</a:t>
              </a:r>
            </a:p>
          </p:txBody>
        </p:sp>
        <p:sp>
          <p:nvSpPr>
            <p:cNvPr id="31" name="TextBox 31"/>
            <p:cNvSpPr txBox="1"/>
            <p:nvPr/>
          </p:nvSpPr>
          <p:spPr>
            <a:xfrm>
              <a:off x="6509956" y="4748451"/>
              <a:ext cx="379501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State-of-the-art on non-episodic benchmarks, matching</a:t>
              </a:r>
            </a:p>
          </p:txBody>
        </p:sp>
        <p:sp>
          <p:nvSpPr>
            <p:cNvPr id="32" name="TextBox 32"/>
            <p:cNvSpPr txBox="1"/>
            <p:nvPr/>
          </p:nvSpPr>
          <p:spPr>
            <a:xfrm>
              <a:off x="6509956" y="4938951"/>
              <a:ext cx="441103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demonstration-based methods and approaching episodic oracle RL.</a:t>
              </a:r>
            </a:p>
          </p:txBody>
        </p:sp>
      </p:grpSp>
      <p:sp>
        <p:nvSpPr>
          <p:cNvPr id="34" name="Line 34"/>
          <p:cNvSpPr/>
          <p:nvPr/>
        </p:nvSpPr>
        <p:spPr>
          <a:xfrm>
            <a:off x="609600" y="57150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5" name="TextBox 35"/>
          <p:cNvSpPr txBox="1"/>
          <p:nvPr/>
        </p:nvSpPr>
        <p:spPr>
          <a:xfrm>
            <a:off x="604266" y="594455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arXiv:2305.09943</a:t>
            </a:r>
          </a:p>
        </p:txBody>
      </p:sp>
      <p:sp>
        <p:nvSpPr>
          <p:cNvPr id="36" name="TextBox 36"/>
          <p:cNvSpPr txBox="1"/>
          <p:nvPr/>
        </p:nvSpPr>
        <p:spPr>
          <a:xfrm>
            <a:off x="3423666" y="5944552"/>
            <a:ext cx="4015579"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An agent that learns robotic tasks entirely on its own.</a:t>
            </a:r>
          </a:p>
        </p:txBody>
      </p:sp>
      <p:sp>
        <p:nvSpPr>
          <p:cNvPr id="37" name="TextBox 37"/>
          <p:cNvSpPr txBox="1"/>
          <p:nvPr/>
        </p:nvSpPr>
        <p:spPr>
          <a:xfrm>
            <a:off x="9250195" y="5948601"/>
            <a:ext cx="2337349" cy="198025"/>
          </a:xfrm>
          <a:prstGeom prst="rect">
            <a:avLst/>
          </a:prstGeom>
          <a:noFill/>
          <a:ln>
            <a:noFill/>
          </a:ln>
        </p:spPr>
        <p:txBody>
          <a:bodyPr wrap="none" lIns="0" tIns="0" rIns="0" bIns="0" anchor="t" anchorCtr="0">
            <a:spAutoFit/>
          </a:bodyPr>
          <a:lstStyle/>
          <a:p>
            <a:pPr algn="r"/>
            <a:r>
              <a:rPr lang="en-US" sz="1010" b="1" dirty="0">
                <a:solidFill>
                  <a:srgbClr val="34D3C0"/>
                </a:solidFill>
                <a:latin typeface="+mn-lt"/>
                <a:ea typeface="+mn-ea"/>
                <a:cs typeface="+mn-cs"/>
              </a:rPr>
              <a:t>github.com/snu-larr/ibc_official</a:t>
            </a:r>
          </a:p>
        </p:txBody>
      </p:sp>
      <p:sp>
        <p:nvSpPr>
          <p:cNvPr id="38" name="cue_s01_c1_reinforcement_learning_mastered_comp" title="cue_s01_c1_reinforcement_learning_mastered_comp" descr="cue_s01_c1_reinforcement_learning_mastered_comp Reinforcement learning has mastered complex skills, but almost always by assuming the environment resets to a fixed initial state after every episode."/>
          <p:cNvSpPr/>
          <p:nvPr/>
        </p:nvSpPr>
        <p:spPr>
          <a:xfrm>
            <a:off x="609600" y="2971571"/>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1_c2_real_world_especially_robotics_those" title="cue_s01_c2_real_world_especially_robotics_those" descr="cue_s01_c2_real_world_especially_robotics_those In the real world, especially in robotics, those resets are expensive, requiring human supervision or scripted routines. This work, presented at ICML 2023 by Jigang Kim, Daesol Cho, and H."/>
          <p:cNvSpPr/>
          <p:nvPr/>
        </p:nvSpPr>
        <p:spPr>
          <a:xfrm>
            <a:off x="6248399" y="2971571"/>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1_c3_jin_kim_seoul_national_university" title="cue_s01_c3_jin_kim_seoul_national_university" descr="cue_s01_c3_jin_kim_seoul_national_university Jin Kim from Seoul National University, tackles autonomous reinforcement learning without any resets and, crucially, without any demonstrations. Their method, called IBC, combines an auxiliary agent that fades away as the main agent improves with a bidirection"/>
          <p:cNvSpPr/>
          <p:nvPr/>
        </p:nvSpPr>
        <p:spPr>
          <a:xfrm>
            <a:off x="609600" y="4267047"/>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1_c4_result_state_of_the_art_performance" title="cue_s01_c4_result_state_of_the_art_performance" descr="cue_s01_c4_result_state_of_the_art_performance The result is state-of-the-art performance on non-episodic benchmarks, matching methods that rely on expert data and even approaching episodic oracle reinforcement learning."/>
          <p:cNvSpPr/>
          <p:nvPr/>
        </p:nvSpPr>
        <p:spPr>
          <a:xfrm>
            <a:off x="6248399" y="4267047"/>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556755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Real agents cannot reset on demand</a:t>
            </a:r>
          </a:p>
        </p:txBody>
      </p:sp>
      <p:grpSp>
        <p:nvGrpSpPr>
          <p:cNvPr id="23" name="Group 23"/>
          <p:cNvGrpSpPr/>
          <p:nvPr/>
        </p:nvGrpSpPr>
        <p:grpSpPr>
          <a:xfrm>
            <a:off x="609600" y="1504950"/>
            <a:ext cx="5334000" cy="3733800"/>
            <a:chOff x="609600" y="1504950"/>
            <a:chExt cx="5334000" cy="3733800"/>
          </a:xfrm>
        </p:grpSpPr>
        <p:sp>
          <p:nvSpPr>
            <p:cNvPr id="5" name="Rectangle 5"/>
            <p:cNvSpPr/>
            <p:nvPr/>
          </p:nvSpPr>
          <p:spPr>
            <a:xfrm>
              <a:off x="609600" y="1504950"/>
              <a:ext cx="53340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442" y="1778318"/>
              <a:ext cx="2071184"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hidden assumption</a:t>
              </a:r>
            </a:p>
          </p:txBody>
        </p:sp>
        <p:sp>
          <p:nvSpPr>
            <p:cNvPr id="8" name="TextBox 8"/>
            <p:cNvSpPr txBox="1"/>
            <p:nvPr/>
          </p:nvSpPr>
          <p:spPr>
            <a:xfrm>
              <a:off x="870776" y="2149554"/>
              <a:ext cx="353734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Standard reinforcement learning quietly assumes</a:t>
              </a:r>
            </a:p>
          </p:txBody>
        </p:sp>
        <p:sp>
          <p:nvSpPr>
            <p:cNvPr id="9" name="TextBox 9"/>
            <p:cNvSpPr txBox="1"/>
            <p:nvPr/>
          </p:nvSpPr>
          <p:spPr>
            <a:xfrm>
              <a:off x="870776" y="2359104"/>
              <a:ext cx="354738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that at the end of every episode the environment</a:t>
              </a:r>
            </a:p>
          </p:txBody>
        </p:sp>
        <p:sp>
          <p:nvSpPr>
            <p:cNvPr id="10" name="TextBox 10"/>
            <p:cNvSpPr txBox="1"/>
            <p:nvPr/>
          </p:nvSpPr>
          <p:spPr>
            <a:xfrm>
              <a:off x="870776" y="2568654"/>
              <a:ext cx="282104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magically resets to its starting state.</a:t>
              </a:r>
            </a:p>
          </p:txBody>
        </p:sp>
        <p:sp>
          <p:nvSpPr>
            <p:cNvPr id="11" name="Rectangle 11"/>
            <p:cNvSpPr/>
            <p:nvPr/>
          </p:nvSpPr>
          <p:spPr>
            <a:xfrm>
              <a:off x="876300" y="3257550"/>
              <a:ext cx="4800600" cy="1428750"/>
            </a:xfrm>
            <a:prstGeom prst="roundRect">
              <a:avLst>
                <a:gd name="adj" fmla="val 6667"/>
              </a:avLst>
            </a:prstGeom>
            <a:solidFill>
              <a:srgbClr val="0E2334"/>
            </a:solidFill>
            <a:ln w="14288">
              <a:solidFill>
                <a:srgbClr val="26455F"/>
              </a:solidFill>
            </a:ln>
          </p:spPr>
        </p:sp>
        <p:sp>
          <p:nvSpPr>
            <p:cNvPr id="12" name="Ellipse 12"/>
            <p:cNvSpPr/>
            <p:nvPr/>
          </p:nvSpPr>
          <p:spPr>
            <a:xfrm>
              <a:off x="1409700" y="3886200"/>
              <a:ext cx="419100" cy="419100"/>
            </a:xfrm>
            <a:prstGeom prst="ellipse">
              <a:avLst/>
            </a:prstGeom>
            <a:solidFill>
              <a:schemeClr val="accent6"/>
            </a:solidFill>
            <a:ln w="19050">
              <a:solidFill>
                <a:schemeClr val="accent2"/>
              </a:solidFill>
            </a:ln>
          </p:spPr>
        </p:sp>
        <p:sp>
          <p:nvSpPr>
            <p:cNvPr id="13" name="TextBox 13"/>
            <p:cNvSpPr txBox="1"/>
            <p:nvPr/>
          </p:nvSpPr>
          <p:spPr>
            <a:xfrm>
              <a:off x="1532286" y="4030028"/>
              <a:ext cx="173928" cy="205359"/>
            </a:xfrm>
            <a:prstGeom prst="rect">
              <a:avLst/>
            </a:prstGeom>
            <a:noFill/>
            <a:ln>
              <a:noFill/>
            </a:ln>
          </p:spPr>
          <p:txBody>
            <a:bodyPr wrap="none" lIns="0" tIns="0" rIns="0" bIns="0" anchor="t" anchorCtr="0">
              <a:spAutoFit/>
            </a:bodyPr>
            <a:lstStyle/>
            <a:p>
              <a:pPr algn="ctr"/>
              <a:r>
                <a:rPr lang="en-US" sz="1050" b="1" dirty="0">
                  <a:solidFill>
                    <a:schemeClr val="accent2"/>
                  </a:solidFill>
                  <a:latin typeface="Consolas"/>
                  <a:ea typeface="Consolas"/>
                  <a:cs typeface="Consolas"/>
                </a:rPr>
                <a:t>s0</a:t>
              </a:r>
            </a:p>
          </p:txBody>
        </p:sp>
        <p:sp>
          <p:nvSpPr>
            <p:cNvPr id="14" name="Ellipse 14"/>
            <p:cNvSpPr/>
            <p:nvPr/>
          </p:nvSpPr>
          <p:spPr>
            <a:xfrm>
              <a:off x="4724400" y="3886200"/>
              <a:ext cx="419100" cy="419100"/>
            </a:xfrm>
            <a:prstGeom prst="ellipse">
              <a:avLst/>
            </a:prstGeom>
            <a:solidFill>
              <a:schemeClr val="accent6"/>
            </a:solidFill>
            <a:ln w="19050">
              <a:solidFill>
                <a:srgbClr val="6E869C"/>
              </a:solidFill>
            </a:ln>
          </p:spPr>
        </p:sp>
        <p:sp>
          <p:nvSpPr>
            <p:cNvPr id="15" name="TextBox 15"/>
            <p:cNvSpPr txBox="1"/>
            <p:nvPr/>
          </p:nvSpPr>
          <p:spPr>
            <a:xfrm>
              <a:off x="4802705" y="4030028"/>
              <a:ext cx="262489" cy="205359"/>
            </a:xfrm>
            <a:prstGeom prst="rect">
              <a:avLst/>
            </a:prstGeom>
            <a:noFill/>
            <a:ln>
              <a:noFill/>
            </a:ln>
          </p:spPr>
          <p:txBody>
            <a:bodyPr wrap="none" lIns="0" tIns="0" rIns="0" bIns="0" anchor="t" anchorCtr="0">
              <a:spAutoFit/>
            </a:bodyPr>
            <a:lstStyle/>
            <a:p>
              <a:pPr algn="ctr"/>
              <a:r>
                <a:rPr lang="en-US" sz="1050" b="1" dirty="0">
                  <a:solidFill>
                    <a:srgbClr val="6E869C"/>
                  </a:solidFill>
                  <a:latin typeface="Consolas"/>
                  <a:ea typeface="Consolas"/>
                  <a:cs typeface="Consolas"/>
                </a:rPr>
                <a:t>s_T</a:t>
              </a:r>
            </a:p>
          </p:txBody>
        </p:sp>
        <p:sp>
          <p:nvSpPr>
            <p:cNvPr id="16" name="Freeform 16"/>
            <p:cNvSpPr/>
            <p:nvPr/>
          </p:nvSpPr>
          <p:spPr>
            <a:xfrm>
              <a:off x="1905000" y="3695700"/>
              <a:ext cx="2743200" cy="285750"/>
            </a:xfrm>
            <a:custGeom>
              <a:avLst/>
              <a:gdLst/>
              <a:ahLst/>
              <a:cxnLst/>
              <a:rect l="l" t="t" r="r" b="b"/>
              <a:pathLst>
                <a:path w="2743200" h="285750">
                  <a:moveTo>
                    <a:pt x="0" y="285750"/>
                  </a:moveTo>
                  <a:cubicBezTo>
                    <a:pt x="762000" y="0"/>
                    <a:pt x="1981200" y="0"/>
                    <a:pt x="2743200" y="285750"/>
                  </a:cubicBezTo>
                </a:path>
              </a:pathLst>
            </a:custGeom>
            <a:noFill/>
            <a:ln w="22860" cap="rnd">
              <a:solidFill>
                <a:srgbClr val="6E869C"/>
              </a:solidFill>
              <a:round/>
            </a:ln>
          </p:spPr>
        </p:sp>
        <p:sp>
          <p:nvSpPr>
            <p:cNvPr id="17" name="Polygon 17"/>
            <p:cNvSpPr/>
            <p:nvPr/>
          </p:nvSpPr>
          <p:spPr>
            <a:xfrm>
              <a:off x="4552950" y="3901440"/>
              <a:ext cx="95250" cy="80010"/>
            </a:xfrm>
            <a:custGeom>
              <a:avLst/>
              <a:gdLst/>
              <a:ahLst/>
              <a:cxnLst/>
              <a:rect l="l" t="t" r="r" b="b"/>
              <a:pathLst>
                <a:path w="95250" h="80010">
                  <a:moveTo>
                    <a:pt x="95250" y="80010"/>
                  </a:moveTo>
                  <a:lnTo>
                    <a:pt x="0" y="80010"/>
                  </a:lnTo>
                  <a:lnTo>
                    <a:pt x="43815" y="0"/>
                  </a:lnTo>
                  <a:close/>
                </a:path>
              </a:pathLst>
            </a:custGeom>
            <a:solidFill>
              <a:srgbClr val="6E869C"/>
            </a:solidFill>
            <a:ln>
              <a:noFill/>
            </a:ln>
          </p:spPr>
        </p:sp>
        <p:sp>
          <p:nvSpPr>
            <p:cNvPr id="18" name="TextBox 18"/>
            <p:cNvSpPr txBox="1"/>
            <p:nvPr/>
          </p:nvSpPr>
          <p:spPr>
            <a:xfrm>
              <a:off x="2901074" y="3640693"/>
              <a:ext cx="751052" cy="169069"/>
            </a:xfrm>
            <a:prstGeom prst="rect">
              <a:avLst/>
            </a:prstGeom>
            <a:noFill/>
            <a:ln>
              <a:noFill/>
            </a:ln>
          </p:spPr>
          <p:txBody>
            <a:bodyPr wrap="none" lIns="0" tIns="0" rIns="0" bIns="0" anchor="t" anchorCtr="0">
              <a:spAutoFit/>
            </a:bodyPr>
            <a:lstStyle/>
            <a:p>
              <a:pPr algn="ctr"/>
              <a:r>
                <a:rPr lang="en-US" sz="860" b="1" dirty="0">
                  <a:solidFill>
                    <a:srgbClr val="6E869C"/>
                  </a:solidFill>
                  <a:latin typeface="+mn-lt"/>
                  <a:ea typeface="+mn-ea"/>
                  <a:cs typeface="+mn-cs"/>
                </a:rPr>
                <a:t>episode ends</a:t>
              </a:r>
            </a:p>
          </p:txBody>
        </p:sp>
        <p:sp>
          <p:nvSpPr>
            <p:cNvPr id="19" name="Freeform 19"/>
            <p:cNvSpPr/>
            <p:nvPr/>
          </p:nvSpPr>
          <p:spPr>
            <a:xfrm>
              <a:off x="1905000" y="4305300"/>
              <a:ext cx="2743200" cy="323850"/>
            </a:xfrm>
            <a:custGeom>
              <a:avLst/>
              <a:gdLst/>
              <a:ahLst/>
              <a:cxnLst/>
              <a:rect l="l" t="t" r="r" b="b"/>
              <a:pathLst>
                <a:path w="2743200" h="323850">
                  <a:moveTo>
                    <a:pt x="2743200" y="0"/>
                  </a:moveTo>
                  <a:cubicBezTo>
                    <a:pt x="1981200" y="323850"/>
                    <a:pt x="762000" y="323850"/>
                    <a:pt x="0" y="0"/>
                  </a:cubicBezTo>
                </a:path>
              </a:pathLst>
            </a:custGeom>
            <a:noFill/>
            <a:ln w="22860" cap="rnd">
              <a:solidFill>
                <a:srgbClr val="F2685C"/>
              </a:solidFill>
              <a:custDash>
                <a:ds d="208333" sp="208333"/>
              </a:custDash>
              <a:round/>
            </a:ln>
          </p:spPr>
        </p:sp>
        <p:sp>
          <p:nvSpPr>
            <p:cNvPr id="20" name="Polygon 20"/>
            <p:cNvSpPr/>
            <p:nvPr/>
          </p:nvSpPr>
          <p:spPr>
            <a:xfrm>
              <a:off x="1905000" y="4225290"/>
              <a:ext cx="95250" cy="80010"/>
            </a:xfrm>
            <a:custGeom>
              <a:avLst/>
              <a:gdLst/>
              <a:ahLst/>
              <a:cxnLst/>
              <a:rect l="l" t="t" r="r" b="b"/>
              <a:pathLst>
                <a:path w="95250" h="80010">
                  <a:moveTo>
                    <a:pt x="0" y="80010"/>
                  </a:moveTo>
                  <a:lnTo>
                    <a:pt x="51435" y="0"/>
                  </a:lnTo>
                  <a:lnTo>
                    <a:pt x="95250" y="80010"/>
                  </a:lnTo>
                  <a:close/>
                </a:path>
              </a:pathLst>
            </a:custGeom>
            <a:solidFill>
              <a:srgbClr val="F2685C"/>
            </a:solidFill>
            <a:ln>
              <a:noFill/>
            </a:ln>
          </p:spPr>
        </p:sp>
        <p:sp>
          <p:nvSpPr>
            <p:cNvPr id="21" name="TextBox 21"/>
            <p:cNvSpPr txBox="1"/>
            <p:nvPr/>
          </p:nvSpPr>
          <p:spPr>
            <a:xfrm>
              <a:off x="2688341" y="4669393"/>
              <a:ext cx="1176519" cy="169069"/>
            </a:xfrm>
            <a:prstGeom prst="rect">
              <a:avLst/>
            </a:prstGeom>
            <a:noFill/>
            <a:ln>
              <a:noFill/>
            </a:ln>
          </p:spPr>
          <p:txBody>
            <a:bodyPr wrap="none" lIns="0" tIns="0" rIns="0" bIns="0" anchor="t" anchorCtr="0">
              <a:spAutoFit/>
            </a:bodyPr>
            <a:lstStyle/>
            <a:p>
              <a:pPr algn="ctr"/>
              <a:r>
                <a:rPr lang="en-US" sz="860" b="1" dirty="0">
                  <a:solidFill>
                    <a:srgbClr val="F2685C"/>
                  </a:solidFill>
                  <a:latin typeface="+mn-lt"/>
                  <a:ea typeface="+mn-ea"/>
                  <a:cs typeface="+mn-cs"/>
                </a:rPr>
                <a:t>assumed free reset</a:t>
              </a:r>
            </a:p>
          </p:txBody>
        </p:sp>
        <p:sp>
          <p:nvSpPr>
            <p:cNvPr id="22" name="TextBox 22"/>
            <p:cNvSpPr txBox="1"/>
            <p:nvPr/>
          </p:nvSpPr>
          <p:spPr>
            <a:xfrm>
              <a:off x="871156" y="4919901"/>
              <a:ext cx="3134736" cy="198025"/>
            </a:xfrm>
            <a:prstGeom prst="rect">
              <a:avLst/>
            </a:prstGeom>
            <a:noFill/>
            <a:ln>
              <a:noFill/>
            </a:ln>
          </p:spPr>
          <p:txBody>
            <a:bodyPr wrap="none" lIns="0" tIns="0" rIns="0" bIns="0" anchor="t" anchorCtr="0">
              <a:spAutoFit/>
            </a:bodyPr>
            <a:lstStyle/>
            <a:p>
              <a:pPr algn="l"/>
              <a:r>
                <a:rPr lang="en-US" sz="1010" b="1" dirty="0">
                  <a:solidFill>
                    <a:schemeClr val="accent2"/>
                  </a:solidFill>
                  <a:latin typeface="+mn-lt"/>
                  <a:ea typeface="+mn-ea"/>
                  <a:cs typeface="+mn-cs"/>
                </a:rPr>
                <a:t>Outside a simulator, that reset is not free.</a:t>
              </a:r>
            </a:p>
          </p:txBody>
        </p:sp>
      </p:grpSp>
      <p:grpSp>
        <p:nvGrpSpPr>
          <p:cNvPr id="30" name="Group 30"/>
          <p:cNvGrpSpPr/>
          <p:nvPr/>
        </p:nvGrpSpPr>
        <p:grpSpPr>
          <a:xfrm>
            <a:off x="6248400" y="1504950"/>
            <a:ext cx="5334000" cy="1171289"/>
            <a:chOff x="6248400" y="1504950"/>
            <a:chExt cx="5334000" cy="1171289"/>
          </a:xfrm>
        </p:grpSpPr>
        <p:sp>
          <p:nvSpPr>
            <p:cNvPr id="24" name="Rectangle 24"/>
            <p:cNvSpPr/>
            <p:nvPr/>
          </p:nvSpPr>
          <p:spPr>
            <a:xfrm>
              <a:off x="6248400" y="1504950"/>
              <a:ext cx="5334000" cy="1143000"/>
            </a:xfrm>
            <a:prstGeom prst="roundRect">
              <a:avLst>
                <a:gd name="adj" fmla="val 11667"/>
              </a:avLst>
            </a:prstGeom>
            <a:solidFill>
              <a:srgbClr val="2A1720"/>
            </a:solidFill>
            <a:ln w="14288">
              <a:solidFill>
                <a:srgbClr val="F2685C"/>
              </a:solidFill>
            </a:ln>
          </p:spPr>
        </p:sp>
        <p:sp>
          <p:nvSpPr>
            <p:cNvPr id="25" name="Rectangle 25"/>
            <p:cNvSpPr/>
            <p:nvPr/>
          </p:nvSpPr>
          <p:spPr>
            <a:xfrm>
              <a:off x="6248400" y="1504950"/>
              <a:ext cx="57150" cy="1143000"/>
            </a:xfrm>
            <a:prstGeom prst="roundRect">
              <a:avLst>
                <a:gd name="adj" fmla="val 50000"/>
              </a:avLst>
            </a:prstGeom>
            <a:solidFill>
              <a:srgbClr val="F2685C"/>
            </a:solidFill>
            <a:ln>
              <a:noFill/>
            </a:ln>
          </p:spPr>
        </p:sp>
        <p:sp>
          <p:nvSpPr>
            <p:cNvPr id="26" name="TextBox 26"/>
            <p:cNvSpPr txBox="1"/>
            <p:nvPr/>
          </p:nvSpPr>
          <p:spPr>
            <a:xfrm>
              <a:off x="6508814" y="1733312"/>
              <a:ext cx="2314329"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Resetting a robot is costly</a:t>
              </a:r>
            </a:p>
          </p:txBody>
        </p:sp>
        <p:sp>
          <p:nvSpPr>
            <p:cNvPr id="27" name="TextBox 27"/>
            <p:cNvSpPr txBox="1"/>
            <p:nvPr/>
          </p:nvSpPr>
          <p:spPr>
            <a:xfrm>
              <a:off x="6509576" y="2035254"/>
              <a:ext cx="4080526"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It means human intervention, scripted reset policies, or</a:t>
              </a:r>
            </a:p>
          </p:txBody>
        </p:sp>
        <p:sp>
          <p:nvSpPr>
            <p:cNvPr id="28" name="TextBox 28"/>
            <p:cNvSpPr txBox="1"/>
            <p:nvPr/>
          </p:nvSpPr>
          <p:spPr>
            <a:xfrm>
              <a:off x="6509576" y="2235279"/>
              <a:ext cx="2608273"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custom rigs, all slow and expensive.</a:t>
              </a:r>
            </a:p>
          </p:txBody>
        </p:sp>
        <p:sp>
          <p:nvSpPr>
            <p:cNvPr id="29" name="TextBox 29"/>
            <p:cNvSpPr txBox="1"/>
            <p:nvPr/>
          </p:nvSpPr>
          <p:spPr>
            <a:xfrm>
              <a:off x="6510147" y="2485549"/>
              <a:ext cx="2503338" cy="190690"/>
            </a:xfrm>
            <a:prstGeom prst="rect">
              <a:avLst/>
            </a:prstGeom>
            <a:noFill/>
            <a:ln>
              <a:noFill/>
            </a:ln>
          </p:spPr>
          <p:txBody>
            <a:bodyPr wrap="none" lIns="0" tIns="0" rIns="0" bIns="0" anchor="t" anchorCtr="0">
              <a:spAutoFit/>
            </a:bodyPr>
            <a:lstStyle/>
            <a:p>
              <a:pPr algn="l"/>
              <a:r>
                <a:rPr lang="en-US" sz="980" b="1" dirty="0">
                  <a:solidFill>
                    <a:srgbClr val="F2685C"/>
                  </a:solidFill>
                  <a:latin typeface="Consolas"/>
                  <a:ea typeface="Consolas"/>
                  <a:cs typeface="Consolas"/>
                </a:rPr>
                <a:t>human + scripts + rigs = slow, costly</a:t>
              </a:r>
            </a:p>
          </p:txBody>
        </p:sp>
      </p:grpSp>
      <p:grpSp>
        <p:nvGrpSpPr>
          <p:cNvPr id="37" name="Group 37"/>
          <p:cNvGrpSpPr/>
          <p:nvPr/>
        </p:nvGrpSpPr>
        <p:grpSpPr>
          <a:xfrm>
            <a:off x="6248400" y="2762250"/>
            <a:ext cx="5334000" cy="1333500"/>
            <a:chOff x="6248400" y="2762250"/>
            <a:chExt cx="5334000" cy="1333500"/>
          </a:xfrm>
        </p:grpSpPr>
        <p:sp>
          <p:nvSpPr>
            <p:cNvPr id="31" name="Rectangle 31"/>
            <p:cNvSpPr/>
            <p:nvPr/>
          </p:nvSpPr>
          <p:spPr>
            <a:xfrm>
              <a:off x="6248400" y="2762250"/>
              <a:ext cx="5334000" cy="1333500"/>
            </a:xfrm>
            <a:prstGeom prst="roundRect">
              <a:avLst>
                <a:gd name="adj" fmla="val 10000"/>
              </a:avLst>
            </a:prstGeom>
            <a:solidFill>
              <a:schemeClr val="accent5"/>
            </a:solidFill>
            <a:ln w="14288">
              <a:solidFill>
                <a:srgbClr val="26455F"/>
              </a:solidFill>
            </a:ln>
          </p:spPr>
        </p:sp>
        <p:sp>
          <p:nvSpPr>
            <p:cNvPr id="32" name="Rectangle 32"/>
            <p:cNvSpPr/>
            <p:nvPr/>
          </p:nvSpPr>
          <p:spPr>
            <a:xfrm>
              <a:off x="6248400" y="2762250"/>
              <a:ext cx="57150" cy="1333500"/>
            </a:xfrm>
            <a:prstGeom prst="roundRect">
              <a:avLst>
                <a:gd name="adj" fmla="val 50000"/>
              </a:avLst>
            </a:prstGeom>
            <a:solidFill>
              <a:srgbClr val="F2C14E"/>
            </a:solidFill>
            <a:ln>
              <a:noFill/>
            </a:ln>
          </p:spPr>
        </p:sp>
        <p:sp>
          <p:nvSpPr>
            <p:cNvPr id="33" name="TextBox 33"/>
            <p:cNvSpPr txBox="1"/>
            <p:nvPr/>
          </p:nvSpPr>
          <p:spPr>
            <a:xfrm>
              <a:off x="6509004" y="2994660"/>
              <a:ext cx="2952175"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Existing autonomous methods cheat</a:t>
              </a:r>
            </a:p>
          </p:txBody>
        </p:sp>
        <p:sp>
          <p:nvSpPr>
            <p:cNvPr id="34" name="TextBox 34"/>
            <p:cNvSpPr txBox="1"/>
            <p:nvPr/>
          </p:nvSpPr>
          <p:spPr>
            <a:xfrm>
              <a:off x="6509766" y="3296602"/>
              <a:ext cx="407930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They rely on prior data, expert demonstrations or example</a:t>
              </a:r>
            </a:p>
          </p:txBody>
        </p:sp>
        <p:sp>
          <p:nvSpPr>
            <p:cNvPr id="35" name="TextBox 35"/>
            <p:cNvSpPr txBox="1"/>
            <p:nvPr/>
          </p:nvSpPr>
          <p:spPr>
            <a:xfrm>
              <a:off x="6509766" y="3506152"/>
              <a:ext cx="39614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states of interest, and struggle when the task-relevant</a:t>
              </a:r>
            </a:p>
          </p:txBody>
        </p:sp>
        <p:sp>
          <p:nvSpPr>
            <p:cNvPr id="36" name="TextBox 36"/>
            <p:cNvSpPr txBox="1"/>
            <p:nvPr/>
          </p:nvSpPr>
          <p:spPr>
            <a:xfrm>
              <a:off x="6509766" y="3715702"/>
              <a:ext cx="369992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interactions are sparse and rarely happen by chance.</a:t>
              </a:r>
            </a:p>
          </p:txBody>
        </p:sp>
      </p:grpSp>
      <p:grpSp>
        <p:nvGrpSpPr>
          <p:cNvPr id="43" name="Group 43"/>
          <p:cNvGrpSpPr/>
          <p:nvPr/>
        </p:nvGrpSpPr>
        <p:grpSpPr>
          <a:xfrm>
            <a:off x="6248400" y="4210050"/>
            <a:ext cx="5334000" cy="1028700"/>
            <a:chOff x="6248400" y="4210050"/>
            <a:chExt cx="5334000" cy="1028700"/>
          </a:xfrm>
        </p:grpSpPr>
        <p:sp>
          <p:nvSpPr>
            <p:cNvPr id="38" name="Rectangle 38"/>
            <p:cNvSpPr/>
            <p:nvPr/>
          </p:nvSpPr>
          <p:spPr>
            <a:xfrm>
              <a:off x="6248400" y="4210050"/>
              <a:ext cx="5334000" cy="1028700"/>
            </a:xfrm>
            <a:prstGeom prst="roundRect">
              <a:avLst>
                <a:gd name="adj" fmla="val 12963"/>
              </a:avLst>
            </a:prstGeom>
            <a:solidFill>
              <a:srgbClr val="0F2E2B"/>
            </a:solidFill>
            <a:ln w="14288">
              <a:solidFill>
                <a:srgbClr val="48C78E"/>
              </a:solidFill>
            </a:ln>
          </p:spPr>
        </p:sp>
        <p:sp>
          <p:nvSpPr>
            <p:cNvPr id="39" name="Rectangle 39"/>
            <p:cNvSpPr/>
            <p:nvPr/>
          </p:nvSpPr>
          <p:spPr>
            <a:xfrm>
              <a:off x="6248400" y="4210050"/>
              <a:ext cx="57150" cy="1028700"/>
            </a:xfrm>
            <a:prstGeom prst="roundRect">
              <a:avLst>
                <a:gd name="adj" fmla="val 50000"/>
              </a:avLst>
            </a:prstGeom>
            <a:solidFill>
              <a:srgbClr val="48C78E"/>
            </a:solidFill>
            <a:ln>
              <a:noFill/>
            </a:ln>
          </p:spPr>
        </p:sp>
        <p:sp>
          <p:nvSpPr>
            <p:cNvPr id="40" name="TextBox 40"/>
            <p:cNvSpPr txBox="1"/>
            <p:nvPr/>
          </p:nvSpPr>
          <p:spPr>
            <a:xfrm>
              <a:off x="6509004" y="4442460"/>
              <a:ext cx="1272854"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What is missing</a:t>
              </a:r>
            </a:p>
          </p:txBody>
        </p:sp>
        <p:sp>
          <p:nvSpPr>
            <p:cNvPr id="41" name="TextBox 41"/>
            <p:cNvSpPr txBox="1"/>
            <p:nvPr/>
          </p:nvSpPr>
          <p:spPr>
            <a:xfrm>
              <a:off x="6509576" y="4740354"/>
              <a:ext cx="407339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An agent that learns truly from scratch, with no resets</a:t>
              </a:r>
            </a:p>
          </p:txBody>
        </p:sp>
        <p:sp>
          <p:nvSpPr>
            <p:cNvPr id="42" name="TextBox 42"/>
            <p:cNvSpPr txBox="1"/>
            <p:nvPr/>
          </p:nvSpPr>
          <p:spPr>
            <a:xfrm>
              <a:off x="6509576" y="4949904"/>
              <a:ext cx="170584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and no demonstrations.</a:t>
              </a:r>
            </a:p>
          </p:txBody>
        </p:sp>
      </p:grpSp>
      <p:sp>
        <p:nvSpPr>
          <p:cNvPr id="44" name="cue_s02_c1_standard_reinforcement_learning_quie" title="cue_s02_c1_standard_reinforcement_learning_quie" descr="cue_s02_c1_standard_reinforcement_learning_quie Standard reinforcement learning quietly assumes something that rarely holds outside a simulator: that at the end of every episode, the environment magically resets to its starting state."/>
          <p:cNvSpPr/>
          <p:nvPr/>
        </p:nvSpPr>
        <p:spPr>
          <a:xfrm>
            <a:off x="609600" y="1504645"/>
            <a:ext cx="5334000"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2_c2_physical_robot_resetting_means_human" title="cue_s02_c2_physical_robot_resetting_means_human" descr="cue_s02_c2_physical_robot_resetting_means_human For a physical robot, resetting means human intervention, scripted reset policies, or custom rigs, all of which are slow and costly. Autonomous reinforcement learning tries to remove that assumption by learning from one long uninterrupted stream of experience."/>
          <p:cNvSpPr/>
          <p:nvPr/>
        </p:nvSpPr>
        <p:spPr>
          <a:xfrm>
            <a:off x="6248399" y="1504645"/>
            <a:ext cx="5334000" cy="117134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2_c3_but_existing_autonomous_methods_chea" title="cue_s02_c3_but_existing_autonomous_methods_chea" descr="cue_s02_c3_but_existing_autonomous_methods_chea But the existing autonomous methods cheat in a different way: they rely on prior data, like expert demonstrations or example states of interest, and they struggle badly in environments where the interactions that matter are sparse and almost never happen by ch"/>
          <p:cNvSpPr/>
          <p:nvPr/>
        </p:nvSpPr>
        <p:spPr>
          <a:xfrm>
            <a:off x="6248399" y="2762402"/>
            <a:ext cx="53340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2_c4_what_been_missing_agent_learns" title="cue_s02_c4_what_been_missing_agent_learns" descr="cue_s02_c4_what_been_missing_agent_learns What has been missing is an agent that learns truly from scratch, with no resets and no demonstrations."/>
          <p:cNvSpPr/>
          <p:nvPr/>
        </p:nvSpPr>
        <p:spPr>
          <a:xfrm>
            <a:off x="6248399" y="4210126"/>
            <a:ext cx="5334000" cy="10287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531262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Learning from scratch is unstable</a:t>
            </a:r>
          </a:p>
        </p:txBody>
      </p:sp>
      <p:grpSp>
        <p:nvGrpSpPr>
          <p:cNvPr id="19" name="Group 19"/>
          <p:cNvGrpSpPr/>
          <p:nvPr/>
        </p:nvGrpSpPr>
        <p:grpSpPr>
          <a:xfrm>
            <a:off x="609600" y="1504950"/>
            <a:ext cx="5334000" cy="3733800"/>
            <a:chOff x="609600" y="1504950"/>
            <a:chExt cx="5334000" cy="3733800"/>
          </a:xfrm>
        </p:grpSpPr>
        <p:sp>
          <p:nvSpPr>
            <p:cNvPr id="5" name="Rectangle 5"/>
            <p:cNvSpPr/>
            <p:nvPr/>
          </p:nvSpPr>
          <p:spPr>
            <a:xfrm>
              <a:off x="609600" y="1504950"/>
              <a:ext cx="53340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rgbClr val="34D3C0"/>
            </a:solidFill>
            <a:ln>
              <a:noFill/>
            </a:ln>
          </p:spPr>
        </p:sp>
        <p:sp>
          <p:nvSpPr>
            <p:cNvPr id="7" name="TextBox 7"/>
            <p:cNvSpPr txBox="1"/>
            <p:nvPr/>
          </p:nvSpPr>
          <p:spPr>
            <a:xfrm>
              <a:off x="869442" y="1759268"/>
              <a:ext cx="1661947" cy="264033"/>
            </a:xfrm>
            <a:prstGeom prst="rect">
              <a:avLst/>
            </a:prstGeom>
            <a:noFill/>
            <a:ln>
              <a:noFill/>
            </a:ln>
          </p:spPr>
          <p:txBody>
            <a:bodyPr wrap="none" lIns="0" tIns="0" rIns="0" bIns="0" anchor="t" anchorCtr="0">
              <a:spAutoFit/>
            </a:bodyPr>
            <a:lstStyle/>
            <a:p>
              <a:pPr algn="l"/>
              <a:r>
                <a:rPr lang="en-US" sz="1350" b="1" dirty="0">
                  <a:solidFill>
                    <a:srgbClr val="34D3C0"/>
                  </a:solidFill>
                  <a:latin typeface="+mn-lt"/>
                  <a:ea typeface="+mn-ea"/>
                  <a:cs typeface="+mn-cs"/>
                </a:rPr>
                <a:t>Why is it so hard?</a:t>
              </a:r>
            </a:p>
          </p:txBody>
        </p:sp>
        <p:sp>
          <p:nvSpPr>
            <p:cNvPr id="8" name="TextBox 8"/>
            <p:cNvSpPr txBox="1"/>
            <p:nvPr/>
          </p:nvSpPr>
          <p:spPr>
            <a:xfrm>
              <a:off x="870776" y="2111454"/>
              <a:ext cx="351552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In the non-episodic setting an untrained forward</a:t>
              </a:r>
            </a:p>
          </p:txBody>
        </p:sp>
        <p:sp>
          <p:nvSpPr>
            <p:cNvPr id="9" name="TextBox 9"/>
            <p:cNvSpPr txBox="1"/>
            <p:nvPr/>
          </p:nvSpPr>
          <p:spPr>
            <a:xfrm>
              <a:off x="870776" y="2321004"/>
              <a:ext cx="354004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agent wanders off to arbitrary states, so every</a:t>
              </a:r>
            </a:p>
          </p:txBody>
        </p:sp>
        <p:sp>
          <p:nvSpPr>
            <p:cNvPr id="10" name="TextBox 10"/>
            <p:cNvSpPr txBox="1"/>
            <p:nvPr/>
          </p:nvSpPr>
          <p:spPr>
            <a:xfrm>
              <a:off x="870776" y="2530554"/>
              <a:ext cx="367944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new attempt starts from a wildly different, often</a:t>
              </a:r>
            </a:p>
          </p:txBody>
        </p:sp>
        <p:sp>
          <p:nvSpPr>
            <p:cNvPr id="11" name="TextBox 11"/>
            <p:cNvSpPr txBox="1"/>
            <p:nvPr/>
          </p:nvSpPr>
          <p:spPr>
            <a:xfrm>
              <a:off x="870776" y="2740104"/>
              <a:ext cx="131699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useless condition.</a:t>
              </a:r>
            </a:p>
          </p:txBody>
        </p:sp>
        <p:sp>
          <p:nvSpPr>
            <p:cNvPr id="12" name="Rectangle 12"/>
            <p:cNvSpPr/>
            <p:nvPr/>
          </p:nvSpPr>
          <p:spPr>
            <a:xfrm>
              <a:off x="876300" y="3276600"/>
              <a:ext cx="4800600" cy="1428750"/>
            </a:xfrm>
            <a:prstGeom prst="roundRect">
              <a:avLst>
                <a:gd name="adj" fmla="val 6667"/>
              </a:avLst>
            </a:prstGeom>
            <a:solidFill>
              <a:srgbClr val="0E2334"/>
            </a:solidFill>
            <a:ln w="14288">
              <a:solidFill>
                <a:srgbClr val="26455F"/>
              </a:solidFill>
            </a:ln>
          </p:spPr>
        </p:sp>
        <p:sp>
          <p:nvSpPr>
            <p:cNvPr id="13" name="Ellipse 13"/>
            <p:cNvSpPr/>
            <p:nvPr/>
          </p:nvSpPr>
          <p:spPr>
            <a:xfrm>
              <a:off x="1219200" y="3790950"/>
              <a:ext cx="419100" cy="419100"/>
            </a:xfrm>
            <a:prstGeom prst="ellipse">
              <a:avLst/>
            </a:prstGeom>
            <a:solidFill>
              <a:schemeClr val="accent6"/>
            </a:solidFill>
            <a:ln w="19050">
              <a:solidFill>
                <a:schemeClr val="accent2"/>
              </a:solidFill>
            </a:ln>
          </p:spPr>
        </p:sp>
        <p:sp>
          <p:nvSpPr>
            <p:cNvPr id="14" name="TextBox 14"/>
            <p:cNvSpPr txBox="1"/>
            <p:nvPr/>
          </p:nvSpPr>
          <p:spPr>
            <a:xfrm>
              <a:off x="1341786" y="3934778"/>
              <a:ext cx="173928" cy="205359"/>
            </a:xfrm>
            <a:prstGeom prst="rect">
              <a:avLst/>
            </a:prstGeom>
            <a:noFill/>
            <a:ln>
              <a:noFill/>
            </a:ln>
          </p:spPr>
          <p:txBody>
            <a:bodyPr wrap="none" lIns="0" tIns="0" rIns="0" bIns="0" anchor="t" anchorCtr="0">
              <a:spAutoFit/>
            </a:bodyPr>
            <a:lstStyle/>
            <a:p>
              <a:pPr algn="ctr"/>
              <a:r>
                <a:rPr lang="en-US" sz="1050" b="1" dirty="0">
                  <a:solidFill>
                    <a:schemeClr val="accent2"/>
                  </a:solidFill>
                  <a:latin typeface="Consolas"/>
                  <a:ea typeface="Consolas"/>
                  <a:cs typeface="Consolas"/>
                </a:rPr>
                <a:t>s0</a:t>
              </a:r>
            </a:p>
          </p:txBody>
        </p:sp>
        <p:sp>
          <p:nvSpPr>
            <p:cNvPr id="15" name="Freeform 15"/>
            <p:cNvSpPr/>
            <p:nvPr/>
          </p:nvSpPr>
          <p:spPr>
            <a:xfrm>
              <a:off x="1676400" y="3371850"/>
              <a:ext cx="3276600" cy="1104900"/>
            </a:xfrm>
            <a:custGeom>
              <a:avLst/>
              <a:gdLst/>
              <a:ahLst/>
              <a:cxnLst/>
              <a:rect l="l" t="t" r="r" b="b"/>
              <a:pathLst>
                <a:path w="3276600" h="1104900">
                  <a:moveTo>
                    <a:pt x="0" y="628650"/>
                  </a:moveTo>
                  <a:cubicBezTo>
                    <a:pt x="704850" y="171450"/>
                    <a:pt x="1181100" y="1104900"/>
                    <a:pt x="1752600" y="552450"/>
                  </a:cubicBezTo>
                  <a:cubicBezTo>
                    <a:pt x="2324100" y="0"/>
                    <a:pt x="2800350" y="171450"/>
                    <a:pt x="3276600" y="666750"/>
                  </a:cubicBezTo>
                </a:path>
              </a:pathLst>
            </a:custGeom>
            <a:noFill/>
            <a:ln w="22860" cap="rnd">
              <a:solidFill>
                <a:srgbClr val="F2685C"/>
              </a:solidFill>
              <a:custDash>
                <a:ds d="125000" sp="250000"/>
              </a:custDash>
              <a:round/>
            </a:ln>
          </p:spPr>
        </p:sp>
        <p:sp>
          <p:nvSpPr>
            <p:cNvPr id="16" name="Ellipse 16"/>
            <p:cNvSpPr/>
            <p:nvPr/>
          </p:nvSpPr>
          <p:spPr>
            <a:xfrm>
              <a:off x="4895850" y="3981450"/>
              <a:ext cx="114300" cy="114300"/>
            </a:xfrm>
            <a:prstGeom prst="ellipse">
              <a:avLst/>
            </a:prstGeom>
            <a:solidFill>
              <a:srgbClr val="F2685C"/>
            </a:solidFill>
            <a:ln>
              <a:noFill/>
            </a:ln>
          </p:spPr>
        </p:sp>
        <p:sp>
          <p:nvSpPr>
            <p:cNvPr id="17" name="TextBox 17"/>
            <p:cNvSpPr txBox="1"/>
            <p:nvPr/>
          </p:nvSpPr>
          <p:spPr>
            <a:xfrm>
              <a:off x="2445665" y="4536043"/>
              <a:ext cx="1966671" cy="169069"/>
            </a:xfrm>
            <a:prstGeom prst="rect">
              <a:avLst/>
            </a:prstGeom>
            <a:noFill/>
            <a:ln>
              <a:noFill/>
            </a:ln>
          </p:spPr>
          <p:txBody>
            <a:bodyPr wrap="none" lIns="0" tIns="0" rIns="0" bIns="0" anchor="t" anchorCtr="0">
              <a:spAutoFit/>
            </a:bodyPr>
            <a:lstStyle/>
            <a:p>
              <a:pPr algn="ctr"/>
              <a:r>
                <a:rPr lang="en-US" sz="860" b="1" dirty="0">
                  <a:solidFill>
                    <a:srgbClr val="F2685C"/>
                  </a:solidFill>
                  <a:latin typeface="+mn-lt"/>
                  <a:ea typeface="+mn-ea"/>
                  <a:cs typeface="+mn-cs"/>
                </a:rPr>
                <a:t>agent drifts to arbitrary states</a:t>
              </a:r>
            </a:p>
          </p:txBody>
        </p:sp>
        <p:sp>
          <p:nvSpPr>
            <p:cNvPr id="18" name="TextBox 18"/>
            <p:cNvSpPr txBox="1"/>
            <p:nvPr/>
          </p:nvSpPr>
          <p:spPr>
            <a:xfrm>
              <a:off x="871156" y="4919901"/>
              <a:ext cx="3626772" cy="198025"/>
            </a:xfrm>
            <a:prstGeom prst="rect">
              <a:avLst/>
            </a:prstGeom>
            <a:noFill/>
            <a:ln>
              <a:noFill/>
            </a:ln>
          </p:spPr>
          <p:txBody>
            <a:bodyPr wrap="none" lIns="0" tIns="0" rIns="0" bIns="0" anchor="t" anchorCtr="0">
              <a:spAutoFit/>
            </a:bodyPr>
            <a:lstStyle/>
            <a:p>
              <a:pPr algn="l"/>
              <a:r>
                <a:rPr lang="en-US" sz="1010" b="1" dirty="0">
                  <a:solidFill>
                    <a:srgbClr val="34D3C0"/>
                  </a:solidFill>
                  <a:latin typeface="+mn-lt"/>
                  <a:ea typeface="+mn-ea"/>
                  <a:cs typeface="+mn-cs"/>
                </a:rPr>
                <a:t>Highly variable start states make learning collapse.</a:t>
              </a:r>
            </a:p>
          </p:txBody>
        </p:sp>
      </p:grpSp>
      <p:grpSp>
        <p:nvGrpSpPr>
          <p:cNvPr id="26" name="Group 26"/>
          <p:cNvGrpSpPr/>
          <p:nvPr/>
        </p:nvGrpSpPr>
        <p:grpSpPr>
          <a:xfrm>
            <a:off x="6248400" y="1504950"/>
            <a:ext cx="5334000" cy="1143000"/>
            <a:chOff x="6248400" y="1504950"/>
            <a:chExt cx="5334000" cy="1143000"/>
          </a:xfrm>
        </p:grpSpPr>
        <p:sp>
          <p:nvSpPr>
            <p:cNvPr id="20" name="Rectangle 20"/>
            <p:cNvSpPr/>
            <p:nvPr/>
          </p:nvSpPr>
          <p:spPr>
            <a:xfrm>
              <a:off x="6248400" y="1504950"/>
              <a:ext cx="5334000" cy="1143000"/>
            </a:xfrm>
            <a:prstGeom prst="roundRect">
              <a:avLst>
                <a:gd name="adj" fmla="val 11667"/>
              </a:avLst>
            </a:prstGeom>
            <a:solidFill>
              <a:srgbClr val="2A2417"/>
            </a:solidFill>
            <a:ln w="14288">
              <a:solidFill>
                <a:srgbClr val="F2C14E"/>
              </a:solidFill>
            </a:ln>
          </p:spPr>
        </p:sp>
        <p:sp>
          <p:nvSpPr>
            <p:cNvPr id="21" name="Rectangle 21"/>
            <p:cNvSpPr/>
            <p:nvPr/>
          </p:nvSpPr>
          <p:spPr>
            <a:xfrm>
              <a:off x="6248400" y="1504950"/>
              <a:ext cx="57150" cy="1143000"/>
            </a:xfrm>
            <a:prstGeom prst="roundRect">
              <a:avLst>
                <a:gd name="adj" fmla="val 50000"/>
              </a:avLst>
            </a:prstGeom>
            <a:solidFill>
              <a:srgbClr val="F2C14E"/>
            </a:solidFill>
            <a:ln>
              <a:noFill/>
            </a:ln>
          </p:spPr>
        </p:sp>
        <p:sp>
          <p:nvSpPr>
            <p:cNvPr id="22" name="TextBox 22"/>
            <p:cNvSpPr txBox="1"/>
            <p:nvPr/>
          </p:nvSpPr>
          <p:spPr>
            <a:xfrm>
              <a:off x="6509004" y="1737360"/>
              <a:ext cx="3342302"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Prior patches reintroduce human effort</a:t>
              </a:r>
            </a:p>
          </p:txBody>
        </p:sp>
        <p:sp>
          <p:nvSpPr>
            <p:cNvPr id="23" name="TextBox 23"/>
            <p:cNvSpPr txBox="1"/>
            <p:nvPr/>
          </p:nvSpPr>
          <p:spPr>
            <a:xfrm>
              <a:off x="6509766" y="2039302"/>
              <a:ext cx="419231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Some methods still ask for occasional manual resets; others</a:t>
              </a:r>
            </a:p>
          </p:txBody>
        </p:sp>
        <p:sp>
          <p:nvSpPr>
            <p:cNvPr id="24" name="TextBox 24"/>
            <p:cNvSpPr txBox="1"/>
            <p:nvPr/>
          </p:nvSpPr>
          <p:spPr>
            <a:xfrm>
              <a:off x="6509766" y="2239328"/>
              <a:ext cx="424413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only succeed when the useful interactions happen to occur by</a:t>
              </a:r>
            </a:p>
          </p:txBody>
        </p:sp>
        <p:sp>
          <p:nvSpPr>
            <p:cNvPr id="25" name="TextBox 25"/>
            <p:cNvSpPr txBox="1"/>
            <p:nvPr/>
          </p:nvSpPr>
          <p:spPr>
            <a:xfrm>
              <a:off x="6509766" y="2439352"/>
              <a:ext cx="55486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chance.</a:t>
              </a:r>
            </a:p>
          </p:txBody>
        </p:sp>
      </p:grpSp>
      <p:grpSp>
        <p:nvGrpSpPr>
          <p:cNvPr id="33" name="Group 33"/>
          <p:cNvGrpSpPr/>
          <p:nvPr/>
        </p:nvGrpSpPr>
        <p:grpSpPr>
          <a:xfrm>
            <a:off x="6248400" y="2762250"/>
            <a:ext cx="5334000" cy="1333500"/>
            <a:chOff x="6248400" y="2762250"/>
            <a:chExt cx="5334000" cy="1333500"/>
          </a:xfrm>
        </p:grpSpPr>
        <p:sp>
          <p:nvSpPr>
            <p:cNvPr id="27" name="Rectangle 27"/>
            <p:cNvSpPr/>
            <p:nvPr/>
          </p:nvSpPr>
          <p:spPr>
            <a:xfrm>
              <a:off x="6248400" y="2762250"/>
              <a:ext cx="5334000" cy="1333500"/>
            </a:xfrm>
            <a:prstGeom prst="roundRect">
              <a:avLst>
                <a:gd name="adj" fmla="val 10000"/>
              </a:avLst>
            </a:prstGeom>
            <a:solidFill>
              <a:schemeClr val="accent5"/>
            </a:solidFill>
            <a:ln w="14288">
              <a:solidFill>
                <a:srgbClr val="26455F"/>
              </a:solidFill>
            </a:ln>
          </p:spPr>
        </p:sp>
        <p:sp>
          <p:nvSpPr>
            <p:cNvPr id="28" name="Rectangle 28"/>
            <p:cNvSpPr/>
            <p:nvPr/>
          </p:nvSpPr>
          <p:spPr>
            <a:xfrm>
              <a:off x="6248400" y="2762250"/>
              <a:ext cx="57150" cy="1333500"/>
            </a:xfrm>
            <a:prstGeom prst="roundRect">
              <a:avLst>
                <a:gd name="adj" fmla="val 50000"/>
              </a:avLst>
            </a:prstGeom>
            <a:solidFill>
              <a:schemeClr val="accent2"/>
            </a:solidFill>
            <a:ln>
              <a:noFill/>
            </a:ln>
          </p:spPr>
        </p:sp>
        <p:sp>
          <p:nvSpPr>
            <p:cNvPr id="29" name="TextBox 29"/>
            <p:cNvSpPr txBox="1"/>
            <p:nvPr/>
          </p:nvSpPr>
          <p:spPr>
            <a:xfrm>
              <a:off x="6509194" y="2998708"/>
              <a:ext cx="3266854" cy="227362"/>
            </a:xfrm>
            <a:prstGeom prst="rect">
              <a:avLst/>
            </a:prstGeom>
            <a:noFill/>
            <a:ln>
              <a:noFill/>
            </a:ln>
          </p:spPr>
          <p:txBody>
            <a:bodyPr wrap="none" lIns="0" tIns="0" rIns="0" bIns="0" anchor="t" anchorCtr="0">
              <a:spAutoFit/>
            </a:bodyPr>
            <a:lstStyle/>
            <a:p>
              <a:pPr algn="l"/>
              <a:r>
                <a:rPr lang="en-US" sz="1160" b="1" dirty="0">
                  <a:solidFill>
                    <a:schemeClr val="accent2"/>
                  </a:solidFill>
                  <a:latin typeface="+mn-lt"/>
                  <a:ea typeface="+mn-ea"/>
                  <a:cs typeface="+mn-cs"/>
                </a:rPr>
                <a:t>VaPRL and MEDAL lean on demonstrations</a:t>
              </a:r>
            </a:p>
          </p:txBody>
        </p:sp>
        <p:sp>
          <p:nvSpPr>
            <p:cNvPr id="30" name="TextBox 30"/>
            <p:cNvSpPr txBox="1"/>
            <p:nvPr/>
          </p:nvSpPr>
          <p:spPr>
            <a:xfrm>
              <a:off x="6509766" y="3296602"/>
              <a:ext cx="358459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two most directly comparable methods both use</a:t>
              </a:r>
            </a:p>
          </p:txBody>
        </p:sp>
        <p:sp>
          <p:nvSpPr>
            <p:cNvPr id="31" name="TextBox 31"/>
            <p:cNvSpPr txBox="1"/>
            <p:nvPr/>
          </p:nvSpPr>
          <p:spPr>
            <a:xfrm>
              <a:off x="6509766" y="3506152"/>
              <a:ext cx="411691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demonstration data, either to seed a subgoal curriculum or</a:t>
              </a:r>
            </a:p>
          </p:txBody>
        </p:sp>
        <p:sp>
          <p:nvSpPr>
            <p:cNvPr id="32" name="TextBox 32"/>
            <p:cNvSpPr txBox="1"/>
            <p:nvPr/>
          </p:nvSpPr>
          <p:spPr>
            <a:xfrm>
              <a:off x="6509766" y="3715702"/>
              <a:ext cx="367872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 define what the backward agent should return to.</a:t>
              </a:r>
            </a:p>
          </p:txBody>
        </p:sp>
      </p:grpSp>
      <p:grpSp>
        <p:nvGrpSpPr>
          <p:cNvPr id="39" name="Group 39"/>
          <p:cNvGrpSpPr/>
          <p:nvPr/>
        </p:nvGrpSpPr>
        <p:grpSpPr>
          <a:xfrm>
            <a:off x="6248400" y="4210050"/>
            <a:ext cx="5334000" cy="1028700"/>
            <a:chOff x="6248400" y="4210050"/>
            <a:chExt cx="5334000" cy="1028700"/>
          </a:xfrm>
        </p:grpSpPr>
        <p:sp>
          <p:nvSpPr>
            <p:cNvPr id="34" name="Rectangle 34"/>
            <p:cNvSpPr/>
            <p:nvPr/>
          </p:nvSpPr>
          <p:spPr>
            <a:xfrm>
              <a:off x="6248400" y="4210050"/>
              <a:ext cx="5334000" cy="1028700"/>
            </a:xfrm>
            <a:prstGeom prst="roundRect">
              <a:avLst>
                <a:gd name="adj" fmla="val 12963"/>
              </a:avLst>
            </a:prstGeom>
            <a:solidFill>
              <a:srgbClr val="0F2E2B"/>
            </a:solidFill>
            <a:ln w="14288">
              <a:solidFill>
                <a:srgbClr val="48C78E"/>
              </a:solidFill>
            </a:ln>
          </p:spPr>
        </p:sp>
        <p:sp>
          <p:nvSpPr>
            <p:cNvPr id="35" name="Rectangle 35"/>
            <p:cNvSpPr/>
            <p:nvPr/>
          </p:nvSpPr>
          <p:spPr>
            <a:xfrm>
              <a:off x="6248400" y="4210050"/>
              <a:ext cx="57150" cy="1028700"/>
            </a:xfrm>
            <a:prstGeom prst="roundRect">
              <a:avLst>
                <a:gd name="adj" fmla="val 50000"/>
              </a:avLst>
            </a:prstGeom>
            <a:solidFill>
              <a:srgbClr val="48C78E"/>
            </a:solidFill>
            <a:ln>
              <a:noFill/>
            </a:ln>
          </p:spPr>
        </p:sp>
        <p:sp>
          <p:nvSpPr>
            <p:cNvPr id="36" name="TextBox 36"/>
            <p:cNvSpPr txBox="1"/>
            <p:nvPr/>
          </p:nvSpPr>
          <p:spPr>
            <a:xfrm>
              <a:off x="6509004" y="4442460"/>
              <a:ext cx="679064"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The goal</a:t>
              </a:r>
            </a:p>
          </p:txBody>
        </p:sp>
        <p:sp>
          <p:nvSpPr>
            <p:cNvPr id="37" name="TextBox 37"/>
            <p:cNvSpPr txBox="1"/>
            <p:nvPr/>
          </p:nvSpPr>
          <p:spPr>
            <a:xfrm>
              <a:off x="6509576" y="4740354"/>
              <a:ext cx="3589122"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An agent that provides its own anchor and its own</a:t>
              </a:r>
            </a:p>
          </p:txBody>
        </p:sp>
        <p:sp>
          <p:nvSpPr>
            <p:cNvPr id="38" name="TextBox 38"/>
            <p:cNvSpPr txBox="1"/>
            <p:nvPr/>
          </p:nvSpPr>
          <p:spPr>
            <a:xfrm>
              <a:off x="6509576" y="4949904"/>
              <a:ext cx="4090304"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curriculum, using nothing but the experience it collects.</a:t>
              </a:r>
            </a:p>
          </p:txBody>
        </p:sp>
      </p:grpSp>
      <p:sp>
        <p:nvSpPr>
          <p:cNvPr id="40" name="cue_s03_c1_why_demonstration_free_autonomous_le" title="cue_s03_c1_why_demonstration_free_autonomous_le" descr="cue_s03_c1_why_demonstration_free_autonomous_le Why is demonstration-free autonomous learning so hard? In the non-episodic setting, an untrained forward agent wanders off to arbitrary states, so every new attempt starts from a wildly different, often useless initial condition."/>
          <p:cNvSpPr/>
          <p:nvPr/>
        </p:nvSpPr>
        <p:spPr>
          <a:xfrm>
            <a:off x="609600" y="1504645"/>
            <a:ext cx="5334000"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3_c2_instability_makes_learning_collapse" title="cue_s03_c2_instability_makes_learning_collapse" descr="cue_s03_c2_instability_makes_learning_collapse That instability makes learning collapse. Prior work patched this in ways that reintroduce human effort. Some methods still ask for occasional manual resets. Others only succeed when the useful interactions happen to occur by chance."/>
          <p:cNvSpPr/>
          <p:nvPr/>
        </p:nvSpPr>
        <p:spPr>
          <a:xfrm>
            <a:off x="6248399" y="1504645"/>
            <a:ext cx="53340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3_c3_two_most_directly_comparable_methods" title="cue_s03_c3_two_most_directly_comparable_methods" descr="cue_s03_c3_two_most_directly_comparable_methods And the two most directly comparable methods, VaPRL and MEDAL, both lean on demonstration data, either to seed a subgoal curriculum or to define what the backward agent should return to."/>
          <p:cNvSpPr/>
          <p:nvPr/>
        </p:nvSpPr>
        <p:spPr>
          <a:xfrm>
            <a:off x="6248399" y="2762402"/>
            <a:ext cx="53340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3_c4_motivation_build_agent_provides_its" title="cue_s03_c4_motivation_build_agent_provides_its" descr="cue_s03_c4_motivation_build_agent_provides_its The motivation here is to build an agent that provides its own anchor and its own curriculum, using nothing but the experience it collects."/>
          <p:cNvSpPr/>
          <p:nvPr/>
        </p:nvSpPr>
        <p:spPr>
          <a:xfrm>
            <a:off x="6248399" y="4210126"/>
            <a:ext cx="5334000" cy="10287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629172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IBC: two curricula, no demos, no resets</a:t>
            </a:r>
          </a:p>
        </p:txBody>
      </p:sp>
      <p:grpSp>
        <p:nvGrpSpPr>
          <p:cNvPr id="17" name="Group 17"/>
          <p:cNvGrpSpPr/>
          <p:nvPr/>
        </p:nvGrpSpPr>
        <p:grpSpPr>
          <a:xfrm>
            <a:off x="609600" y="1676400"/>
            <a:ext cx="2590800" cy="3657600"/>
            <a:chOff x="609600" y="1676400"/>
            <a:chExt cx="2590800" cy="3657600"/>
          </a:xfrm>
        </p:grpSpPr>
        <p:sp>
          <p:nvSpPr>
            <p:cNvPr id="5" name="Rectangle 5"/>
            <p:cNvSpPr/>
            <p:nvPr/>
          </p:nvSpPr>
          <p:spPr>
            <a:xfrm>
              <a:off x="609600" y="1676400"/>
              <a:ext cx="2590800" cy="3657600"/>
            </a:xfrm>
            <a:prstGeom prst="roundRect">
              <a:avLst>
                <a:gd name="adj" fmla="val 5147"/>
              </a:avLst>
            </a:prstGeom>
            <a:solidFill>
              <a:schemeClr val="accent5"/>
            </a:solidFill>
            <a:ln w="14288">
              <a:solidFill>
                <a:srgbClr val="26455F"/>
              </a:solidFill>
            </a:ln>
          </p:spPr>
        </p:sp>
        <p:sp>
          <p:nvSpPr>
            <p:cNvPr id="6" name="Rectangle 6"/>
            <p:cNvSpPr/>
            <p:nvPr/>
          </p:nvSpPr>
          <p:spPr>
            <a:xfrm>
              <a:off x="609600" y="1676400"/>
              <a:ext cx="2590800" cy="57150"/>
            </a:xfrm>
            <a:prstGeom prst="roundRect">
              <a:avLst>
                <a:gd name="adj" fmla="val 50000"/>
              </a:avLst>
            </a:prstGeom>
            <a:solidFill>
              <a:schemeClr val="accent2"/>
            </a:solidFill>
            <a:ln>
              <a:noFill/>
            </a:ln>
          </p:spPr>
        </p:sp>
        <p:sp>
          <p:nvSpPr>
            <p:cNvPr id="7" name="Ellipse 7"/>
            <p:cNvSpPr/>
            <p:nvPr/>
          </p:nvSpPr>
          <p:spPr>
            <a:xfrm>
              <a:off x="838200" y="2095500"/>
              <a:ext cx="495300" cy="495300"/>
            </a:xfrm>
            <a:prstGeom prst="ellipse">
              <a:avLst/>
            </a:prstGeom>
            <a:noFill/>
            <a:ln w="23812">
              <a:solidFill>
                <a:schemeClr val="accent2"/>
              </a:solidFill>
            </a:ln>
          </p:spPr>
        </p:sp>
        <p:sp>
          <p:nvSpPr>
            <p:cNvPr id="8" name="TextBox 8"/>
            <p:cNvSpPr txBox="1"/>
            <p:nvPr/>
          </p:nvSpPr>
          <p:spPr>
            <a:xfrm>
              <a:off x="904966" y="2260282"/>
              <a:ext cx="361767" cy="322707"/>
            </a:xfrm>
            <a:prstGeom prst="rect">
              <a:avLst/>
            </a:prstGeom>
            <a:noFill/>
            <a:ln>
              <a:noFill/>
            </a:ln>
          </p:spPr>
          <p:txBody>
            <a:bodyPr wrap="none" lIns="0" tIns="0" rIns="0" bIns="0" anchor="t" anchorCtr="0">
              <a:spAutoFit/>
            </a:bodyPr>
            <a:lstStyle/>
            <a:p>
              <a:pPr algn="ctr"/>
              <a:r>
                <a:rPr lang="en-US" sz="1650" b="1" dirty="0">
                  <a:solidFill>
                    <a:schemeClr val="accent2"/>
                  </a:solidFill>
                  <a:latin typeface="+mn-lt"/>
                  <a:ea typeface="+mn-ea"/>
                  <a:cs typeface="+mn-cs"/>
                </a:rPr>
                <a:t>IBC</a:t>
              </a:r>
            </a:p>
          </p:txBody>
        </p:sp>
        <p:sp>
          <p:nvSpPr>
            <p:cNvPr id="9" name="TextBox 9"/>
            <p:cNvSpPr txBox="1"/>
            <p:nvPr/>
          </p:nvSpPr>
          <p:spPr>
            <a:xfrm>
              <a:off x="831532" y="2868216"/>
              <a:ext cx="1056155"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First of its</a:t>
              </a:r>
            </a:p>
          </p:txBody>
        </p:sp>
        <p:sp>
          <p:nvSpPr>
            <p:cNvPr id="10" name="TextBox 10"/>
            <p:cNvSpPr txBox="1"/>
            <p:nvPr/>
          </p:nvSpPr>
          <p:spPr>
            <a:xfrm>
              <a:off x="831532" y="3106341"/>
              <a:ext cx="374416"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kind</a:t>
              </a:r>
            </a:p>
          </p:txBody>
        </p:sp>
        <p:sp>
          <p:nvSpPr>
            <p:cNvPr id="11" name="TextBox 11"/>
            <p:cNvSpPr txBox="1"/>
            <p:nvPr/>
          </p:nvSpPr>
          <p:spPr>
            <a:xfrm>
              <a:off x="833056" y="3510201"/>
              <a:ext cx="164957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Implicit and Bidirectional</a:t>
              </a:r>
            </a:p>
          </p:txBody>
        </p:sp>
        <p:sp>
          <p:nvSpPr>
            <p:cNvPr id="12" name="TextBox 12"/>
            <p:cNvSpPr txBox="1"/>
            <p:nvPr/>
          </p:nvSpPr>
          <p:spPr>
            <a:xfrm>
              <a:off x="833056" y="3710226"/>
              <a:ext cx="189144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Curriculum, to the authors'</a:t>
              </a:r>
            </a:p>
          </p:txBody>
        </p:sp>
        <p:sp>
          <p:nvSpPr>
            <p:cNvPr id="13" name="TextBox 13"/>
            <p:cNvSpPr txBox="1"/>
            <p:nvPr/>
          </p:nvSpPr>
          <p:spPr>
            <a:xfrm>
              <a:off x="833056" y="3910251"/>
              <a:ext cx="132236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knowledge the first</a:t>
              </a:r>
            </a:p>
          </p:txBody>
        </p:sp>
        <p:sp>
          <p:nvSpPr>
            <p:cNvPr id="14" name="TextBox 14"/>
            <p:cNvSpPr txBox="1"/>
            <p:nvPr/>
          </p:nvSpPr>
          <p:spPr>
            <a:xfrm>
              <a:off x="833056" y="4110276"/>
              <a:ext cx="171177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non-episodic RL algorithm</a:t>
              </a:r>
            </a:p>
          </p:txBody>
        </p:sp>
        <p:sp>
          <p:nvSpPr>
            <p:cNvPr id="15" name="TextBox 15"/>
            <p:cNvSpPr txBox="1"/>
            <p:nvPr/>
          </p:nvSpPr>
          <p:spPr>
            <a:xfrm>
              <a:off x="833056" y="4310301"/>
              <a:ext cx="177104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that learns with no manual</a:t>
              </a:r>
            </a:p>
          </p:txBody>
        </p:sp>
        <p:sp>
          <p:nvSpPr>
            <p:cNvPr id="16" name="TextBox 16"/>
            <p:cNvSpPr txBox="1"/>
            <p:nvPr/>
          </p:nvSpPr>
          <p:spPr>
            <a:xfrm>
              <a:off x="833056" y="4510326"/>
              <a:ext cx="207017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resets and no demonstrations.</a:t>
              </a:r>
            </a:p>
          </p:txBody>
        </p:sp>
      </p:grpSp>
      <p:grpSp>
        <p:nvGrpSpPr>
          <p:cNvPr id="29" name="Group 29"/>
          <p:cNvGrpSpPr/>
          <p:nvPr/>
        </p:nvGrpSpPr>
        <p:grpSpPr>
          <a:xfrm>
            <a:off x="3429000" y="1676400"/>
            <a:ext cx="2590800" cy="3657600"/>
            <a:chOff x="3429000" y="1676400"/>
            <a:chExt cx="2590800" cy="3657600"/>
          </a:xfrm>
        </p:grpSpPr>
        <p:sp>
          <p:nvSpPr>
            <p:cNvPr id="18" name="Rectangle 18"/>
            <p:cNvSpPr/>
            <p:nvPr/>
          </p:nvSpPr>
          <p:spPr>
            <a:xfrm>
              <a:off x="3429000" y="1676400"/>
              <a:ext cx="2590800" cy="3657600"/>
            </a:xfrm>
            <a:prstGeom prst="roundRect">
              <a:avLst>
                <a:gd name="adj" fmla="val 5147"/>
              </a:avLst>
            </a:prstGeom>
            <a:solidFill>
              <a:schemeClr val="accent5"/>
            </a:solidFill>
            <a:ln w="14288">
              <a:solidFill>
                <a:srgbClr val="26455F"/>
              </a:solidFill>
            </a:ln>
          </p:spPr>
        </p:sp>
        <p:sp>
          <p:nvSpPr>
            <p:cNvPr id="19" name="Rectangle 19"/>
            <p:cNvSpPr/>
            <p:nvPr/>
          </p:nvSpPr>
          <p:spPr>
            <a:xfrm>
              <a:off x="3429000" y="1676400"/>
              <a:ext cx="2590800" cy="57150"/>
            </a:xfrm>
            <a:prstGeom prst="roundRect">
              <a:avLst>
                <a:gd name="adj" fmla="val 50000"/>
              </a:avLst>
            </a:prstGeom>
            <a:solidFill>
              <a:srgbClr val="F2C14E"/>
            </a:solidFill>
            <a:ln>
              <a:noFill/>
            </a:ln>
          </p:spPr>
        </p:sp>
        <p:sp>
          <p:nvSpPr>
            <p:cNvPr id="20" name="Ellipse 20"/>
            <p:cNvSpPr/>
            <p:nvPr/>
          </p:nvSpPr>
          <p:spPr>
            <a:xfrm>
              <a:off x="3657600" y="2095500"/>
              <a:ext cx="495300" cy="495300"/>
            </a:xfrm>
            <a:prstGeom prst="ellipse">
              <a:avLst/>
            </a:prstGeom>
            <a:noFill/>
            <a:ln w="23812">
              <a:solidFill>
                <a:srgbClr val="F2C14E"/>
              </a:solidFill>
            </a:ln>
          </p:spPr>
        </p:sp>
        <p:sp>
          <p:nvSpPr>
            <p:cNvPr id="21" name="TextBox 21"/>
            <p:cNvSpPr txBox="1"/>
            <p:nvPr/>
          </p:nvSpPr>
          <p:spPr>
            <a:xfrm>
              <a:off x="3812952" y="2211705"/>
              <a:ext cx="184596" cy="410718"/>
            </a:xfrm>
            <a:prstGeom prst="rect">
              <a:avLst/>
            </a:prstGeom>
            <a:noFill/>
            <a:ln>
              <a:noFill/>
            </a:ln>
          </p:spPr>
          <p:txBody>
            <a:bodyPr wrap="none" lIns="0" tIns="0" rIns="0" bIns="0" anchor="t" anchorCtr="0">
              <a:spAutoFit/>
            </a:bodyPr>
            <a:lstStyle/>
            <a:p>
              <a:pPr algn="ctr"/>
              <a:r>
                <a:rPr lang="en-US" sz="2100" b="1" dirty="0">
                  <a:solidFill>
                    <a:srgbClr val="F2C14E"/>
                  </a:solidFill>
                  <a:latin typeface="+mn-lt"/>
                  <a:ea typeface="+mn-ea"/>
                  <a:cs typeface="+mn-cs"/>
                </a:rPr>
                <a:t>1</a:t>
              </a:r>
            </a:p>
          </p:txBody>
        </p:sp>
        <p:sp>
          <p:nvSpPr>
            <p:cNvPr id="22" name="TextBox 22"/>
            <p:cNvSpPr txBox="1"/>
            <p:nvPr/>
          </p:nvSpPr>
          <p:spPr>
            <a:xfrm>
              <a:off x="3650932" y="2868216"/>
              <a:ext cx="684663"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Implicit</a:t>
              </a:r>
            </a:p>
          </p:txBody>
        </p:sp>
        <p:sp>
          <p:nvSpPr>
            <p:cNvPr id="23" name="TextBox 23"/>
            <p:cNvSpPr txBox="1"/>
            <p:nvPr/>
          </p:nvSpPr>
          <p:spPr>
            <a:xfrm>
              <a:off x="3650932" y="3106341"/>
              <a:ext cx="97621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curriculum</a:t>
              </a:r>
            </a:p>
          </p:txBody>
        </p:sp>
        <p:sp>
          <p:nvSpPr>
            <p:cNvPr id="24" name="TextBox 24"/>
            <p:cNvSpPr txBox="1"/>
            <p:nvPr/>
          </p:nvSpPr>
          <p:spPr>
            <a:xfrm>
              <a:off x="3652456" y="3510201"/>
              <a:ext cx="164589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conditionally activated</a:t>
              </a:r>
            </a:p>
          </p:txBody>
        </p:sp>
        <p:sp>
          <p:nvSpPr>
            <p:cNvPr id="25" name="TextBox 25"/>
            <p:cNvSpPr txBox="1"/>
            <p:nvPr/>
          </p:nvSpPr>
          <p:spPr>
            <a:xfrm>
              <a:off x="3652456" y="3710226"/>
              <a:ext cx="187302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auxiliary agent: it helps the</a:t>
              </a:r>
            </a:p>
          </p:txBody>
        </p:sp>
        <p:sp>
          <p:nvSpPr>
            <p:cNvPr id="26" name="TextBox 26"/>
            <p:cNvSpPr txBox="1"/>
            <p:nvPr/>
          </p:nvSpPr>
          <p:spPr>
            <a:xfrm>
              <a:off x="3652456" y="3910251"/>
              <a:ext cx="170306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main agent early and then</a:t>
              </a:r>
            </a:p>
          </p:txBody>
        </p:sp>
        <p:sp>
          <p:nvSpPr>
            <p:cNvPr id="27" name="TextBox 27"/>
            <p:cNvSpPr txBox="1"/>
            <p:nvPr/>
          </p:nvSpPr>
          <p:spPr>
            <a:xfrm>
              <a:off x="3652456" y="4110276"/>
              <a:ext cx="182543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gradually disappears as the</a:t>
              </a:r>
            </a:p>
          </p:txBody>
        </p:sp>
        <p:sp>
          <p:nvSpPr>
            <p:cNvPr id="28" name="TextBox 28"/>
            <p:cNvSpPr txBox="1"/>
            <p:nvPr/>
          </p:nvSpPr>
          <p:spPr>
            <a:xfrm>
              <a:off x="3652456" y="4310301"/>
              <a:ext cx="191381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main agent becomes capable.</a:t>
              </a:r>
            </a:p>
          </p:txBody>
        </p:sp>
      </p:grpSp>
      <p:grpSp>
        <p:nvGrpSpPr>
          <p:cNvPr id="42" name="Group 42"/>
          <p:cNvGrpSpPr/>
          <p:nvPr/>
        </p:nvGrpSpPr>
        <p:grpSpPr>
          <a:xfrm>
            <a:off x="6248400" y="1676400"/>
            <a:ext cx="2590800" cy="3657600"/>
            <a:chOff x="6248400" y="1676400"/>
            <a:chExt cx="2590800" cy="3657600"/>
          </a:xfrm>
        </p:grpSpPr>
        <p:sp>
          <p:nvSpPr>
            <p:cNvPr id="30" name="Rectangle 30"/>
            <p:cNvSpPr/>
            <p:nvPr/>
          </p:nvSpPr>
          <p:spPr>
            <a:xfrm>
              <a:off x="6248400" y="1676400"/>
              <a:ext cx="2590800" cy="3657600"/>
            </a:xfrm>
            <a:prstGeom prst="roundRect">
              <a:avLst>
                <a:gd name="adj" fmla="val 5147"/>
              </a:avLst>
            </a:prstGeom>
            <a:solidFill>
              <a:schemeClr val="accent5"/>
            </a:solidFill>
            <a:ln w="14288">
              <a:solidFill>
                <a:srgbClr val="26455F"/>
              </a:solidFill>
            </a:ln>
          </p:spPr>
        </p:sp>
        <p:sp>
          <p:nvSpPr>
            <p:cNvPr id="31" name="Rectangle 31"/>
            <p:cNvSpPr/>
            <p:nvPr/>
          </p:nvSpPr>
          <p:spPr>
            <a:xfrm>
              <a:off x="6248400" y="1676400"/>
              <a:ext cx="2590800" cy="57150"/>
            </a:xfrm>
            <a:prstGeom prst="roundRect">
              <a:avLst>
                <a:gd name="adj" fmla="val 50000"/>
              </a:avLst>
            </a:prstGeom>
            <a:solidFill>
              <a:srgbClr val="34D3C0"/>
            </a:solidFill>
            <a:ln>
              <a:noFill/>
            </a:ln>
          </p:spPr>
        </p:sp>
        <p:sp>
          <p:nvSpPr>
            <p:cNvPr id="32" name="Ellipse 32"/>
            <p:cNvSpPr/>
            <p:nvPr/>
          </p:nvSpPr>
          <p:spPr>
            <a:xfrm>
              <a:off x="6477000" y="2095500"/>
              <a:ext cx="495300" cy="495300"/>
            </a:xfrm>
            <a:prstGeom prst="ellipse">
              <a:avLst/>
            </a:prstGeom>
            <a:noFill/>
            <a:ln w="23812">
              <a:solidFill>
                <a:srgbClr val="34D3C0"/>
              </a:solidFill>
            </a:ln>
          </p:spPr>
        </p:sp>
        <p:sp>
          <p:nvSpPr>
            <p:cNvPr id="33" name="TextBox 33"/>
            <p:cNvSpPr txBox="1"/>
            <p:nvPr/>
          </p:nvSpPr>
          <p:spPr>
            <a:xfrm>
              <a:off x="6632352" y="2211705"/>
              <a:ext cx="184596" cy="410718"/>
            </a:xfrm>
            <a:prstGeom prst="rect">
              <a:avLst/>
            </a:prstGeom>
            <a:noFill/>
            <a:ln>
              <a:noFill/>
            </a:ln>
          </p:spPr>
          <p:txBody>
            <a:bodyPr wrap="none" lIns="0" tIns="0" rIns="0" bIns="0" anchor="t" anchorCtr="0">
              <a:spAutoFit/>
            </a:bodyPr>
            <a:lstStyle/>
            <a:p>
              <a:pPr algn="ctr"/>
              <a:r>
                <a:rPr lang="en-US" sz="2100" b="1" dirty="0">
                  <a:solidFill>
                    <a:srgbClr val="34D3C0"/>
                  </a:solidFill>
                  <a:latin typeface="+mn-lt"/>
                  <a:ea typeface="+mn-ea"/>
                  <a:cs typeface="+mn-cs"/>
                </a:rPr>
                <a:t>2</a:t>
              </a:r>
            </a:p>
          </p:txBody>
        </p:sp>
        <p:sp>
          <p:nvSpPr>
            <p:cNvPr id="34" name="TextBox 34"/>
            <p:cNvSpPr txBox="1"/>
            <p:nvPr/>
          </p:nvSpPr>
          <p:spPr>
            <a:xfrm>
              <a:off x="6470332" y="2868216"/>
              <a:ext cx="115708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Bidirectional</a:t>
              </a:r>
            </a:p>
          </p:txBody>
        </p:sp>
        <p:sp>
          <p:nvSpPr>
            <p:cNvPr id="35" name="TextBox 35"/>
            <p:cNvSpPr txBox="1"/>
            <p:nvPr/>
          </p:nvSpPr>
          <p:spPr>
            <a:xfrm>
              <a:off x="6470332" y="3106341"/>
              <a:ext cx="97621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curriculum</a:t>
              </a:r>
            </a:p>
          </p:txBody>
        </p:sp>
        <p:sp>
          <p:nvSpPr>
            <p:cNvPr id="36" name="TextBox 36"/>
            <p:cNvSpPr txBox="1"/>
            <p:nvPr/>
          </p:nvSpPr>
          <p:spPr>
            <a:xfrm>
              <a:off x="6471856" y="3510201"/>
              <a:ext cx="193856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goal curriculum grounded in</a:t>
              </a:r>
            </a:p>
          </p:txBody>
        </p:sp>
        <p:sp>
          <p:nvSpPr>
            <p:cNvPr id="37" name="TextBox 37"/>
            <p:cNvSpPr txBox="1"/>
            <p:nvPr/>
          </p:nvSpPr>
          <p:spPr>
            <a:xfrm>
              <a:off x="6471856" y="3710226"/>
              <a:ext cx="154670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optimal transport that</a:t>
              </a:r>
            </a:p>
          </p:txBody>
        </p:sp>
        <p:sp>
          <p:nvSpPr>
            <p:cNvPr id="38" name="TextBox 38"/>
            <p:cNvSpPr txBox="1"/>
            <p:nvPr/>
          </p:nvSpPr>
          <p:spPr>
            <a:xfrm>
              <a:off x="6471856" y="3910251"/>
              <a:ext cx="154670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automatically proposes</a:t>
              </a:r>
            </a:p>
          </p:txBody>
        </p:sp>
        <p:sp>
          <p:nvSpPr>
            <p:cNvPr id="39" name="TextBox 39"/>
            <p:cNvSpPr txBox="1"/>
            <p:nvPr/>
          </p:nvSpPr>
          <p:spPr>
            <a:xfrm>
              <a:off x="6471856" y="4110276"/>
              <a:ext cx="185262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intermediate goals for both</a:t>
              </a:r>
            </a:p>
          </p:txBody>
        </p:sp>
        <p:sp>
          <p:nvSpPr>
            <p:cNvPr id="40" name="TextBox 40"/>
            <p:cNvSpPr txBox="1"/>
            <p:nvPr/>
          </p:nvSpPr>
          <p:spPr>
            <a:xfrm>
              <a:off x="6471856" y="4310301"/>
              <a:ext cx="202258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forward and the backward</a:t>
              </a:r>
            </a:p>
          </p:txBody>
        </p:sp>
        <p:sp>
          <p:nvSpPr>
            <p:cNvPr id="41" name="TextBox 41"/>
            <p:cNvSpPr txBox="1"/>
            <p:nvPr/>
          </p:nvSpPr>
          <p:spPr>
            <a:xfrm>
              <a:off x="6471856" y="4510326"/>
              <a:ext cx="76489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directions.</a:t>
              </a:r>
            </a:p>
          </p:txBody>
        </p:sp>
      </p:grpSp>
      <p:grpSp>
        <p:nvGrpSpPr>
          <p:cNvPr id="56" name="Group 56"/>
          <p:cNvGrpSpPr/>
          <p:nvPr/>
        </p:nvGrpSpPr>
        <p:grpSpPr>
          <a:xfrm>
            <a:off x="9067800" y="1676400"/>
            <a:ext cx="2590800" cy="3657600"/>
            <a:chOff x="9067800" y="1676400"/>
            <a:chExt cx="2590800" cy="3657600"/>
          </a:xfrm>
        </p:grpSpPr>
        <p:sp>
          <p:nvSpPr>
            <p:cNvPr id="43" name="Rectangle 43"/>
            <p:cNvSpPr/>
            <p:nvPr/>
          </p:nvSpPr>
          <p:spPr>
            <a:xfrm>
              <a:off x="9067800" y="1676400"/>
              <a:ext cx="2590800" cy="3657600"/>
            </a:xfrm>
            <a:prstGeom prst="roundRect">
              <a:avLst>
                <a:gd name="adj" fmla="val 5147"/>
              </a:avLst>
            </a:prstGeom>
            <a:solidFill>
              <a:schemeClr val="accent5"/>
            </a:solidFill>
            <a:ln w="14288">
              <a:solidFill>
                <a:srgbClr val="26455F"/>
              </a:solidFill>
            </a:ln>
          </p:spPr>
        </p:sp>
        <p:sp>
          <p:nvSpPr>
            <p:cNvPr id="44" name="Rectangle 44"/>
            <p:cNvSpPr/>
            <p:nvPr/>
          </p:nvSpPr>
          <p:spPr>
            <a:xfrm>
              <a:off x="9067800" y="1676400"/>
              <a:ext cx="2590800" cy="57150"/>
            </a:xfrm>
            <a:prstGeom prst="roundRect">
              <a:avLst>
                <a:gd name="adj" fmla="val 50000"/>
              </a:avLst>
            </a:prstGeom>
            <a:solidFill>
              <a:srgbClr val="48C78E"/>
            </a:solidFill>
            <a:ln>
              <a:noFill/>
            </a:ln>
          </p:spPr>
        </p:sp>
        <p:sp>
          <p:nvSpPr>
            <p:cNvPr id="45" name="Ellipse 45"/>
            <p:cNvSpPr/>
            <p:nvPr/>
          </p:nvSpPr>
          <p:spPr>
            <a:xfrm>
              <a:off x="9296400" y="2095500"/>
              <a:ext cx="495300" cy="495300"/>
            </a:xfrm>
            <a:prstGeom prst="ellipse">
              <a:avLst/>
            </a:prstGeom>
            <a:noFill/>
            <a:ln w="23812">
              <a:solidFill>
                <a:srgbClr val="48C78E"/>
              </a:solidFill>
            </a:ln>
          </p:spPr>
        </p:sp>
        <p:sp>
          <p:nvSpPr>
            <p:cNvPr id="46" name="TextBox 46"/>
            <p:cNvSpPr txBox="1"/>
            <p:nvPr/>
          </p:nvSpPr>
          <p:spPr>
            <a:xfrm>
              <a:off x="9451752" y="2211705"/>
              <a:ext cx="184596" cy="410718"/>
            </a:xfrm>
            <a:prstGeom prst="rect">
              <a:avLst/>
            </a:prstGeom>
            <a:noFill/>
            <a:ln>
              <a:noFill/>
            </a:ln>
          </p:spPr>
          <p:txBody>
            <a:bodyPr wrap="none" lIns="0" tIns="0" rIns="0" bIns="0" anchor="t" anchorCtr="0">
              <a:spAutoFit/>
            </a:bodyPr>
            <a:lstStyle/>
            <a:p>
              <a:pPr algn="ctr"/>
              <a:r>
                <a:rPr lang="en-US" sz="2100" b="1" dirty="0">
                  <a:solidFill>
                    <a:srgbClr val="48C78E"/>
                  </a:solidFill>
                  <a:latin typeface="+mn-lt"/>
                  <a:ea typeface="+mn-ea"/>
                  <a:cs typeface="+mn-cs"/>
                </a:rPr>
                <a:t>6</a:t>
              </a:r>
            </a:p>
          </p:txBody>
        </p:sp>
        <p:sp>
          <p:nvSpPr>
            <p:cNvPr id="47" name="TextBox 47"/>
            <p:cNvSpPr txBox="1"/>
            <p:nvPr/>
          </p:nvSpPr>
          <p:spPr>
            <a:xfrm>
              <a:off x="9289732" y="2868216"/>
              <a:ext cx="528317"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Beats</a:t>
              </a:r>
            </a:p>
          </p:txBody>
        </p:sp>
        <p:sp>
          <p:nvSpPr>
            <p:cNvPr id="48" name="TextBox 48"/>
            <p:cNvSpPr txBox="1"/>
            <p:nvPr/>
          </p:nvSpPr>
          <p:spPr>
            <a:xfrm>
              <a:off x="9289732" y="3106341"/>
              <a:ext cx="1133612"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expert-data</a:t>
              </a:r>
            </a:p>
          </p:txBody>
        </p:sp>
        <p:sp>
          <p:nvSpPr>
            <p:cNvPr id="49" name="TextBox 49"/>
            <p:cNvSpPr txBox="1"/>
            <p:nvPr/>
          </p:nvSpPr>
          <p:spPr>
            <a:xfrm>
              <a:off x="9289732" y="3344466"/>
              <a:ext cx="763273"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methods</a:t>
              </a:r>
            </a:p>
          </p:txBody>
        </p:sp>
        <p:sp>
          <p:nvSpPr>
            <p:cNvPr id="50" name="TextBox 50"/>
            <p:cNvSpPr txBox="1"/>
            <p:nvPr/>
          </p:nvSpPr>
          <p:spPr>
            <a:xfrm>
              <a:off x="9291256" y="3748326"/>
              <a:ext cx="185697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Bootstraps its own training</a:t>
              </a:r>
            </a:p>
          </p:txBody>
        </p:sp>
        <p:sp>
          <p:nvSpPr>
            <p:cNvPr id="51" name="TextBox 51"/>
            <p:cNvSpPr txBox="1"/>
            <p:nvPr/>
          </p:nvSpPr>
          <p:spPr>
            <a:xfrm>
              <a:off x="9291256" y="3948351"/>
              <a:ext cx="118639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signal; across six</a:t>
              </a:r>
            </a:p>
          </p:txBody>
        </p:sp>
        <p:sp>
          <p:nvSpPr>
            <p:cNvPr id="52" name="TextBox 52"/>
            <p:cNvSpPr txBox="1"/>
            <p:nvPr/>
          </p:nvSpPr>
          <p:spPr>
            <a:xfrm>
              <a:off x="9291256" y="4148376"/>
              <a:ext cx="209736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sparse-reward environments it</a:t>
              </a:r>
            </a:p>
          </p:txBody>
        </p:sp>
        <p:sp>
          <p:nvSpPr>
            <p:cNvPr id="53" name="TextBox 53"/>
            <p:cNvSpPr txBox="1"/>
            <p:nvPr/>
          </p:nvSpPr>
          <p:spPr>
            <a:xfrm>
              <a:off x="9291256" y="4348401"/>
              <a:ext cx="183903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beats demonstration-based</a:t>
              </a:r>
            </a:p>
          </p:txBody>
        </p:sp>
        <p:sp>
          <p:nvSpPr>
            <p:cNvPr id="54" name="TextBox 54"/>
            <p:cNvSpPr txBox="1"/>
            <p:nvPr/>
          </p:nvSpPr>
          <p:spPr>
            <a:xfrm>
              <a:off x="9291256" y="4548426"/>
              <a:ext cx="180504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methods and approaches an</a:t>
              </a:r>
            </a:p>
          </p:txBody>
        </p:sp>
        <p:sp>
          <p:nvSpPr>
            <p:cNvPr id="55" name="TextBox 55"/>
            <p:cNvSpPr txBox="1"/>
            <p:nvPr/>
          </p:nvSpPr>
          <p:spPr>
            <a:xfrm>
              <a:off x="9291256" y="4748451"/>
              <a:ext cx="107082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episodic oracle.</a:t>
              </a:r>
            </a:p>
          </p:txBody>
        </p:sp>
      </p:grpSp>
      <p:sp>
        <p:nvSpPr>
          <p:cNvPr id="57" name="TextBox 57"/>
          <p:cNvSpPr txBox="1"/>
          <p:nvPr/>
        </p:nvSpPr>
        <p:spPr>
          <a:xfrm>
            <a:off x="603694" y="5513308"/>
            <a:ext cx="8559995"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An auxiliary agent that fades away plus a self-generated goal curriculum, learned purely from experience.</a:t>
            </a:r>
          </a:p>
        </p:txBody>
      </p:sp>
      <p:sp>
        <p:nvSpPr>
          <p:cNvPr id="58" name="cue_s04_c1_core_contribution_method_called_ibc" title="cue_s04_c1_core_contribution_method_called_ibc" descr="cue_s04_c1_core_contribution_method_called_ibc The core contribution is a method called IBC, short for Implicit and Bidirectional Curriculum. As far as the authors know, it is the first algorithm for non-episodic reinforcement learning that consistently learns without any manual resets and without any demo"/>
          <p:cNvSpPr/>
          <p:nvPr/>
        </p:nvSpPr>
        <p:spPr>
          <a:xfrm>
            <a:off x="609600" y="1676095"/>
            <a:ext cx="2590800" cy="36573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4_c2_first_conditionally_activated_auxili" title="cue_s04_c2_first_conditionally_activated_auxili" descr="cue_s04_c2_first_conditionally_activated_auxili The first is a conditionally activated auxiliary agent that forms an implicit curriculum: it helps the main agent early on and then gradually disappears as the main agent becomes capable."/>
          <p:cNvSpPr/>
          <p:nvPr/>
        </p:nvSpPr>
        <p:spPr>
          <a:xfrm>
            <a:off x="3428390" y="1676095"/>
            <a:ext cx="2590800" cy="36573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4_c3_second_bidirectional_goal_curriculum" title="cue_s04_c3_second_bidirectional_goal_curriculum" descr="cue_s04_c3_second_bidirectional_goal_curriculum The second is a bidirectional goal curriculum, grounded in optimal transport, that automatically proposes intermediate goals for both the forward and the backward directions."/>
          <p:cNvSpPr/>
          <p:nvPr/>
        </p:nvSpPr>
        <p:spPr>
          <a:xfrm>
            <a:off x="6248399" y="1676095"/>
            <a:ext cx="2590800" cy="36573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4_c4_together_these_let_agent_bootstrap" title="cue_s04_c4_together_these_let_agent_bootstrap" descr="cue_s04_c4_together_these_let_agent_bootstrap Together these let the agent bootstrap its own training signal, and across six sparse-reward environments IBC beats methods that rely on expert data while approaching the performance of an idealized episodic oracle."/>
          <p:cNvSpPr/>
          <p:nvPr/>
        </p:nvSpPr>
        <p:spPr>
          <a:xfrm>
            <a:off x="9068409" y="1676095"/>
            <a:ext cx="2590800" cy="36573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689389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Alternate two agents, generate goals by OT</a:t>
            </a:r>
          </a:p>
        </p:txBody>
      </p:sp>
      <p:grpSp>
        <p:nvGrpSpPr>
          <p:cNvPr id="24" name="Group 24"/>
          <p:cNvGrpSpPr/>
          <p:nvPr/>
        </p:nvGrpSpPr>
        <p:grpSpPr>
          <a:xfrm>
            <a:off x="609600" y="1504950"/>
            <a:ext cx="5410200" cy="2263378"/>
            <a:chOff x="609600" y="1504950"/>
            <a:chExt cx="5410200" cy="2263378"/>
          </a:xfrm>
        </p:grpSpPr>
        <p:sp>
          <p:nvSpPr>
            <p:cNvPr id="5" name="Rectangle 5"/>
            <p:cNvSpPr/>
            <p:nvPr/>
          </p:nvSpPr>
          <p:spPr>
            <a:xfrm>
              <a:off x="609600" y="1504950"/>
              <a:ext cx="5410200" cy="2038350"/>
            </a:xfrm>
            <a:prstGeom prst="roundRect">
              <a:avLst>
                <a:gd name="adj" fmla="val 6542"/>
              </a:avLst>
            </a:prstGeom>
            <a:solidFill>
              <a:schemeClr val="accent5"/>
            </a:solidFill>
            <a:ln w="14288">
              <a:solidFill>
                <a:srgbClr val="26455F"/>
              </a:solidFill>
            </a:ln>
          </p:spPr>
        </p:sp>
        <p:sp>
          <p:nvSpPr>
            <p:cNvPr id="6" name="Rectangle 6"/>
            <p:cNvSpPr/>
            <p:nvPr/>
          </p:nvSpPr>
          <p:spPr>
            <a:xfrm>
              <a:off x="609600" y="1504950"/>
              <a:ext cx="57150" cy="2038350"/>
            </a:xfrm>
            <a:prstGeom prst="roundRect">
              <a:avLst>
                <a:gd name="adj" fmla="val 50000"/>
              </a:avLst>
            </a:prstGeom>
            <a:solidFill>
              <a:schemeClr val="accent2"/>
            </a:solidFill>
            <a:ln>
              <a:noFill/>
            </a:ln>
          </p:spPr>
        </p:sp>
        <p:sp>
          <p:nvSpPr>
            <p:cNvPr id="7" name="TextBox 7"/>
            <p:cNvSpPr txBox="1"/>
            <p:nvPr/>
          </p:nvSpPr>
          <p:spPr>
            <a:xfrm>
              <a:off x="870014" y="1733312"/>
              <a:ext cx="1858446"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Two alternating roles</a:t>
              </a:r>
            </a:p>
          </p:txBody>
        </p:sp>
        <p:sp>
          <p:nvSpPr>
            <p:cNvPr id="8" name="TextBox 8"/>
            <p:cNvSpPr txBox="1"/>
            <p:nvPr/>
          </p:nvSpPr>
          <p:spPr>
            <a:xfrm>
              <a:off x="871156" y="2024301"/>
              <a:ext cx="350932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forward agent tries to accomplish the task; the</a:t>
              </a:r>
            </a:p>
          </p:txBody>
        </p:sp>
        <p:sp>
          <p:nvSpPr>
            <p:cNvPr id="9" name="TextBox 9"/>
            <p:cNvSpPr txBox="1"/>
            <p:nvPr/>
          </p:nvSpPr>
          <p:spPr>
            <a:xfrm>
              <a:off x="871156" y="2214801"/>
              <a:ext cx="387172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auxiliary agent brings it back toward target initial states</a:t>
              </a:r>
            </a:p>
          </p:txBody>
        </p:sp>
        <p:sp>
          <p:nvSpPr>
            <p:cNvPr id="10" name="TextBox 10"/>
            <p:cNvSpPr txBox="1"/>
            <p:nvPr/>
          </p:nvSpPr>
          <p:spPr>
            <a:xfrm>
              <a:off x="871156" y="2405301"/>
              <a:ext cx="164188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so it can practice again.</a:t>
              </a:r>
            </a:p>
          </p:txBody>
        </p:sp>
        <p:sp>
          <p:nvSpPr>
            <p:cNvPr id="11" name="Rectangle 11"/>
            <p:cNvSpPr/>
            <p:nvPr/>
          </p:nvSpPr>
          <p:spPr>
            <a:xfrm>
              <a:off x="876300" y="2762250"/>
              <a:ext cx="4876800" cy="704850"/>
            </a:xfrm>
            <a:prstGeom prst="roundRect">
              <a:avLst>
                <a:gd name="adj" fmla="val 13514"/>
              </a:avLst>
            </a:prstGeom>
            <a:solidFill>
              <a:srgbClr val="0E2334"/>
            </a:solidFill>
            <a:ln w="14288">
              <a:solidFill>
                <a:srgbClr val="26455F"/>
              </a:solidFill>
            </a:ln>
          </p:spPr>
        </p:sp>
        <p:sp>
          <p:nvSpPr>
            <p:cNvPr id="12" name="Ellipse 12"/>
            <p:cNvSpPr/>
            <p:nvPr/>
          </p:nvSpPr>
          <p:spPr>
            <a:xfrm>
              <a:off x="1333500" y="2962275"/>
              <a:ext cx="419100" cy="419100"/>
            </a:xfrm>
            <a:prstGeom prst="ellipse">
              <a:avLst/>
            </a:prstGeom>
            <a:solidFill>
              <a:schemeClr val="accent6"/>
            </a:solidFill>
            <a:ln w="19050">
              <a:solidFill>
                <a:schemeClr val="accent2"/>
              </a:solidFill>
            </a:ln>
          </p:spPr>
        </p:sp>
        <p:sp>
          <p:nvSpPr>
            <p:cNvPr id="13" name="TextBox 13"/>
            <p:cNvSpPr txBox="1"/>
            <p:nvPr/>
          </p:nvSpPr>
          <p:spPr>
            <a:xfrm>
              <a:off x="1456086" y="3106102"/>
              <a:ext cx="173928" cy="205359"/>
            </a:xfrm>
            <a:prstGeom prst="rect">
              <a:avLst/>
            </a:prstGeom>
            <a:noFill/>
            <a:ln>
              <a:noFill/>
            </a:ln>
          </p:spPr>
          <p:txBody>
            <a:bodyPr wrap="none" lIns="0" tIns="0" rIns="0" bIns="0" anchor="t" anchorCtr="0">
              <a:spAutoFit/>
            </a:bodyPr>
            <a:lstStyle/>
            <a:p>
              <a:pPr algn="ctr"/>
              <a:r>
                <a:rPr lang="en-US" sz="1050" b="1" dirty="0">
                  <a:solidFill>
                    <a:schemeClr val="accent2"/>
                  </a:solidFill>
                  <a:latin typeface="Consolas"/>
                  <a:ea typeface="Consolas"/>
                  <a:cs typeface="Consolas"/>
                </a:rPr>
                <a:t>s0</a:t>
              </a:r>
            </a:p>
          </p:txBody>
        </p:sp>
        <p:sp>
          <p:nvSpPr>
            <p:cNvPr id="14" name="TextBox 14"/>
            <p:cNvSpPr txBox="1"/>
            <p:nvPr/>
          </p:nvSpPr>
          <p:spPr>
            <a:xfrm>
              <a:off x="997337" y="3497818"/>
              <a:ext cx="1091426"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target init states</a:t>
              </a:r>
            </a:p>
          </p:txBody>
        </p:sp>
        <p:sp>
          <p:nvSpPr>
            <p:cNvPr id="15" name="Ellipse 15"/>
            <p:cNvSpPr/>
            <p:nvPr/>
          </p:nvSpPr>
          <p:spPr>
            <a:xfrm>
              <a:off x="4876800" y="2962275"/>
              <a:ext cx="419100" cy="419100"/>
            </a:xfrm>
            <a:prstGeom prst="ellipse">
              <a:avLst/>
            </a:prstGeom>
            <a:solidFill>
              <a:schemeClr val="accent6"/>
            </a:solidFill>
            <a:ln w="19050">
              <a:solidFill>
                <a:srgbClr val="F2C14E"/>
              </a:solidFill>
            </a:ln>
          </p:spPr>
        </p:sp>
        <p:sp>
          <p:nvSpPr>
            <p:cNvPr id="16" name="Polygon 16"/>
            <p:cNvSpPr/>
            <p:nvPr/>
          </p:nvSpPr>
          <p:spPr>
            <a:xfrm>
              <a:off x="5029200" y="3105150"/>
              <a:ext cx="133350" cy="133350"/>
            </a:xfrm>
            <a:custGeom>
              <a:avLst/>
              <a:gdLst/>
              <a:ahLst/>
              <a:cxnLst/>
              <a:rect l="l" t="t" r="r" b="b"/>
              <a:pathLst>
                <a:path w="133350" h="133350">
                  <a:moveTo>
                    <a:pt x="0" y="0"/>
                  </a:moveTo>
                  <a:lnTo>
                    <a:pt x="133350" y="66675"/>
                  </a:lnTo>
                  <a:lnTo>
                    <a:pt x="0" y="133350"/>
                  </a:lnTo>
                  <a:close/>
                </a:path>
              </a:pathLst>
            </a:custGeom>
            <a:solidFill>
              <a:srgbClr val="F2C14E"/>
            </a:solidFill>
            <a:ln>
              <a:noFill/>
            </a:ln>
          </p:spPr>
        </p:sp>
        <p:sp>
          <p:nvSpPr>
            <p:cNvPr id="17" name="TextBox 17"/>
            <p:cNvSpPr txBox="1"/>
            <p:nvPr/>
          </p:nvSpPr>
          <p:spPr>
            <a:xfrm>
              <a:off x="4726019" y="3497818"/>
              <a:ext cx="720662"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task goal g*</a:t>
              </a:r>
            </a:p>
          </p:txBody>
        </p:sp>
        <p:sp>
          <p:nvSpPr>
            <p:cNvPr id="18" name="Freeform 18"/>
            <p:cNvSpPr/>
            <p:nvPr/>
          </p:nvSpPr>
          <p:spPr>
            <a:xfrm>
              <a:off x="1790700" y="2733675"/>
              <a:ext cx="3048000" cy="285750"/>
            </a:xfrm>
            <a:custGeom>
              <a:avLst/>
              <a:gdLst/>
              <a:ahLst/>
              <a:cxnLst/>
              <a:rect l="l" t="t" r="r" b="b"/>
              <a:pathLst>
                <a:path w="3048000" h="285750">
                  <a:moveTo>
                    <a:pt x="0" y="285750"/>
                  </a:moveTo>
                  <a:cubicBezTo>
                    <a:pt x="609600" y="0"/>
                    <a:pt x="2438400" y="0"/>
                    <a:pt x="3048000" y="285750"/>
                  </a:cubicBezTo>
                </a:path>
              </a:pathLst>
            </a:custGeom>
            <a:noFill/>
            <a:ln w="24765" cap="rnd">
              <a:solidFill>
                <a:srgbClr val="48C78E"/>
              </a:solidFill>
              <a:round/>
            </a:ln>
          </p:spPr>
        </p:sp>
        <p:sp>
          <p:nvSpPr>
            <p:cNvPr id="19" name="Polygon 19"/>
            <p:cNvSpPr/>
            <p:nvPr/>
          </p:nvSpPr>
          <p:spPr>
            <a:xfrm>
              <a:off x="4743450" y="2939415"/>
              <a:ext cx="95250" cy="80010"/>
            </a:xfrm>
            <a:custGeom>
              <a:avLst/>
              <a:gdLst/>
              <a:ahLst/>
              <a:cxnLst/>
              <a:rect l="l" t="t" r="r" b="b"/>
              <a:pathLst>
                <a:path w="95250" h="80010">
                  <a:moveTo>
                    <a:pt x="95250" y="80010"/>
                  </a:moveTo>
                  <a:lnTo>
                    <a:pt x="0" y="80010"/>
                  </a:lnTo>
                  <a:lnTo>
                    <a:pt x="43815" y="0"/>
                  </a:lnTo>
                  <a:close/>
                </a:path>
              </a:pathLst>
            </a:custGeom>
            <a:solidFill>
              <a:srgbClr val="48C78E"/>
            </a:solidFill>
            <a:ln>
              <a:noFill/>
            </a:ln>
          </p:spPr>
        </p:sp>
        <p:sp>
          <p:nvSpPr>
            <p:cNvPr id="20" name="TextBox 20"/>
            <p:cNvSpPr txBox="1"/>
            <p:nvPr/>
          </p:nvSpPr>
          <p:spPr>
            <a:xfrm>
              <a:off x="2429674" y="2708672"/>
              <a:ext cx="1770052" cy="183356"/>
            </a:xfrm>
            <a:prstGeom prst="rect">
              <a:avLst/>
            </a:prstGeom>
            <a:noFill/>
            <a:ln>
              <a:noFill/>
            </a:ln>
          </p:spPr>
          <p:txBody>
            <a:bodyPr wrap="none" lIns="0" tIns="0" rIns="0" bIns="0" anchor="t" anchorCtr="0">
              <a:spAutoFit/>
            </a:bodyPr>
            <a:lstStyle/>
            <a:p>
              <a:pPr algn="ctr"/>
              <a:r>
                <a:rPr lang="en-US" sz="940" b="1" dirty="0">
                  <a:solidFill>
                    <a:srgbClr val="48C78E"/>
                  </a:solidFill>
                  <a:latin typeface="+mn-lt"/>
                  <a:ea typeface="+mn-ea"/>
                  <a:cs typeface="+mn-cs"/>
                </a:rPr>
                <a:t>forward pi_f (do the task)</a:t>
              </a:r>
            </a:p>
          </p:txBody>
        </p:sp>
        <p:sp>
          <p:nvSpPr>
            <p:cNvPr id="21" name="Freeform 21"/>
            <p:cNvSpPr/>
            <p:nvPr/>
          </p:nvSpPr>
          <p:spPr>
            <a:xfrm>
              <a:off x="1790700" y="3324225"/>
              <a:ext cx="3048000" cy="285750"/>
            </a:xfrm>
            <a:custGeom>
              <a:avLst/>
              <a:gdLst/>
              <a:ahLst/>
              <a:cxnLst/>
              <a:rect l="l" t="t" r="r" b="b"/>
              <a:pathLst>
                <a:path w="3048000" h="285750">
                  <a:moveTo>
                    <a:pt x="3048000" y="0"/>
                  </a:moveTo>
                  <a:cubicBezTo>
                    <a:pt x="2438400" y="285750"/>
                    <a:pt x="609600" y="285750"/>
                    <a:pt x="0" y="0"/>
                  </a:cubicBezTo>
                </a:path>
              </a:pathLst>
            </a:custGeom>
            <a:noFill/>
            <a:ln w="24765" cap="rnd">
              <a:solidFill>
                <a:srgbClr val="F2C14E"/>
              </a:solidFill>
              <a:round/>
            </a:ln>
          </p:spPr>
        </p:sp>
        <p:sp>
          <p:nvSpPr>
            <p:cNvPr id="22" name="Polygon 22"/>
            <p:cNvSpPr/>
            <p:nvPr/>
          </p:nvSpPr>
          <p:spPr>
            <a:xfrm>
              <a:off x="1790700" y="3244215"/>
              <a:ext cx="95250" cy="80010"/>
            </a:xfrm>
            <a:custGeom>
              <a:avLst/>
              <a:gdLst/>
              <a:ahLst/>
              <a:cxnLst/>
              <a:rect l="l" t="t" r="r" b="b"/>
              <a:pathLst>
                <a:path w="95250" h="80010">
                  <a:moveTo>
                    <a:pt x="0" y="80010"/>
                  </a:moveTo>
                  <a:lnTo>
                    <a:pt x="51435" y="0"/>
                  </a:lnTo>
                  <a:lnTo>
                    <a:pt x="95250" y="80010"/>
                  </a:lnTo>
                  <a:close/>
                </a:path>
              </a:pathLst>
            </a:custGeom>
            <a:solidFill>
              <a:srgbClr val="F2C14E"/>
            </a:solidFill>
            <a:ln>
              <a:noFill/>
            </a:ln>
          </p:spPr>
        </p:sp>
        <p:sp>
          <p:nvSpPr>
            <p:cNvPr id="23" name="TextBox 23"/>
            <p:cNvSpPr txBox="1"/>
            <p:nvPr/>
          </p:nvSpPr>
          <p:spPr>
            <a:xfrm>
              <a:off x="2379848" y="3584972"/>
              <a:ext cx="1869704" cy="183356"/>
            </a:xfrm>
            <a:prstGeom prst="rect">
              <a:avLst/>
            </a:prstGeom>
            <a:noFill/>
            <a:ln>
              <a:noFill/>
            </a:ln>
          </p:spPr>
          <p:txBody>
            <a:bodyPr wrap="none" lIns="0" tIns="0" rIns="0" bIns="0" anchor="t" anchorCtr="0">
              <a:spAutoFit/>
            </a:bodyPr>
            <a:lstStyle/>
            <a:p>
              <a:pPr algn="ctr"/>
              <a:r>
                <a:rPr lang="en-US" sz="940" b="1" dirty="0">
                  <a:solidFill>
                    <a:srgbClr val="F2C14E"/>
                  </a:solidFill>
                  <a:latin typeface="+mn-lt"/>
                  <a:ea typeface="+mn-ea"/>
                  <a:cs typeface="+mn-cs"/>
                </a:rPr>
                <a:t>auxiliary pi_a (bring it back)</a:t>
              </a:r>
            </a:p>
          </p:txBody>
        </p:sp>
      </p:grpSp>
      <p:grpSp>
        <p:nvGrpSpPr>
          <p:cNvPr id="33" name="Group 33"/>
          <p:cNvGrpSpPr/>
          <p:nvPr/>
        </p:nvGrpSpPr>
        <p:grpSpPr>
          <a:xfrm>
            <a:off x="609600" y="3695700"/>
            <a:ext cx="5410200" cy="1600200"/>
            <a:chOff x="609600" y="3695700"/>
            <a:chExt cx="5410200" cy="1600200"/>
          </a:xfrm>
        </p:grpSpPr>
        <p:sp>
          <p:nvSpPr>
            <p:cNvPr id="25" name="Rectangle 25"/>
            <p:cNvSpPr/>
            <p:nvPr/>
          </p:nvSpPr>
          <p:spPr>
            <a:xfrm>
              <a:off x="609600" y="3695700"/>
              <a:ext cx="5410200" cy="1543050"/>
            </a:xfrm>
            <a:prstGeom prst="roundRect">
              <a:avLst>
                <a:gd name="adj" fmla="val 8642"/>
              </a:avLst>
            </a:prstGeom>
            <a:solidFill>
              <a:srgbClr val="0F2E2B"/>
            </a:solidFill>
            <a:ln w="14288">
              <a:solidFill>
                <a:srgbClr val="34D3C0"/>
              </a:solidFill>
            </a:ln>
          </p:spPr>
        </p:sp>
        <p:sp>
          <p:nvSpPr>
            <p:cNvPr id="26" name="Rectangle 26"/>
            <p:cNvSpPr/>
            <p:nvPr/>
          </p:nvSpPr>
          <p:spPr>
            <a:xfrm>
              <a:off x="609600" y="3695700"/>
              <a:ext cx="57150" cy="1543050"/>
            </a:xfrm>
            <a:prstGeom prst="roundRect">
              <a:avLst>
                <a:gd name="adj" fmla="val 50000"/>
              </a:avLst>
            </a:prstGeom>
            <a:solidFill>
              <a:srgbClr val="34D3C0"/>
            </a:solidFill>
            <a:ln>
              <a:noFill/>
            </a:ln>
          </p:spPr>
        </p:sp>
        <p:sp>
          <p:nvSpPr>
            <p:cNvPr id="27" name="TextBox 27"/>
            <p:cNvSpPr txBox="1"/>
            <p:nvPr/>
          </p:nvSpPr>
          <p:spPr>
            <a:xfrm>
              <a:off x="870204" y="3928110"/>
              <a:ext cx="1891558"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The implicit curriculum</a:t>
              </a:r>
            </a:p>
          </p:txBody>
        </p:sp>
        <p:sp>
          <p:nvSpPr>
            <p:cNvPr id="28" name="TextBox 28"/>
            <p:cNvSpPr txBox="1"/>
            <p:nvPr/>
          </p:nvSpPr>
          <p:spPr>
            <a:xfrm>
              <a:off x="871156" y="4234101"/>
              <a:ext cx="404615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auxiliary agent is activated only when the forward agent</a:t>
              </a:r>
            </a:p>
          </p:txBody>
        </p:sp>
        <p:sp>
          <p:nvSpPr>
            <p:cNvPr id="29" name="TextBox 29"/>
            <p:cNvSpPr txBox="1"/>
            <p:nvPr/>
          </p:nvSpPr>
          <p:spPr>
            <a:xfrm>
              <a:off x="871156" y="4424601"/>
              <a:ext cx="397370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fails, so as the forward agent improves it steps in less and</a:t>
              </a:r>
            </a:p>
          </p:txBody>
        </p:sp>
        <p:sp>
          <p:nvSpPr>
            <p:cNvPr id="30" name="TextBox 30"/>
            <p:cNvSpPr txBox="1"/>
            <p:nvPr/>
          </p:nvSpPr>
          <p:spPr>
            <a:xfrm>
              <a:off x="871156" y="4615101"/>
              <a:ext cx="35020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less.</a:t>
              </a:r>
            </a:p>
          </p:txBody>
        </p:sp>
        <p:sp>
          <p:nvSpPr>
            <p:cNvPr id="31" name="Rectangle 31"/>
            <p:cNvSpPr/>
            <p:nvPr/>
          </p:nvSpPr>
          <p:spPr>
            <a:xfrm>
              <a:off x="876300" y="4895850"/>
              <a:ext cx="4876800" cy="400050"/>
            </a:xfrm>
            <a:prstGeom prst="roundRect">
              <a:avLst>
                <a:gd name="adj" fmla="val 19048"/>
              </a:avLst>
            </a:prstGeom>
            <a:solidFill>
              <a:schemeClr val="accent6"/>
            </a:solidFill>
            <a:ln w="14288">
              <a:solidFill>
                <a:srgbClr val="26455F"/>
              </a:solidFill>
            </a:ln>
          </p:spPr>
        </p:sp>
        <p:sp>
          <p:nvSpPr>
            <p:cNvPr id="32" name="TextBox 32"/>
            <p:cNvSpPr txBox="1"/>
            <p:nvPr/>
          </p:nvSpPr>
          <p:spPr>
            <a:xfrm>
              <a:off x="2225911" y="5039678"/>
              <a:ext cx="2177579"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Consolas"/>
                  <a:ea typeface="Consolas"/>
                  <a:cs typeface="Consolas"/>
                </a:rPr>
                <a:t>activate pi_a only if pi_f fails</a:t>
              </a:r>
            </a:p>
          </p:txBody>
        </p:sp>
      </p:grpSp>
      <p:grpSp>
        <p:nvGrpSpPr>
          <p:cNvPr id="50" name="Group 50"/>
          <p:cNvGrpSpPr/>
          <p:nvPr/>
        </p:nvGrpSpPr>
        <p:grpSpPr>
          <a:xfrm>
            <a:off x="6248400" y="1504950"/>
            <a:ext cx="5334000" cy="2038350"/>
            <a:chOff x="6248400" y="1504950"/>
            <a:chExt cx="5334000" cy="2038350"/>
          </a:xfrm>
        </p:grpSpPr>
        <p:sp>
          <p:nvSpPr>
            <p:cNvPr id="34" name="Rectangle 34"/>
            <p:cNvSpPr/>
            <p:nvPr/>
          </p:nvSpPr>
          <p:spPr>
            <a:xfrm>
              <a:off x="6248400" y="1504950"/>
              <a:ext cx="5334000" cy="2038350"/>
            </a:xfrm>
            <a:prstGeom prst="roundRect">
              <a:avLst>
                <a:gd name="adj" fmla="val 6542"/>
              </a:avLst>
            </a:prstGeom>
            <a:solidFill>
              <a:schemeClr val="accent5"/>
            </a:solidFill>
            <a:ln w="14288">
              <a:solidFill>
                <a:srgbClr val="26455F"/>
              </a:solidFill>
            </a:ln>
          </p:spPr>
        </p:sp>
        <p:sp>
          <p:nvSpPr>
            <p:cNvPr id="35" name="Rectangle 35"/>
            <p:cNvSpPr/>
            <p:nvPr/>
          </p:nvSpPr>
          <p:spPr>
            <a:xfrm>
              <a:off x="6248400" y="1504950"/>
              <a:ext cx="57150" cy="2038350"/>
            </a:xfrm>
            <a:prstGeom prst="roundRect">
              <a:avLst>
                <a:gd name="adj" fmla="val 50000"/>
              </a:avLst>
            </a:prstGeom>
            <a:solidFill>
              <a:srgbClr val="F2C14E"/>
            </a:solidFill>
            <a:ln>
              <a:noFill/>
            </a:ln>
          </p:spPr>
        </p:sp>
        <p:sp>
          <p:nvSpPr>
            <p:cNvPr id="36" name="TextBox 36"/>
            <p:cNvSpPr txBox="1"/>
            <p:nvPr/>
          </p:nvSpPr>
          <p:spPr>
            <a:xfrm>
              <a:off x="6508814" y="1733312"/>
              <a:ext cx="2769957"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Curriculum as optimal transport</a:t>
              </a:r>
            </a:p>
          </p:txBody>
        </p:sp>
        <p:sp>
          <p:nvSpPr>
            <p:cNvPr id="37" name="TextBox 37"/>
            <p:cNvSpPr txBox="1"/>
            <p:nvPr/>
          </p:nvSpPr>
          <p:spPr>
            <a:xfrm>
              <a:off x="6509956" y="2024301"/>
              <a:ext cx="391031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Sample candidate states from the replay buffer and frame</a:t>
              </a:r>
            </a:p>
          </p:txBody>
        </p:sp>
        <p:sp>
          <p:nvSpPr>
            <p:cNvPr id="38" name="TextBox 38"/>
            <p:cNvSpPr txBox="1"/>
            <p:nvPr/>
          </p:nvSpPr>
          <p:spPr>
            <a:xfrm>
              <a:off x="6509956" y="2214801"/>
              <a:ext cx="381950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goal generation as a Wasserstein Barycenter with a value</a:t>
              </a:r>
            </a:p>
          </p:txBody>
        </p:sp>
        <p:sp>
          <p:nvSpPr>
            <p:cNvPr id="39" name="TextBox 39"/>
            <p:cNvSpPr txBox="1"/>
            <p:nvPr/>
          </p:nvSpPr>
          <p:spPr>
            <a:xfrm>
              <a:off x="6509956" y="2405301"/>
              <a:ext cx="295302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bias, solved by Minimum Cost Maximum Flow.</a:t>
              </a:r>
            </a:p>
          </p:txBody>
        </p:sp>
        <p:sp>
          <p:nvSpPr>
            <p:cNvPr id="40" name="Line 40"/>
            <p:cNvSpPr/>
            <p:nvPr/>
          </p:nvSpPr>
          <p:spPr>
            <a:xfrm>
              <a:off x="6915150" y="3219450"/>
              <a:ext cx="3810000" cy="9525"/>
            </a:xfrm>
            <a:custGeom>
              <a:avLst/>
              <a:gdLst/>
              <a:ahLst/>
              <a:cxnLst/>
              <a:rect l="l" t="t" r="r" b="b"/>
              <a:pathLst>
                <a:path w="3810000" h="9525">
                  <a:moveTo>
                    <a:pt x="0" y="0"/>
                  </a:moveTo>
                  <a:lnTo>
                    <a:pt x="3810000" y="0"/>
                  </a:lnTo>
                </a:path>
              </a:pathLst>
            </a:custGeom>
            <a:noFill/>
            <a:ln w="19050" cap="rnd">
              <a:solidFill>
                <a:srgbClr val="26455F"/>
              </a:solidFill>
              <a:custDash>
                <a:ds d="100000" sp="300000"/>
              </a:custDash>
            </a:ln>
          </p:spPr>
        </p:sp>
        <p:sp>
          <p:nvSpPr>
            <p:cNvPr id="41" name="Ellipse 41"/>
            <p:cNvSpPr/>
            <p:nvPr/>
          </p:nvSpPr>
          <p:spPr>
            <a:xfrm>
              <a:off x="6848475" y="3152775"/>
              <a:ext cx="133350" cy="133350"/>
            </a:xfrm>
            <a:prstGeom prst="ellipse">
              <a:avLst/>
            </a:prstGeom>
            <a:solidFill>
              <a:schemeClr val="accent2"/>
            </a:solidFill>
            <a:ln>
              <a:noFill/>
            </a:ln>
          </p:spPr>
        </p:sp>
        <p:sp>
          <p:nvSpPr>
            <p:cNvPr id="42" name="Ellipse 42"/>
            <p:cNvSpPr/>
            <p:nvPr/>
          </p:nvSpPr>
          <p:spPr>
            <a:xfrm>
              <a:off x="10658475" y="3152775"/>
              <a:ext cx="133350" cy="133350"/>
            </a:xfrm>
            <a:prstGeom prst="ellipse">
              <a:avLst/>
            </a:prstGeom>
            <a:solidFill>
              <a:srgbClr val="F2C14E"/>
            </a:solidFill>
            <a:ln>
              <a:noFill/>
            </a:ln>
          </p:spPr>
        </p:sp>
        <p:sp>
          <p:nvSpPr>
            <p:cNvPr id="43" name="Ellipse 43"/>
            <p:cNvSpPr/>
            <p:nvPr/>
          </p:nvSpPr>
          <p:spPr>
            <a:xfrm>
              <a:off x="7624762" y="3167062"/>
              <a:ext cx="104775" cy="104775"/>
            </a:xfrm>
            <a:prstGeom prst="ellipse">
              <a:avLst/>
            </a:prstGeom>
            <a:solidFill>
              <a:srgbClr val="F2C14E"/>
            </a:solidFill>
            <a:ln>
              <a:noFill/>
            </a:ln>
          </p:spPr>
        </p:sp>
        <p:sp>
          <p:nvSpPr>
            <p:cNvPr id="44" name="Ellipse 44"/>
            <p:cNvSpPr/>
            <p:nvPr/>
          </p:nvSpPr>
          <p:spPr>
            <a:xfrm>
              <a:off x="8386762" y="3167062"/>
              <a:ext cx="104775" cy="104775"/>
            </a:xfrm>
            <a:prstGeom prst="ellipse">
              <a:avLst/>
            </a:prstGeom>
            <a:solidFill>
              <a:srgbClr val="F2C14E"/>
            </a:solidFill>
            <a:ln>
              <a:noFill/>
            </a:ln>
          </p:spPr>
        </p:sp>
        <p:sp>
          <p:nvSpPr>
            <p:cNvPr id="45" name="Ellipse 45"/>
            <p:cNvSpPr/>
            <p:nvPr/>
          </p:nvSpPr>
          <p:spPr>
            <a:xfrm>
              <a:off x="9148762" y="3167062"/>
              <a:ext cx="104775" cy="104775"/>
            </a:xfrm>
            <a:prstGeom prst="ellipse">
              <a:avLst/>
            </a:prstGeom>
            <a:solidFill>
              <a:srgbClr val="F2C14E"/>
            </a:solidFill>
            <a:ln>
              <a:noFill/>
            </a:ln>
          </p:spPr>
        </p:sp>
        <p:sp>
          <p:nvSpPr>
            <p:cNvPr id="46" name="Ellipse 46"/>
            <p:cNvSpPr/>
            <p:nvPr/>
          </p:nvSpPr>
          <p:spPr>
            <a:xfrm>
              <a:off x="9910762" y="3167062"/>
              <a:ext cx="104775" cy="104775"/>
            </a:xfrm>
            <a:prstGeom prst="ellipse">
              <a:avLst/>
            </a:prstGeom>
            <a:solidFill>
              <a:srgbClr val="F2C14E"/>
            </a:solidFill>
            <a:ln>
              <a:noFill/>
            </a:ln>
          </p:spPr>
        </p:sp>
        <p:sp>
          <p:nvSpPr>
            <p:cNvPr id="47" name="TextBox 47"/>
            <p:cNvSpPr txBox="1"/>
            <p:nvPr/>
          </p:nvSpPr>
          <p:spPr>
            <a:xfrm>
              <a:off x="6751014" y="3339941"/>
              <a:ext cx="328272"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start</a:t>
              </a:r>
            </a:p>
          </p:txBody>
        </p:sp>
        <p:sp>
          <p:nvSpPr>
            <p:cNvPr id="48" name="TextBox 48"/>
            <p:cNvSpPr txBox="1"/>
            <p:nvPr/>
          </p:nvSpPr>
          <p:spPr>
            <a:xfrm>
              <a:off x="10607377" y="3339941"/>
              <a:ext cx="235545"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goal</a:t>
              </a:r>
            </a:p>
          </p:txBody>
        </p:sp>
        <p:sp>
          <p:nvSpPr>
            <p:cNvPr id="49" name="TextBox 49"/>
            <p:cNvSpPr txBox="1"/>
            <p:nvPr/>
          </p:nvSpPr>
          <p:spPr>
            <a:xfrm>
              <a:off x="7966374" y="2992993"/>
              <a:ext cx="1707552" cy="169069"/>
            </a:xfrm>
            <a:prstGeom prst="rect">
              <a:avLst/>
            </a:prstGeom>
            <a:noFill/>
            <a:ln>
              <a:noFill/>
            </a:ln>
          </p:spPr>
          <p:txBody>
            <a:bodyPr wrap="none" lIns="0" tIns="0" rIns="0" bIns="0" anchor="t" anchorCtr="0">
              <a:spAutoFit/>
            </a:bodyPr>
            <a:lstStyle/>
            <a:p>
              <a:pPr algn="ctr"/>
              <a:r>
                <a:rPr lang="en-US" sz="860" b="1" dirty="0">
                  <a:solidFill>
                    <a:srgbClr val="F2C14E"/>
                  </a:solidFill>
                  <a:latin typeface="+mn-lt"/>
                  <a:ea typeface="+mn-ea"/>
                  <a:cs typeface="+mn-cs"/>
                </a:rPr>
                <a:t>K forward + K auxiliary goals</a:t>
              </a:r>
            </a:p>
          </p:txBody>
        </p:sp>
      </p:grpSp>
      <p:grpSp>
        <p:nvGrpSpPr>
          <p:cNvPr id="59" name="Group 59"/>
          <p:cNvGrpSpPr/>
          <p:nvPr/>
        </p:nvGrpSpPr>
        <p:grpSpPr>
          <a:xfrm>
            <a:off x="6248400" y="3695700"/>
            <a:ext cx="5334000" cy="1600200"/>
            <a:chOff x="6248400" y="3695700"/>
            <a:chExt cx="5334000" cy="1600200"/>
          </a:xfrm>
        </p:grpSpPr>
        <p:sp>
          <p:nvSpPr>
            <p:cNvPr id="51" name="Rectangle 51"/>
            <p:cNvSpPr/>
            <p:nvPr/>
          </p:nvSpPr>
          <p:spPr>
            <a:xfrm>
              <a:off x="6248400" y="3695700"/>
              <a:ext cx="5334000" cy="1543050"/>
            </a:xfrm>
            <a:prstGeom prst="roundRect">
              <a:avLst>
                <a:gd name="adj" fmla="val 8642"/>
              </a:avLst>
            </a:prstGeom>
            <a:solidFill>
              <a:schemeClr val="accent5"/>
            </a:solidFill>
            <a:ln w="14288">
              <a:solidFill>
                <a:srgbClr val="26455F"/>
              </a:solidFill>
            </a:ln>
          </p:spPr>
        </p:sp>
        <p:sp>
          <p:nvSpPr>
            <p:cNvPr id="52" name="Rectangle 52"/>
            <p:cNvSpPr/>
            <p:nvPr/>
          </p:nvSpPr>
          <p:spPr>
            <a:xfrm>
              <a:off x="6248400" y="3695700"/>
              <a:ext cx="57150" cy="1543050"/>
            </a:xfrm>
            <a:prstGeom prst="roundRect">
              <a:avLst>
                <a:gd name="adj" fmla="val 50000"/>
              </a:avLst>
            </a:prstGeom>
            <a:solidFill>
              <a:srgbClr val="48C78E"/>
            </a:solidFill>
            <a:ln>
              <a:noFill/>
            </a:ln>
          </p:spPr>
        </p:sp>
        <p:sp>
          <p:nvSpPr>
            <p:cNvPr id="53" name="TextBox 53"/>
            <p:cNvSpPr txBox="1"/>
            <p:nvPr/>
          </p:nvSpPr>
          <p:spPr>
            <a:xfrm>
              <a:off x="6509004" y="3928110"/>
              <a:ext cx="2960864"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Tractable, and demonstration-free</a:t>
              </a:r>
            </a:p>
          </p:txBody>
        </p:sp>
        <p:sp>
          <p:nvSpPr>
            <p:cNvPr id="54" name="TextBox 54"/>
            <p:cNvSpPr txBox="1"/>
            <p:nvPr/>
          </p:nvSpPr>
          <p:spPr>
            <a:xfrm>
              <a:off x="6509956" y="4234101"/>
              <a:ext cx="338410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Lipschitz assumption relaxes the objective into a</a:t>
              </a:r>
            </a:p>
          </p:txBody>
        </p:sp>
        <p:sp>
          <p:nvSpPr>
            <p:cNvPr id="55" name="TextBox 55"/>
            <p:cNvSpPr txBox="1"/>
            <p:nvPr/>
          </p:nvSpPr>
          <p:spPr>
            <a:xfrm>
              <a:off x="6509956" y="4424601"/>
              <a:ext cx="353634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tractable lower bound, optimized with standard Soft</a:t>
              </a:r>
            </a:p>
          </p:txBody>
        </p:sp>
        <p:sp>
          <p:nvSpPr>
            <p:cNvPr id="56" name="TextBox 56"/>
            <p:cNvSpPr txBox="1"/>
            <p:nvPr/>
          </p:nvSpPr>
          <p:spPr>
            <a:xfrm>
              <a:off x="6509956" y="4615101"/>
              <a:ext cx="92376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Actor-Critic.</a:t>
              </a:r>
            </a:p>
          </p:txBody>
        </p:sp>
        <p:sp>
          <p:nvSpPr>
            <p:cNvPr id="57" name="Rectangle 57"/>
            <p:cNvSpPr/>
            <p:nvPr/>
          </p:nvSpPr>
          <p:spPr>
            <a:xfrm>
              <a:off x="6515100" y="4895850"/>
              <a:ext cx="4800600" cy="400050"/>
            </a:xfrm>
            <a:prstGeom prst="roundRect">
              <a:avLst>
                <a:gd name="adj" fmla="val 19048"/>
              </a:avLst>
            </a:prstGeom>
            <a:solidFill>
              <a:schemeClr val="accent6"/>
            </a:solidFill>
            <a:ln w="14288">
              <a:solidFill>
                <a:srgbClr val="26455F"/>
              </a:solidFill>
            </a:ln>
          </p:spPr>
        </p:sp>
        <p:sp>
          <p:nvSpPr>
            <p:cNvPr id="58" name="TextBox 58"/>
            <p:cNvSpPr txBox="1"/>
            <p:nvPr/>
          </p:nvSpPr>
          <p:spPr>
            <a:xfrm>
              <a:off x="7282741" y="5043726"/>
              <a:ext cx="3265318"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defines target from ~10 states (sometimes 1)</a:t>
              </a:r>
            </a:p>
          </p:txBody>
        </p:sp>
      </p:grpSp>
      <p:sp>
        <p:nvSpPr>
          <p:cNvPr id="60" name="cue_s05_c1_how_ibc_works_during_agent" title="cue_s05_c1_how_ibc_works_during_agent" descr="cue_s05_c1_how_ibc_works_during_agent Here is how IBC works. During training the agent constantly alternates between two roles. The forward agent tries to accomplish the task. The auxiliary agent brings it back toward a set of target initial states so it can practice again."/>
          <p:cNvSpPr/>
          <p:nvPr/>
        </p:nvSpPr>
        <p:spPr>
          <a:xfrm>
            <a:off x="609600" y="1504645"/>
            <a:ext cx="5409590" cy="226314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5_c2_key_trick_auxiliary_agent_activated" title="cue_s05_c2_key_trick_auxiliary_agent_activated" descr="cue_s05_c2_key_trick_auxiliary_agent_activated The key trick is that the auxiliary agent is activated only when the forward agent fails, so as the forward agent gets better, the auxiliary agent naturally steps in less and less. That is the implicit curriculum. On top of this sits the explicit, bidirectiona"/>
          <p:cNvSpPr/>
          <p:nvPr/>
        </p:nvSpPr>
        <p:spPr>
          <a:xfrm>
            <a:off x="609600" y="3584676"/>
            <a:ext cx="5409590" cy="1711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5_c3_rather_relying_demonstrations_ibc_sa" title="cue_s05_c3_rather_relying_demonstrations_ibc_sa" descr="cue_s05_c3_rather_relying_demonstrations_ibc_sa Rather than relying on demonstrations, IBC samples candidate states from its own replay buffer and frames curriculum generation as an optimal transport problem, specifically a Wasserstein Barycenter augmented with a value bias term. It solves the resulting bip"/>
          <p:cNvSpPr/>
          <p:nvPr/>
        </p:nvSpPr>
        <p:spPr>
          <a:xfrm>
            <a:off x="6248399" y="1504645"/>
            <a:ext cx="5334000"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5_c4_lipschitz_continuity_assumption_lets" title="cue_s05_c4_lipschitz_continuity_assumption_lets" descr="cue_s05_c4_lipschitz_continuity_assumption_lets A Lipschitz-continuity assumption lets the method relax the true objective into a tractable lower bound, and standard Soft Actor-Critic handles the policy updates. Remarkably, defining the target distribution needs only about ten sample states, and sometimes j"/>
          <p:cNvSpPr/>
          <p:nvPr/>
        </p:nvSpPr>
        <p:spPr>
          <a:xfrm>
            <a:off x="6248399" y="3695776"/>
            <a:ext cx="5334000"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572688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Six reset-free sparse-reward tasks</a:t>
            </a:r>
          </a:p>
        </p:txBody>
      </p:sp>
      <p:grpSp>
        <p:nvGrpSpPr>
          <p:cNvPr id="14" name="Group 14"/>
          <p:cNvGrpSpPr/>
          <p:nvPr/>
        </p:nvGrpSpPr>
        <p:grpSpPr>
          <a:xfrm>
            <a:off x="609600" y="1504950"/>
            <a:ext cx="5334000" cy="1676400"/>
            <a:chOff x="609600" y="1504950"/>
            <a:chExt cx="5334000" cy="1676400"/>
          </a:xfrm>
        </p:grpSpPr>
        <p:sp>
          <p:nvSpPr>
            <p:cNvPr id="5" name="Rectangle 5"/>
            <p:cNvSpPr/>
            <p:nvPr/>
          </p:nvSpPr>
          <p:spPr>
            <a:xfrm>
              <a:off x="609600" y="1504950"/>
              <a:ext cx="5334000" cy="1676400"/>
            </a:xfrm>
            <a:prstGeom prst="roundRect">
              <a:avLst>
                <a:gd name="adj" fmla="val 7955"/>
              </a:avLst>
            </a:prstGeom>
            <a:solidFill>
              <a:schemeClr val="accent5"/>
            </a:solidFill>
            <a:ln w="14288">
              <a:solidFill>
                <a:srgbClr val="26455F"/>
              </a:solidFill>
            </a:ln>
          </p:spPr>
        </p:sp>
        <p:sp>
          <p:nvSpPr>
            <p:cNvPr id="6" name="Rectangle 6"/>
            <p:cNvSpPr/>
            <p:nvPr/>
          </p:nvSpPr>
          <p:spPr>
            <a:xfrm>
              <a:off x="609600" y="1504950"/>
              <a:ext cx="57150" cy="1676400"/>
            </a:xfrm>
            <a:prstGeom prst="roundRect">
              <a:avLst>
                <a:gd name="adj" fmla="val 50000"/>
              </a:avLst>
            </a:prstGeom>
            <a:solidFill>
              <a:schemeClr val="accent2"/>
            </a:solidFill>
            <a:ln>
              <a:noFill/>
            </a:ln>
          </p:spPr>
        </p:sp>
        <p:sp>
          <p:nvSpPr>
            <p:cNvPr id="7" name="TextBox 7"/>
            <p:cNvSpPr txBox="1"/>
            <p:nvPr/>
          </p:nvSpPr>
          <p:spPr>
            <a:xfrm>
              <a:off x="869632" y="1744266"/>
              <a:ext cx="1916632" cy="256699"/>
            </a:xfrm>
            <a:prstGeom prst="rect">
              <a:avLst/>
            </a:prstGeom>
            <a:noFill/>
            <a:ln>
              <a:noFill/>
            </a:ln>
          </p:spPr>
          <p:txBody>
            <a:bodyPr wrap="none" lIns="0" tIns="0" rIns="0" bIns="0" anchor="t" anchorCtr="0">
              <a:spAutoFit/>
            </a:bodyPr>
            <a:lstStyle/>
            <a:p>
              <a:pPr algn="l"/>
              <a:r>
                <a:rPr lang="en-US" sz="1310" b="1" dirty="0">
                  <a:solidFill>
                    <a:schemeClr val="accent2"/>
                  </a:solidFill>
                  <a:latin typeface="+mn-lt"/>
                  <a:ea typeface="+mn-ea"/>
                  <a:cs typeface="+mn-cs"/>
                </a:rPr>
                <a:t>Two tasks from EARL</a:t>
              </a:r>
            </a:p>
          </p:txBody>
        </p:sp>
        <p:sp>
          <p:nvSpPr>
            <p:cNvPr id="8" name="TextBox 8"/>
            <p:cNvSpPr txBox="1"/>
            <p:nvPr/>
          </p:nvSpPr>
          <p:spPr>
            <a:xfrm>
              <a:off x="870966" y="2077402"/>
              <a:ext cx="378938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Six sparse-reward environments span manipulation and</a:t>
              </a:r>
            </a:p>
          </p:txBody>
        </p:sp>
        <p:sp>
          <p:nvSpPr>
            <p:cNvPr id="9" name="TextBox 9"/>
            <p:cNvSpPr txBox="1"/>
            <p:nvPr/>
          </p:nvSpPr>
          <p:spPr>
            <a:xfrm>
              <a:off x="870966" y="2277428"/>
              <a:ext cx="33664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locomotion; two come from EARL, an established</a:t>
              </a:r>
            </a:p>
          </p:txBody>
        </p:sp>
        <p:sp>
          <p:nvSpPr>
            <p:cNvPr id="10" name="TextBox 10"/>
            <p:cNvSpPr txBox="1"/>
            <p:nvPr/>
          </p:nvSpPr>
          <p:spPr>
            <a:xfrm>
              <a:off x="870966" y="2477452"/>
              <a:ext cx="190787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autonomous-RL benchmark.</a:t>
              </a:r>
            </a:p>
          </p:txBody>
        </p:sp>
        <p:sp>
          <p:nvSpPr>
            <p:cNvPr id="11" name="Rectangle 11"/>
            <p:cNvSpPr/>
            <p:nvPr/>
          </p:nvSpPr>
          <p:spPr>
            <a:xfrm>
              <a:off x="876300" y="2647950"/>
              <a:ext cx="4800600" cy="323850"/>
            </a:xfrm>
            <a:prstGeom prst="roundRect">
              <a:avLst>
                <a:gd name="adj" fmla="val 23529"/>
              </a:avLst>
            </a:prstGeom>
            <a:solidFill>
              <a:schemeClr val="accent6"/>
            </a:solidFill>
            <a:ln w="14288">
              <a:solidFill>
                <a:srgbClr val="26455F"/>
              </a:solidFill>
            </a:ln>
          </p:spPr>
        </p:sp>
        <p:sp>
          <p:nvSpPr>
            <p:cNvPr id="12" name="Ellipse 12"/>
            <p:cNvSpPr/>
            <p:nvPr/>
          </p:nvSpPr>
          <p:spPr>
            <a:xfrm>
              <a:off x="1000125" y="2762250"/>
              <a:ext cx="95250" cy="95250"/>
            </a:xfrm>
            <a:prstGeom prst="ellipse">
              <a:avLst/>
            </a:prstGeom>
            <a:solidFill>
              <a:schemeClr val="accent2"/>
            </a:solidFill>
            <a:ln>
              <a:noFill/>
            </a:ln>
          </p:spPr>
        </p:sp>
        <p:sp>
          <p:nvSpPr>
            <p:cNvPr id="13" name="TextBox 13"/>
            <p:cNvSpPr txBox="1"/>
            <p:nvPr/>
          </p:nvSpPr>
          <p:spPr>
            <a:xfrm>
              <a:off x="1194626" y="2749629"/>
              <a:ext cx="2750954"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Tabletop Manipulation · Sawyer Door</a:t>
              </a:r>
            </a:p>
          </p:txBody>
        </p:sp>
      </p:grpSp>
      <p:grpSp>
        <p:nvGrpSpPr>
          <p:cNvPr id="23" name="Group 23"/>
          <p:cNvGrpSpPr/>
          <p:nvPr/>
        </p:nvGrpSpPr>
        <p:grpSpPr>
          <a:xfrm>
            <a:off x="6248400" y="1504950"/>
            <a:ext cx="5334000" cy="1676400"/>
            <a:chOff x="6248400" y="1504950"/>
            <a:chExt cx="5334000" cy="1676400"/>
          </a:xfrm>
        </p:grpSpPr>
        <p:sp>
          <p:nvSpPr>
            <p:cNvPr id="15" name="Rectangle 15"/>
            <p:cNvSpPr/>
            <p:nvPr/>
          </p:nvSpPr>
          <p:spPr>
            <a:xfrm>
              <a:off x="6248400" y="1504950"/>
              <a:ext cx="5334000" cy="1676400"/>
            </a:xfrm>
            <a:prstGeom prst="roundRect">
              <a:avLst>
                <a:gd name="adj" fmla="val 7955"/>
              </a:avLst>
            </a:prstGeom>
            <a:solidFill>
              <a:schemeClr val="accent5"/>
            </a:solidFill>
            <a:ln w="14288">
              <a:solidFill>
                <a:srgbClr val="26455F"/>
              </a:solidFill>
            </a:ln>
          </p:spPr>
        </p:sp>
        <p:sp>
          <p:nvSpPr>
            <p:cNvPr id="16" name="Rectangle 16"/>
            <p:cNvSpPr/>
            <p:nvPr/>
          </p:nvSpPr>
          <p:spPr>
            <a:xfrm>
              <a:off x="6248400" y="1504950"/>
              <a:ext cx="57150" cy="1676400"/>
            </a:xfrm>
            <a:prstGeom prst="roundRect">
              <a:avLst>
                <a:gd name="adj" fmla="val 50000"/>
              </a:avLst>
            </a:prstGeom>
            <a:solidFill>
              <a:srgbClr val="34D3C0"/>
            </a:solidFill>
            <a:ln>
              <a:noFill/>
            </a:ln>
          </p:spPr>
        </p:sp>
        <p:sp>
          <p:nvSpPr>
            <p:cNvPr id="17" name="TextBox 17"/>
            <p:cNvSpPr txBox="1"/>
            <p:nvPr/>
          </p:nvSpPr>
          <p:spPr>
            <a:xfrm>
              <a:off x="6508432" y="1744266"/>
              <a:ext cx="3092536" cy="256699"/>
            </a:xfrm>
            <a:prstGeom prst="rect">
              <a:avLst/>
            </a:prstGeom>
            <a:noFill/>
            <a:ln>
              <a:noFill/>
            </a:ln>
          </p:spPr>
          <p:txBody>
            <a:bodyPr wrap="none" lIns="0" tIns="0" rIns="0" bIns="0" anchor="t" anchorCtr="0">
              <a:spAutoFit/>
            </a:bodyPr>
            <a:lstStyle/>
            <a:p>
              <a:pPr algn="l"/>
              <a:r>
                <a:rPr lang="en-US" sz="1310" b="1" dirty="0">
                  <a:solidFill>
                    <a:srgbClr val="34D3C0"/>
                  </a:solidFill>
                  <a:latin typeface="+mn-lt"/>
                  <a:ea typeface="+mn-ea"/>
                  <a:cs typeface="+mn-cs"/>
                </a:rPr>
                <a:t>Four modified MuJoCo / Gym tasks</a:t>
              </a:r>
            </a:p>
          </p:txBody>
        </p:sp>
        <p:sp>
          <p:nvSpPr>
            <p:cNvPr id="18" name="TextBox 18"/>
            <p:cNvSpPr txBox="1"/>
            <p:nvPr/>
          </p:nvSpPr>
          <p:spPr>
            <a:xfrm>
              <a:off x="6509766" y="2077402"/>
              <a:ext cx="38938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Standard OpenAI Gym tasks the authors adapted for the</a:t>
              </a:r>
            </a:p>
          </p:txBody>
        </p:sp>
        <p:sp>
          <p:nvSpPr>
            <p:cNvPr id="19" name="TextBox 19"/>
            <p:cNvSpPr txBox="1"/>
            <p:nvPr/>
          </p:nvSpPr>
          <p:spPr>
            <a:xfrm>
              <a:off x="6509766" y="2277428"/>
              <a:ext cx="239950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reset-free, non-episodic setting.</a:t>
              </a:r>
            </a:p>
          </p:txBody>
        </p:sp>
        <p:sp>
          <p:nvSpPr>
            <p:cNvPr id="20" name="Rectangle 20"/>
            <p:cNvSpPr/>
            <p:nvPr/>
          </p:nvSpPr>
          <p:spPr>
            <a:xfrm>
              <a:off x="6515100" y="2647950"/>
              <a:ext cx="4800600" cy="323850"/>
            </a:xfrm>
            <a:prstGeom prst="roundRect">
              <a:avLst>
                <a:gd name="adj" fmla="val 23529"/>
              </a:avLst>
            </a:prstGeom>
            <a:solidFill>
              <a:schemeClr val="accent6"/>
            </a:solidFill>
            <a:ln w="14288">
              <a:solidFill>
                <a:srgbClr val="26455F"/>
              </a:solidFill>
            </a:ln>
          </p:spPr>
        </p:sp>
        <p:sp>
          <p:nvSpPr>
            <p:cNvPr id="21" name="Ellipse 21"/>
            <p:cNvSpPr/>
            <p:nvPr/>
          </p:nvSpPr>
          <p:spPr>
            <a:xfrm>
              <a:off x="6638925" y="2762250"/>
              <a:ext cx="95250" cy="95250"/>
            </a:xfrm>
            <a:prstGeom prst="ellipse">
              <a:avLst/>
            </a:prstGeom>
            <a:solidFill>
              <a:srgbClr val="34D3C0"/>
            </a:solidFill>
            <a:ln>
              <a:noFill/>
            </a:ln>
          </p:spPr>
        </p:sp>
        <p:sp>
          <p:nvSpPr>
            <p:cNvPr id="22" name="TextBox 22"/>
            <p:cNvSpPr txBox="1"/>
            <p:nvPr/>
          </p:nvSpPr>
          <p:spPr>
            <a:xfrm>
              <a:off x="6833426" y="2749629"/>
              <a:ext cx="3603345"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Fetch Pick&amp;Place · Push · Reach · Point-U-Maze</a:t>
              </a:r>
            </a:p>
          </p:txBody>
        </p:sp>
      </p:grpSp>
      <p:grpSp>
        <p:nvGrpSpPr>
          <p:cNvPr id="32" name="Group 32"/>
          <p:cNvGrpSpPr/>
          <p:nvPr/>
        </p:nvGrpSpPr>
        <p:grpSpPr>
          <a:xfrm>
            <a:off x="609600" y="3352800"/>
            <a:ext cx="5334000" cy="1676400"/>
            <a:chOff x="609600" y="3352800"/>
            <a:chExt cx="5334000" cy="1676400"/>
          </a:xfrm>
        </p:grpSpPr>
        <p:sp>
          <p:nvSpPr>
            <p:cNvPr id="24" name="Rectangle 24"/>
            <p:cNvSpPr/>
            <p:nvPr/>
          </p:nvSpPr>
          <p:spPr>
            <a:xfrm>
              <a:off x="609600" y="3352800"/>
              <a:ext cx="5334000" cy="1676400"/>
            </a:xfrm>
            <a:prstGeom prst="roundRect">
              <a:avLst>
                <a:gd name="adj" fmla="val 7955"/>
              </a:avLst>
            </a:prstGeom>
            <a:solidFill>
              <a:schemeClr val="accent5"/>
            </a:solidFill>
            <a:ln w="14288">
              <a:solidFill>
                <a:srgbClr val="26455F"/>
              </a:solidFill>
            </a:ln>
          </p:spPr>
        </p:sp>
        <p:sp>
          <p:nvSpPr>
            <p:cNvPr id="25" name="Rectangle 25"/>
            <p:cNvSpPr/>
            <p:nvPr/>
          </p:nvSpPr>
          <p:spPr>
            <a:xfrm>
              <a:off x="609600" y="3352800"/>
              <a:ext cx="57150" cy="1676400"/>
            </a:xfrm>
            <a:prstGeom prst="roundRect">
              <a:avLst>
                <a:gd name="adj" fmla="val 50000"/>
              </a:avLst>
            </a:prstGeom>
            <a:solidFill>
              <a:srgbClr val="F2C14E"/>
            </a:solidFill>
            <a:ln>
              <a:noFill/>
            </a:ln>
          </p:spPr>
        </p:sp>
        <p:sp>
          <p:nvSpPr>
            <p:cNvPr id="26" name="TextBox 26"/>
            <p:cNvSpPr txBox="1"/>
            <p:nvPr/>
          </p:nvSpPr>
          <p:spPr>
            <a:xfrm>
              <a:off x="869632" y="3592116"/>
              <a:ext cx="2616333" cy="256699"/>
            </a:xfrm>
            <a:prstGeom prst="rect">
              <a:avLst/>
            </a:prstGeom>
            <a:noFill/>
            <a:ln>
              <a:noFill/>
            </a:ln>
          </p:spPr>
          <p:txBody>
            <a:bodyPr wrap="none" lIns="0" tIns="0" rIns="0" bIns="0" anchor="t" anchorCtr="0">
              <a:spAutoFit/>
            </a:bodyPr>
            <a:lstStyle/>
            <a:p>
              <a:pPr algn="l"/>
              <a:r>
                <a:rPr lang="en-US" sz="1310" b="1" dirty="0">
                  <a:solidFill>
                    <a:srgbClr val="F2C14E"/>
                  </a:solidFill>
                  <a:latin typeface="+mn-lt"/>
                  <a:ea typeface="+mn-ea"/>
                  <a:cs typeface="+mn-cs"/>
                </a:rPr>
                <a:t>The EARL evaluation protocol</a:t>
              </a:r>
            </a:p>
          </p:txBody>
        </p:sp>
        <p:sp>
          <p:nvSpPr>
            <p:cNvPr id="27" name="TextBox 27"/>
            <p:cNvSpPr txBox="1"/>
            <p:nvPr/>
          </p:nvSpPr>
          <p:spPr>
            <a:xfrm>
              <a:off x="870966" y="3925252"/>
              <a:ext cx="390260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agent is spawned once, interacts continually, and is</a:t>
              </a:r>
            </a:p>
          </p:txBody>
        </p:sp>
        <p:sp>
          <p:nvSpPr>
            <p:cNvPr id="28" name="TextBox 28"/>
            <p:cNvSpPr txBox="1"/>
            <p:nvPr/>
          </p:nvSpPr>
          <p:spPr>
            <a:xfrm>
              <a:off x="870966" y="4125278"/>
              <a:ext cx="401090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reset only rarely, after hundreds of thousands of steps.</a:t>
              </a:r>
            </a:p>
          </p:txBody>
        </p:sp>
        <p:sp>
          <p:nvSpPr>
            <p:cNvPr id="29" name="Rectangle 29"/>
            <p:cNvSpPr/>
            <p:nvPr/>
          </p:nvSpPr>
          <p:spPr>
            <a:xfrm>
              <a:off x="876300" y="4495800"/>
              <a:ext cx="4800600" cy="323850"/>
            </a:xfrm>
            <a:prstGeom prst="roundRect">
              <a:avLst>
                <a:gd name="adj" fmla="val 23529"/>
              </a:avLst>
            </a:prstGeom>
            <a:solidFill>
              <a:schemeClr val="accent6"/>
            </a:solidFill>
            <a:ln w="14288">
              <a:solidFill>
                <a:srgbClr val="26455F"/>
              </a:solidFill>
            </a:ln>
          </p:spPr>
        </p:sp>
        <p:sp>
          <p:nvSpPr>
            <p:cNvPr id="30" name="Ellipse 30"/>
            <p:cNvSpPr/>
            <p:nvPr/>
          </p:nvSpPr>
          <p:spPr>
            <a:xfrm>
              <a:off x="1000125" y="4610100"/>
              <a:ext cx="95250" cy="95250"/>
            </a:xfrm>
            <a:prstGeom prst="ellipse">
              <a:avLst/>
            </a:prstGeom>
            <a:solidFill>
              <a:srgbClr val="F2C14E"/>
            </a:solidFill>
            <a:ln>
              <a:noFill/>
            </a:ln>
          </p:spPr>
        </p:sp>
        <p:sp>
          <p:nvSpPr>
            <p:cNvPr id="31" name="TextBox 31"/>
            <p:cNvSpPr txBox="1"/>
            <p:nvPr/>
          </p:nvSpPr>
          <p:spPr>
            <a:xfrm>
              <a:off x="1194626" y="4597479"/>
              <a:ext cx="3808938"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spawn once · continual · reset every ~100k+ steps</a:t>
              </a:r>
            </a:p>
          </p:txBody>
        </p:sp>
      </p:grpSp>
      <p:grpSp>
        <p:nvGrpSpPr>
          <p:cNvPr id="41" name="Group 41"/>
          <p:cNvGrpSpPr/>
          <p:nvPr/>
        </p:nvGrpSpPr>
        <p:grpSpPr>
          <a:xfrm>
            <a:off x="6248400" y="3352800"/>
            <a:ext cx="5334000" cy="1676400"/>
            <a:chOff x="6248400" y="3352800"/>
            <a:chExt cx="5334000" cy="1676400"/>
          </a:xfrm>
        </p:grpSpPr>
        <p:sp>
          <p:nvSpPr>
            <p:cNvPr id="33" name="Rectangle 33"/>
            <p:cNvSpPr/>
            <p:nvPr/>
          </p:nvSpPr>
          <p:spPr>
            <a:xfrm>
              <a:off x="6248400" y="3352800"/>
              <a:ext cx="5334000" cy="1676400"/>
            </a:xfrm>
            <a:prstGeom prst="roundRect">
              <a:avLst>
                <a:gd name="adj" fmla="val 7955"/>
              </a:avLst>
            </a:prstGeom>
            <a:solidFill>
              <a:schemeClr val="accent5"/>
            </a:solidFill>
            <a:ln w="14288">
              <a:solidFill>
                <a:srgbClr val="26455F"/>
              </a:solidFill>
            </a:ln>
          </p:spPr>
        </p:sp>
        <p:sp>
          <p:nvSpPr>
            <p:cNvPr id="34" name="Rectangle 34"/>
            <p:cNvSpPr/>
            <p:nvPr/>
          </p:nvSpPr>
          <p:spPr>
            <a:xfrm>
              <a:off x="6248400" y="3352800"/>
              <a:ext cx="57150" cy="1676400"/>
            </a:xfrm>
            <a:prstGeom prst="roundRect">
              <a:avLst>
                <a:gd name="adj" fmla="val 50000"/>
              </a:avLst>
            </a:prstGeom>
            <a:solidFill>
              <a:srgbClr val="B08CE8"/>
            </a:solidFill>
            <a:ln>
              <a:noFill/>
            </a:ln>
          </p:spPr>
        </p:sp>
        <p:sp>
          <p:nvSpPr>
            <p:cNvPr id="35" name="TextBox 35"/>
            <p:cNvSpPr txBox="1"/>
            <p:nvPr/>
          </p:nvSpPr>
          <p:spPr>
            <a:xfrm>
              <a:off x="6508432" y="3592116"/>
              <a:ext cx="2695349" cy="256699"/>
            </a:xfrm>
            <a:prstGeom prst="rect">
              <a:avLst/>
            </a:prstGeom>
            <a:noFill/>
            <a:ln>
              <a:noFill/>
            </a:ln>
          </p:spPr>
          <p:txBody>
            <a:bodyPr wrap="none" lIns="0" tIns="0" rIns="0" bIns="0" anchor="t" anchorCtr="0">
              <a:spAutoFit/>
            </a:bodyPr>
            <a:lstStyle/>
            <a:p>
              <a:pPr algn="l"/>
              <a:r>
                <a:rPr lang="en-US" sz="1310" b="1" dirty="0">
                  <a:solidFill>
                    <a:srgbClr val="B08CE8"/>
                  </a:solidFill>
                  <a:latin typeface="+mn-lt"/>
                  <a:ea typeface="+mn-ea"/>
                  <a:cs typeface="+mn-cs"/>
                </a:rPr>
                <a:t>How performance is measured</a:t>
              </a:r>
            </a:p>
          </p:txBody>
        </p:sp>
        <p:sp>
          <p:nvSpPr>
            <p:cNvPr id="36" name="TextBox 36"/>
            <p:cNvSpPr txBox="1"/>
            <p:nvPr/>
          </p:nvSpPr>
          <p:spPr>
            <a:xfrm>
              <a:off x="6509766" y="3925252"/>
              <a:ext cx="354201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deployed-policy evaluation metric, reported at</a:t>
              </a:r>
            </a:p>
          </p:txBody>
        </p:sp>
        <p:sp>
          <p:nvSpPr>
            <p:cNvPr id="37" name="TextBox 37"/>
            <p:cNvSpPr txBox="1"/>
            <p:nvPr/>
          </p:nvSpPr>
          <p:spPr>
            <a:xfrm>
              <a:off x="6509766" y="4125278"/>
              <a:ext cx="208146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ten-thousand-step intervals.</a:t>
              </a:r>
            </a:p>
          </p:txBody>
        </p:sp>
        <p:sp>
          <p:nvSpPr>
            <p:cNvPr id="38" name="Rectangle 38"/>
            <p:cNvSpPr/>
            <p:nvPr/>
          </p:nvSpPr>
          <p:spPr>
            <a:xfrm>
              <a:off x="6515100" y="4495800"/>
              <a:ext cx="4800600" cy="323850"/>
            </a:xfrm>
            <a:prstGeom prst="roundRect">
              <a:avLst>
                <a:gd name="adj" fmla="val 23529"/>
              </a:avLst>
            </a:prstGeom>
            <a:solidFill>
              <a:schemeClr val="accent6"/>
            </a:solidFill>
            <a:ln w="14288">
              <a:solidFill>
                <a:srgbClr val="26455F"/>
              </a:solidFill>
            </a:ln>
          </p:spPr>
        </p:sp>
        <p:sp>
          <p:nvSpPr>
            <p:cNvPr id="39" name="Ellipse 39"/>
            <p:cNvSpPr/>
            <p:nvPr/>
          </p:nvSpPr>
          <p:spPr>
            <a:xfrm>
              <a:off x="6638925" y="4610100"/>
              <a:ext cx="95250" cy="95250"/>
            </a:xfrm>
            <a:prstGeom prst="ellipse">
              <a:avLst/>
            </a:prstGeom>
            <a:solidFill>
              <a:srgbClr val="B08CE8"/>
            </a:solidFill>
            <a:ln>
              <a:noFill/>
            </a:ln>
          </p:spPr>
        </p:sp>
        <p:sp>
          <p:nvSpPr>
            <p:cNvPr id="40" name="TextBox 40"/>
            <p:cNvSpPr txBox="1"/>
            <p:nvPr/>
          </p:nvSpPr>
          <p:spPr>
            <a:xfrm>
              <a:off x="6833426" y="4597479"/>
              <a:ext cx="3300499"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deployed-policy metric · 10k-step · 5 seeds</a:t>
              </a:r>
            </a:p>
          </p:txBody>
        </p:sp>
      </p:grpSp>
      <p:sp>
        <p:nvSpPr>
          <p:cNvPr id="42" name="cue_s06_c1_test_ibc_authors_assembled_six" title="cue_s06_c1_test_ibc_authors_assembled_six" descr="cue_s06_c1_test_ibc_authors_assembled_six To test IBC, the authors assembled six sparse-reward environments spanning both manipulation and locomotion. Two of them, Tabletop Manipulation and Sawyer Door, come from EARL, an established benchmark for autonomous reinforcement learning."/>
          <p:cNvSpPr/>
          <p:nvPr/>
        </p:nvSpPr>
        <p:spPr>
          <a:xfrm>
            <a:off x="609600" y="1504645"/>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6_c2_other_four_fetch_pick_place" title="cue_s06_c2_other_four_fetch_pick_place" descr="cue_s06_c2_other_four_fetch_pick_place The other four are Fetch Pick and Place, Fetch Push, Fetch Reach, and Point-U-Maze, which are standard MuJoCo-based OpenAI Gym tasks that the authors modified for the reset-free, non-episodic setting."/>
          <p:cNvSpPr/>
          <p:nvPr/>
        </p:nvSpPr>
        <p:spPr>
          <a:xfrm>
            <a:off x="6248399" y="1504645"/>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6_c3_evaluation_follows_earl_protocol_age" title="cue_s06_c3_evaluation_follows_earl_protocol_age" descr="cue_s06_c3_evaluation_follows_earl_protocol_age Evaluation follows the EARL protocol: the agent is spawned once, interacts continually, and is reset only rarely, after hundreds of thousands of steps."/>
          <p:cNvSpPr/>
          <p:nvPr/>
        </p:nvSpPr>
        <p:spPr>
          <a:xfrm>
            <a:off x="609600" y="3352876"/>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6_c4_performance_measured_deployed_policy" title="cue_s06_c4_performance_measured_deployed_policy" descr="cue_s06_c4_performance_measured_deployed_policy Performance is measured as the deployed policy evaluation metric, reported at ten-thousand-step intervals and averaged across five random seeds."/>
          <p:cNvSpPr/>
          <p:nvPr/>
        </p:nvSpPr>
        <p:spPr>
          <a:xfrm>
            <a:off x="6248399" y="3352876"/>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687177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State of the art, with zero demonstrations</a:t>
            </a:r>
          </a:p>
        </p:txBody>
      </p:sp>
      <p:grpSp>
        <p:nvGrpSpPr>
          <p:cNvPr id="8" name="Group 8"/>
          <p:cNvGrpSpPr/>
          <p:nvPr/>
        </p:nvGrpSpPr>
        <p:grpSpPr>
          <a:xfrm>
            <a:off x="609600" y="1428750"/>
            <a:ext cx="10972800" cy="457200"/>
            <a:chOff x="609600" y="1428750"/>
            <a:chExt cx="10972800" cy="457200"/>
          </a:xfrm>
        </p:grpSpPr>
        <p:sp>
          <p:nvSpPr>
            <p:cNvPr id="5" name="Rectangle 5"/>
            <p:cNvSpPr/>
            <p:nvPr/>
          </p:nvSpPr>
          <p:spPr>
            <a:xfrm>
              <a:off x="609600" y="1428750"/>
              <a:ext cx="10972800" cy="457200"/>
            </a:xfrm>
            <a:prstGeom prst="roundRect">
              <a:avLst>
                <a:gd name="adj" fmla="val 29167"/>
              </a:avLst>
            </a:prstGeom>
            <a:solidFill>
              <a:schemeClr val="accent5"/>
            </a:solidFill>
            <a:ln w="14288">
              <a:solidFill>
                <a:srgbClr val="26455F"/>
              </a:solidFill>
            </a:ln>
          </p:spPr>
        </p:sp>
        <p:sp>
          <p:nvSpPr>
            <p:cNvPr id="6" name="Rectangle 6"/>
            <p:cNvSpPr/>
            <p:nvPr/>
          </p:nvSpPr>
          <p:spPr>
            <a:xfrm>
              <a:off x="609600" y="1428750"/>
              <a:ext cx="57150" cy="457200"/>
            </a:xfrm>
            <a:prstGeom prst="roundRect">
              <a:avLst>
                <a:gd name="adj" fmla="val 50000"/>
              </a:avLst>
            </a:prstGeom>
            <a:solidFill>
              <a:srgbClr val="48C78E"/>
            </a:solidFill>
            <a:ln>
              <a:noFill/>
            </a:ln>
          </p:spPr>
        </p:sp>
        <p:sp>
          <p:nvSpPr>
            <p:cNvPr id="7" name="TextBox 7"/>
            <p:cNvSpPr txBox="1"/>
            <p:nvPr/>
          </p:nvSpPr>
          <p:spPr>
            <a:xfrm>
              <a:off x="870014" y="1580912"/>
              <a:ext cx="8610283"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IBC reaches state-of-the-art success across all six environments, without a single demonstration.</a:t>
              </a:r>
            </a:p>
          </p:txBody>
        </p:sp>
      </p:grpSp>
      <p:grpSp>
        <p:nvGrpSpPr>
          <p:cNvPr id="29" name="Group 29"/>
          <p:cNvGrpSpPr/>
          <p:nvPr/>
        </p:nvGrpSpPr>
        <p:grpSpPr>
          <a:xfrm>
            <a:off x="609600" y="2019300"/>
            <a:ext cx="5334000" cy="2533650"/>
            <a:chOff x="609600" y="2019300"/>
            <a:chExt cx="5334000" cy="2533650"/>
          </a:xfrm>
        </p:grpSpPr>
        <p:sp>
          <p:nvSpPr>
            <p:cNvPr id="9" name="Rectangle 9"/>
            <p:cNvSpPr/>
            <p:nvPr/>
          </p:nvSpPr>
          <p:spPr>
            <a:xfrm>
              <a:off x="609600" y="2019300"/>
              <a:ext cx="5334000" cy="2533650"/>
            </a:xfrm>
            <a:prstGeom prst="roundRect">
              <a:avLst>
                <a:gd name="adj" fmla="val 5263"/>
              </a:avLst>
            </a:prstGeom>
            <a:solidFill>
              <a:schemeClr val="accent5"/>
            </a:solidFill>
            <a:ln w="14288">
              <a:solidFill>
                <a:srgbClr val="26455F"/>
              </a:solidFill>
            </a:ln>
          </p:spPr>
        </p:sp>
        <p:sp>
          <p:nvSpPr>
            <p:cNvPr id="10" name="Rectangle 10"/>
            <p:cNvSpPr/>
            <p:nvPr/>
          </p:nvSpPr>
          <p:spPr>
            <a:xfrm>
              <a:off x="609600" y="2019300"/>
              <a:ext cx="57150" cy="2533650"/>
            </a:xfrm>
            <a:prstGeom prst="roundRect">
              <a:avLst>
                <a:gd name="adj" fmla="val 50000"/>
              </a:avLst>
            </a:prstGeom>
            <a:solidFill>
              <a:srgbClr val="48C78E"/>
            </a:solidFill>
            <a:ln>
              <a:noFill/>
            </a:ln>
          </p:spPr>
        </p:sp>
        <p:sp>
          <p:nvSpPr>
            <p:cNvPr id="11" name="TextBox 11"/>
            <p:cNvSpPr txBox="1"/>
            <p:nvPr/>
          </p:nvSpPr>
          <p:spPr>
            <a:xfrm>
              <a:off x="870204" y="2213610"/>
              <a:ext cx="2613272"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Success rate · higher is better</a:t>
              </a:r>
            </a:p>
          </p:txBody>
        </p:sp>
        <p:sp>
          <p:nvSpPr>
            <p:cNvPr id="12" name="Rectangle 12"/>
            <p:cNvSpPr/>
            <p:nvPr/>
          </p:nvSpPr>
          <p:spPr>
            <a:xfrm>
              <a:off x="2038350" y="2609850"/>
              <a:ext cx="2990850" cy="228600"/>
            </a:xfrm>
            <a:prstGeom prst="roundRect">
              <a:avLst>
                <a:gd name="adj" fmla="val 25000"/>
              </a:avLst>
            </a:prstGeom>
            <a:solidFill>
              <a:srgbClr val="0E2334"/>
            </a:solidFill>
            <a:ln w="9525">
              <a:solidFill>
                <a:srgbClr val="26455F"/>
              </a:solidFill>
            </a:ln>
          </p:spPr>
        </p:sp>
        <p:sp>
          <p:nvSpPr>
            <p:cNvPr id="13" name="Rectangle 13"/>
            <p:cNvSpPr/>
            <p:nvPr/>
          </p:nvSpPr>
          <p:spPr>
            <a:xfrm>
              <a:off x="2038350" y="2609850"/>
              <a:ext cx="2743200" cy="228600"/>
            </a:xfrm>
            <a:prstGeom prst="roundRect">
              <a:avLst>
                <a:gd name="adj" fmla="val 25000"/>
              </a:avLst>
            </a:prstGeom>
            <a:solidFill>
              <a:srgbClr val="48C78E"/>
            </a:solidFill>
            <a:ln>
              <a:noFill/>
            </a:ln>
          </p:spPr>
        </p:sp>
        <p:sp>
          <p:nvSpPr>
            <p:cNvPr id="14" name="TextBox 14"/>
            <p:cNvSpPr txBox="1"/>
            <p:nvPr/>
          </p:nvSpPr>
          <p:spPr>
            <a:xfrm>
              <a:off x="1158621" y="2661094"/>
              <a:ext cx="770763"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IBC (ours)</a:t>
              </a:r>
            </a:p>
          </p:txBody>
        </p:sp>
        <p:sp>
          <p:nvSpPr>
            <p:cNvPr id="15" name="TextBox 15"/>
            <p:cNvSpPr txBox="1"/>
            <p:nvPr/>
          </p:nvSpPr>
          <p:spPr>
            <a:xfrm>
              <a:off x="4871656" y="2665143"/>
              <a:ext cx="1042097" cy="198025"/>
            </a:xfrm>
            <a:prstGeom prst="rect">
              <a:avLst/>
            </a:prstGeom>
            <a:noFill/>
            <a:ln>
              <a:noFill/>
            </a:ln>
          </p:spPr>
          <p:txBody>
            <a:bodyPr wrap="none" lIns="0" tIns="0" rIns="0" bIns="0" anchor="t" anchorCtr="0">
              <a:spAutoFit/>
            </a:bodyPr>
            <a:lstStyle/>
            <a:p>
              <a:pPr algn="l"/>
              <a:r>
                <a:rPr lang="en-US" sz="1010" b="1" dirty="0">
                  <a:solidFill>
                    <a:srgbClr val="48C78E"/>
                  </a:solidFill>
                  <a:latin typeface="+mn-lt"/>
                  <a:ea typeface="+mn-ea"/>
                  <a:cs typeface="+mn-cs"/>
                </a:rPr>
                <a:t>SOTA, 0 demos</a:t>
              </a:r>
            </a:p>
          </p:txBody>
        </p:sp>
        <p:sp>
          <p:nvSpPr>
            <p:cNvPr id="16" name="Rectangle 16"/>
            <p:cNvSpPr/>
            <p:nvPr/>
          </p:nvSpPr>
          <p:spPr>
            <a:xfrm>
              <a:off x="2038350" y="2971800"/>
              <a:ext cx="2990850" cy="228600"/>
            </a:xfrm>
            <a:prstGeom prst="roundRect">
              <a:avLst>
                <a:gd name="adj" fmla="val 25000"/>
              </a:avLst>
            </a:prstGeom>
            <a:solidFill>
              <a:srgbClr val="0E2334"/>
            </a:solidFill>
            <a:ln w="9525">
              <a:solidFill>
                <a:srgbClr val="26455F"/>
              </a:solidFill>
            </a:ln>
          </p:spPr>
        </p:sp>
        <p:sp>
          <p:nvSpPr>
            <p:cNvPr id="17" name="Rectangle 17"/>
            <p:cNvSpPr/>
            <p:nvPr/>
          </p:nvSpPr>
          <p:spPr>
            <a:xfrm>
              <a:off x="2038350" y="2971800"/>
              <a:ext cx="2838450" cy="228600"/>
            </a:xfrm>
            <a:prstGeom prst="roundRect">
              <a:avLst>
                <a:gd name="adj" fmla="val 25000"/>
              </a:avLst>
            </a:prstGeom>
            <a:solidFill>
              <a:schemeClr val="accent2"/>
            </a:solidFill>
            <a:ln>
              <a:noFill/>
            </a:ln>
          </p:spPr>
        </p:sp>
        <p:sp>
          <p:nvSpPr>
            <p:cNvPr id="18" name="TextBox 18"/>
            <p:cNvSpPr txBox="1"/>
            <p:nvPr/>
          </p:nvSpPr>
          <p:spPr>
            <a:xfrm>
              <a:off x="644607" y="3023044"/>
              <a:ext cx="128477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Oracle (episodic)</a:t>
              </a:r>
            </a:p>
          </p:txBody>
        </p:sp>
        <p:sp>
          <p:nvSpPr>
            <p:cNvPr id="19" name="TextBox 19"/>
            <p:cNvSpPr txBox="1"/>
            <p:nvPr/>
          </p:nvSpPr>
          <p:spPr>
            <a:xfrm>
              <a:off x="4966906" y="3027093"/>
              <a:ext cx="838321" cy="198025"/>
            </a:xfrm>
            <a:prstGeom prst="rect">
              <a:avLst/>
            </a:prstGeom>
            <a:noFill/>
            <a:ln>
              <a:noFill/>
            </a:ln>
          </p:spPr>
          <p:txBody>
            <a:bodyPr wrap="none" lIns="0" tIns="0" rIns="0" bIns="0" anchor="t" anchorCtr="0">
              <a:spAutoFit/>
            </a:bodyPr>
            <a:lstStyle/>
            <a:p>
              <a:pPr algn="l"/>
              <a:r>
                <a:rPr lang="en-US" sz="1010" b="1" dirty="0">
                  <a:solidFill>
                    <a:schemeClr val="accent2"/>
                  </a:solidFill>
                  <a:latin typeface="+mn-lt"/>
                  <a:ea typeface="+mn-ea"/>
                  <a:cs typeface="+mn-cs"/>
                </a:rPr>
                <a:t>upper bound</a:t>
              </a:r>
            </a:p>
          </p:txBody>
        </p:sp>
        <p:sp>
          <p:nvSpPr>
            <p:cNvPr id="20" name="Rectangle 20"/>
            <p:cNvSpPr/>
            <p:nvPr/>
          </p:nvSpPr>
          <p:spPr>
            <a:xfrm>
              <a:off x="2038350" y="3333750"/>
              <a:ext cx="2990850" cy="228600"/>
            </a:xfrm>
            <a:prstGeom prst="roundRect">
              <a:avLst>
                <a:gd name="adj" fmla="val 25000"/>
              </a:avLst>
            </a:prstGeom>
            <a:solidFill>
              <a:srgbClr val="0E2334"/>
            </a:solidFill>
            <a:ln w="9525">
              <a:solidFill>
                <a:srgbClr val="26455F"/>
              </a:solidFill>
            </a:ln>
          </p:spPr>
        </p:sp>
        <p:sp>
          <p:nvSpPr>
            <p:cNvPr id="21" name="Rectangle 21"/>
            <p:cNvSpPr/>
            <p:nvPr/>
          </p:nvSpPr>
          <p:spPr>
            <a:xfrm>
              <a:off x="2038350" y="3333750"/>
              <a:ext cx="1971675" cy="228600"/>
            </a:xfrm>
            <a:prstGeom prst="roundRect">
              <a:avLst>
                <a:gd name="adj" fmla="val 25000"/>
              </a:avLst>
            </a:prstGeom>
            <a:solidFill>
              <a:srgbClr val="F2C14E"/>
            </a:solidFill>
            <a:ln>
              <a:noFill/>
            </a:ln>
          </p:spPr>
        </p:sp>
        <p:sp>
          <p:nvSpPr>
            <p:cNvPr id="22" name="TextBox 22"/>
            <p:cNvSpPr txBox="1"/>
            <p:nvPr/>
          </p:nvSpPr>
          <p:spPr>
            <a:xfrm>
              <a:off x="804597" y="3384994"/>
              <a:ext cx="112478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MEDAL (demos)</a:t>
              </a:r>
            </a:p>
          </p:txBody>
        </p:sp>
        <p:sp>
          <p:nvSpPr>
            <p:cNvPr id="23" name="TextBox 23"/>
            <p:cNvSpPr txBox="1"/>
            <p:nvPr/>
          </p:nvSpPr>
          <p:spPr>
            <a:xfrm>
              <a:off x="4100132" y="3389043"/>
              <a:ext cx="788354" cy="198025"/>
            </a:xfrm>
            <a:prstGeom prst="rect">
              <a:avLst/>
            </a:prstGeom>
            <a:noFill/>
            <a:ln>
              <a:noFill/>
            </a:ln>
          </p:spPr>
          <p:txBody>
            <a:bodyPr wrap="none" lIns="0" tIns="0" rIns="0" bIns="0" anchor="t" anchorCtr="0">
              <a:spAutoFit/>
            </a:bodyPr>
            <a:lstStyle/>
            <a:p>
              <a:pPr algn="l"/>
              <a:r>
                <a:rPr lang="en-US" sz="1010" b="1" dirty="0">
                  <a:solidFill>
                    <a:srgbClr val="F2C14E"/>
                  </a:solidFill>
                  <a:latin typeface="+mn-lt"/>
                  <a:ea typeface="+mn-ea"/>
                  <a:cs typeface="+mn-cs"/>
                </a:rPr>
                <a:t>uses demos</a:t>
              </a:r>
            </a:p>
          </p:txBody>
        </p:sp>
        <p:sp>
          <p:nvSpPr>
            <p:cNvPr id="24" name="Rectangle 24"/>
            <p:cNvSpPr/>
            <p:nvPr/>
          </p:nvSpPr>
          <p:spPr>
            <a:xfrm>
              <a:off x="2038350" y="3695700"/>
              <a:ext cx="2990850" cy="228600"/>
            </a:xfrm>
            <a:prstGeom prst="roundRect">
              <a:avLst>
                <a:gd name="adj" fmla="val 25000"/>
              </a:avLst>
            </a:prstGeom>
            <a:solidFill>
              <a:srgbClr val="0E2334"/>
            </a:solidFill>
            <a:ln w="9525">
              <a:solidFill>
                <a:srgbClr val="26455F"/>
              </a:solidFill>
            </a:ln>
          </p:spPr>
        </p:sp>
        <p:sp>
          <p:nvSpPr>
            <p:cNvPr id="25" name="Rectangle 25"/>
            <p:cNvSpPr/>
            <p:nvPr/>
          </p:nvSpPr>
          <p:spPr>
            <a:xfrm>
              <a:off x="2038350" y="3695700"/>
              <a:ext cx="1733550" cy="228600"/>
            </a:xfrm>
            <a:prstGeom prst="roundRect">
              <a:avLst>
                <a:gd name="adj" fmla="val 25000"/>
              </a:avLst>
            </a:prstGeom>
            <a:solidFill>
              <a:srgbClr val="F2685C"/>
            </a:solidFill>
            <a:ln>
              <a:noFill/>
            </a:ln>
          </p:spPr>
        </p:sp>
        <p:sp>
          <p:nvSpPr>
            <p:cNvPr id="26" name="TextBox 26"/>
            <p:cNvSpPr txBox="1"/>
            <p:nvPr/>
          </p:nvSpPr>
          <p:spPr>
            <a:xfrm>
              <a:off x="841085" y="3746944"/>
              <a:ext cx="1088299"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VaPRL (demos)</a:t>
              </a:r>
            </a:p>
          </p:txBody>
        </p:sp>
        <p:sp>
          <p:nvSpPr>
            <p:cNvPr id="27" name="TextBox 27"/>
            <p:cNvSpPr txBox="1"/>
            <p:nvPr/>
          </p:nvSpPr>
          <p:spPr>
            <a:xfrm>
              <a:off x="3862006" y="3750993"/>
              <a:ext cx="788354" cy="198025"/>
            </a:xfrm>
            <a:prstGeom prst="rect">
              <a:avLst/>
            </a:prstGeom>
            <a:noFill/>
            <a:ln>
              <a:noFill/>
            </a:ln>
          </p:spPr>
          <p:txBody>
            <a:bodyPr wrap="none" lIns="0" tIns="0" rIns="0" bIns="0" anchor="t" anchorCtr="0">
              <a:spAutoFit/>
            </a:bodyPr>
            <a:lstStyle/>
            <a:p>
              <a:pPr algn="l"/>
              <a:r>
                <a:rPr lang="en-US" sz="1010" b="1" dirty="0">
                  <a:solidFill>
                    <a:srgbClr val="F2685C"/>
                  </a:solidFill>
                  <a:latin typeface="+mn-lt"/>
                  <a:ea typeface="+mn-ea"/>
                  <a:cs typeface="+mn-cs"/>
                </a:rPr>
                <a:t>uses demos</a:t>
              </a:r>
            </a:p>
          </p:txBody>
        </p:sp>
        <p:sp>
          <p:nvSpPr>
            <p:cNvPr id="28" name="TextBox 28"/>
            <p:cNvSpPr txBox="1"/>
            <p:nvPr/>
          </p:nvSpPr>
          <p:spPr>
            <a:xfrm>
              <a:off x="871538" y="4299347"/>
              <a:ext cx="4951878"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IBC matches the episodic oracle while beating both demonstration baselines.</a:t>
              </a:r>
            </a:p>
          </p:txBody>
        </p:sp>
      </p:grpSp>
      <p:grpSp>
        <p:nvGrpSpPr>
          <p:cNvPr id="40" name="Group 40"/>
          <p:cNvGrpSpPr/>
          <p:nvPr/>
        </p:nvGrpSpPr>
        <p:grpSpPr>
          <a:xfrm>
            <a:off x="6248400" y="2019300"/>
            <a:ext cx="5334000" cy="2533650"/>
            <a:chOff x="6248400" y="2019300"/>
            <a:chExt cx="5334000" cy="2533650"/>
          </a:xfrm>
        </p:grpSpPr>
        <p:sp>
          <p:nvSpPr>
            <p:cNvPr id="30" name="Rectangle 30"/>
            <p:cNvSpPr/>
            <p:nvPr/>
          </p:nvSpPr>
          <p:spPr>
            <a:xfrm>
              <a:off x="6248400" y="2019300"/>
              <a:ext cx="5334000" cy="2533650"/>
            </a:xfrm>
            <a:prstGeom prst="roundRect">
              <a:avLst>
                <a:gd name="adj" fmla="val 5263"/>
              </a:avLst>
            </a:prstGeom>
            <a:solidFill>
              <a:srgbClr val="2A2417"/>
            </a:solidFill>
            <a:ln w="14288">
              <a:solidFill>
                <a:srgbClr val="F2C14E"/>
              </a:solidFill>
            </a:ln>
          </p:spPr>
        </p:sp>
        <p:sp>
          <p:nvSpPr>
            <p:cNvPr id="31" name="Rectangle 31"/>
            <p:cNvSpPr/>
            <p:nvPr/>
          </p:nvSpPr>
          <p:spPr>
            <a:xfrm>
              <a:off x="6248400" y="2019300"/>
              <a:ext cx="57150" cy="2533650"/>
            </a:xfrm>
            <a:prstGeom prst="roundRect">
              <a:avLst>
                <a:gd name="adj" fmla="val 50000"/>
              </a:avLst>
            </a:prstGeom>
            <a:solidFill>
              <a:srgbClr val="F2C14E"/>
            </a:solidFill>
            <a:ln>
              <a:noFill/>
            </a:ln>
          </p:spPr>
        </p:sp>
        <p:sp>
          <p:nvSpPr>
            <p:cNvPr id="32" name="TextBox 32"/>
            <p:cNvSpPr txBox="1"/>
            <p:nvPr/>
          </p:nvSpPr>
          <p:spPr>
            <a:xfrm>
              <a:off x="6509004" y="2251710"/>
              <a:ext cx="2680828"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Where the demo baselines falter</a:t>
              </a:r>
            </a:p>
          </p:txBody>
        </p:sp>
        <p:sp>
          <p:nvSpPr>
            <p:cNvPr id="33" name="TextBox 33"/>
            <p:cNvSpPr txBox="1"/>
            <p:nvPr/>
          </p:nvSpPr>
          <p:spPr>
            <a:xfrm>
              <a:off x="6509766" y="2572702"/>
              <a:ext cx="339260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VaPRL and MEDAL especially struggle in the Fetch</a:t>
              </a:r>
            </a:p>
          </p:txBody>
        </p:sp>
        <p:sp>
          <p:nvSpPr>
            <p:cNvPr id="34" name="TextBox 34"/>
            <p:cNvSpPr txBox="1"/>
            <p:nvPr/>
          </p:nvSpPr>
          <p:spPr>
            <a:xfrm>
              <a:off x="6509766" y="2782252"/>
              <a:ext cx="418052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environments, where task-relevant interactions are sparse</a:t>
              </a:r>
            </a:p>
          </p:txBody>
        </p:sp>
        <p:sp>
          <p:nvSpPr>
            <p:cNvPr id="35" name="TextBox 35"/>
            <p:cNvSpPr txBox="1"/>
            <p:nvPr/>
          </p:nvSpPr>
          <p:spPr>
            <a:xfrm>
              <a:off x="6509766" y="2991802"/>
              <a:ext cx="397556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and the evaluation goals are spread across a whole region</a:t>
              </a:r>
            </a:p>
          </p:txBody>
        </p:sp>
        <p:sp>
          <p:nvSpPr>
            <p:cNvPr id="36" name="TextBox 36"/>
            <p:cNvSpPr txBox="1"/>
            <p:nvPr/>
          </p:nvSpPr>
          <p:spPr>
            <a:xfrm>
              <a:off x="6509766" y="3201352"/>
              <a:ext cx="243483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rather than a few discrete points.</a:t>
              </a:r>
            </a:p>
          </p:txBody>
        </p:sp>
        <p:sp>
          <p:nvSpPr>
            <p:cNvPr id="37" name="Rectangle 37"/>
            <p:cNvSpPr/>
            <p:nvPr/>
          </p:nvSpPr>
          <p:spPr>
            <a:xfrm>
              <a:off x="6515100" y="3943350"/>
              <a:ext cx="4800600" cy="419100"/>
            </a:xfrm>
            <a:prstGeom prst="roundRect">
              <a:avLst>
                <a:gd name="adj" fmla="val 18182"/>
              </a:avLst>
            </a:prstGeom>
            <a:solidFill>
              <a:schemeClr val="accent6"/>
            </a:solidFill>
            <a:ln w="14288">
              <a:solidFill>
                <a:srgbClr val="26455F"/>
              </a:solidFill>
            </a:ln>
          </p:spPr>
        </p:sp>
        <p:sp>
          <p:nvSpPr>
            <p:cNvPr id="38" name="Ellipse 38"/>
            <p:cNvSpPr/>
            <p:nvPr/>
          </p:nvSpPr>
          <p:spPr>
            <a:xfrm>
              <a:off x="6638925" y="4105275"/>
              <a:ext cx="95250" cy="95250"/>
            </a:xfrm>
            <a:prstGeom prst="ellipse">
              <a:avLst/>
            </a:prstGeom>
            <a:solidFill>
              <a:srgbClr val="F2C14E"/>
            </a:solidFill>
            <a:ln>
              <a:noFill/>
            </a:ln>
          </p:spPr>
        </p:sp>
        <p:sp>
          <p:nvSpPr>
            <p:cNvPr id="39" name="TextBox 39"/>
            <p:cNvSpPr txBox="1"/>
            <p:nvPr/>
          </p:nvSpPr>
          <p:spPr>
            <a:xfrm>
              <a:off x="6833426" y="4092654"/>
              <a:ext cx="3000057"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sparse interactions · region-wide goals</a:t>
              </a:r>
            </a:p>
          </p:txBody>
        </p:sp>
      </p:grpSp>
      <p:grpSp>
        <p:nvGrpSpPr>
          <p:cNvPr id="46" name="Group 46"/>
          <p:cNvGrpSpPr/>
          <p:nvPr/>
        </p:nvGrpSpPr>
        <p:grpSpPr>
          <a:xfrm>
            <a:off x="609600" y="4686300"/>
            <a:ext cx="10972800" cy="1104900"/>
            <a:chOff x="609600" y="4686300"/>
            <a:chExt cx="10972800" cy="1104900"/>
          </a:xfrm>
        </p:grpSpPr>
        <p:sp>
          <p:nvSpPr>
            <p:cNvPr id="41" name="Rectangle 41"/>
            <p:cNvSpPr/>
            <p:nvPr/>
          </p:nvSpPr>
          <p:spPr>
            <a:xfrm>
              <a:off x="609600" y="4686300"/>
              <a:ext cx="10972800" cy="1104900"/>
            </a:xfrm>
            <a:prstGeom prst="roundRect">
              <a:avLst>
                <a:gd name="adj" fmla="val 12069"/>
              </a:avLst>
            </a:prstGeom>
            <a:solidFill>
              <a:schemeClr val="accent5"/>
            </a:solidFill>
            <a:ln w="14288">
              <a:solidFill>
                <a:srgbClr val="26455F"/>
              </a:solidFill>
            </a:ln>
          </p:spPr>
        </p:sp>
        <p:sp>
          <p:nvSpPr>
            <p:cNvPr id="42" name="Rectangle 42"/>
            <p:cNvSpPr/>
            <p:nvPr/>
          </p:nvSpPr>
          <p:spPr>
            <a:xfrm>
              <a:off x="609600" y="4686300"/>
              <a:ext cx="57150" cy="1104900"/>
            </a:xfrm>
            <a:prstGeom prst="roundRect">
              <a:avLst>
                <a:gd name="adj" fmla="val 50000"/>
              </a:avLst>
            </a:prstGeom>
            <a:solidFill>
              <a:srgbClr val="F2685C"/>
            </a:solidFill>
            <a:ln>
              <a:noFill/>
            </a:ln>
          </p:spPr>
        </p:sp>
        <p:sp>
          <p:nvSpPr>
            <p:cNvPr id="43" name="TextBox 43"/>
            <p:cNvSpPr txBox="1"/>
            <p:nvPr/>
          </p:nvSpPr>
          <p:spPr>
            <a:xfrm>
              <a:off x="870204" y="4880610"/>
              <a:ext cx="2579048"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Strip the demonstrations away</a:t>
              </a:r>
            </a:p>
          </p:txBody>
        </p:sp>
        <p:sp>
          <p:nvSpPr>
            <p:cNvPr id="44" name="TextBox 44"/>
            <p:cNvSpPr txBox="1"/>
            <p:nvPr/>
          </p:nvSpPr>
          <p:spPr>
            <a:xfrm>
              <a:off x="870776" y="5178504"/>
              <a:ext cx="660225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When VaPRL is stripped of its demonstrations for a fair comparison, its performance drops</a:t>
              </a:r>
            </a:p>
          </p:txBody>
        </p:sp>
        <p:sp>
          <p:nvSpPr>
            <p:cNvPr id="45" name="TextBox 45"/>
            <p:cNvSpPr txBox="1"/>
            <p:nvPr/>
          </p:nvSpPr>
          <p:spPr>
            <a:xfrm>
              <a:off x="870776" y="5388054"/>
              <a:ext cx="584379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noticeably, underscoring how much the prior methods depend on that extra data.</a:t>
              </a:r>
            </a:p>
          </p:txBody>
        </p:sp>
      </p:grpSp>
      <p:sp>
        <p:nvSpPr>
          <p:cNvPr id="47" name="TextBox 47"/>
          <p:cNvSpPr txBox="1"/>
          <p:nvPr/>
        </p:nvSpPr>
        <p:spPr>
          <a:xfrm>
            <a:off x="604266" y="6020752"/>
            <a:ext cx="4015939"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Same performance, none of the expert-data crutches.</a:t>
            </a:r>
          </a:p>
        </p:txBody>
      </p:sp>
      <p:sp>
        <p:nvSpPr>
          <p:cNvPr id="48" name="cue_s07_c1_headline_result_ibc_reaches_state_of" title="cue_s07_c1_headline_result_ibc_reaches_state_of" descr="cue_s07_c1_headline_result_ibc_reaches_state_of The headline result is that IBC reaches state-of-the-art success rates across all six environments, and it does so without a single demonstration."/>
          <p:cNvSpPr/>
          <p:nvPr/>
        </p:nvSpPr>
        <p:spPr>
          <a:xfrm>
            <a:off x="609600" y="1428521"/>
            <a:ext cx="10972800" cy="4574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7_c2_outperforms_vaprl_medal_two_strong" title="cue_s07_c2_outperforms_vaprl_medal_two_strong" descr="cue_s07_c2_outperforms_vaprl_medal_two_strong It outperforms VaPRL and MEDAL, two strong baselines that actually use near-expert demonstration data, and in many tasks its success rate is comparable to the oracle: a standard reinforcement learning agent trained in the easy, fully-resettable episodic settin"/>
          <p:cNvSpPr/>
          <p:nvPr/>
        </p:nvSpPr>
        <p:spPr>
          <a:xfrm>
            <a:off x="609600" y="2018995"/>
            <a:ext cx="5334000" cy="25333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7_c3_demonstration_based_baselines_especi" title="cue_s07_c3_demonstration_based_baselines_especi" descr="cue_s07_c3_demonstration_based_baselines_especi The demonstration-based baselines especially falter in the Fetch environments, where the task-relevant interactions are sparse and the evaluation goals are spread across a whole region rather than a few discrete points."/>
          <p:cNvSpPr/>
          <p:nvPr/>
        </p:nvSpPr>
        <p:spPr>
          <a:xfrm>
            <a:off x="6248399" y="2018995"/>
            <a:ext cx="5334000" cy="25333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7_c4_when_vaprl_stripped_its_demonstratio" title="cue_s07_c4_when_vaprl_stripped_its_demonstratio" descr="cue_s07_c4_when_vaprl_stripped_its_demonstratio And when VaPRL is stripped of its demonstrations for a fair comparison, its performance drops noticeably, underscoring just how much the prior methods depend on that extra data."/>
          <p:cNvSpPr/>
          <p:nvPr/>
        </p:nvSpPr>
        <p:spPr>
          <a:xfrm>
            <a:off x="609600" y="4686071"/>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512216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Both components earn their keep</a:t>
            </a:r>
          </a:p>
        </p:txBody>
      </p:sp>
      <p:grpSp>
        <p:nvGrpSpPr>
          <p:cNvPr id="14" name="Group 14"/>
          <p:cNvGrpSpPr/>
          <p:nvPr/>
        </p:nvGrpSpPr>
        <p:grpSpPr>
          <a:xfrm>
            <a:off x="609600" y="1504950"/>
            <a:ext cx="5334000" cy="1866900"/>
            <a:chOff x="609600" y="1504950"/>
            <a:chExt cx="5334000" cy="1866900"/>
          </a:xfrm>
        </p:grpSpPr>
        <p:sp>
          <p:nvSpPr>
            <p:cNvPr id="5" name="Rectangle 5"/>
            <p:cNvSpPr/>
            <p:nvPr/>
          </p:nvSpPr>
          <p:spPr>
            <a:xfrm>
              <a:off x="609600" y="1504950"/>
              <a:ext cx="5334000" cy="1866900"/>
            </a:xfrm>
            <a:prstGeom prst="roundRect">
              <a:avLst>
                <a:gd name="adj" fmla="val 7143"/>
              </a:avLst>
            </a:prstGeom>
            <a:solidFill>
              <a:schemeClr val="accent5"/>
            </a:solidFill>
            <a:ln w="14288">
              <a:solidFill>
                <a:srgbClr val="26455F"/>
              </a:solidFill>
            </a:ln>
          </p:spPr>
        </p:sp>
        <p:sp>
          <p:nvSpPr>
            <p:cNvPr id="6" name="Rectangle 6"/>
            <p:cNvSpPr/>
            <p:nvPr/>
          </p:nvSpPr>
          <p:spPr>
            <a:xfrm>
              <a:off x="609600" y="1504950"/>
              <a:ext cx="57150" cy="1866900"/>
            </a:xfrm>
            <a:prstGeom prst="roundRect">
              <a:avLst>
                <a:gd name="adj" fmla="val 50000"/>
              </a:avLst>
            </a:prstGeom>
            <a:solidFill>
              <a:srgbClr val="34D3C0"/>
            </a:solidFill>
            <a:ln>
              <a:noFill/>
            </a:ln>
          </p:spPr>
        </p:sp>
        <p:sp>
          <p:nvSpPr>
            <p:cNvPr id="7" name="TextBox 7"/>
            <p:cNvSpPr txBox="1"/>
            <p:nvPr/>
          </p:nvSpPr>
          <p:spPr>
            <a:xfrm>
              <a:off x="870394" y="1741408"/>
              <a:ext cx="2869886"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Remove the bidirectional curriculum</a:t>
              </a:r>
            </a:p>
          </p:txBody>
        </p:sp>
        <p:sp>
          <p:nvSpPr>
            <p:cNvPr id="8" name="TextBox 8"/>
            <p:cNvSpPr txBox="1"/>
            <p:nvPr/>
          </p:nvSpPr>
          <p:spPr>
            <a:xfrm>
              <a:off x="870966" y="2039302"/>
              <a:ext cx="34996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Dropping the curriculum causes a consistent drop,</a:t>
              </a:r>
            </a:p>
          </p:txBody>
        </p:sp>
        <p:sp>
          <p:nvSpPr>
            <p:cNvPr id="9" name="TextBox 9"/>
            <p:cNvSpPr txBox="1"/>
            <p:nvPr/>
          </p:nvSpPr>
          <p:spPr>
            <a:xfrm>
              <a:off x="870966" y="2239328"/>
              <a:ext cx="33748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showing the value of guiding the agent from easy</a:t>
              </a:r>
            </a:p>
          </p:txBody>
        </p:sp>
        <p:sp>
          <p:nvSpPr>
            <p:cNvPr id="10" name="TextBox 10"/>
            <p:cNvSpPr txBox="1"/>
            <p:nvPr/>
          </p:nvSpPr>
          <p:spPr>
            <a:xfrm>
              <a:off x="870966" y="2439352"/>
              <a:ext cx="27316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initial states and goals to harder ones.</a:t>
              </a:r>
            </a:p>
          </p:txBody>
        </p:sp>
        <p:sp>
          <p:nvSpPr>
            <p:cNvPr id="11" name="Rectangle 11"/>
            <p:cNvSpPr/>
            <p:nvPr/>
          </p:nvSpPr>
          <p:spPr>
            <a:xfrm>
              <a:off x="876300" y="2914650"/>
              <a:ext cx="4800600" cy="323850"/>
            </a:xfrm>
            <a:prstGeom prst="roundRect">
              <a:avLst>
                <a:gd name="adj" fmla="val 23529"/>
              </a:avLst>
            </a:prstGeom>
            <a:solidFill>
              <a:srgbClr val="0E2334"/>
            </a:solidFill>
            <a:ln w="14288">
              <a:solidFill>
                <a:srgbClr val="26455F"/>
              </a:solidFill>
            </a:ln>
          </p:spPr>
        </p:sp>
        <p:sp>
          <p:nvSpPr>
            <p:cNvPr id="12" name="Rectangle 12"/>
            <p:cNvSpPr/>
            <p:nvPr/>
          </p:nvSpPr>
          <p:spPr>
            <a:xfrm>
              <a:off x="876300" y="2914650"/>
              <a:ext cx="3743325" cy="323850"/>
            </a:xfrm>
            <a:prstGeom prst="roundRect">
              <a:avLst>
                <a:gd name="adj" fmla="val 23529"/>
              </a:avLst>
            </a:prstGeom>
            <a:solidFill>
              <a:srgbClr val="34D3C0"/>
            </a:solidFill>
            <a:ln>
              <a:noFill/>
            </a:ln>
          </p:spPr>
        </p:sp>
        <p:sp>
          <p:nvSpPr>
            <p:cNvPr id="13" name="TextBox 13"/>
            <p:cNvSpPr txBox="1"/>
            <p:nvPr/>
          </p:nvSpPr>
          <p:spPr>
            <a:xfrm>
              <a:off x="1061847" y="3018949"/>
              <a:ext cx="2468707"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w/o bidirectional -&gt; consistent drop</a:t>
              </a:r>
            </a:p>
          </p:txBody>
        </p:sp>
      </p:grpSp>
      <p:grpSp>
        <p:nvGrpSpPr>
          <p:cNvPr id="24" name="Group 24"/>
          <p:cNvGrpSpPr/>
          <p:nvPr/>
        </p:nvGrpSpPr>
        <p:grpSpPr>
          <a:xfrm>
            <a:off x="6248400" y="1504950"/>
            <a:ext cx="5334000" cy="1866900"/>
            <a:chOff x="6248400" y="1504950"/>
            <a:chExt cx="5334000" cy="1866900"/>
          </a:xfrm>
        </p:grpSpPr>
        <p:sp>
          <p:nvSpPr>
            <p:cNvPr id="15" name="Rectangle 15"/>
            <p:cNvSpPr/>
            <p:nvPr/>
          </p:nvSpPr>
          <p:spPr>
            <a:xfrm>
              <a:off x="6248400" y="1504950"/>
              <a:ext cx="5334000" cy="1866900"/>
            </a:xfrm>
            <a:prstGeom prst="roundRect">
              <a:avLst>
                <a:gd name="adj" fmla="val 7143"/>
              </a:avLst>
            </a:prstGeom>
            <a:solidFill>
              <a:srgbClr val="2A1720"/>
            </a:solidFill>
            <a:ln w="14288">
              <a:solidFill>
                <a:srgbClr val="F2685C"/>
              </a:solidFill>
            </a:ln>
          </p:spPr>
        </p:sp>
        <p:sp>
          <p:nvSpPr>
            <p:cNvPr id="16" name="Rectangle 16"/>
            <p:cNvSpPr/>
            <p:nvPr/>
          </p:nvSpPr>
          <p:spPr>
            <a:xfrm>
              <a:off x="6248400" y="1504950"/>
              <a:ext cx="57150" cy="1866900"/>
            </a:xfrm>
            <a:prstGeom prst="roundRect">
              <a:avLst>
                <a:gd name="adj" fmla="val 50000"/>
              </a:avLst>
            </a:prstGeom>
            <a:solidFill>
              <a:srgbClr val="F2685C"/>
            </a:solidFill>
            <a:ln>
              <a:noFill/>
            </a:ln>
          </p:spPr>
        </p:sp>
        <p:sp>
          <p:nvSpPr>
            <p:cNvPr id="17" name="TextBox 17"/>
            <p:cNvSpPr txBox="1"/>
            <p:nvPr/>
          </p:nvSpPr>
          <p:spPr>
            <a:xfrm>
              <a:off x="6509194" y="1741408"/>
              <a:ext cx="2738979" cy="227362"/>
            </a:xfrm>
            <a:prstGeom prst="rect">
              <a:avLst/>
            </a:prstGeom>
            <a:noFill/>
            <a:ln>
              <a:noFill/>
            </a:ln>
          </p:spPr>
          <p:txBody>
            <a:bodyPr wrap="none" lIns="0" tIns="0" rIns="0" bIns="0" anchor="t" anchorCtr="0">
              <a:spAutoFit/>
            </a:bodyPr>
            <a:lstStyle/>
            <a:p>
              <a:pPr algn="l"/>
              <a:r>
                <a:rPr lang="en-US" sz="1160" b="1" dirty="0">
                  <a:solidFill>
                    <a:srgbClr val="F2685C"/>
                  </a:solidFill>
                  <a:latin typeface="+mn-lt"/>
                  <a:ea typeface="+mn-ea"/>
                  <a:cs typeface="+mn-cs"/>
                </a:rPr>
                <a:t>Remove the auxiliary agent as well</a:t>
              </a:r>
            </a:p>
          </p:txBody>
        </p:sp>
        <p:sp>
          <p:nvSpPr>
            <p:cNvPr id="18" name="TextBox 18"/>
            <p:cNvSpPr txBox="1"/>
            <p:nvPr/>
          </p:nvSpPr>
          <p:spPr>
            <a:xfrm>
              <a:off x="6509766" y="2039302"/>
              <a:ext cx="372519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Also removing the auxiliary agent reduces IBC to naive</a:t>
              </a:r>
            </a:p>
          </p:txBody>
        </p:sp>
        <p:sp>
          <p:nvSpPr>
            <p:cNvPr id="19" name="TextBox 19"/>
            <p:cNvSpPr txBox="1"/>
            <p:nvPr/>
          </p:nvSpPr>
          <p:spPr>
            <a:xfrm>
              <a:off x="6509766" y="2239328"/>
              <a:ext cx="346990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reset-free RL and causes a further, larger drop,</a:t>
              </a:r>
            </a:p>
          </p:txBody>
        </p:sp>
        <p:sp>
          <p:nvSpPr>
            <p:cNvPr id="20" name="TextBox 20"/>
            <p:cNvSpPr txBox="1"/>
            <p:nvPr/>
          </p:nvSpPr>
          <p:spPr>
            <a:xfrm>
              <a:off x="6509766" y="2439352"/>
              <a:ext cx="229348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especially in object manipulation.</a:t>
              </a:r>
            </a:p>
          </p:txBody>
        </p:sp>
        <p:sp>
          <p:nvSpPr>
            <p:cNvPr id="21" name="Rectangle 21"/>
            <p:cNvSpPr/>
            <p:nvPr/>
          </p:nvSpPr>
          <p:spPr>
            <a:xfrm>
              <a:off x="6515100" y="2914650"/>
              <a:ext cx="4800600" cy="323850"/>
            </a:xfrm>
            <a:prstGeom prst="roundRect">
              <a:avLst>
                <a:gd name="adj" fmla="val 23529"/>
              </a:avLst>
            </a:prstGeom>
            <a:solidFill>
              <a:srgbClr val="0E2334"/>
            </a:solidFill>
            <a:ln w="14288">
              <a:solidFill>
                <a:srgbClr val="26455F"/>
              </a:solidFill>
            </a:ln>
          </p:spPr>
        </p:sp>
        <p:sp>
          <p:nvSpPr>
            <p:cNvPr id="22" name="Rectangle 22"/>
            <p:cNvSpPr/>
            <p:nvPr/>
          </p:nvSpPr>
          <p:spPr>
            <a:xfrm>
              <a:off x="6515100" y="2914650"/>
              <a:ext cx="1628775" cy="323850"/>
            </a:xfrm>
            <a:prstGeom prst="roundRect">
              <a:avLst>
                <a:gd name="adj" fmla="val 23529"/>
              </a:avLst>
            </a:prstGeom>
            <a:solidFill>
              <a:srgbClr val="F2685C"/>
            </a:solidFill>
            <a:ln>
              <a:noFill/>
            </a:ln>
          </p:spPr>
        </p:sp>
        <p:sp>
          <p:nvSpPr>
            <p:cNvPr id="23" name="TextBox 23"/>
            <p:cNvSpPr txBox="1"/>
            <p:nvPr/>
          </p:nvSpPr>
          <p:spPr>
            <a:xfrm>
              <a:off x="6700647" y="3018949"/>
              <a:ext cx="2368111"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naive reset-free RL -&gt; larger drop</a:t>
              </a:r>
            </a:p>
          </p:txBody>
        </p:sp>
      </p:grpSp>
      <p:grpSp>
        <p:nvGrpSpPr>
          <p:cNvPr id="32" name="Group 32"/>
          <p:cNvGrpSpPr/>
          <p:nvPr/>
        </p:nvGrpSpPr>
        <p:grpSpPr>
          <a:xfrm>
            <a:off x="609600" y="3524250"/>
            <a:ext cx="5334000" cy="1714500"/>
            <a:chOff x="609600" y="3524250"/>
            <a:chExt cx="5334000" cy="1714500"/>
          </a:xfrm>
        </p:grpSpPr>
        <p:sp>
          <p:nvSpPr>
            <p:cNvPr id="25" name="Rectangle 25"/>
            <p:cNvSpPr/>
            <p:nvPr/>
          </p:nvSpPr>
          <p:spPr>
            <a:xfrm>
              <a:off x="609600" y="3524250"/>
              <a:ext cx="5334000" cy="1714500"/>
            </a:xfrm>
            <a:prstGeom prst="roundRect">
              <a:avLst>
                <a:gd name="adj" fmla="val 7778"/>
              </a:avLst>
            </a:prstGeom>
            <a:solidFill>
              <a:schemeClr val="accent5"/>
            </a:solidFill>
            <a:ln w="14288">
              <a:solidFill>
                <a:srgbClr val="26455F"/>
              </a:solidFill>
            </a:ln>
          </p:spPr>
        </p:sp>
        <p:sp>
          <p:nvSpPr>
            <p:cNvPr id="26" name="Rectangle 26"/>
            <p:cNvSpPr/>
            <p:nvPr/>
          </p:nvSpPr>
          <p:spPr>
            <a:xfrm>
              <a:off x="609600" y="3524250"/>
              <a:ext cx="57150" cy="1714500"/>
            </a:xfrm>
            <a:prstGeom prst="roundRect">
              <a:avLst>
                <a:gd name="adj" fmla="val 50000"/>
              </a:avLst>
            </a:prstGeom>
            <a:solidFill>
              <a:srgbClr val="F2C14E"/>
            </a:solidFill>
            <a:ln>
              <a:noFill/>
            </a:ln>
          </p:spPr>
        </p:sp>
        <p:sp>
          <p:nvSpPr>
            <p:cNvPr id="27" name="TextBox 27"/>
            <p:cNvSpPr txBox="1"/>
            <p:nvPr/>
          </p:nvSpPr>
          <p:spPr>
            <a:xfrm>
              <a:off x="870394" y="3760708"/>
              <a:ext cx="2378507"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The gains are task-dependent</a:t>
              </a:r>
            </a:p>
          </p:txBody>
        </p:sp>
        <p:sp>
          <p:nvSpPr>
            <p:cNvPr id="28" name="TextBox 28"/>
            <p:cNvSpPr txBox="1"/>
            <p:nvPr/>
          </p:nvSpPr>
          <p:spPr>
            <a:xfrm>
              <a:off x="870966" y="4058602"/>
              <a:ext cx="339330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bidirectional curriculum matters little in the</a:t>
              </a:r>
            </a:p>
          </p:txBody>
        </p:sp>
        <p:sp>
          <p:nvSpPr>
            <p:cNvPr id="29" name="TextBox 29"/>
            <p:cNvSpPr txBox="1"/>
            <p:nvPr/>
          </p:nvSpPr>
          <p:spPr>
            <a:xfrm>
              <a:off x="870966" y="4268152"/>
              <a:ext cx="346184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simple Tabletop Manipulation state space, and the</a:t>
              </a:r>
            </a:p>
          </p:txBody>
        </p:sp>
        <p:sp>
          <p:nvSpPr>
            <p:cNvPr id="30" name="TextBox 30"/>
            <p:cNvSpPr txBox="1"/>
            <p:nvPr/>
          </p:nvSpPr>
          <p:spPr>
            <a:xfrm>
              <a:off x="870966" y="4477702"/>
              <a:ext cx="370740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auxiliary agent helps less in Point-U-Maze, where the</a:t>
              </a:r>
            </a:p>
          </p:txBody>
        </p:sp>
        <p:sp>
          <p:nvSpPr>
            <p:cNvPr id="31" name="TextBox 31"/>
            <p:cNvSpPr txBox="1"/>
            <p:nvPr/>
          </p:nvSpPr>
          <p:spPr>
            <a:xfrm>
              <a:off x="870966" y="4687252"/>
              <a:ext cx="244190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start is already far from the goal.</a:t>
              </a:r>
            </a:p>
          </p:txBody>
        </p:sp>
      </p:grpSp>
      <p:grpSp>
        <p:nvGrpSpPr>
          <p:cNvPr id="46" name="Group 46"/>
          <p:cNvGrpSpPr/>
          <p:nvPr/>
        </p:nvGrpSpPr>
        <p:grpSpPr>
          <a:xfrm>
            <a:off x="6248400" y="3524250"/>
            <a:ext cx="5334000" cy="1714500"/>
            <a:chOff x="6248400" y="3524250"/>
            <a:chExt cx="5334000" cy="1714500"/>
          </a:xfrm>
        </p:grpSpPr>
        <p:sp>
          <p:nvSpPr>
            <p:cNvPr id="33" name="Rectangle 33"/>
            <p:cNvSpPr/>
            <p:nvPr/>
          </p:nvSpPr>
          <p:spPr>
            <a:xfrm>
              <a:off x="6248400" y="3524250"/>
              <a:ext cx="5334000" cy="1714500"/>
            </a:xfrm>
            <a:prstGeom prst="roundRect">
              <a:avLst>
                <a:gd name="adj" fmla="val 7778"/>
              </a:avLst>
            </a:prstGeom>
            <a:solidFill>
              <a:srgbClr val="0F2E2B"/>
            </a:solidFill>
            <a:ln w="14288">
              <a:solidFill>
                <a:srgbClr val="48C78E"/>
              </a:solidFill>
            </a:ln>
          </p:spPr>
        </p:sp>
        <p:sp>
          <p:nvSpPr>
            <p:cNvPr id="34" name="Rectangle 34"/>
            <p:cNvSpPr/>
            <p:nvPr/>
          </p:nvSpPr>
          <p:spPr>
            <a:xfrm>
              <a:off x="6248400" y="3524250"/>
              <a:ext cx="57150" cy="1714500"/>
            </a:xfrm>
            <a:prstGeom prst="roundRect">
              <a:avLst>
                <a:gd name="adj" fmla="val 50000"/>
              </a:avLst>
            </a:prstGeom>
            <a:solidFill>
              <a:srgbClr val="48C78E"/>
            </a:solidFill>
            <a:ln>
              <a:noFill/>
            </a:ln>
          </p:spPr>
        </p:sp>
        <p:sp>
          <p:nvSpPr>
            <p:cNvPr id="35" name="TextBox 35"/>
            <p:cNvSpPr txBox="1"/>
            <p:nvPr/>
          </p:nvSpPr>
          <p:spPr>
            <a:xfrm>
              <a:off x="6509194" y="3760708"/>
              <a:ext cx="3107738" cy="227362"/>
            </a:xfrm>
            <a:prstGeom prst="rect">
              <a:avLst/>
            </a:prstGeom>
            <a:noFill/>
            <a:ln>
              <a:noFill/>
            </a:ln>
          </p:spPr>
          <p:txBody>
            <a:bodyPr wrap="none" lIns="0" tIns="0" rIns="0" bIns="0" anchor="t" anchorCtr="0">
              <a:spAutoFit/>
            </a:bodyPr>
            <a:lstStyle/>
            <a:p>
              <a:pPr algn="l"/>
              <a:r>
                <a:rPr lang="en-US" sz="1160" b="1" dirty="0">
                  <a:solidFill>
                    <a:srgbClr val="48C78E"/>
                  </a:solidFill>
                  <a:latin typeface="+mn-lt"/>
                  <a:ea typeface="+mn-ea"/>
                  <a:cs typeface="+mn-cs"/>
                </a:rPr>
                <a:t>The implicit curriculum vanishes on cue</a:t>
              </a:r>
            </a:p>
          </p:txBody>
        </p:sp>
        <p:sp>
          <p:nvSpPr>
            <p:cNvPr id="36" name="TextBox 36"/>
            <p:cNvSpPr txBox="1"/>
            <p:nvPr/>
          </p:nvSpPr>
          <p:spPr>
            <a:xfrm>
              <a:off x="6509956" y="4062651"/>
              <a:ext cx="251635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fraction of episodes the auxiliary</a:t>
              </a:r>
            </a:p>
          </p:txBody>
        </p:sp>
        <p:sp>
          <p:nvSpPr>
            <p:cNvPr id="37" name="TextBox 37"/>
            <p:cNvSpPr txBox="1"/>
            <p:nvPr/>
          </p:nvSpPr>
          <p:spPr>
            <a:xfrm>
              <a:off x="6509956" y="4253151"/>
              <a:ext cx="249846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agent intervenes in falls toward zero</a:t>
              </a:r>
            </a:p>
          </p:txBody>
        </p:sp>
        <p:sp>
          <p:nvSpPr>
            <p:cNvPr id="38" name="TextBox 38"/>
            <p:cNvSpPr txBox="1"/>
            <p:nvPr/>
          </p:nvSpPr>
          <p:spPr>
            <a:xfrm>
              <a:off x="6509956" y="4443651"/>
              <a:ext cx="268882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once the forward agent is fully trained.</a:t>
              </a:r>
            </a:p>
          </p:txBody>
        </p:sp>
        <p:sp>
          <p:nvSpPr>
            <p:cNvPr id="39" name="Rectangle 39"/>
            <p:cNvSpPr/>
            <p:nvPr/>
          </p:nvSpPr>
          <p:spPr>
            <a:xfrm>
              <a:off x="9201150" y="4000500"/>
              <a:ext cx="2209800" cy="1104900"/>
            </a:xfrm>
            <a:prstGeom prst="roundRect">
              <a:avLst>
                <a:gd name="adj" fmla="val 6897"/>
              </a:avLst>
            </a:prstGeom>
            <a:solidFill>
              <a:srgbClr val="0E2334"/>
            </a:solidFill>
            <a:ln w="14288">
              <a:solidFill>
                <a:srgbClr val="26455F"/>
              </a:solidFill>
            </a:ln>
          </p:spPr>
        </p:sp>
        <p:sp>
          <p:nvSpPr>
            <p:cNvPr id="40" name="Line 40"/>
            <p:cNvSpPr/>
            <p:nvPr/>
          </p:nvSpPr>
          <p:spPr>
            <a:xfrm>
              <a:off x="9525000" y="4152900"/>
              <a:ext cx="9525" cy="723900"/>
            </a:xfrm>
            <a:custGeom>
              <a:avLst/>
              <a:gdLst/>
              <a:ahLst/>
              <a:cxnLst/>
              <a:rect l="l" t="t" r="r" b="b"/>
              <a:pathLst>
                <a:path w="9525" h="723900">
                  <a:moveTo>
                    <a:pt x="0" y="0"/>
                  </a:moveTo>
                  <a:lnTo>
                    <a:pt x="0" y="723900"/>
                  </a:lnTo>
                </a:path>
              </a:pathLst>
            </a:custGeom>
            <a:noFill/>
            <a:ln w="14288" cap="rnd">
              <a:solidFill>
                <a:srgbClr val="26455F"/>
              </a:solidFill>
            </a:ln>
          </p:spPr>
        </p:sp>
        <p:sp>
          <p:nvSpPr>
            <p:cNvPr id="41" name="Line 41"/>
            <p:cNvSpPr/>
            <p:nvPr/>
          </p:nvSpPr>
          <p:spPr>
            <a:xfrm>
              <a:off x="9525000" y="4876800"/>
              <a:ext cx="1676400" cy="9525"/>
            </a:xfrm>
            <a:custGeom>
              <a:avLst/>
              <a:gdLst/>
              <a:ahLst/>
              <a:cxnLst/>
              <a:rect l="l" t="t" r="r" b="b"/>
              <a:pathLst>
                <a:path w="1676400" h="9525">
                  <a:moveTo>
                    <a:pt x="0" y="0"/>
                  </a:moveTo>
                  <a:lnTo>
                    <a:pt x="1676400" y="0"/>
                  </a:lnTo>
                </a:path>
              </a:pathLst>
            </a:custGeom>
            <a:noFill/>
            <a:ln w="14288" cap="rnd">
              <a:solidFill>
                <a:srgbClr val="26455F"/>
              </a:solidFill>
            </a:ln>
          </p:spPr>
        </p:sp>
        <p:sp>
          <p:nvSpPr>
            <p:cNvPr id="42" name="Freeform 42"/>
            <p:cNvSpPr/>
            <p:nvPr/>
          </p:nvSpPr>
          <p:spPr>
            <a:xfrm>
              <a:off x="9525000" y="4210050"/>
              <a:ext cx="1676400" cy="639128"/>
            </a:xfrm>
            <a:custGeom>
              <a:avLst/>
              <a:gdLst/>
              <a:ahLst/>
              <a:cxnLst/>
              <a:rect l="l" t="t" r="r" b="b"/>
              <a:pathLst>
                <a:path w="1676400" h="639128">
                  <a:moveTo>
                    <a:pt x="0" y="0"/>
                  </a:moveTo>
                  <a:lnTo>
                    <a:pt x="41910" y="51435"/>
                  </a:lnTo>
                  <a:lnTo>
                    <a:pt x="83820" y="98108"/>
                  </a:lnTo>
                  <a:lnTo>
                    <a:pt x="125730" y="141922"/>
                  </a:lnTo>
                  <a:lnTo>
                    <a:pt x="167640" y="182880"/>
                  </a:lnTo>
                  <a:lnTo>
                    <a:pt x="209550" y="220028"/>
                  </a:lnTo>
                  <a:lnTo>
                    <a:pt x="251460" y="254317"/>
                  </a:lnTo>
                  <a:lnTo>
                    <a:pt x="293370" y="285750"/>
                  </a:lnTo>
                  <a:lnTo>
                    <a:pt x="335280" y="315278"/>
                  </a:lnTo>
                  <a:lnTo>
                    <a:pt x="377190" y="341947"/>
                  </a:lnTo>
                  <a:lnTo>
                    <a:pt x="419100" y="366712"/>
                  </a:lnTo>
                  <a:lnTo>
                    <a:pt x="461010" y="390525"/>
                  </a:lnTo>
                  <a:lnTo>
                    <a:pt x="502920" y="411480"/>
                  </a:lnTo>
                  <a:lnTo>
                    <a:pt x="544830" y="431483"/>
                  </a:lnTo>
                  <a:lnTo>
                    <a:pt x="586740" y="449580"/>
                  </a:lnTo>
                  <a:lnTo>
                    <a:pt x="628650" y="465772"/>
                  </a:lnTo>
                  <a:lnTo>
                    <a:pt x="670560" y="481012"/>
                  </a:lnTo>
                  <a:lnTo>
                    <a:pt x="712470" y="495300"/>
                  </a:lnTo>
                  <a:lnTo>
                    <a:pt x="754380" y="508635"/>
                  </a:lnTo>
                  <a:lnTo>
                    <a:pt x="796290" y="521017"/>
                  </a:lnTo>
                  <a:lnTo>
                    <a:pt x="838200" y="532447"/>
                  </a:lnTo>
                  <a:lnTo>
                    <a:pt x="880110" y="542925"/>
                  </a:lnTo>
                  <a:lnTo>
                    <a:pt x="922020" y="552450"/>
                  </a:lnTo>
                  <a:lnTo>
                    <a:pt x="963930" y="561022"/>
                  </a:lnTo>
                  <a:lnTo>
                    <a:pt x="1005840" y="568642"/>
                  </a:lnTo>
                  <a:lnTo>
                    <a:pt x="1047750" y="576262"/>
                  </a:lnTo>
                  <a:lnTo>
                    <a:pt x="1089660" y="583883"/>
                  </a:lnTo>
                  <a:lnTo>
                    <a:pt x="1131570" y="589597"/>
                  </a:lnTo>
                  <a:lnTo>
                    <a:pt x="1173480" y="595312"/>
                  </a:lnTo>
                  <a:lnTo>
                    <a:pt x="1215390" y="601028"/>
                  </a:lnTo>
                  <a:lnTo>
                    <a:pt x="1257300" y="605790"/>
                  </a:lnTo>
                  <a:lnTo>
                    <a:pt x="1299210" y="610553"/>
                  </a:lnTo>
                  <a:lnTo>
                    <a:pt x="1341120" y="615315"/>
                  </a:lnTo>
                  <a:lnTo>
                    <a:pt x="1383030" y="619125"/>
                  </a:lnTo>
                  <a:lnTo>
                    <a:pt x="1424940" y="622935"/>
                  </a:lnTo>
                  <a:lnTo>
                    <a:pt x="1466850" y="625792"/>
                  </a:lnTo>
                  <a:lnTo>
                    <a:pt x="1508760" y="629603"/>
                  </a:lnTo>
                  <a:lnTo>
                    <a:pt x="1550670" y="632460"/>
                  </a:lnTo>
                  <a:lnTo>
                    <a:pt x="1592580" y="635317"/>
                  </a:lnTo>
                  <a:lnTo>
                    <a:pt x="1634490" y="637222"/>
                  </a:lnTo>
                  <a:lnTo>
                    <a:pt x="1676400" y="639128"/>
                  </a:lnTo>
                </a:path>
              </a:pathLst>
            </a:custGeom>
            <a:noFill/>
            <a:ln w="24765" cap="rnd">
              <a:solidFill>
                <a:srgbClr val="48C78E"/>
              </a:solidFill>
              <a:round/>
            </a:ln>
          </p:spPr>
        </p:sp>
        <p:sp>
          <p:nvSpPr>
            <p:cNvPr id="43" name="TextBox 43"/>
            <p:cNvSpPr txBox="1"/>
            <p:nvPr/>
          </p:nvSpPr>
          <p:spPr>
            <a:xfrm>
              <a:off x="9404780" y="4071938"/>
              <a:ext cx="67832" cy="147638"/>
            </a:xfrm>
            <a:prstGeom prst="rect">
              <a:avLst/>
            </a:prstGeom>
            <a:noFill/>
            <a:ln>
              <a:noFill/>
            </a:ln>
          </p:spPr>
          <p:txBody>
            <a:bodyPr wrap="none" lIns="0" tIns="0" rIns="0" bIns="0" anchor="t" anchorCtr="0">
              <a:spAutoFit/>
            </a:bodyPr>
            <a:lstStyle/>
            <a:p>
              <a:pPr algn="r"/>
              <a:r>
                <a:rPr lang="en-US" sz="750" b="1" dirty="0">
                  <a:solidFill>
                    <a:srgbClr val="6E869C"/>
                  </a:solidFill>
                  <a:latin typeface="+mn-lt"/>
                  <a:ea typeface="+mn-ea"/>
                  <a:cs typeface="+mn-cs"/>
                </a:rPr>
                <a:t>1</a:t>
              </a:r>
            </a:p>
          </p:txBody>
        </p:sp>
        <p:sp>
          <p:nvSpPr>
            <p:cNvPr id="44" name="TextBox 44"/>
            <p:cNvSpPr txBox="1"/>
            <p:nvPr/>
          </p:nvSpPr>
          <p:spPr>
            <a:xfrm>
              <a:off x="9404780" y="4795838"/>
              <a:ext cx="67832" cy="147638"/>
            </a:xfrm>
            <a:prstGeom prst="rect">
              <a:avLst/>
            </a:prstGeom>
            <a:noFill/>
            <a:ln>
              <a:noFill/>
            </a:ln>
          </p:spPr>
          <p:txBody>
            <a:bodyPr wrap="none" lIns="0" tIns="0" rIns="0" bIns="0" anchor="t" anchorCtr="0">
              <a:spAutoFit/>
            </a:bodyPr>
            <a:lstStyle/>
            <a:p>
              <a:pPr algn="r"/>
              <a:r>
                <a:rPr lang="en-US" sz="750" b="1" dirty="0">
                  <a:solidFill>
                    <a:srgbClr val="6E869C"/>
                  </a:solidFill>
                  <a:latin typeface="+mn-lt"/>
                  <a:ea typeface="+mn-ea"/>
                  <a:cs typeface="+mn-cs"/>
                </a:rPr>
                <a:t>0</a:t>
              </a:r>
            </a:p>
          </p:txBody>
        </p:sp>
        <p:sp>
          <p:nvSpPr>
            <p:cNvPr id="45" name="TextBox 45"/>
            <p:cNvSpPr txBox="1"/>
            <p:nvPr/>
          </p:nvSpPr>
          <p:spPr>
            <a:xfrm>
              <a:off x="10604801" y="4944189"/>
              <a:ext cx="601362" cy="154781"/>
            </a:xfrm>
            <a:prstGeom prst="rect">
              <a:avLst/>
            </a:prstGeom>
            <a:noFill/>
            <a:ln>
              <a:noFill/>
            </a:ln>
          </p:spPr>
          <p:txBody>
            <a:bodyPr wrap="none" lIns="0" tIns="0" rIns="0" bIns="0" anchor="t" anchorCtr="0">
              <a:spAutoFit/>
            </a:bodyPr>
            <a:lstStyle/>
            <a:p>
              <a:pPr algn="r"/>
              <a:r>
                <a:rPr lang="en-US" sz="790" b="1" dirty="0">
                  <a:solidFill>
                    <a:srgbClr val="6E869C"/>
                  </a:solidFill>
                  <a:latin typeface="+mn-lt"/>
                  <a:ea typeface="+mn-ea"/>
                  <a:cs typeface="+mn-cs"/>
                </a:rPr>
                <a:t>training -&gt;</a:t>
              </a:r>
            </a:p>
          </p:txBody>
        </p:sp>
      </p:grpSp>
      <p:sp>
        <p:nvSpPr>
          <p:cNvPr id="47" name="cue_s08_c1_ablation_study_peels_method_apart" title="cue_s08_c1_ablation_study_peels_method_apart" descr="cue_s08_c1_ablation_study_peels_method_apart The ablation study peels the method apart to show that both pieces earn their keep. First, removing the bidirectional curriculum causes a consistent drop in performance, demonstrating the value of gradually guiding the agent from easy initial states and goals"/>
          <p:cNvSpPr/>
          <p:nvPr/>
        </p:nvSpPr>
        <p:spPr>
          <a:xfrm>
            <a:off x="609600" y="1504645"/>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8_c2_further_removing_auxiliary_agent_whi" title="cue_s08_c2_further_removing_auxiliary_agent_whi" descr="cue_s08_c2_further_removing_auxiliary_agent_whi Then, further removing the auxiliary agent, which reduces the method to naive reset-free reinforcement learning, causes an additional and larger drop, particularly in the object-manipulation tasks."/>
          <p:cNvSpPr/>
          <p:nvPr/>
        </p:nvSpPr>
        <p:spPr>
          <a:xfrm>
            <a:off x="6248399" y="1504645"/>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8_c3_gains_task_dependent_bidirectional_c" title="cue_s08_c3_gains_task_dependent_bidirectional_c" descr="cue_s08_c3_gains_task_dependent_bidirectional_c The gains are task-dependent: the bidirectional curriculum matters little in the simple Tabletop Manipulation environment, and the auxiliary agent is less helpful in Point-U-Maze, where the start is already far from the goal."/>
          <p:cNvSpPr/>
          <p:nvPr/>
        </p:nvSpPr>
        <p:spPr>
          <a:xfrm>
            <a:off x="609600" y="3524326"/>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8_c4_authors_also_confirm_implicit_curric" title="cue_s08_c4_authors_also_confirm_implicit_curric" descr="cue_s08_c4_authors_also_confirm_implicit_curric The authors also confirm the implicit curriculum behaves as intended: the fraction of episodes the auxiliary agent intervenes in falls toward zero once the forward agent is fully trained."/>
          <p:cNvSpPr/>
          <p:nvPr/>
        </p:nvSpPr>
        <p:spPr>
          <a:xfrm>
            <a:off x="6248399" y="3524326"/>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67472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results in one place</a:t>
            </a:r>
          </a:p>
        </p:txBody>
      </p:sp>
      <p:grpSp>
        <p:nvGrpSpPr>
          <p:cNvPr id="16" name="Group 16"/>
          <p:cNvGrpSpPr/>
          <p:nvPr/>
        </p:nvGrpSpPr>
        <p:grpSpPr>
          <a:xfrm>
            <a:off x="609600" y="1600200"/>
            <a:ext cx="10972800" cy="933497"/>
            <a:chOff x="609600" y="1600200"/>
            <a:chExt cx="10972800" cy="933497"/>
          </a:xfrm>
        </p:grpSpPr>
        <p:sp>
          <p:nvSpPr>
            <p:cNvPr id="5" name="Rectangle 5"/>
            <p:cNvSpPr/>
            <p:nvPr/>
          </p:nvSpPr>
          <p:spPr>
            <a:xfrm>
              <a:off x="609600" y="1600200"/>
              <a:ext cx="10972800" cy="914400"/>
            </a:xfrm>
            <a:prstGeom prst="roundRect">
              <a:avLst>
                <a:gd name="adj" fmla="val 14583"/>
              </a:avLst>
            </a:prstGeom>
            <a:solidFill>
              <a:schemeClr val="accent5"/>
            </a:solidFill>
            <a:ln w="14288">
              <a:solidFill>
                <a:srgbClr val="26455F"/>
              </a:solidFill>
            </a:ln>
          </p:spPr>
        </p:sp>
        <p:sp>
          <p:nvSpPr>
            <p:cNvPr id="6" name="Rectangle 6"/>
            <p:cNvSpPr/>
            <p:nvPr/>
          </p:nvSpPr>
          <p:spPr>
            <a:xfrm>
              <a:off x="609600" y="1600200"/>
              <a:ext cx="57150" cy="914400"/>
            </a:xfrm>
            <a:prstGeom prst="roundRect">
              <a:avLst>
                <a:gd name="adj" fmla="val 50000"/>
              </a:avLst>
            </a:prstGeom>
            <a:solidFill>
              <a:schemeClr val="accent2"/>
            </a:solidFill>
            <a:ln>
              <a:noFill/>
            </a:ln>
          </p:spPr>
        </p:sp>
        <p:sp>
          <p:nvSpPr>
            <p:cNvPr id="7" name="TextBox 7"/>
            <p:cNvSpPr txBox="1"/>
            <p:nvPr/>
          </p:nvSpPr>
          <p:spPr>
            <a:xfrm>
              <a:off x="870204" y="1832610"/>
              <a:ext cx="1476095"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Evaluated broadly</a:t>
              </a:r>
            </a:p>
          </p:txBody>
        </p:sp>
        <p:sp>
          <p:nvSpPr>
            <p:cNvPr id="8" name="TextBox 8"/>
            <p:cNvSpPr txBox="1"/>
            <p:nvPr/>
          </p:nvSpPr>
          <p:spPr>
            <a:xfrm>
              <a:off x="870776" y="2130504"/>
              <a:ext cx="490131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Six sparse-reward environments, two from the EARL benchmark and</a:t>
              </a:r>
            </a:p>
          </p:txBody>
        </p:sp>
        <p:sp>
          <p:nvSpPr>
            <p:cNvPr id="9" name="TextBox 9"/>
            <p:cNvSpPr txBox="1"/>
            <p:nvPr/>
          </p:nvSpPr>
          <p:spPr>
            <a:xfrm>
              <a:off x="870776" y="2321004"/>
              <a:ext cx="448023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four adapted MuJoCo tasks, each run over five random seeds.</a:t>
              </a:r>
            </a:p>
          </p:txBody>
        </p:sp>
        <p:sp>
          <p:nvSpPr>
            <p:cNvPr id="10" name="Rectangle 10"/>
            <p:cNvSpPr/>
            <p:nvPr/>
          </p:nvSpPr>
          <p:spPr>
            <a:xfrm>
              <a:off x="6667500" y="1733550"/>
              <a:ext cx="2190750" cy="647700"/>
            </a:xfrm>
            <a:prstGeom prst="roundRect">
              <a:avLst>
                <a:gd name="adj" fmla="val 17647"/>
              </a:avLst>
            </a:prstGeom>
            <a:solidFill>
              <a:schemeClr val="accent6"/>
            </a:solidFill>
            <a:ln w="14288">
              <a:solidFill>
                <a:srgbClr val="26455F"/>
              </a:solidFill>
            </a:ln>
          </p:spPr>
        </p:sp>
        <p:sp>
          <p:nvSpPr>
            <p:cNvPr id="11" name="TextBox 11"/>
            <p:cNvSpPr txBox="1"/>
            <p:nvPr/>
          </p:nvSpPr>
          <p:spPr>
            <a:xfrm>
              <a:off x="7670577" y="1856613"/>
              <a:ext cx="184596" cy="410718"/>
            </a:xfrm>
            <a:prstGeom prst="rect">
              <a:avLst/>
            </a:prstGeom>
            <a:noFill/>
            <a:ln>
              <a:noFill/>
            </a:ln>
          </p:spPr>
          <p:txBody>
            <a:bodyPr wrap="none" lIns="0" tIns="0" rIns="0" bIns="0" anchor="t" anchorCtr="0">
              <a:spAutoFit/>
            </a:bodyPr>
            <a:lstStyle/>
            <a:p>
              <a:pPr algn="ctr"/>
              <a:r>
                <a:rPr lang="en-US" sz="2100" b="1" dirty="0">
                  <a:solidFill>
                    <a:schemeClr val="accent2"/>
                  </a:solidFill>
                  <a:latin typeface="+mn-lt"/>
                  <a:ea typeface="+mn-ea"/>
                  <a:cs typeface="+mn-cs"/>
                </a:rPr>
                <a:t>6</a:t>
              </a:r>
            </a:p>
          </p:txBody>
        </p:sp>
        <p:sp>
          <p:nvSpPr>
            <p:cNvPr id="12" name="TextBox 12"/>
            <p:cNvSpPr txBox="1"/>
            <p:nvPr/>
          </p:nvSpPr>
          <p:spPr>
            <a:xfrm>
              <a:off x="7322963" y="2150507"/>
              <a:ext cx="87982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environments</a:t>
              </a:r>
            </a:p>
          </p:txBody>
        </p:sp>
        <p:sp>
          <p:nvSpPr>
            <p:cNvPr id="13" name="Rectangle 13"/>
            <p:cNvSpPr/>
            <p:nvPr/>
          </p:nvSpPr>
          <p:spPr>
            <a:xfrm>
              <a:off x="9124950" y="1733550"/>
              <a:ext cx="2419350" cy="647700"/>
            </a:xfrm>
            <a:prstGeom prst="roundRect">
              <a:avLst>
                <a:gd name="adj" fmla="val 17647"/>
              </a:avLst>
            </a:prstGeom>
            <a:solidFill>
              <a:schemeClr val="accent6"/>
            </a:solidFill>
            <a:ln w="14288">
              <a:solidFill>
                <a:srgbClr val="26455F"/>
              </a:solidFill>
            </a:ln>
          </p:spPr>
        </p:sp>
        <p:sp>
          <p:nvSpPr>
            <p:cNvPr id="14" name="TextBox 14"/>
            <p:cNvSpPr txBox="1"/>
            <p:nvPr/>
          </p:nvSpPr>
          <p:spPr>
            <a:xfrm>
              <a:off x="10242327" y="1856613"/>
              <a:ext cx="184596" cy="410718"/>
            </a:xfrm>
            <a:prstGeom prst="rect">
              <a:avLst/>
            </a:prstGeom>
            <a:noFill/>
            <a:ln>
              <a:noFill/>
            </a:ln>
          </p:spPr>
          <p:txBody>
            <a:bodyPr wrap="none" lIns="0" tIns="0" rIns="0" bIns="0" anchor="t" anchorCtr="0">
              <a:spAutoFit/>
            </a:bodyPr>
            <a:lstStyle/>
            <a:p>
              <a:pPr algn="ctr"/>
              <a:r>
                <a:rPr lang="en-US" sz="2100" b="1" dirty="0">
                  <a:solidFill>
                    <a:schemeClr val="accent2"/>
                  </a:solidFill>
                  <a:latin typeface="+mn-lt"/>
                  <a:ea typeface="+mn-ea"/>
                  <a:cs typeface="+mn-cs"/>
                </a:rPr>
                <a:t>5</a:t>
              </a:r>
            </a:p>
          </p:txBody>
        </p:sp>
        <p:sp>
          <p:nvSpPr>
            <p:cNvPr id="15" name="TextBox 15"/>
            <p:cNvSpPr txBox="1"/>
            <p:nvPr/>
          </p:nvSpPr>
          <p:spPr>
            <a:xfrm>
              <a:off x="9894713" y="2150507"/>
              <a:ext cx="87982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random seeds</a:t>
              </a:r>
            </a:p>
          </p:txBody>
        </p:sp>
      </p:grpSp>
      <p:grpSp>
        <p:nvGrpSpPr>
          <p:cNvPr id="29" name="Group 29"/>
          <p:cNvGrpSpPr/>
          <p:nvPr/>
        </p:nvGrpSpPr>
        <p:grpSpPr>
          <a:xfrm>
            <a:off x="609600" y="2667000"/>
            <a:ext cx="5334000" cy="2571750"/>
            <a:chOff x="609600" y="2667000"/>
            <a:chExt cx="5334000" cy="2571750"/>
          </a:xfrm>
        </p:grpSpPr>
        <p:sp>
          <p:nvSpPr>
            <p:cNvPr id="17" name="Rectangle 17"/>
            <p:cNvSpPr/>
            <p:nvPr/>
          </p:nvSpPr>
          <p:spPr>
            <a:xfrm>
              <a:off x="609600" y="2667000"/>
              <a:ext cx="5334000" cy="2571750"/>
            </a:xfrm>
            <a:prstGeom prst="roundRect">
              <a:avLst>
                <a:gd name="adj" fmla="val 5185"/>
              </a:avLst>
            </a:prstGeom>
            <a:solidFill>
              <a:srgbClr val="0F2E2B"/>
            </a:solidFill>
            <a:ln w="14288">
              <a:solidFill>
                <a:srgbClr val="34D3C0"/>
              </a:solidFill>
            </a:ln>
          </p:spPr>
        </p:sp>
        <p:sp>
          <p:nvSpPr>
            <p:cNvPr id="18" name="Rectangle 18"/>
            <p:cNvSpPr/>
            <p:nvPr/>
          </p:nvSpPr>
          <p:spPr>
            <a:xfrm>
              <a:off x="609600" y="2667000"/>
              <a:ext cx="57150" cy="2571750"/>
            </a:xfrm>
            <a:prstGeom prst="roundRect">
              <a:avLst>
                <a:gd name="adj" fmla="val 50000"/>
              </a:avLst>
            </a:prstGeom>
            <a:solidFill>
              <a:srgbClr val="34D3C0"/>
            </a:solidFill>
            <a:ln>
              <a:noFill/>
            </a:ln>
          </p:spPr>
        </p:sp>
        <p:sp>
          <p:nvSpPr>
            <p:cNvPr id="19" name="TextBox 19"/>
            <p:cNvSpPr txBox="1"/>
            <p:nvPr/>
          </p:nvSpPr>
          <p:spPr>
            <a:xfrm>
              <a:off x="870204" y="2899410"/>
              <a:ext cx="2756921"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To define the target distribution</a:t>
              </a:r>
            </a:p>
          </p:txBody>
        </p:sp>
        <p:sp>
          <p:nvSpPr>
            <p:cNvPr id="20" name="Rectangle 20"/>
            <p:cNvSpPr/>
            <p:nvPr/>
          </p:nvSpPr>
          <p:spPr>
            <a:xfrm>
              <a:off x="876300" y="3219450"/>
              <a:ext cx="2381250" cy="914400"/>
            </a:xfrm>
            <a:prstGeom prst="roundRect">
              <a:avLst>
                <a:gd name="adj" fmla="val 12500"/>
              </a:avLst>
            </a:prstGeom>
            <a:solidFill>
              <a:schemeClr val="accent6"/>
            </a:solidFill>
            <a:ln w="14288">
              <a:solidFill>
                <a:srgbClr val="26455F"/>
              </a:solidFill>
            </a:ln>
          </p:spPr>
        </p:sp>
        <p:sp>
          <p:nvSpPr>
            <p:cNvPr id="21" name="TextBox 21"/>
            <p:cNvSpPr txBox="1"/>
            <p:nvPr/>
          </p:nvSpPr>
          <p:spPr>
            <a:xfrm>
              <a:off x="1811366" y="3486531"/>
              <a:ext cx="511117" cy="410718"/>
            </a:xfrm>
            <a:prstGeom prst="rect">
              <a:avLst/>
            </a:prstGeom>
            <a:noFill/>
            <a:ln>
              <a:noFill/>
            </a:ln>
          </p:spPr>
          <p:txBody>
            <a:bodyPr wrap="none" lIns="0" tIns="0" rIns="0" bIns="0" anchor="t" anchorCtr="0">
              <a:spAutoFit/>
            </a:bodyPr>
            <a:lstStyle/>
            <a:p>
              <a:pPr algn="ctr"/>
              <a:r>
                <a:rPr lang="en-US" sz="2100" b="1" dirty="0">
                  <a:solidFill>
                    <a:srgbClr val="48C78E"/>
                  </a:solidFill>
                  <a:latin typeface="+mn-lt"/>
                  <a:ea typeface="+mn-ea"/>
                  <a:cs typeface="+mn-cs"/>
                </a:rPr>
                <a:t>~10</a:t>
              </a:r>
            </a:p>
          </p:txBody>
        </p:sp>
        <p:sp>
          <p:nvSpPr>
            <p:cNvPr id="22" name="TextBox 22"/>
            <p:cNvSpPr txBox="1"/>
            <p:nvPr/>
          </p:nvSpPr>
          <p:spPr>
            <a:xfrm>
              <a:off x="1115464" y="3849767"/>
              <a:ext cx="190292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target states (sometimes 1)</a:t>
              </a:r>
            </a:p>
          </p:txBody>
        </p:sp>
        <p:sp>
          <p:nvSpPr>
            <p:cNvPr id="23" name="Rectangle 23"/>
            <p:cNvSpPr/>
            <p:nvPr/>
          </p:nvSpPr>
          <p:spPr>
            <a:xfrm>
              <a:off x="3524250" y="3219450"/>
              <a:ext cx="2381250" cy="914400"/>
            </a:xfrm>
            <a:prstGeom prst="roundRect">
              <a:avLst>
                <a:gd name="adj" fmla="val 12500"/>
              </a:avLst>
            </a:prstGeom>
            <a:solidFill>
              <a:schemeClr val="accent6"/>
            </a:solidFill>
            <a:ln w="14288">
              <a:solidFill>
                <a:srgbClr val="26455F"/>
              </a:solidFill>
            </a:ln>
          </p:spPr>
        </p:sp>
        <p:sp>
          <p:nvSpPr>
            <p:cNvPr id="24" name="TextBox 24"/>
            <p:cNvSpPr txBox="1"/>
            <p:nvPr/>
          </p:nvSpPr>
          <p:spPr>
            <a:xfrm>
              <a:off x="4296056" y="3486531"/>
              <a:ext cx="837638" cy="410718"/>
            </a:xfrm>
            <a:prstGeom prst="rect">
              <a:avLst/>
            </a:prstGeom>
            <a:noFill/>
            <a:ln>
              <a:noFill/>
            </a:ln>
          </p:spPr>
          <p:txBody>
            <a:bodyPr wrap="none" lIns="0" tIns="0" rIns="0" bIns="0" anchor="t" anchorCtr="0">
              <a:spAutoFit/>
            </a:bodyPr>
            <a:lstStyle/>
            <a:p>
              <a:pPr algn="ctr"/>
              <a:r>
                <a:rPr lang="en-US" sz="2100" b="1" dirty="0">
                  <a:solidFill>
                    <a:srgbClr val="F2685C"/>
                  </a:solidFill>
                  <a:latin typeface="+mn-lt"/>
                  <a:ea typeface="+mn-ea"/>
                  <a:cs typeface="+mn-cs"/>
                </a:rPr>
                <a:t>1000s</a:t>
              </a:r>
            </a:p>
          </p:txBody>
        </p:sp>
        <p:sp>
          <p:nvSpPr>
            <p:cNvPr id="25" name="TextBox 25"/>
            <p:cNvSpPr txBox="1"/>
            <p:nvPr/>
          </p:nvSpPr>
          <p:spPr>
            <a:xfrm>
              <a:off x="3520927" y="3849767"/>
              <a:ext cx="238789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demo transitions prior methods need</a:t>
              </a:r>
            </a:p>
          </p:txBody>
        </p:sp>
        <p:sp>
          <p:nvSpPr>
            <p:cNvPr id="26" name="Rectangle 26"/>
            <p:cNvSpPr/>
            <p:nvPr/>
          </p:nvSpPr>
          <p:spPr>
            <a:xfrm>
              <a:off x="876300" y="4248150"/>
              <a:ext cx="5029200" cy="419100"/>
            </a:xfrm>
            <a:prstGeom prst="roundRect">
              <a:avLst>
                <a:gd name="adj" fmla="val 18182"/>
              </a:avLst>
            </a:prstGeom>
            <a:solidFill>
              <a:schemeClr val="accent6"/>
            </a:solidFill>
            <a:ln w="14288">
              <a:solidFill>
                <a:srgbClr val="26455F"/>
              </a:solidFill>
            </a:ln>
          </p:spPr>
        </p:sp>
        <p:sp>
          <p:nvSpPr>
            <p:cNvPr id="27" name="TextBox 27"/>
            <p:cNvSpPr txBox="1"/>
            <p:nvPr/>
          </p:nvSpPr>
          <p:spPr>
            <a:xfrm>
              <a:off x="1061276" y="4397454"/>
              <a:ext cx="2560950" cy="212693"/>
            </a:xfrm>
            <a:prstGeom prst="rect">
              <a:avLst/>
            </a:prstGeom>
            <a:noFill/>
            <a:ln>
              <a:noFill/>
            </a:ln>
          </p:spPr>
          <p:txBody>
            <a:bodyPr wrap="none" lIns="0" tIns="0" rIns="0" bIns="0" anchor="t" anchorCtr="0">
              <a:spAutoFit/>
            </a:bodyPr>
            <a:lstStyle/>
            <a:p>
              <a:pPr algn="l"/>
              <a:r>
                <a:rPr lang="en-US" sz="1090" b="1" dirty="0">
                  <a:solidFill>
                    <a:srgbClr val="34D3C0"/>
                  </a:solidFill>
                  <a:latin typeface="Consolas"/>
                  <a:ea typeface="Consolas"/>
                  <a:cs typeface="Consolas"/>
                </a:rPr>
                <a:t>~10 states vs thousands of demos</a:t>
              </a:r>
            </a:p>
          </p:txBody>
        </p:sp>
        <p:sp>
          <p:nvSpPr>
            <p:cNvPr id="28" name="TextBox 28"/>
            <p:cNvSpPr txBox="1"/>
            <p:nvPr/>
          </p:nvSpPr>
          <p:spPr>
            <a:xfrm>
              <a:off x="871156" y="4843701"/>
              <a:ext cx="470803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Orders of magnitude less prior information than prior autonomous RL.</a:t>
              </a:r>
            </a:p>
          </p:txBody>
        </p:sp>
      </p:grpSp>
      <p:grpSp>
        <p:nvGrpSpPr>
          <p:cNvPr id="39" name="Group 39"/>
          <p:cNvGrpSpPr/>
          <p:nvPr/>
        </p:nvGrpSpPr>
        <p:grpSpPr>
          <a:xfrm>
            <a:off x="6248400" y="2667000"/>
            <a:ext cx="5334000" cy="1257300"/>
            <a:chOff x="6248400" y="2667000"/>
            <a:chExt cx="5334000" cy="1257300"/>
          </a:xfrm>
        </p:grpSpPr>
        <p:sp>
          <p:nvSpPr>
            <p:cNvPr id="30" name="Rectangle 30"/>
            <p:cNvSpPr/>
            <p:nvPr/>
          </p:nvSpPr>
          <p:spPr>
            <a:xfrm>
              <a:off x="6248400" y="2667000"/>
              <a:ext cx="5334000" cy="1257300"/>
            </a:xfrm>
            <a:prstGeom prst="roundRect">
              <a:avLst>
                <a:gd name="adj" fmla="val 10606"/>
              </a:avLst>
            </a:prstGeom>
            <a:solidFill>
              <a:schemeClr val="accent5"/>
            </a:solidFill>
            <a:ln w="14288">
              <a:solidFill>
                <a:srgbClr val="26455F"/>
              </a:solidFill>
            </a:ln>
          </p:spPr>
        </p:sp>
        <p:sp>
          <p:nvSpPr>
            <p:cNvPr id="31" name="Rectangle 31"/>
            <p:cNvSpPr/>
            <p:nvPr/>
          </p:nvSpPr>
          <p:spPr>
            <a:xfrm>
              <a:off x="6248400" y="2667000"/>
              <a:ext cx="57150" cy="1257300"/>
            </a:xfrm>
            <a:prstGeom prst="roundRect">
              <a:avLst>
                <a:gd name="adj" fmla="val 50000"/>
              </a:avLst>
            </a:prstGeom>
            <a:solidFill>
              <a:srgbClr val="48C78E"/>
            </a:solidFill>
            <a:ln>
              <a:noFill/>
            </a:ln>
          </p:spPr>
        </p:sp>
        <p:sp>
          <p:nvSpPr>
            <p:cNvPr id="32" name="TextBox 32"/>
            <p:cNvSpPr txBox="1"/>
            <p:nvPr/>
          </p:nvSpPr>
          <p:spPr>
            <a:xfrm>
              <a:off x="6509194" y="2903458"/>
              <a:ext cx="2886650" cy="227362"/>
            </a:xfrm>
            <a:prstGeom prst="rect">
              <a:avLst/>
            </a:prstGeom>
            <a:noFill/>
            <a:ln>
              <a:noFill/>
            </a:ln>
          </p:spPr>
          <p:txBody>
            <a:bodyPr wrap="none" lIns="0" tIns="0" rIns="0" bIns="0" anchor="t" anchorCtr="0">
              <a:spAutoFit/>
            </a:bodyPr>
            <a:lstStyle/>
            <a:p>
              <a:pPr algn="l"/>
              <a:r>
                <a:rPr lang="en-US" sz="1160" b="1" dirty="0">
                  <a:solidFill>
                    <a:srgbClr val="48C78E"/>
                  </a:solidFill>
                  <a:latin typeface="+mn-lt"/>
                  <a:ea typeface="+mn-ea"/>
                  <a:cs typeface="+mn-cs"/>
                </a:rPr>
                <a:t>Zero crutches, oracle-level results</a:t>
              </a:r>
            </a:p>
          </p:txBody>
        </p:sp>
        <p:sp>
          <p:nvSpPr>
            <p:cNvPr id="33" name="Rectangle 33"/>
            <p:cNvSpPr/>
            <p:nvPr/>
          </p:nvSpPr>
          <p:spPr>
            <a:xfrm>
              <a:off x="6515100" y="3181350"/>
              <a:ext cx="2381250" cy="609600"/>
            </a:xfrm>
            <a:prstGeom prst="roundRect">
              <a:avLst>
                <a:gd name="adj" fmla="val 18750"/>
              </a:avLst>
            </a:prstGeom>
            <a:solidFill>
              <a:schemeClr val="accent6"/>
            </a:solidFill>
            <a:ln w="14288">
              <a:solidFill>
                <a:srgbClr val="26455F"/>
              </a:solidFill>
            </a:ln>
          </p:spPr>
        </p:sp>
        <p:sp>
          <p:nvSpPr>
            <p:cNvPr id="34" name="TextBox 34"/>
            <p:cNvSpPr txBox="1"/>
            <p:nvPr/>
          </p:nvSpPr>
          <p:spPr>
            <a:xfrm>
              <a:off x="7613427" y="3283839"/>
              <a:ext cx="184596" cy="410718"/>
            </a:xfrm>
            <a:prstGeom prst="rect">
              <a:avLst/>
            </a:prstGeom>
            <a:noFill/>
            <a:ln>
              <a:noFill/>
            </a:ln>
          </p:spPr>
          <p:txBody>
            <a:bodyPr wrap="none" lIns="0" tIns="0" rIns="0" bIns="0" anchor="t" anchorCtr="0">
              <a:spAutoFit/>
            </a:bodyPr>
            <a:lstStyle/>
            <a:p>
              <a:pPr algn="ctr"/>
              <a:r>
                <a:rPr lang="en-US" sz="2100" b="1" dirty="0">
                  <a:solidFill>
                    <a:srgbClr val="48C78E"/>
                  </a:solidFill>
                  <a:latin typeface="+mn-lt"/>
                  <a:ea typeface="+mn-ea"/>
                  <a:cs typeface="+mn-cs"/>
                </a:rPr>
                <a:t>0</a:t>
              </a:r>
            </a:p>
          </p:txBody>
        </p:sp>
        <p:sp>
          <p:nvSpPr>
            <p:cNvPr id="35" name="TextBox 35"/>
            <p:cNvSpPr txBox="1"/>
            <p:nvPr/>
          </p:nvSpPr>
          <p:spPr>
            <a:xfrm>
              <a:off x="7192735" y="3567827"/>
              <a:ext cx="102598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demonstrations</a:t>
              </a:r>
            </a:p>
          </p:txBody>
        </p:sp>
        <p:sp>
          <p:nvSpPr>
            <p:cNvPr id="36" name="Rectangle 36"/>
            <p:cNvSpPr/>
            <p:nvPr/>
          </p:nvSpPr>
          <p:spPr>
            <a:xfrm>
              <a:off x="9163050" y="3181350"/>
              <a:ext cx="2381250" cy="609600"/>
            </a:xfrm>
            <a:prstGeom prst="roundRect">
              <a:avLst>
                <a:gd name="adj" fmla="val 18750"/>
              </a:avLst>
            </a:prstGeom>
            <a:solidFill>
              <a:schemeClr val="accent6"/>
            </a:solidFill>
            <a:ln w="14288">
              <a:solidFill>
                <a:srgbClr val="26455F"/>
              </a:solidFill>
            </a:ln>
          </p:spPr>
        </p:sp>
        <p:sp>
          <p:nvSpPr>
            <p:cNvPr id="37" name="TextBox 37"/>
            <p:cNvSpPr txBox="1"/>
            <p:nvPr/>
          </p:nvSpPr>
          <p:spPr>
            <a:xfrm>
              <a:off x="10261377" y="3283839"/>
              <a:ext cx="184596" cy="410718"/>
            </a:xfrm>
            <a:prstGeom prst="rect">
              <a:avLst/>
            </a:prstGeom>
            <a:noFill/>
            <a:ln>
              <a:noFill/>
            </a:ln>
          </p:spPr>
          <p:txBody>
            <a:bodyPr wrap="none" lIns="0" tIns="0" rIns="0" bIns="0" anchor="t" anchorCtr="0">
              <a:spAutoFit/>
            </a:bodyPr>
            <a:lstStyle/>
            <a:p>
              <a:pPr algn="ctr"/>
              <a:r>
                <a:rPr lang="en-US" sz="2100" b="1" dirty="0">
                  <a:solidFill>
                    <a:srgbClr val="48C78E"/>
                  </a:solidFill>
                  <a:latin typeface="+mn-lt"/>
                  <a:ea typeface="+mn-ea"/>
                  <a:cs typeface="+mn-cs"/>
                </a:rPr>
                <a:t>0</a:t>
              </a:r>
            </a:p>
          </p:txBody>
        </p:sp>
        <p:sp>
          <p:nvSpPr>
            <p:cNvPr id="38" name="TextBox 38"/>
            <p:cNvSpPr txBox="1"/>
            <p:nvPr/>
          </p:nvSpPr>
          <p:spPr>
            <a:xfrm>
              <a:off x="9893833" y="3567827"/>
              <a:ext cx="91968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manual resets</a:t>
              </a:r>
            </a:p>
          </p:txBody>
        </p:sp>
      </p:grpSp>
      <p:grpSp>
        <p:nvGrpSpPr>
          <p:cNvPr id="46" name="Group 46"/>
          <p:cNvGrpSpPr/>
          <p:nvPr/>
        </p:nvGrpSpPr>
        <p:grpSpPr>
          <a:xfrm>
            <a:off x="6248400" y="4038600"/>
            <a:ext cx="5334000" cy="1200150"/>
            <a:chOff x="6248400" y="4038600"/>
            <a:chExt cx="5334000" cy="1200150"/>
          </a:xfrm>
        </p:grpSpPr>
        <p:sp>
          <p:nvSpPr>
            <p:cNvPr id="40" name="Rectangle 40"/>
            <p:cNvSpPr/>
            <p:nvPr/>
          </p:nvSpPr>
          <p:spPr>
            <a:xfrm>
              <a:off x="6248400" y="4038600"/>
              <a:ext cx="5334000" cy="1200150"/>
            </a:xfrm>
            <a:prstGeom prst="roundRect">
              <a:avLst>
                <a:gd name="adj" fmla="val 11111"/>
              </a:avLst>
            </a:prstGeom>
            <a:solidFill>
              <a:srgbClr val="2A2417"/>
            </a:solidFill>
            <a:ln w="14288">
              <a:solidFill>
                <a:srgbClr val="F2C14E"/>
              </a:solidFill>
            </a:ln>
          </p:spPr>
        </p:sp>
        <p:sp>
          <p:nvSpPr>
            <p:cNvPr id="41" name="Rectangle 41"/>
            <p:cNvSpPr/>
            <p:nvPr/>
          </p:nvSpPr>
          <p:spPr>
            <a:xfrm>
              <a:off x="6248400" y="4038600"/>
              <a:ext cx="57150" cy="1200150"/>
            </a:xfrm>
            <a:prstGeom prst="roundRect">
              <a:avLst>
                <a:gd name="adj" fmla="val 50000"/>
              </a:avLst>
            </a:prstGeom>
            <a:solidFill>
              <a:srgbClr val="F2C14E"/>
            </a:solidFill>
            <a:ln>
              <a:noFill/>
            </a:ln>
          </p:spPr>
        </p:sp>
        <p:sp>
          <p:nvSpPr>
            <p:cNvPr id="42" name="TextBox 42"/>
            <p:cNvSpPr txBox="1"/>
            <p:nvPr/>
          </p:nvSpPr>
          <p:spPr>
            <a:xfrm>
              <a:off x="6509004" y="4271010"/>
              <a:ext cx="679064"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In short</a:t>
              </a:r>
            </a:p>
          </p:txBody>
        </p:sp>
        <p:sp>
          <p:nvSpPr>
            <p:cNvPr id="43" name="TextBox 43"/>
            <p:cNvSpPr txBox="1"/>
            <p:nvPr/>
          </p:nvSpPr>
          <p:spPr>
            <a:xfrm>
              <a:off x="6509766" y="4572952"/>
              <a:ext cx="342217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None of the usual crutches, and roughly the same</a:t>
              </a:r>
            </a:p>
          </p:txBody>
        </p:sp>
        <p:sp>
          <p:nvSpPr>
            <p:cNvPr id="44" name="TextBox 44"/>
            <p:cNvSpPr txBox="1"/>
            <p:nvPr/>
          </p:nvSpPr>
          <p:spPr>
            <a:xfrm>
              <a:off x="6509766" y="4782502"/>
              <a:ext cx="350203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performance as an oracle trained in the far easier</a:t>
              </a:r>
            </a:p>
          </p:txBody>
        </p:sp>
        <p:sp>
          <p:nvSpPr>
            <p:cNvPr id="45" name="TextBox 45"/>
            <p:cNvSpPr txBox="1"/>
            <p:nvPr/>
          </p:nvSpPr>
          <p:spPr>
            <a:xfrm>
              <a:off x="6509766" y="4992052"/>
              <a:ext cx="119094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episodic setting.</a:t>
              </a:r>
            </a:p>
          </p:txBody>
        </p:sp>
      </p:grpSp>
      <p:sp>
        <p:nvSpPr>
          <p:cNvPr id="47" name="cue_s09_c1_few_numbers_capture_impact_ibc" title="cue_s09_c1_few_numbers_capture_impact_ibc" descr="cue_s09_c1_few_numbers_capture_impact_ibc A few numbers capture the impact. IBC was tested on six sparse-reward environments, two from the established EARL benchmark and four adapted MuJoCo tasks, each run over five random seeds."/>
          <p:cNvSpPr/>
          <p:nvPr/>
        </p:nvSpPr>
        <p:spPr>
          <a:xfrm>
            <a:off x="609600" y="1599971"/>
            <a:ext cx="10972800" cy="9333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9_c2_define_its_target_distribution_needs" title="cue_s09_c2_define_its_target_distribution_needs" descr="cue_s09_c2_define_its_target_distribution_needs To define its target distribution, it needs only about ten example states, and sometimes just one, compared with the thousands of demonstration transitions that prior autonomous methods require."/>
          <p:cNvSpPr/>
          <p:nvPr/>
        </p:nvSpPr>
        <p:spPr>
          <a:xfrm>
            <a:off x="609600" y="2667076"/>
            <a:ext cx="5696102" cy="25717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9_c3_despite_zero_demonstrations_zero_man" title="cue_s09_c3_despite_zero_demonstrations_zero_man" descr="cue_s09_c3_despite_zero_demonstrations_zero_man And despite using zero demonstrations and zero manual resets, it reaches success rates comparable to an oracle agent trained in the far easier episodic setting."/>
          <p:cNvSpPr/>
          <p:nvPr/>
        </p:nvSpPr>
        <p:spPr>
          <a:xfrm>
            <a:off x="6248399" y="2667076"/>
            <a:ext cx="53340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9_c4_short_none_usual_crutches_roughly" title="cue_s09_c4_short_none_usual_crutches_roughly" descr="cue_s09_c4_short_none_usual_crutches_roughly In short: none of the usual crutches, and roughly the same performance."/>
          <p:cNvSpPr/>
          <p:nvPr/>
        </p:nvSpPr>
        <p:spPr>
          <a:xfrm>
            <a:off x="6248399" y="4038676"/>
            <a:ext cx="5334000" cy="12001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691895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Autonomy without resets or demonstrations</a:t>
            </a:r>
          </a:p>
        </p:txBody>
      </p:sp>
      <p:grpSp>
        <p:nvGrpSpPr>
          <p:cNvPr id="11" name="Group 11"/>
          <p:cNvGrpSpPr/>
          <p:nvPr/>
        </p:nvGrpSpPr>
        <p:grpSpPr>
          <a:xfrm>
            <a:off x="609600" y="1619250"/>
            <a:ext cx="10972800" cy="971597"/>
            <a:chOff x="609600" y="1619250"/>
            <a:chExt cx="10972800" cy="971597"/>
          </a:xfrm>
        </p:grpSpPr>
        <p:sp>
          <p:nvSpPr>
            <p:cNvPr id="5" name="Rectangle 5"/>
            <p:cNvSpPr/>
            <p:nvPr/>
          </p:nvSpPr>
          <p:spPr>
            <a:xfrm>
              <a:off x="609600" y="1619250"/>
              <a:ext cx="10972800" cy="933450"/>
            </a:xfrm>
            <a:prstGeom prst="roundRect">
              <a:avLst>
                <a:gd name="adj" fmla="val 14286"/>
              </a:avLst>
            </a:prstGeom>
            <a:solidFill>
              <a:schemeClr val="accent5"/>
            </a:solidFill>
            <a:ln w="14288">
              <a:solidFill>
                <a:srgbClr val="26455F"/>
              </a:solidFill>
            </a:ln>
          </p:spPr>
        </p:sp>
        <p:sp>
          <p:nvSpPr>
            <p:cNvPr id="6" name="Rectangle 6"/>
            <p:cNvSpPr/>
            <p:nvPr/>
          </p:nvSpPr>
          <p:spPr>
            <a:xfrm>
              <a:off x="609600" y="1619250"/>
              <a:ext cx="57150" cy="933450"/>
            </a:xfrm>
            <a:prstGeom prst="roundRect">
              <a:avLst>
                <a:gd name="adj" fmla="val 50000"/>
              </a:avLst>
            </a:prstGeom>
            <a:solidFill>
              <a:schemeClr val="accent2"/>
            </a:solidFill>
            <a:ln>
              <a:noFill/>
            </a:ln>
          </p:spPr>
        </p:sp>
        <p:sp>
          <p:nvSpPr>
            <p:cNvPr id="7" name="Ellipse 7"/>
            <p:cNvSpPr/>
            <p:nvPr/>
          </p:nvSpPr>
          <p:spPr>
            <a:xfrm>
              <a:off x="971550" y="1990725"/>
              <a:ext cx="190500" cy="190500"/>
            </a:xfrm>
            <a:prstGeom prst="ellipse">
              <a:avLst/>
            </a:prstGeom>
            <a:solidFill>
              <a:schemeClr val="accent2"/>
            </a:solidFill>
            <a:ln>
              <a:noFill/>
            </a:ln>
          </p:spPr>
        </p:sp>
        <p:sp>
          <p:nvSpPr>
            <p:cNvPr id="8" name="TextBox 8"/>
            <p:cNvSpPr txBox="1"/>
            <p:nvPr/>
          </p:nvSpPr>
          <p:spPr>
            <a:xfrm>
              <a:off x="1421702" y="1850469"/>
              <a:ext cx="3017169"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An agent that learns on its own</a:t>
              </a:r>
            </a:p>
          </p:txBody>
        </p:sp>
        <p:sp>
          <p:nvSpPr>
            <p:cNvPr id="9" name="TextBox 9"/>
            <p:cNvSpPr txBox="1"/>
            <p:nvPr/>
          </p:nvSpPr>
          <p:spPr>
            <a:xfrm>
              <a:off x="1423225" y="2168604"/>
              <a:ext cx="725222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IBC learns robotic manipulation and locomotion tasks entirely on its own, with no environment resets</a:t>
              </a:r>
            </a:p>
          </p:txBody>
        </p:sp>
        <p:sp>
          <p:nvSpPr>
            <p:cNvPr id="10" name="TextBox 10"/>
            <p:cNvSpPr txBox="1"/>
            <p:nvPr/>
          </p:nvSpPr>
          <p:spPr>
            <a:xfrm>
              <a:off x="1423225" y="2378154"/>
              <a:ext cx="417834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and no demonstrations, by generating its own curriculum.</a:t>
              </a:r>
            </a:p>
          </p:txBody>
        </p:sp>
      </p:grpSp>
      <p:grpSp>
        <p:nvGrpSpPr>
          <p:cNvPr id="18" name="Group 18"/>
          <p:cNvGrpSpPr/>
          <p:nvPr/>
        </p:nvGrpSpPr>
        <p:grpSpPr>
          <a:xfrm>
            <a:off x="609600" y="2686050"/>
            <a:ext cx="10972800" cy="971597"/>
            <a:chOff x="609600" y="2686050"/>
            <a:chExt cx="10972800" cy="971597"/>
          </a:xfrm>
        </p:grpSpPr>
        <p:sp>
          <p:nvSpPr>
            <p:cNvPr id="12" name="Rectangle 12"/>
            <p:cNvSpPr/>
            <p:nvPr/>
          </p:nvSpPr>
          <p:spPr>
            <a:xfrm>
              <a:off x="609600" y="2686050"/>
              <a:ext cx="10972800" cy="933450"/>
            </a:xfrm>
            <a:prstGeom prst="roundRect">
              <a:avLst>
                <a:gd name="adj" fmla="val 14286"/>
              </a:avLst>
            </a:prstGeom>
            <a:solidFill>
              <a:schemeClr val="accent5"/>
            </a:solidFill>
            <a:ln w="14288">
              <a:solidFill>
                <a:srgbClr val="26455F"/>
              </a:solidFill>
            </a:ln>
          </p:spPr>
        </p:sp>
        <p:sp>
          <p:nvSpPr>
            <p:cNvPr id="13" name="Rectangle 13"/>
            <p:cNvSpPr/>
            <p:nvPr/>
          </p:nvSpPr>
          <p:spPr>
            <a:xfrm>
              <a:off x="609600" y="2686050"/>
              <a:ext cx="57150" cy="933450"/>
            </a:xfrm>
            <a:prstGeom prst="roundRect">
              <a:avLst>
                <a:gd name="adj" fmla="val 50000"/>
              </a:avLst>
            </a:prstGeom>
            <a:solidFill>
              <a:srgbClr val="34D3C0"/>
            </a:solidFill>
            <a:ln>
              <a:noFill/>
            </a:ln>
          </p:spPr>
        </p:sp>
        <p:sp>
          <p:nvSpPr>
            <p:cNvPr id="14" name="Ellipse 14"/>
            <p:cNvSpPr/>
            <p:nvPr/>
          </p:nvSpPr>
          <p:spPr>
            <a:xfrm>
              <a:off x="971550" y="3057525"/>
              <a:ext cx="190500" cy="190500"/>
            </a:xfrm>
            <a:prstGeom prst="ellipse">
              <a:avLst/>
            </a:prstGeom>
            <a:solidFill>
              <a:srgbClr val="34D3C0"/>
            </a:solidFill>
            <a:ln>
              <a:noFill/>
            </a:ln>
          </p:spPr>
        </p:sp>
        <p:sp>
          <p:nvSpPr>
            <p:cNvPr id="15" name="TextBox 15"/>
            <p:cNvSpPr txBox="1"/>
            <p:nvPr/>
          </p:nvSpPr>
          <p:spPr>
            <a:xfrm>
              <a:off x="1421702" y="2917269"/>
              <a:ext cx="2132527"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Two cooperating ideas</a:t>
              </a:r>
            </a:p>
          </p:txBody>
        </p:sp>
        <p:sp>
          <p:nvSpPr>
            <p:cNvPr id="16" name="TextBox 16"/>
            <p:cNvSpPr txBox="1"/>
            <p:nvPr/>
          </p:nvSpPr>
          <p:spPr>
            <a:xfrm>
              <a:off x="1423225" y="3235404"/>
              <a:ext cx="683909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An auxiliary agent that anchors the learner early and then fades away, plus a bidirectional goal</a:t>
              </a:r>
            </a:p>
          </p:txBody>
        </p:sp>
        <p:sp>
          <p:nvSpPr>
            <p:cNvPr id="17" name="TextBox 17"/>
            <p:cNvSpPr txBox="1"/>
            <p:nvPr/>
          </p:nvSpPr>
          <p:spPr>
            <a:xfrm>
              <a:off x="1423225" y="3444954"/>
              <a:ext cx="276968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curriculum built on optimal transport.</a:t>
              </a:r>
            </a:p>
          </p:txBody>
        </p:sp>
      </p:grpSp>
      <p:grpSp>
        <p:nvGrpSpPr>
          <p:cNvPr id="24" name="Group 24"/>
          <p:cNvGrpSpPr/>
          <p:nvPr/>
        </p:nvGrpSpPr>
        <p:grpSpPr>
          <a:xfrm>
            <a:off x="609600" y="3752850"/>
            <a:ext cx="10972800" cy="933450"/>
            <a:chOff x="609600" y="3752850"/>
            <a:chExt cx="10972800" cy="933450"/>
          </a:xfrm>
        </p:grpSpPr>
        <p:sp>
          <p:nvSpPr>
            <p:cNvPr id="19" name="Rectangle 19"/>
            <p:cNvSpPr/>
            <p:nvPr/>
          </p:nvSpPr>
          <p:spPr>
            <a:xfrm>
              <a:off x="609600" y="3752850"/>
              <a:ext cx="10972800" cy="933450"/>
            </a:xfrm>
            <a:prstGeom prst="roundRect">
              <a:avLst>
                <a:gd name="adj" fmla="val 14286"/>
              </a:avLst>
            </a:prstGeom>
            <a:solidFill>
              <a:schemeClr val="accent5"/>
            </a:solidFill>
            <a:ln w="14288">
              <a:solidFill>
                <a:srgbClr val="26455F"/>
              </a:solidFill>
            </a:ln>
          </p:spPr>
        </p:sp>
        <p:sp>
          <p:nvSpPr>
            <p:cNvPr id="20" name="Rectangle 20"/>
            <p:cNvSpPr/>
            <p:nvPr/>
          </p:nvSpPr>
          <p:spPr>
            <a:xfrm>
              <a:off x="609600" y="3752850"/>
              <a:ext cx="57150" cy="933450"/>
            </a:xfrm>
            <a:prstGeom prst="roundRect">
              <a:avLst>
                <a:gd name="adj" fmla="val 50000"/>
              </a:avLst>
            </a:prstGeom>
            <a:solidFill>
              <a:srgbClr val="48C78E"/>
            </a:solidFill>
            <a:ln>
              <a:noFill/>
            </a:ln>
          </p:spPr>
        </p:sp>
        <p:sp>
          <p:nvSpPr>
            <p:cNvPr id="21" name="Ellipse 21"/>
            <p:cNvSpPr/>
            <p:nvPr/>
          </p:nvSpPr>
          <p:spPr>
            <a:xfrm>
              <a:off x="971550" y="4124325"/>
              <a:ext cx="190500" cy="190500"/>
            </a:xfrm>
            <a:prstGeom prst="ellipse">
              <a:avLst/>
            </a:prstGeom>
            <a:solidFill>
              <a:srgbClr val="48C78E"/>
            </a:solidFill>
            <a:ln>
              <a:noFill/>
            </a:ln>
          </p:spPr>
        </p:sp>
        <p:sp>
          <p:nvSpPr>
            <p:cNvPr id="22" name="TextBox 22"/>
            <p:cNvSpPr txBox="1"/>
            <p:nvPr/>
          </p:nvSpPr>
          <p:spPr>
            <a:xfrm>
              <a:off x="1421702" y="3984069"/>
              <a:ext cx="2918981"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Matches expert-data methods</a:t>
              </a:r>
            </a:p>
          </p:txBody>
        </p:sp>
        <p:sp>
          <p:nvSpPr>
            <p:cNvPr id="23" name="TextBox 23"/>
            <p:cNvSpPr txBox="1"/>
            <p:nvPr/>
          </p:nvSpPr>
          <p:spPr>
            <a:xfrm>
              <a:off x="1423225" y="4302204"/>
              <a:ext cx="714745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result matches approaches that depend on expert demonstration data, without ever using any.</a:t>
              </a:r>
            </a:p>
          </p:txBody>
        </p:sp>
      </p:grpSp>
      <p:grpSp>
        <p:nvGrpSpPr>
          <p:cNvPr id="31" name="Group 31"/>
          <p:cNvGrpSpPr/>
          <p:nvPr/>
        </p:nvGrpSpPr>
        <p:grpSpPr>
          <a:xfrm>
            <a:off x="609600" y="4819650"/>
            <a:ext cx="10972800" cy="971597"/>
            <a:chOff x="609600" y="4819650"/>
            <a:chExt cx="10972800" cy="971597"/>
          </a:xfrm>
        </p:grpSpPr>
        <p:sp>
          <p:nvSpPr>
            <p:cNvPr id="25" name="Rectangle 25"/>
            <p:cNvSpPr/>
            <p:nvPr/>
          </p:nvSpPr>
          <p:spPr>
            <a:xfrm>
              <a:off x="609600" y="4819650"/>
              <a:ext cx="10972800" cy="933450"/>
            </a:xfrm>
            <a:prstGeom prst="roundRect">
              <a:avLst>
                <a:gd name="adj" fmla="val 14286"/>
              </a:avLst>
            </a:prstGeom>
            <a:solidFill>
              <a:schemeClr val="accent5"/>
            </a:solidFill>
            <a:ln w="14288">
              <a:solidFill>
                <a:srgbClr val="26455F"/>
              </a:solidFill>
            </a:ln>
          </p:spPr>
        </p:sp>
        <p:sp>
          <p:nvSpPr>
            <p:cNvPr id="26" name="Rectangle 26"/>
            <p:cNvSpPr/>
            <p:nvPr/>
          </p:nvSpPr>
          <p:spPr>
            <a:xfrm>
              <a:off x="609600" y="4819650"/>
              <a:ext cx="57150" cy="933450"/>
            </a:xfrm>
            <a:prstGeom prst="roundRect">
              <a:avLst>
                <a:gd name="adj" fmla="val 50000"/>
              </a:avLst>
            </a:prstGeom>
            <a:solidFill>
              <a:srgbClr val="F2C14E"/>
            </a:solidFill>
            <a:ln>
              <a:noFill/>
            </a:ln>
          </p:spPr>
        </p:sp>
        <p:sp>
          <p:nvSpPr>
            <p:cNvPr id="27" name="Ellipse 27"/>
            <p:cNvSpPr/>
            <p:nvPr/>
          </p:nvSpPr>
          <p:spPr>
            <a:xfrm>
              <a:off x="971550" y="5191125"/>
              <a:ext cx="190500" cy="190500"/>
            </a:xfrm>
            <a:prstGeom prst="ellipse">
              <a:avLst/>
            </a:prstGeom>
            <a:solidFill>
              <a:srgbClr val="F2C14E"/>
            </a:solidFill>
            <a:ln>
              <a:noFill/>
            </a:ln>
          </p:spPr>
        </p:sp>
        <p:sp>
          <p:nvSpPr>
            <p:cNvPr id="28" name="TextBox 28"/>
            <p:cNvSpPr txBox="1"/>
            <p:nvPr/>
          </p:nvSpPr>
          <p:spPr>
            <a:xfrm>
              <a:off x="1421702" y="5050869"/>
              <a:ext cx="2820797"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Caveats and what comes next</a:t>
              </a:r>
            </a:p>
          </p:txBody>
        </p:sp>
        <p:sp>
          <p:nvSpPr>
            <p:cNvPr id="29" name="TextBox 29"/>
            <p:cNvSpPr txBox="1"/>
            <p:nvPr/>
          </p:nvSpPr>
          <p:spPr>
            <a:xfrm>
              <a:off x="1423225" y="5369004"/>
              <a:ext cx="663369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It assumes reversible environments and still needs a human-specified sparse reward; a fully</a:t>
              </a:r>
            </a:p>
          </p:txBody>
        </p:sp>
        <p:sp>
          <p:nvSpPr>
            <p:cNvPr id="30" name="TextBox 30"/>
            <p:cNvSpPr txBox="1"/>
            <p:nvPr/>
          </p:nvSpPr>
          <p:spPr>
            <a:xfrm>
              <a:off x="1423225" y="5578554"/>
              <a:ext cx="437413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reward-free variant via C-learning is the natural next step.</a:t>
              </a:r>
            </a:p>
          </p:txBody>
        </p:sp>
      </p:grpSp>
      <p:sp>
        <p:nvSpPr>
          <p:cNvPr id="32" name="Line 32"/>
          <p:cNvSpPr/>
          <p:nvPr/>
        </p:nvSpPr>
        <p:spPr>
          <a:xfrm>
            <a:off x="609600" y="59436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3" name="TextBox 33"/>
          <p:cNvSpPr txBox="1"/>
          <p:nvPr/>
        </p:nvSpPr>
        <p:spPr>
          <a:xfrm>
            <a:off x="603885" y="6126956"/>
            <a:ext cx="4584290"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IBC · ICML 2023 · Kim, Cho &amp; Kim · Seoul National University</a:t>
            </a:r>
          </a:p>
        </p:txBody>
      </p:sp>
      <p:sp>
        <p:nvSpPr>
          <p:cNvPr id="34" name="TextBox 34"/>
          <p:cNvSpPr txBox="1"/>
          <p:nvPr/>
        </p:nvSpPr>
        <p:spPr>
          <a:xfrm>
            <a:off x="9250195" y="6139101"/>
            <a:ext cx="2337349" cy="198025"/>
          </a:xfrm>
          <a:prstGeom prst="rect">
            <a:avLst/>
          </a:prstGeom>
          <a:noFill/>
          <a:ln>
            <a:noFill/>
          </a:ln>
        </p:spPr>
        <p:txBody>
          <a:bodyPr wrap="none" lIns="0" tIns="0" rIns="0" bIns="0" anchor="t" anchorCtr="0">
            <a:spAutoFit/>
          </a:bodyPr>
          <a:lstStyle/>
          <a:p>
            <a:pPr algn="r"/>
            <a:r>
              <a:rPr lang="en-US" sz="1010" b="1" dirty="0">
                <a:solidFill>
                  <a:srgbClr val="34D3C0"/>
                </a:solidFill>
                <a:latin typeface="+mn-lt"/>
                <a:ea typeface="+mn-ea"/>
                <a:cs typeface="+mn-cs"/>
              </a:rPr>
              <a:t>github.com/snu-larr/ibc_official</a:t>
            </a:r>
          </a:p>
        </p:txBody>
      </p:sp>
      <p:sp>
        <p:nvSpPr>
          <p:cNvPr id="35" name="cue_s10_c1_takeaway_simple_remember_ibc_shows" title="cue_s10_c1_takeaway_simple_remember_ibc_shows" descr="cue_s10_c1_takeaway_simple_remember_ibc_shows The takeaway is simple to remember. IBC shows that an agent can learn robotic manipulation and locomotion tasks entirely on its own, with no environment resets and no demonstrations, by generating its own curriculum."/>
          <p:cNvSpPr/>
          <p:nvPr/>
        </p:nvSpPr>
        <p:spPr>
          <a:xfrm>
            <a:off x="609600" y="1619173"/>
            <a:ext cx="10972800" cy="9717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10_c2_does_two_cooperating_ideas_auxiliary" title="cue_s10_c2_does_two_cooperating_ideas_auxiliary" descr="cue_s10_c2_does_two_cooperating_ideas_auxiliary It does this with two cooperating ideas: an auxiliary agent that anchors the learner early and then fades away, and a bidirectional goal curriculum built on optimal transport that keeps proposing achievable intermediate goals."/>
          <p:cNvSpPr/>
          <p:nvPr/>
        </p:nvSpPr>
        <p:spPr>
          <a:xfrm>
            <a:off x="609600" y="2686278"/>
            <a:ext cx="10972800" cy="9717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10_c3_result_matches_methods_depend_expert" title="cue_s10_c3_result_matches_methods_depend_expert" descr="cue_s10_c3_result_matches_methods_depend_expert The result matches methods that depend on expert data."/>
          <p:cNvSpPr/>
          <p:nvPr/>
        </p:nvSpPr>
        <p:spPr>
          <a:xfrm>
            <a:off x="609600" y="3752697"/>
            <a:ext cx="10972800" cy="9333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10_c4_main_caveats_assumes_reversible_envi" title="cue_s10_c4_main_caveats_assumes_reversible_envi" descr="cue_s10_c4_main_caveats_assumes_reversible_envi The main caveats are that it assumes reversible environments and still needs a human to specify a sparse reward, and the authors point to a fully reward-free version, hinted at by their C-learning experiments, as the natural next step."/>
          <p:cNvSpPr/>
          <p:nvPr/>
        </p:nvSpPr>
        <p:spPr>
          <a:xfrm>
            <a:off x="609600" y="4819802"/>
            <a:ext cx="10972800" cy="9717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2026-07-16T06:12:13Z</dcterms:created>
  <dcterms:modified xsi:type="dcterms:W3CDTF">2026-07-16T06:12:13Z</dcterms:modified>
  <cp:category/>
  <cp:contentStatus/>
</cp:coreProperties>
</file>
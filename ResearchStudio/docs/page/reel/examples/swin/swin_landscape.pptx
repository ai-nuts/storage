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4830881"/>
          </a:xfrm>
          <a:prstGeom prst="roundRect">
            <a:avLst>
              <a:gd name="adj" fmla="val 1104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15581" y="2128599"/>
            <a:ext cx="3037046" cy="187745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34847" y="2128599"/>
            <a:ext cx="17780" cy="187745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1887" y="6004222"/>
            <a:ext cx="10804961" cy="9926380"/>
          </a:xfrm>
          <a:prstGeom prst="roundRect">
            <a:avLst>
              <a:gd name="adj" fmla="val 537"/>
            </a:avLst>
          </a:prstGeom>
          <a:solidFill>
            <a:srgbClr val="FAFAF7"/>
          </a:solidFill>
          <a:ln w="8890">
            <a:solidFill>
              <a:srgbClr val="B6BCC6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883568" y="6004222"/>
            <a:ext cx="27439124" cy="11889264"/>
          </a:xfrm>
          <a:prstGeom prst="roundRect">
            <a:avLst>
              <a:gd name="adj" fmla="val 448"/>
            </a:avLst>
          </a:prstGeom>
          <a:solidFill>
            <a:srgbClr val="FAFAF7"/>
          </a:solidFill>
          <a:ln w="8890">
            <a:solidFill>
              <a:srgbClr val="B6BCC6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9749412" y="6004222"/>
            <a:ext cx="10804962" cy="6159520"/>
          </a:xfrm>
          <a:prstGeom prst="roundRect">
            <a:avLst>
              <a:gd name="adj" fmla="val 865"/>
            </a:avLst>
          </a:prstGeom>
          <a:solidFill>
            <a:srgbClr val="FAFAF7"/>
          </a:solidFill>
          <a:ln w="8890">
            <a:solidFill>
              <a:srgbClr val="B6BCC6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749412" y="12495589"/>
            <a:ext cx="10804962" cy="8434388"/>
          </a:xfrm>
          <a:prstGeom prst="roundRect">
            <a:avLst>
              <a:gd name="adj" fmla="val 632"/>
            </a:avLst>
          </a:prstGeom>
          <a:solidFill>
            <a:srgbClr val="FAFAF7"/>
          </a:solidFill>
          <a:ln w="8890">
            <a:solidFill>
              <a:srgbClr val="B6BCC6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1887" y="16262449"/>
            <a:ext cx="10804961" cy="13809503"/>
          </a:xfrm>
          <a:prstGeom prst="roundRect">
            <a:avLst>
              <a:gd name="adj" fmla="val 493"/>
            </a:avLst>
          </a:prstGeom>
          <a:solidFill>
            <a:srgbClr val="FAFAF7"/>
          </a:solidFill>
          <a:ln w="8890">
            <a:solidFill>
              <a:srgbClr val="B6BCC6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749412" y="21261824"/>
            <a:ext cx="10804962" cy="8810128"/>
          </a:xfrm>
          <a:prstGeom prst="roundRect">
            <a:avLst>
              <a:gd name="adj" fmla="val 605"/>
            </a:avLst>
          </a:prstGeom>
          <a:solidFill>
            <a:srgbClr val="EDF1F7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749412" y="21261824"/>
            <a:ext cx="10804962" cy="8890"/>
          </a:xfrm>
          <a:prstGeom prst="rect">
            <a:avLst/>
          </a:prstGeom>
          <a:solidFill>
            <a:srgbClr val="B6BC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545484" y="21261824"/>
            <a:ext cx="8890" cy="8810128"/>
          </a:xfrm>
          <a:prstGeom prst="rect">
            <a:avLst/>
          </a:prstGeom>
          <a:solidFill>
            <a:srgbClr val="B6BC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749412" y="30063062"/>
            <a:ext cx="10804962" cy="8890"/>
          </a:xfrm>
          <a:prstGeom prst="rect">
            <a:avLst/>
          </a:prstGeom>
          <a:solidFill>
            <a:srgbClr val="B6BC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749412" y="21261824"/>
            <a:ext cx="53340" cy="8810128"/>
          </a:xfrm>
          <a:prstGeom prst="rect">
            <a:avLst/>
          </a:prstGeom>
          <a:solidFill>
            <a:srgbClr val="1D3A8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560124" y="1031101"/>
            <a:ext cx="2370574" cy="1303774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microsoft-re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6071" y="1391974"/>
            <a:ext cx="2038680" cy="582028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1039991" y="6392326"/>
            <a:ext cx="10028753" cy="977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39991" y="7352446"/>
            <a:ext cx="10028753" cy="17780"/>
          </a:xfrm>
          <a:prstGeom prst="rect">
            <a:avLst/>
          </a:prstGeom>
          <a:solidFill>
            <a:srgbClr val="BBC4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271672" y="6392326"/>
            <a:ext cx="26662916" cy="977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271672" y="7352446"/>
            <a:ext cx="26662916" cy="17780"/>
          </a:xfrm>
          <a:prstGeom prst="rect">
            <a:avLst/>
          </a:prstGeom>
          <a:solidFill>
            <a:srgbClr val="BBC4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137516" y="6392326"/>
            <a:ext cx="10028754" cy="977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137516" y="7352446"/>
            <a:ext cx="10028754" cy="17780"/>
          </a:xfrm>
          <a:prstGeom prst="rect">
            <a:avLst/>
          </a:prstGeom>
          <a:solidFill>
            <a:srgbClr val="BBC4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0137516" y="7690266"/>
            <a:ext cx="10028754" cy="4085372"/>
          </a:xfrm>
          <a:prstGeom prst="roundRect">
            <a:avLst>
              <a:gd name="adj" fmla="val 1740"/>
            </a:avLst>
          </a:prstGeom>
          <a:gradFill rotWithShape="1" flip="none">
            <a:gsLst>
              <a:gs pos="0">
                <a:srgbClr val="E4E7F1"/>
              </a:gs>
              <a:gs pos="100000">
                <a:srgbClr val="F1F3F8"/>
              </a:gs>
            </a:gsLst>
            <a:lin ang="5400000" scaled="0"/>
          </a:gradFill>
          <a:ln w="8890">
            <a:solidFill>
              <a:srgbClr val="C6CEE1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137516" y="12883693"/>
            <a:ext cx="10028754" cy="977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0137516" y="13843813"/>
            <a:ext cx="10028754" cy="17780"/>
          </a:xfrm>
          <a:prstGeom prst="rect">
            <a:avLst/>
          </a:prstGeom>
          <a:solidFill>
            <a:srgbClr val="BBC4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39991" y="16650553"/>
            <a:ext cx="10028753" cy="977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39991" y="17610673"/>
            <a:ext cx="10028753" cy="17780"/>
          </a:xfrm>
          <a:prstGeom prst="rect">
            <a:avLst/>
          </a:prstGeom>
          <a:solidFill>
            <a:srgbClr val="BBC4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1883568" y="18225333"/>
            <a:ext cx="13553639" cy="11846619"/>
          </a:xfrm>
          <a:prstGeom prst="roundRect">
            <a:avLst>
              <a:gd name="adj" fmla="val 450"/>
            </a:avLst>
          </a:prstGeom>
          <a:solidFill>
            <a:srgbClr val="FAFAF7"/>
          </a:solidFill>
          <a:ln w="8890">
            <a:solidFill>
              <a:srgbClr val="B6BCC6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5769054" y="18225333"/>
            <a:ext cx="13553638" cy="11846619"/>
          </a:xfrm>
          <a:prstGeom prst="roundRect">
            <a:avLst>
              <a:gd name="adj" fmla="val 450"/>
            </a:avLst>
          </a:prstGeom>
          <a:solidFill>
            <a:srgbClr val="FAFAF7"/>
          </a:solidFill>
          <a:ln w="8890">
            <a:solidFill>
              <a:srgbClr val="B6BCC6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0181966" y="21649928"/>
            <a:ext cx="9984304" cy="977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181966" y="22610048"/>
            <a:ext cx="9984304" cy="17780"/>
          </a:xfrm>
          <a:prstGeom prst="rect">
            <a:avLst/>
          </a:prstGeom>
          <a:solidFill>
            <a:srgbClr val="BBC4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0181966" y="22947868"/>
            <a:ext cx="9984304" cy="3024822"/>
          </a:xfrm>
          <a:prstGeom prst="roundRect">
            <a:avLst>
              <a:gd name="adj" fmla="val 6896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600143" y="2548235"/>
            <a:ext cx="2014974" cy="2014974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06823" y="2654915"/>
            <a:ext cx="1801614" cy="1801614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47875844" y="2548235"/>
            <a:ext cx="2014974" cy="2014974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82524" y="2654915"/>
            <a:ext cx="1801614" cy="1801614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12271672" y="18613437"/>
            <a:ext cx="12777430" cy="977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271672" y="19573557"/>
            <a:ext cx="12777430" cy="17780"/>
          </a:xfrm>
          <a:prstGeom prst="rect">
            <a:avLst/>
          </a:prstGeom>
          <a:solidFill>
            <a:srgbClr val="BBC4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6157158" y="18613437"/>
            <a:ext cx="12777430" cy="977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6157158" y="19573557"/>
            <a:ext cx="12777430" cy="17780"/>
          </a:xfrm>
          <a:prstGeom prst="rect">
            <a:avLst/>
          </a:prstGeom>
          <a:solidFill>
            <a:srgbClr val="BBC4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213471" y="23007181"/>
            <a:ext cx="7681654" cy="4420413"/>
          </a:xfrm>
          <a:prstGeom prst="roundRect">
            <a:avLst>
              <a:gd name="adj" fmla="val 804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page1_figur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3474" y="23007181"/>
            <a:ext cx="7681647" cy="4420413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26157158" y="24683779"/>
            <a:ext cx="12777430" cy="1942187"/>
          </a:xfrm>
          <a:prstGeom prst="roundRect">
            <a:avLst>
              <a:gd name="adj" fmla="val 50000"/>
            </a:avLst>
          </a:prstGeom>
          <a:solidFill>
            <a:srgbClr val="E8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5008264" y="10428108"/>
            <a:ext cx="21189593" cy="6077288"/>
          </a:xfrm>
          <a:prstGeom prst="roundRect">
            <a:avLst>
              <a:gd name="adj" fmla="val 585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page4_figure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08394" y="10428108"/>
            <a:ext cx="21189334" cy="6077288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12271672" y="19911377"/>
            <a:ext cx="3197066" cy="819825"/>
          </a:xfrm>
          <a:prstGeom prst="roundRect">
            <a:avLst>
              <a:gd name="adj" fmla="val 50000"/>
            </a:avLst>
          </a:prstGeom>
          <a:solidFill>
            <a:srgbClr val="E8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1D3A87"/>
                </a:solidFill>
                <a:latin typeface="Arial"/>
              </a:rPr>
              <a:t>ImageNet-1K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5625147" y="19911377"/>
            <a:ext cx="3443625" cy="819825"/>
          </a:xfrm>
          <a:prstGeom prst="roundRect">
            <a:avLst>
              <a:gd name="adj" fmla="val 50000"/>
            </a:avLst>
          </a:prstGeom>
          <a:solidFill>
            <a:srgbClr val="E8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1D3A87"/>
                </a:solidFill>
                <a:latin typeface="Arial"/>
              </a:rPr>
              <a:t>ImageNet-22K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9225180" y="19911377"/>
            <a:ext cx="2926616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COCO 2017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2308204" y="19911377"/>
            <a:ext cx="2236669" cy="819825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555555"/>
                </a:solidFill>
                <a:latin typeface="Arial"/>
              </a:rPr>
              <a:t>ADE20K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6157158" y="23453209"/>
            <a:ext cx="12777430" cy="945118"/>
          </a:xfrm>
          <a:prstGeom prst="rect">
            <a:avLst/>
          </a:prstGeom>
          <a:solidFill>
            <a:srgbClr val="E8E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2271672" y="7690266"/>
            <a:ext cx="657026" cy="657026"/>
          </a:xfrm>
          <a:prstGeom prst="roundRect">
            <a:avLst>
              <a:gd name="adj" fmla="val 50000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2271672" y="9411176"/>
            <a:ext cx="657026" cy="657026"/>
          </a:xfrm>
          <a:prstGeom prst="roundRect">
            <a:avLst>
              <a:gd name="adj" fmla="val 50000"/>
            </a:avLst>
          </a:prstGeom>
          <a:solidFill>
            <a:srgbClr val="1D3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6157158" y="19911377"/>
            <a:ext cx="6064091" cy="706477"/>
          </a:xfrm>
          <a:prstGeom prst="rect">
            <a:avLst/>
          </a:prstGeom>
          <a:solidFill>
            <a:srgbClr val="F2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6157158" y="20608964"/>
            <a:ext cx="6064091" cy="8890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2221249" y="19911377"/>
            <a:ext cx="3130808" cy="706477"/>
          </a:xfrm>
          <a:prstGeom prst="rect">
            <a:avLst/>
          </a:prstGeom>
          <a:solidFill>
            <a:srgbClr val="F2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2221249" y="20608964"/>
            <a:ext cx="3130808" cy="8890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5352057" y="19911377"/>
            <a:ext cx="3582531" cy="706477"/>
          </a:xfrm>
          <a:prstGeom prst="rect">
            <a:avLst/>
          </a:prstGeom>
          <a:solidFill>
            <a:srgbClr val="F2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5352057" y="20608964"/>
            <a:ext cx="3582531" cy="8890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6157158" y="20617854"/>
            <a:ext cx="6064091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6157158" y="21554082"/>
            <a:ext cx="6064091" cy="8890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2221249" y="20617854"/>
            <a:ext cx="3130808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2221249" y="21554082"/>
            <a:ext cx="3130808" cy="8890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5352057" y="20617854"/>
            <a:ext cx="3582531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5352057" y="21554082"/>
            <a:ext cx="3582531" cy="8890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6157158" y="21562972"/>
            <a:ext cx="6064091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6157158" y="22499200"/>
            <a:ext cx="6064091" cy="8890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2221249" y="21562972"/>
            <a:ext cx="3130808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2221249" y="22499200"/>
            <a:ext cx="3130808" cy="8890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5352057" y="21562972"/>
            <a:ext cx="3582531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5352057" y="22499200"/>
            <a:ext cx="3582531" cy="8890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6157158" y="22508090"/>
            <a:ext cx="6064091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6157158" y="23444319"/>
            <a:ext cx="6064091" cy="8890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2221249" y="22508090"/>
            <a:ext cx="3130808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2221249" y="23444319"/>
            <a:ext cx="3130808" cy="8890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5352057" y="22508090"/>
            <a:ext cx="3582531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5352057" y="23444319"/>
            <a:ext cx="3582531" cy="8890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6157158" y="23453209"/>
            <a:ext cx="6064091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6157158" y="24389437"/>
            <a:ext cx="6064091" cy="8890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2221249" y="23453209"/>
            <a:ext cx="3130808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2221249" y="24389437"/>
            <a:ext cx="3130808" cy="8890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5352057" y="23453209"/>
            <a:ext cx="3582531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5352057" y="24389437"/>
            <a:ext cx="3582531" cy="8890"/>
          </a:xfrm>
          <a:prstGeom prst="rect">
            <a:avLst/>
          </a:prstGeom>
          <a:solidFill>
            <a:srgbClr val="DDE2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921587" y="1656040"/>
            <a:ext cx="40536316" cy="14046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9617"/>
              </a:lnSpc>
              <a:spcBef>
                <a:spcPts val="0"/>
              </a:spcBef>
              <a:spcAft>
                <a:spcPts val="0"/>
              </a:spcAft>
            </a:pPr>
            <a:r>
              <a:rPr sz="8586" b="1" spc="-85">
                <a:solidFill>
                  <a:srgbClr val="FFFFFF"/>
                </a:solidFill>
                <a:latin typeface="Arial"/>
              </a:rPr>
              <a:t>Swin Transformer: Hierarchical Vision Transformer using Shifted Windows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921587" y="3149977"/>
            <a:ext cx="40536316" cy="8696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FFFFFF"/>
                </a:solidFill>
                <a:latin typeface="Arial"/>
              </a:rPr>
              <a:t>Ze Liu</a:t>
            </a:r>
            <a:r>
              <a:rPr sz="5749" b="0" baseline="30000">
                <a:solidFill>
                  <a:srgbClr val="FFFFFF"/>
                </a:solidFill>
                <a:latin typeface="Arial"/>
              </a:rPr>
              <a:t>1</a:t>
            </a:r>
            <a:r>
              <a:rPr sz="4106" b="0">
                <a:solidFill>
                  <a:srgbClr val="FFFFFF"/>
                </a:solidFill>
                <a:latin typeface="Arial"/>
              </a:rPr>
              <a:t>, Yutong Lin</a:t>
            </a:r>
            <a:r>
              <a:rPr sz="5749" b="0" baseline="30000">
                <a:solidFill>
                  <a:srgbClr val="FFFFFF"/>
                </a:solidFill>
                <a:latin typeface="Arial"/>
              </a:rPr>
              <a:t>1</a:t>
            </a:r>
            <a:r>
              <a:rPr sz="4106" b="0">
                <a:solidFill>
                  <a:srgbClr val="FFFFFF"/>
                </a:solidFill>
                <a:latin typeface="Arial"/>
              </a:rPr>
              <a:t>, Yue Cao</a:t>
            </a:r>
            <a:r>
              <a:rPr sz="5749" b="0" baseline="30000">
                <a:solidFill>
                  <a:srgbClr val="FFFFFF"/>
                </a:solidFill>
                <a:latin typeface="Arial"/>
              </a:rPr>
              <a:t>1</a:t>
            </a:r>
            <a:r>
              <a:rPr sz="4106" b="0">
                <a:solidFill>
                  <a:srgbClr val="FFFFFF"/>
                </a:solidFill>
                <a:latin typeface="Arial"/>
              </a:rPr>
              <a:t>, Han Hu</a:t>
            </a:r>
            <a:r>
              <a:rPr sz="5749" b="0" baseline="30000">
                <a:solidFill>
                  <a:srgbClr val="FFFFFF"/>
                </a:solidFill>
                <a:latin typeface="Arial"/>
              </a:rPr>
              <a:t>1</a:t>
            </a:r>
            <a:r>
              <a:rPr sz="4106" b="0">
                <a:solidFill>
                  <a:srgbClr val="FFFFFF"/>
                </a:solidFill>
                <a:latin typeface="Arial"/>
              </a:rPr>
              <a:t>, Yixuan Wei</a:t>
            </a:r>
            <a:r>
              <a:rPr sz="5749" b="0" baseline="30000">
                <a:solidFill>
                  <a:srgbClr val="FFFFFF"/>
                </a:solidFill>
                <a:latin typeface="Arial"/>
              </a:rPr>
              <a:t>1</a:t>
            </a:r>
            <a:r>
              <a:rPr sz="4106" b="0">
                <a:solidFill>
                  <a:srgbClr val="FFFFFF"/>
                </a:solidFill>
                <a:latin typeface="Arial"/>
              </a:rPr>
              <a:t>, Zheng Zhang</a:t>
            </a:r>
            <a:r>
              <a:rPr sz="5749" b="0" baseline="30000">
                <a:solidFill>
                  <a:srgbClr val="FFFFFF"/>
                </a:solidFill>
                <a:latin typeface="Arial"/>
              </a:rPr>
              <a:t>1</a:t>
            </a:r>
            <a:r>
              <a:rPr sz="4106" b="0">
                <a:solidFill>
                  <a:srgbClr val="FFFFFF"/>
                </a:solidFill>
                <a:latin typeface="Arial"/>
              </a:rPr>
              <a:t>, Stephen Lin</a:t>
            </a:r>
            <a:r>
              <a:rPr sz="5749" b="0" baseline="30000">
                <a:solidFill>
                  <a:srgbClr val="FFFFFF"/>
                </a:solidFill>
                <a:latin typeface="Arial"/>
              </a:rPr>
              <a:t>1</a:t>
            </a:r>
            <a:r>
              <a:rPr sz="4106" b="0">
                <a:solidFill>
                  <a:srgbClr val="FFFFFF"/>
                </a:solidFill>
                <a:latin typeface="Arial"/>
              </a:rPr>
              <a:t>, Baining Guo</a:t>
            </a:r>
            <a:r>
              <a:rPr sz="5749" b="0" baseline="3000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921587" y="3962995"/>
            <a:ext cx="40536316" cy="5929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060"/>
              </a:lnSpc>
              <a:spcBef>
                <a:spcPts val="0"/>
              </a:spcBef>
              <a:spcAft>
                <a:spcPts val="0"/>
              </a:spcAft>
            </a:pPr>
            <a:r>
              <a:rPr sz="2547" b="0" spc="56" baseline="30000">
                <a:solidFill>
                  <a:srgbClr val="FFFFFF"/>
                </a:solidFill>
                <a:latin typeface="Arial"/>
              </a:rPr>
              <a:t>1</a:t>
            </a:r>
            <a:r>
              <a:rPr sz="2800" b="0" spc="56">
                <a:solidFill>
                  <a:srgbClr val="FFFFFF"/>
                </a:solidFill>
                <a:latin typeface="Arial"/>
              </a:rPr>
              <a:t> Microsoft Research Asia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315581" y="2128599"/>
            <a:ext cx="2523815" cy="1199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8213"/>
              </a:lnSpc>
              <a:spcBef>
                <a:spcPts val="0"/>
              </a:spcBef>
              <a:spcAft>
                <a:spcPts val="0"/>
              </a:spcAft>
            </a:pPr>
            <a:r>
              <a:rPr sz="8213" b="1" spc="-82">
                <a:solidFill>
                  <a:srgbClr val="FFFFFF"/>
                </a:solidFill>
                <a:latin typeface="Arial"/>
              </a:rPr>
              <a:t>ICCV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877179" y="3249850"/>
            <a:ext cx="1366780" cy="8696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 spc="328">
                <a:solidFill>
                  <a:srgbClr val="FFFFFF"/>
                </a:solidFill>
                <a:latin typeface="Arial"/>
              </a:rPr>
              <a:t>2021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39991" y="6392326"/>
            <a:ext cx="10329615" cy="1124585"/>
          </a:xfrm>
          <a:prstGeom prst="rect">
            <a:avLst/>
          </a:prstGeom>
          <a:noFill/>
        </p:spPr>
        <p:txBody>
          <a:bodyPr wrap="square" lIns="0" rIns="3911600" tIns="0" bIns="17780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D3A87"/>
                </a:solidFill>
                <a:latin typeface="Arial"/>
              </a:rPr>
              <a:t>Problem 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2271672" y="6392326"/>
            <a:ext cx="27089636" cy="1124585"/>
          </a:xfrm>
          <a:prstGeom prst="rect">
            <a:avLst/>
          </a:prstGeom>
          <a:noFill/>
        </p:spPr>
        <p:txBody>
          <a:bodyPr wrap="none" lIns="0" rIns="3911600" tIns="0" bIns="17780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D3A87"/>
                </a:solidFill>
                <a:latin typeface="Arial"/>
              </a:rPr>
              <a:t>Method 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0137516" y="6392326"/>
            <a:ext cx="10329616" cy="1124585"/>
          </a:xfrm>
          <a:prstGeom prst="rect">
            <a:avLst/>
          </a:prstGeom>
          <a:noFill/>
        </p:spPr>
        <p:txBody>
          <a:bodyPr wrap="square" lIns="0" rIns="0" tIns="0" bIns="17780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D3A87"/>
                </a:solidFill>
                <a:latin typeface="Arial"/>
              </a:rPr>
              <a:t>Headline Numbers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39991" y="7690266"/>
            <a:ext cx="10329615" cy="52178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Standard vision Transformers like </a:t>
            </a:r>
            <a:r>
              <a:rPr sz="4106" b="1">
                <a:solidFill>
                  <a:srgbClr val="111111"/>
                </a:solidFill>
                <a:latin typeface="Arial"/>
              </a:rPr>
              <a:t>ViT</a:t>
            </a:r>
            <a:r>
              <a:rPr sz="4106" b="0">
                <a:solidFill>
                  <a:srgbClr val="1C1C1C"/>
                </a:solidFill>
                <a:latin typeface="Arial"/>
              </a:rPr>
              <a:t> compute </a:t>
            </a:r>
            <a:r>
              <a:rPr sz="4106" b="1">
                <a:solidFill>
                  <a:srgbClr val="111111"/>
                </a:solidFill>
                <a:latin typeface="Arial"/>
              </a:rPr>
              <a:t>global self-attention</a:t>
            </a:r>
            <a:r>
              <a:rPr sz="4106" b="0">
                <a:solidFill>
                  <a:srgbClr val="1C1C1C"/>
                </a:solidFill>
                <a:latin typeface="Arial"/>
              </a:rPr>
              <a:t> at one low resolution — </a:t>
            </a:r>
            <a:r>
              <a:rPr sz="4106" b="1">
                <a:solidFill>
                  <a:srgbClr val="111111"/>
                </a:solidFill>
                <a:latin typeface="Arial"/>
              </a:rPr>
              <a:t>quadratic cost</a:t>
            </a:r>
            <a:r>
              <a:rPr sz="4106" b="0">
                <a:solidFill>
                  <a:srgbClr val="1C1C1C"/>
                </a:solidFill>
                <a:latin typeface="Arial"/>
              </a:rPr>
              <a:t> in image size, and a single coarse feature map that detection and segmentation heads can’t plug into.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39991" y="12488227"/>
            <a:ext cx="10329615" cy="34785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ViT works for classification but isn’t a general-purpose vision backbone — per-pixel tasks need both multi-scale features and tractable cost.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0137516" y="12883693"/>
            <a:ext cx="10329616" cy="1124585"/>
          </a:xfrm>
          <a:prstGeom prst="rect">
            <a:avLst/>
          </a:prstGeom>
          <a:noFill/>
        </p:spPr>
        <p:txBody>
          <a:bodyPr wrap="square" lIns="0" rIns="3911600" tIns="0" bIns="17780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D3A87"/>
                </a:solidFill>
                <a:latin typeface="Arial"/>
              </a:rPr>
              <a:t>Ablation Study 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39991" y="16650553"/>
            <a:ext cx="10329615" cy="1124585"/>
          </a:xfrm>
          <a:prstGeom prst="rect">
            <a:avLst/>
          </a:prstGeom>
          <a:noFill/>
        </p:spPr>
        <p:txBody>
          <a:bodyPr wrap="square" lIns="0" rIns="3911600" tIns="0" bIns="17780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D3A87"/>
                </a:solidFill>
                <a:latin typeface="Arial"/>
              </a:rPr>
              <a:t>Motivation 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39991" y="17948493"/>
            <a:ext cx="10329615" cy="52178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 general-purpose backbone needs </a:t>
            </a:r>
            <a:r>
              <a:rPr sz="4106" b="1">
                <a:solidFill>
                  <a:srgbClr val="111111"/>
                </a:solidFill>
                <a:latin typeface="Arial"/>
              </a:rPr>
              <a:t>hierarchical multi-scale features</a:t>
            </a:r>
            <a:r>
              <a:rPr sz="4106" b="0">
                <a:solidFill>
                  <a:srgbClr val="1C1C1C"/>
                </a:solidFill>
                <a:latin typeface="Arial"/>
              </a:rPr>
              <a:t> and </a:t>
            </a:r>
            <a:r>
              <a:rPr sz="4106" b="1">
                <a:solidFill>
                  <a:srgbClr val="111111"/>
                </a:solidFill>
                <a:latin typeface="Arial"/>
              </a:rPr>
              <a:t>linear complexity</a:t>
            </a:r>
            <a:r>
              <a:rPr sz="4106" b="0">
                <a:solidFill>
                  <a:srgbClr val="1C1C1C"/>
                </a:solidFill>
                <a:latin typeface="Arial"/>
              </a:rPr>
              <a:t>, without losing Transformer’s long-range modeling. Sliding-window attention is accurate but slow in practice.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0137516" y="19083912"/>
            <a:ext cx="10329616" cy="17392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Cyclic-shift trick makes shifted-window SW-MSA </a:t>
            </a:r>
            <a:r>
              <a:rPr sz="4106" b="1" i="1">
                <a:solidFill>
                  <a:srgbClr val="111111"/>
                </a:solidFill>
                <a:latin typeface="Arial"/>
              </a:rPr>
              <a:t>as fast as W-MSA</a:t>
            </a:r>
            <a:r>
              <a:rPr sz="4106" b="0" i="1">
                <a:solidFill>
                  <a:srgbClr val="1C1C1C"/>
                </a:solidFill>
                <a:latin typeface="Arial"/>
              </a:rPr>
              <a:t> in practice.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0181966" y="21649928"/>
            <a:ext cx="10283833" cy="1124585"/>
          </a:xfrm>
          <a:prstGeom prst="rect">
            <a:avLst/>
          </a:prstGeom>
          <a:noFill/>
        </p:spPr>
        <p:txBody>
          <a:bodyPr wrap="square" lIns="0" rIns="3911600" tIns="0" bIns="17780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D3A87"/>
                </a:solidFill>
                <a:latin typeface="Arial"/>
              </a:rPr>
              <a:t>Takeaway 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0181966" y="22947868"/>
            <a:ext cx="10283833" cy="3478545"/>
          </a:xfrm>
          <a:prstGeom prst="rect">
            <a:avLst/>
          </a:prstGeom>
          <a:noFill/>
        </p:spPr>
        <p:txBody>
          <a:bodyPr wrap="squar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Shifting non-overlapping local windows turns the Transformer into a hierarchical, linear-complexity vision backbone.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0181966" y="25972690"/>
            <a:ext cx="10283833" cy="43481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First Transformer to set SOTA on classification, detection, AND segmentation simultaneously — now a </a:t>
            </a:r>
            <a:r>
              <a:rPr sz="4106" b="1">
                <a:solidFill>
                  <a:srgbClr val="111111"/>
                </a:solidFill>
                <a:latin typeface="Arial"/>
              </a:rPr>
              <a:t>drop-in ResNet replacement</a:t>
            </a:r>
            <a:r>
              <a:rPr sz="4106" b="0">
                <a:solidFill>
                  <a:srgbClr val="1C1C1C"/>
                </a:solidFill>
                <a:latin typeface="Arial"/>
              </a:rPr>
              <a:t> for dense prediction.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6183827" y="4733786"/>
            <a:ext cx="873034" cy="4252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912"/>
              </a:lnSpc>
              <a:spcBef>
                <a:spcPts val="0"/>
              </a:spcBef>
              <a:spcAft>
                <a:spcPts val="0"/>
              </a:spcAft>
            </a:pPr>
            <a:r>
              <a:rPr sz="2240" b="1" spc="89">
                <a:solidFill>
                  <a:srgbClr val="FFFFFF"/>
                </a:solidFill>
                <a:latin typeface="Arial"/>
              </a:rPr>
              <a:t>Paper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8504951" y="4733786"/>
            <a:ext cx="779463" cy="4252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912"/>
              </a:lnSpc>
              <a:spcBef>
                <a:spcPts val="0"/>
              </a:spcBef>
              <a:spcAft>
                <a:spcPts val="0"/>
              </a:spcAft>
            </a:pPr>
            <a:r>
              <a:rPr sz="2240" b="1" spc="89">
                <a:solidFill>
                  <a:srgbClr val="FFFFFF"/>
                </a:solidFill>
                <a:latin typeface="Arial"/>
              </a:rPr>
              <a:t>Code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3206372" y="7912516"/>
            <a:ext cx="4007630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1D3A87"/>
                </a:solidFill>
                <a:latin typeface="Arial"/>
              </a:rPr>
              <a:t>87.3%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1877039" y="9365615"/>
            <a:ext cx="6746056" cy="599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Top-1 · ImageNet-1K · Swin-L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3125945" y="9965273"/>
            <a:ext cx="4173309" cy="47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w/ ImageNet-22K pretrain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0137498" y="14181633"/>
            <a:ext cx="10329635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Drop the shift</a:t>
            </a:r>
            <a:r>
              <a:rPr sz="4106" b="0">
                <a:solidFill>
                  <a:srgbClr val="1C1C1C"/>
                </a:solidFill>
                <a:latin typeface="Arial"/>
              </a:rPr>
              <a:t> → −1.1% ImageNet, −2.8 box AP, −2.8 mIoU. Cross-window propagation is essential.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0137498" y="16632773"/>
            <a:ext cx="10329635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Relative position bias</a:t>
            </a:r>
            <a:r>
              <a:rPr sz="4106" b="0">
                <a:solidFill>
                  <a:srgbClr val="1C1C1C"/>
                </a:solidFill>
                <a:latin typeface="Arial"/>
              </a:rPr>
              <a:t> beats both no-PE and absolute PE on all three benchmarks.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2271672" y="18613437"/>
            <a:ext cx="13160752" cy="1124585"/>
          </a:xfrm>
          <a:prstGeom prst="rect">
            <a:avLst/>
          </a:prstGeom>
          <a:noFill/>
        </p:spPr>
        <p:txBody>
          <a:bodyPr wrap="square" lIns="0" rIns="3911600" tIns="0" bIns="17780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D3A87"/>
                </a:solidFill>
                <a:latin typeface="Arial"/>
              </a:rPr>
              <a:t>Datasets 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6157158" y="18613437"/>
            <a:ext cx="13160752" cy="1124585"/>
          </a:xfrm>
          <a:prstGeom prst="rect">
            <a:avLst/>
          </a:prstGeom>
          <a:noFill/>
        </p:spPr>
        <p:txBody>
          <a:bodyPr wrap="square" lIns="0" rIns="3911600" tIns="0" bIns="17780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1D3A87"/>
                </a:solidFill>
                <a:latin typeface="Arial"/>
              </a:rPr>
              <a:t>Key Results 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6157158" y="24683779"/>
            <a:ext cx="13160752" cy="2233515"/>
          </a:xfrm>
          <a:prstGeom prst="rect">
            <a:avLst/>
          </a:prstGeom>
          <a:noFill/>
        </p:spPr>
        <p:txBody>
          <a:bodyPr wrap="square" lIns="485560" rIns="485560" tIns="281113" bIns="281113">
            <a:spAutoFit/>
          </a:bodyPr>
          <a:lstStyle/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1D3A87"/>
                </a:solidFill>
                <a:latin typeface="Arial"/>
              </a:rPr>
              <a:t>One backbone, three new SOTAs — classification + detection + segmentation.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2271672" y="26572210"/>
            <a:ext cx="13160752" cy="34785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Four Swin scales — </a:t>
            </a:r>
            <a:r>
              <a:rPr sz="4106" b="1" i="1">
                <a:solidFill>
                  <a:srgbClr val="111111"/>
                </a:solidFill>
                <a:latin typeface="Arial"/>
              </a:rPr>
              <a:t>T</a:t>
            </a:r>
            <a:r>
              <a:rPr sz="4106" b="0" i="1">
                <a:solidFill>
                  <a:srgbClr val="1C1C1C"/>
                </a:solidFill>
                <a:latin typeface="Arial"/>
              </a:rPr>
              <a:t> (29M params, 4.5G FLOPs), </a:t>
            </a:r>
            <a:r>
              <a:rPr sz="4106" b="1" i="1">
                <a:solidFill>
                  <a:srgbClr val="111111"/>
                </a:solidFill>
                <a:latin typeface="Arial"/>
              </a:rPr>
              <a:t>S</a:t>
            </a:r>
            <a:r>
              <a:rPr sz="4106" b="0" i="1">
                <a:solidFill>
                  <a:srgbClr val="1C1C1C"/>
                </a:solidFill>
                <a:latin typeface="Arial"/>
              </a:rPr>
              <a:t> (50M, 8.7G), </a:t>
            </a:r>
            <a:r>
              <a:rPr sz="4106" b="1" i="1">
                <a:solidFill>
                  <a:srgbClr val="111111"/>
                </a:solidFill>
                <a:latin typeface="Arial"/>
              </a:rPr>
              <a:t>B</a:t>
            </a:r>
            <a:r>
              <a:rPr sz="4106" b="0" i="1">
                <a:solidFill>
                  <a:srgbClr val="1C1C1C"/>
                </a:solidFill>
                <a:latin typeface="Arial"/>
              </a:rPr>
              <a:t> (88M, 15.4G), </a:t>
            </a:r>
            <a:r>
              <a:rPr sz="4106" b="1" i="1">
                <a:solidFill>
                  <a:srgbClr val="111111"/>
                </a:solidFill>
                <a:latin typeface="Arial"/>
              </a:rPr>
              <a:t>L</a:t>
            </a:r>
            <a:r>
              <a:rPr sz="4106" b="0" i="1">
                <a:solidFill>
                  <a:srgbClr val="1C1C1C"/>
                </a:solidFill>
                <a:latin typeface="Arial"/>
              </a:rPr>
              <a:t> (197M, 103.9G at 384²) — matched on compute to ResNet-50, ResNet-101, ViT-B and ViT-L respectively.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6157158" y="26906974"/>
            <a:ext cx="13160752" cy="34785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Swin-T beats </a:t>
            </a:r>
            <a:r>
              <a:rPr sz="4106" b="1" i="1">
                <a:solidFill>
                  <a:srgbClr val="111111"/>
                </a:solidFill>
                <a:latin typeface="Arial"/>
              </a:rPr>
              <a:t>ResNet-50</a:t>
            </a:r>
            <a:r>
              <a:rPr sz="4106" b="0" i="1">
                <a:solidFill>
                  <a:srgbClr val="1C1C1C"/>
                </a:solidFill>
                <a:latin typeface="Arial"/>
              </a:rPr>
              <a:t> by +3.4 to +4.2 box AP across four detection frameworks (Cascade R-CNN, ATSS, HTC, RepPoints v2) at matched latency — gains hold at every model scale.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520731" y="27577196"/>
            <a:ext cx="7279004" cy="2557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(a) Swin builds hierarchical feature maps via local-window self-attention (linear). (b) ViT yields one low-res map via global attention (quadratic).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5855870" y="16654998"/>
            <a:ext cx="19921101" cy="12785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(a) Swin Transformer (Swin-T) architecture — four stages of patch-merging and Swin blocks. (b) Two successive Swin blocks alternating W-MSA (regular windows) and SW-MSA (shifted windows).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2271654" y="20731202"/>
            <a:ext cx="13160771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Classification:</a:t>
            </a:r>
            <a:r>
              <a:rPr sz="4106" b="0">
                <a:solidFill>
                  <a:srgbClr val="1C1C1C"/>
                </a:solidFill>
                <a:latin typeface="Arial"/>
              </a:rPr>
              <a:t> ImageNet-1K (1.28M imgs / 1000 classes) plus ImageNet-22K (14.2M / 22K) for large-scale pre-training.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2271654" y="23182341"/>
            <a:ext cx="13160771" cy="17392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Detection &amp; instance seg:</a:t>
            </a:r>
            <a:r>
              <a:rPr sz="4106" b="0">
                <a:solidFill>
                  <a:srgbClr val="1C1C1C"/>
                </a:solidFill>
                <a:latin typeface="Arial"/>
              </a:rPr>
              <a:t> COCO 2017 — 118K train, 5K val, 20K test-dev images.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2271654" y="24877275"/>
            <a:ext cx="13160771" cy="173927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Semantic seg:</a:t>
            </a:r>
            <a:r>
              <a:rPr sz="4106" b="0">
                <a:solidFill>
                  <a:srgbClr val="1C1C1C"/>
                </a:solidFill>
                <a:latin typeface="Arial"/>
              </a:rPr>
              <a:t> ADE20K — 150 classes, dense per-pixel labels at high resolution.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1166395" y="10634801"/>
            <a:ext cx="1303255" cy="7634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5226"/>
              </a:lnSpc>
              <a:spcBef>
                <a:spcPts val="0"/>
              </a:spcBef>
              <a:spcAft>
                <a:spcPts val="0"/>
              </a:spcAft>
            </a:pPr>
            <a:r>
              <a:rPr sz="5226" b="1" spc="-52">
                <a:solidFill>
                  <a:srgbClr val="AE2622"/>
                </a:solidFill>
                <a:latin typeface="Arial"/>
              </a:rPr>
              <a:t>58.7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4519175" y="10634801"/>
            <a:ext cx="1303255" cy="7634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5226"/>
              </a:lnSpc>
              <a:spcBef>
                <a:spcPts val="0"/>
              </a:spcBef>
              <a:spcAft>
                <a:spcPts val="0"/>
              </a:spcAft>
            </a:pPr>
            <a:r>
              <a:rPr sz="5226" b="1" spc="-52">
                <a:solidFill>
                  <a:srgbClr val="AE2622"/>
                </a:solidFill>
                <a:latin typeface="Arial"/>
              </a:rPr>
              <a:t>51.1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7872094" y="10634801"/>
            <a:ext cx="1303255" cy="76340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5226"/>
              </a:lnSpc>
              <a:spcBef>
                <a:spcPts val="0"/>
              </a:spcBef>
              <a:spcAft>
                <a:spcPts val="0"/>
              </a:spcAft>
            </a:pPr>
            <a:r>
              <a:rPr sz="5226" b="1" spc="-52">
                <a:solidFill>
                  <a:srgbClr val="AE2622"/>
                </a:solidFill>
                <a:latin typeface="Arial"/>
              </a:rPr>
              <a:t>53.5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40652719" y="11395729"/>
            <a:ext cx="2361284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COCO box AP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3867427" y="11395729"/>
            <a:ext cx="2645856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COCO mask AP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47348556" y="11395729"/>
            <a:ext cx="2381744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ADE20K mIoU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3241516" y="7690266"/>
            <a:ext cx="26119792" cy="1739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Split image into </a:t>
            </a:r>
            <a:r>
              <a:rPr sz="4106" b="1">
                <a:solidFill>
                  <a:srgbClr val="111111"/>
                </a:solidFill>
                <a:latin typeface="Arial"/>
              </a:rPr>
              <a:t>4×4 patches</a:t>
            </a:r>
            <a:r>
              <a:rPr sz="4106" b="0">
                <a:solidFill>
                  <a:srgbClr val="1C1C1C"/>
                </a:solidFill>
                <a:latin typeface="Arial"/>
              </a:rPr>
              <a:t>; self-attention </a:t>
            </a:r>
            <a:r>
              <a:rPr sz="4106" b="1">
                <a:solidFill>
                  <a:srgbClr val="111111"/>
                </a:solidFill>
                <a:latin typeface="Arial"/>
              </a:rPr>
              <a:t>inside M×M windows</a:t>
            </a:r>
            <a:r>
              <a:rPr sz="4106" b="0">
                <a:solidFill>
                  <a:srgbClr val="1C1C1C"/>
                </a:solidFill>
                <a:latin typeface="Arial"/>
              </a:rPr>
              <a:t> — </a:t>
            </a:r>
            <a:r>
              <a:rPr sz="4106" b="1">
                <a:solidFill>
                  <a:srgbClr val="111111"/>
                </a:solidFill>
                <a:latin typeface="Arial"/>
              </a:rPr>
              <a:t>linear cost</a:t>
            </a:r>
            <a:r>
              <a:rPr sz="4106" b="0">
                <a:solidFill>
                  <a:srgbClr val="1C1C1C"/>
                </a:solidFill>
                <a:latin typeface="Arial"/>
              </a:rPr>
              <a:t>. Next layer </a:t>
            </a:r>
            <a:r>
              <a:rPr sz="4106" b="1">
                <a:solidFill>
                  <a:srgbClr val="111111"/>
                </a:solidFill>
                <a:latin typeface="Arial"/>
              </a:rPr>
              <a:t>shifts by ⌊M/2⌋</a:t>
            </a:r>
            <a:r>
              <a:rPr sz="4106" b="0">
                <a:solidFill>
                  <a:srgbClr val="1C1C1C"/>
                </a:solidFill>
                <a:latin typeface="Arial"/>
              </a:rPr>
              <a:t> to restore cross-window context.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3241516" y="9411176"/>
            <a:ext cx="11789822" cy="8696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Patch-merging</a:t>
            </a:r>
            <a:r>
              <a:rPr sz="4106" b="0">
                <a:solidFill>
                  <a:srgbClr val="1C1C1C"/>
                </a:solidFill>
                <a:latin typeface="Arial"/>
              </a:rPr>
              <a:t> → pyramid: </a:t>
            </a:r>
            <a:r>
              <a:rPr sz="4106" b="1">
                <a:solidFill>
                  <a:srgbClr val="111111"/>
                </a:solidFill>
                <a:latin typeface="Arial"/>
              </a:rPr>
              <a:t>H/4, H/8, H/16, H/32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6157158" y="19911377"/>
            <a:ext cx="6246013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BENCHMARK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2221249" y="19911377"/>
            <a:ext cx="3224732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PRIOR SOTA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5352057" y="19911377"/>
            <a:ext cx="3690006" cy="812448"/>
          </a:xfrm>
          <a:prstGeom prst="rect">
            <a:avLst/>
          </a:prstGeom>
          <a:noFill/>
        </p:spPr>
        <p:txBody>
          <a:bodyPr wrap="non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SWIN-L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6157158" y="20617854"/>
            <a:ext cx="6246013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COCO — box AP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2221249" y="20617854"/>
            <a:ext cx="3224732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56.0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5352057" y="20617854"/>
            <a:ext cx="3690006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58.7 </a:t>
            </a:r>
            <a:r>
              <a:rPr sz="3901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(+2.7)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6157158" y="21562972"/>
            <a:ext cx="6246013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COCO — mask AP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2221249" y="21562972"/>
            <a:ext cx="3224732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48.5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5352057" y="21562972"/>
            <a:ext cx="3690006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51.1 </a:t>
            </a:r>
            <a:r>
              <a:rPr sz="3901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(+2.6)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6157158" y="22508090"/>
            <a:ext cx="6246013" cy="1086886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ADE20K — mIoU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2221249" y="22508090"/>
            <a:ext cx="3224732" cy="1086886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50.3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5352057" y="22508090"/>
            <a:ext cx="3690006" cy="1086886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53.5 </a:t>
            </a:r>
            <a:r>
              <a:rPr sz="3901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(+3.2)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6157158" y="23453209"/>
            <a:ext cx="6246013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ImageNet-1K — top-1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2221249" y="23453209"/>
            <a:ext cx="3224732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—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5352057" y="23453209"/>
            <a:ext cx="3690006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87.3%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
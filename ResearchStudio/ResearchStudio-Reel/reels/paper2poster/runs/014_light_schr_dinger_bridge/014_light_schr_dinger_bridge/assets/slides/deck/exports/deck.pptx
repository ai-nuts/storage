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3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2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1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9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5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350" kern="1200">
          <a:solidFill>
            <a:schemeClr val="tx1"/>
          </a:solidFill>
          <a:latin typeface="+mn-lt"/>
          <a:ea typeface="+mn-ea"/>
          <a:cs typeface="+mn-cs"/>
        </a:defRPr>
      </a:lvl1pPr>
      <a:lvl2pPr marL="457200" algn="l" defTabSz="457200" rtl="0" eaLnBrk="1" latinLnBrk="0" hangingPunct="1">
        <a:defRPr sz="125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100" kern="1200">
          <a:solidFill>
            <a:schemeClr val="tx1"/>
          </a:solidFill>
          <a:latin typeface="+mn-lt"/>
          <a:ea typeface="+mn-ea"/>
          <a:cs typeface="+mn-cs"/>
        </a:defRPr>
      </a:lvl4pPr>
      <a:lvl5pPr marL="1828800" algn="l" defTabSz="457200" rtl="0" eaLnBrk="1" latinLnBrk="0" hangingPunct="1">
        <a:defRPr sz="1000" kern="1200">
          <a:solidFill>
            <a:schemeClr val="tx1"/>
          </a:solidFill>
          <a:latin typeface="+mn-lt"/>
          <a:ea typeface="+mn-ea"/>
          <a:cs typeface="+mn-cs"/>
        </a:defRPr>
      </a:lvl5pPr>
      <a:lvl6pPr marL="2286000" algn="l" defTabSz="457200" rtl="0" eaLnBrk="1" latinLnBrk="0" hangingPunct="1">
        <a:defRPr sz="950" kern="1200">
          <a:solidFill>
            <a:schemeClr val="tx1"/>
          </a:solidFill>
          <a:latin typeface="+mn-lt"/>
          <a:ea typeface="+mn-ea"/>
          <a:cs typeface="+mn-cs"/>
        </a:defRPr>
      </a:lvl6pPr>
      <a:lvl7pPr marL="2743200" algn="l" defTabSz="457200" rtl="0" eaLnBrk="1" latinLnBrk="0" hangingPunct="1">
        <a:defRPr sz="85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64547"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ICLR 2024</a:t>
            </a:r>
          </a:p>
        </p:txBody>
      </p:sp>
      <p:sp>
        <p:nvSpPr>
          <p:cNvPr id="3" name="TextBox 3"/>
          <p:cNvSpPr txBox="1"/>
          <p:nvPr/>
        </p:nvSpPr>
        <p:spPr>
          <a:xfrm>
            <a:off x="10513633" y="572452"/>
            <a:ext cx="107410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Skoltech · AIRI</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2836" y="1186815"/>
            <a:ext cx="5650730" cy="645414"/>
          </a:xfrm>
          <a:prstGeom prst="rect">
            <a:avLst/>
          </a:prstGeom>
          <a:noFill/>
          <a:ln>
            <a:noFill/>
          </a:ln>
        </p:spPr>
        <p:txBody>
          <a:bodyPr wrap="none" lIns="0" tIns="0" rIns="0" bIns="0" anchor="t" anchorCtr="0">
            <a:spAutoFit/>
          </a:bodyPr>
          <a:lstStyle/>
          <a:p>
            <a:pPr algn="l"/>
            <a:r>
              <a:rPr lang="en-US" sz="3300" b="1" dirty="0">
                <a:solidFill>
                  <a:srgbClr val="FFFFFF"/>
                </a:solidFill>
                <a:latin typeface="+mn-lt"/>
                <a:ea typeface="+mn-ea"/>
                <a:cs typeface="+mn-cs"/>
              </a:rPr>
              <a:t>Light Schrödinger Bridge</a:t>
            </a:r>
          </a:p>
        </p:txBody>
      </p:sp>
      <p:sp>
        <p:nvSpPr>
          <p:cNvPr id="6" name="TextBox 6"/>
          <p:cNvSpPr txBox="1"/>
          <p:nvPr/>
        </p:nvSpPr>
        <p:spPr>
          <a:xfrm>
            <a:off x="601218" y="1784032"/>
            <a:ext cx="6628797" cy="322707"/>
          </a:xfrm>
          <a:prstGeom prst="rect">
            <a:avLst/>
          </a:prstGeom>
          <a:noFill/>
          <a:ln>
            <a:noFill/>
          </a:ln>
        </p:spPr>
        <p:txBody>
          <a:bodyPr wrap="none" lIns="0" tIns="0" rIns="0" bIns="0" anchor="t" anchorCtr="0">
            <a:spAutoFit/>
          </a:bodyPr>
          <a:lstStyle/>
          <a:p>
            <a:pPr algn="l"/>
            <a:r>
              <a:rPr lang="en-US" sz="1650" b="1" dirty="0">
                <a:solidFill>
                  <a:schemeClr val="accent2"/>
                </a:solidFill>
                <a:latin typeface="+mn-lt"/>
                <a:ea typeface="+mn-ea"/>
                <a:cs typeface="+mn-cs"/>
              </a:rPr>
              <a:t>A simple, fast, simulation-free Schrödinger Bridge solver</a:t>
            </a:r>
          </a:p>
        </p:txBody>
      </p:sp>
      <p:sp>
        <p:nvSpPr>
          <p:cNvPr id="7" name="TextBox 7"/>
          <p:cNvSpPr txBox="1"/>
          <p:nvPr/>
        </p:nvSpPr>
        <p:spPr>
          <a:xfrm>
            <a:off x="603694" y="2179558"/>
            <a:ext cx="5341849"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Alexander Korotin · Nikita Gushchin · Evgeny Burnaev — Skoltech &amp; AIRI</a:t>
            </a:r>
          </a:p>
        </p:txBody>
      </p:sp>
      <p:grpSp>
        <p:nvGrpSpPr>
          <p:cNvPr id="14" name="Group 14"/>
          <p:cNvGrpSpPr/>
          <p:nvPr/>
        </p:nvGrpSpPr>
        <p:grpSpPr>
          <a:xfrm>
            <a:off x="609600" y="2762250"/>
            <a:ext cx="5334000" cy="1143000"/>
            <a:chOff x="609600" y="2762250"/>
            <a:chExt cx="5334000" cy="1143000"/>
          </a:xfrm>
        </p:grpSpPr>
        <p:sp>
          <p:nvSpPr>
            <p:cNvPr id="8" name="Rectangle 8"/>
            <p:cNvSpPr/>
            <p:nvPr/>
          </p:nvSpPr>
          <p:spPr>
            <a:xfrm>
              <a:off x="609600" y="2762250"/>
              <a:ext cx="5334000" cy="1143000"/>
            </a:xfrm>
            <a:prstGeom prst="roundRect">
              <a:avLst>
                <a:gd name="adj" fmla="val 11667"/>
              </a:avLst>
            </a:prstGeom>
            <a:solidFill>
              <a:schemeClr val="accent5"/>
            </a:solidFill>
            <a:ln w="14288">
              <a:solidFill>
                <a:srgbClr val="26455F"/>
              </a:solidFill>
            </a:ln>
          </p:spPr>
        </p:sp>
        <p:sp>
          <p:nvSpPr>
            <p:cNvPr id="9" name="Rectangle 9"/>
            <p:cNvSpPr/>
            <p:nvPr/>
          </p:nvSpPr>
          <p:spPr>
            <a:xfrm>
              <a:off x="609600" y="2762250"/>
              <a:ext cx="57150" cy="1143000"/>
            </a:xfrm>
            <a:prstGeom prst="roundRect">
              <a:avLst>
                <a:gd name="adj" fmla="val 50000"/>
              </a:avLst>
            </a:prstGeom>
            <a:solidFill>
              <a:schemeClr val="accent2"/>
            </a:solidFill>
            <a:ln>
              <a:noFill/>
            </a:ln>
          </p:spPr>
        </p:sp>
        <p:sp>
          <p:nvSpPr>
            <p:cNvPr id="10" name="TextBox 10"/>
            <p:cNvSpPr txBox="1"/>
            <p:nvPr/>
          </p:nvSpPr>
          <p:spPr>
            <a:xfrm>
              <a:off x="869442" y="2959418"/>
              <a:ext cx="2777624"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Bridges are useful, but heavy</a:t>
              </a:r>
            </a:p>
          </p:txBody>
        </p:sp>
        <p:sp>
          <p:nvSpPr>
            <p:cNvPr id="11" name="TextBox 11"/>
            <p:cNvSpPr txBox="1"/>
            <p:nvPr/>
          </p:nvSpPr>
          <p:spPr>
            <a:xfrm>
              <a:off x="871156" y="3243501"/>
              <a:ext cx="410916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Schrödinger Bridge links two distributions by diffusion, yet</a:t>
              </a:r>
            </a:p>
          </p:txBody>
        </p:sp>
        <p:sp>
          <p:nvSpPr>
            <p:cNvPr id="12" name="TextBox 12"/>
            <p:cNvSpPr txBox="1"/>
            <p:nvPr/>
          </p:nvSpPr>
          <p:spPr>
            <a:xfrm>
              <a:off x="871156" y="3434001"/>
              <a:ext cx="43408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solvers stack neural nets, use adversarial min-max training, and</a:t>
              </a:r>
            </a:p>
          </p:txBody>
        </p:sp>
        <p:sp>
          <p:nvSpPr>
            <p:cNvPr id="13" name="TextBox 13"/>
            <p:cNvSpPr txBox="1"/>
            <p:nvPr/>
          </p:nvSpPr>
          <p:spPr>
            <a:xfrm>
              <a:off x="871156" y="3624501"/>
              <a:ext cx="111340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take GPU-hours.</a:t>
              </a:r>
            </a:p>
          </p:txBody>
        </p:sp>
      </p:grpSp>
      <p:grpSp>
        <p:nvGrpSpPr>
          <p:cNvPr id="20" name="Group 20"/>
          <p:cNvGrpSpPr/>
          <p:nvPr/>
        </p:nvGrpSpPr>
        <p:grpSpPr>
          <a:xfrm>
            <a:off x="6248400" y="2762250"/>
            <a:ext cx="5334000" cy="1143000"/>
            <a:chOff x="6248400" y="2762250"/>
            <a:chExt cx="5334000" cy="1143000"/>
          </a:xfrm>
        </p:grpSpPr>
        <p:sp>
          <p:nvSpPr>
            <p:cNvPr id="15" name="Rectangle 15"/>
            <p:cNvSpPr/>
            <p:nvPr/>
          </p:nvSpPr>
          <p:spPr>
            <a:xfrm>
              <a:off x="6248400" y="2762250"/>
              <a:ext cx="5334000" cy="1143000"/>
            </a:xfrm>
            <a:prstGeom prst="roundRect">
              <a:avLst>
                <a:gd name="adj" fmla="val 11667"/>
              </a:avLst>
            </a:prstGeom>
            <a:solidFill>
              <a:schemeClr val="accent5"/>
            </a:solidFill>
            <a:ln w="14288">
              <a:solidFill>
                <a:srgbClr val="26455F"/>
              </a:solidFill>
            </a:ln>
          </p:spPr>
        </p:sp>
        <p:sp>
          <p:nvSpPr>
            <p:cNvPr id="16" name="Rectangle 16"/>
            <p:cNvSpPr/>
            <p:nvPr/>
          </p:nvSpPr>
          <p:spPr>
            <a:xfrm>
              <a:off x="6248400" y="2762250"/>
              <a:ext cx="57150" cy="1143000"/>
            </a:xfrm>
            <a:prstGeom prst="roundRect">
              <a:avLst>
                <a:gd name="adj" fmla="val 50000"/>
              </a:avLst>
            </a:prstGeom>
            <a:solidFill>
              <a:srgbClr val="34D3C0"/>
            </a:solidFill>
            <a:ln>
              <a:noFill/>
            </a:ln>
          </p:spPr>
        </p:sp>
        <p:sp>
          <p:nvSpPr>
            <p:cNvPr id="17" name="TextBox 17"/>
            <p:cNvSpPr txBox="1"/>
            <p:nvPr/>
          </p:nvSpPr>
          <p:spPr>
            <a:xfrm>
              <a:off x="6508242" y="2959418"/>
              <a:ext cx="717347"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LightSB</a:t>
              </a:r>
            </a:p>
          </p:txBody>
        </p:sp>
        <p:sp>
          <p:nvSpPr>
            <p:cNvPr id="18" name="TextBox 18"/>
            <p:cNvSpPr txBox="1"/>
            <p:nvPr/>
          </p:nvSpPr>
          <p:spPr>
            <a:xfrm>
              <a:off x="6509956" y="3243501"/>
              <a:ext cx="423874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 lightweight Schrödinger Bridge solver, meant to be the simple</a:t>
              </a:r>
            </a:p>
          </p:txBody>
        </p:sp>
        <p:sp>
          <p:nvSpPr>
            <p:cNvPr id="19" name="TextBox 19"/>
            <p:cNvSpPr txBox="1"/>
            <p:nvPr/>
          </p:nvSpPr>
          <p:spPr>
            <a:xfrm>
              <a:off x="6509956" y="3434001"/>
              <a:ext cx="236250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go-to baseline the field has lacked.</a:t>
              </a:r>
            </a:p>
          </p:txBody>
        </p:sp>
      </p:grpSp>
      <p:grpSp>
        <p:nvGrpSpPr>
          <p:cNvPr id="27" name="Group 27"/>
          <p:cNvGrpSpPr/>
          <p:nvPr/>
        </p:nvGrpSpPr>
        <p:grpSpPr>
          <a:xfrm>
            <a:off x="609600" y="4114800"/>
            <a:ext cx="5334000" cy="1143000"/>
            <a:chOff x="609600" y="4114800"/>
            <a:chExt cx="5334000" cy="1143000"/>
          </a:xfrm>
        </p:grpSpPr>
        <p:sp>
          <p:nvSpPr>
            <p:cNvPr id="21" name="Rectangle 21"/>
            <p:cNvSpPr/>
            <p:nvPr/>
          </p:nvSpPr>
          <p:spPr>
            <a:xfrm>
              <a:off x="609600" y="4114800"/>
              <a:ext cx="5334000" cy="1143000"/>
            </a:xfrm>
            <a:prstGeom prst="roundRect">
              <a:avLst>
                <a:gd name="adj" fmla="val 11667"/>
              </a:avLst>
            </a:prstGeom>
            <a:solidFill>
              <a:schemeClr val="accent5"/>
            </a:solidFill>
            <a:ln w="14288">
              <a:solidFill>
                <a:srgbClr val="26455F"/>
              </a:solidFill>
            </a:ln>
          </p:spPr>
        </p:sp>
        <p:sp>
          <p:nvSpPr>
            <p:cNvPr id="22" name="Rectangle 22"/>
            <p:cNvSpPr/>
            <p:nvPr/>
          </p:nvSpPr>
          <p:spPr>
            <a:xfrm>
              <a:off x="609600" y="4114800"/>
              <a:ext cx="57150" cy="1143000"/>
            </a:xfrm>
            <a:prstGeom prst="roundRect">
              <a:avLst>
                <a:gd name="adj" fmla="val 50000"/>
              </a:avLst>
            </a:prstGeom>
            <a:solidFill>
              <a:srgbClr val="F2C14E"/>
            </a:solidFill>
            <a:ln>
              <a:noFill/>
            </a:ln>
          </p:spPr>
        </p:sp>
        <p:sp>
          <p:nvSpPr>
            <p:cNvPr id="23" name="TextBox 23"/>
            <p:cNvSpPr txBox="1"/>
            <p:nvPr/>
          </p:nvSpPr>
          <p:spPr>
            <a:xfrm>
              <a:off x="869442" y="4311968"/>
              <a:ext cx="1908813"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One simple objective</a:t>
              </a:r>
            </a:p>
          </p:txBody>
        </p:sp>
        <p:sp>
          <p:nvSpPr>
            <p:cNvPr id="24" name="TextBox 24"/>
            <p:cNvSpPr txBox="1"/>
            <p:nvPr/>
          </p:nvSpPr>
          <p:spPr>
            <a:xfrm>
              <a:off x="871156" y="4596051"/>
              <a:ext cx="43880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Parameterize the Schrödinger potential as a Gaussian mixture and</a:t>
              </a:r>
            </a:p>
          </p:txBody>
        </p:sp>
        <p:sp>
          <p:nvSpPr>
            <p:cNvPr id="25" name="TextBox 25"/>
            <p:cNvSpPr txBox="1"/>
            <p:nvPr/>
          </p:nvSpPr>
          <p:spPr>
            <a:xfrm>
              <a:off x="871156" y="4786551"/>
              <a:ext cx="366777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read its log as an energy; the problem becomes a single</a:t>
              </a:r>
            </a:p>
          </p:txBody>
        </p:sp>
        <p:sp>
          <p:nvSpPr>
            <p:cNvPr id="26" name="TextBox 26"/>
            <p:cNvSpPr txBox="1"/>
            <p:nvPr/>
          </p:nvSpPr>
          <p:spPr>
            <a:xfrm>
              <a:off x="871156" y="4977051"/>
              <a:ext cx="277040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non-minimax objective with closed forms.</a:t>
              </a:r>
            </a:p>
          </p:txBody>
        </p:sp>
      </p:grpSp>
      <p:grpSp>
        <p:nvGrpSpPr>
          <p:cNvPr id="33" name="Group 33"/>
          <p:cNvGrpSpPr/>
          <p:nvPr/>
        </p:nvGrpSpPr>
        <p:grpSpPr>
          <a:xfrm>
            <a:off x="6248400" y="4114800"/>
            <a:ext cx="5334000" cy="1143000"/>
            <a:chOff x="6248400" y="4114800"/>
            <a:chExt cx="5334000" cy="1143000"/>
          </a:xfrm>
        </p:grpSpPr>
        <p:sp>
          <p:nvSpPr>
            <p:cNvPr id="28" name="Rectangle 28"/>
            <p:cNvSpPr/>
            <p:nvPr/>
          </p:nvSpPr>
          <p:spPr>
            <a:xfrm>
              <a:off x="6248400" y="4114800"/>
              <a:ext cx="5334000" cy="1143000"/>
            </a:xfrm>
            <a:prstGeom prst="roundRect">
              <a:avLst>
                <a:gd name="adj" fmla="val 11667"/>
              </a:avLst>
            </a:prstGeom>
            <a:solidFill>
              <a:schemeClr val="accent5"/>
            </a:solidFill>
            <a:ln w="14288">
              <a:solidFill>
                <a:srgbClr val="26455F"/>
              </a:solidFill>
            </a:ln>
          </p:spPr>
        </p:sp>
        <p:sp>
          <p:nvSpPr>
            <p:cNvPr id="29" name="Rectangle 29"/>
            <p:cNvSpPr/>
            <p:nvPr/>
          </p:nvSpPr>
          <p:spPr>
            <a:xfrm>
              <a:off x="6248400" y="4114800"/>
              <a:ext cx="57150" cy="1143000"/>
            </a:xfrm>
            <a:prstGeom prst="roundRect">
              <a:avLst>
                <a:gd name="adj" fmla="val 50000"/>
              </a:avLst>
            </a:prstGeom>
            <a:solidFill>
              <a:srgbClr val="48C78E"/>
            </a:solidFill>
            <a:ln>
              <a:noFill/>
            </a:ln>
          </p:spPr>
        </p:sp>
        <p:sp>
          <p:nvSpPr>
            <p:cNvPr id="30" name="TextBox 30"/>
            <p:cNvSpPr txBox="1"/>
            <p:nvPr/>
          </p:nvSpPr>
          <p:spPr>
            <a:xfrm>
              <a:off x="6508242" y="4311968"/>
              <a:ext cx="156689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Minutes on a CPU</a:t>
              </a:r>
            </a:p>
          </p:txBody>
        </p:sp>
        <p:sp>
          <p:nvSpPr>
            <p:cNvPr id="31" name="TextBox 31"/>
            <p:cNvSpPr txBox="1"/>
            <p:nvPr/>
          </p:nvSpPr>
          <p:spPr>
            <a:xfrm>
              <a:off x="6509956" y="4596051"/>
              <a:ext cx="431834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Solves bridges in moderate dimensions in minutes on a CPU, needs</a:t>
              </a:r>
            </a:p>
          </p:txBody>
        </p:sp>
        <p:sp>
          <p:nvSpPr>
            <p:cNvPr id="32" name="TextBox 32"/>
            <p:cNvSpPr txBox="1"/>
            <p:nvPr/>
          </p:nvSpPr>
          <p:spPr>
            <a:xfrm>
              <a:off x="6509956" y="4786551"/>
              <a:ext cx="398050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 painful tuning, and is provably a universal approximator.</a:t>
              </a:r>
            </a:p>
          </p:txBody>
        </p:sp>
      </p:grpSp>
      <p:sp>
        <p:nvSpPr>
          <p:cNvPr id="34" name="Line 34"/>
          <p:cNvSpPr/>
          <p:nvPr/>
        </p:nvSpPr>
        <p:spPr>
          <a:xfrm>
            <a:off x="609600" y="58674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5" name="TextBox 35"/>
          <p:cNvSpPr txBox="1"/>
          <p:nvPr/>
        </p:nvSpPr>
        <p:spPr>
          <a:xfrm>
            <a:off x="604266" y="60779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arXiv:2310.01174</a:t>
            </a:r>
          </a:p>
        </p:txBody>
      </p:sp>
      <p:sp>
        <p:nvSpPr>
          <p:cNvPr id="36" name="TextBox 36"/>
          <p:cNvSpPr txBox="1"/>
          <p:nvPr/>
        </p:nvSpPr>
        <p:spPr>
          <a:xfrm>
            <a:off x="2852166" y="6077902"/>
            <a:ext cx="3988737"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 Schrödinger Bridge solver does not have to be heavy.</a:t>
            </a:r>
          </a:p>
        </p:txBody>
      </p:sp>
      <p:sp>
        <p:nvSpPr>
          <p:cNvPr id="37" name="TextBox 37"/>
          <p:cNvSpPr txBox="1"/>
          <p:nvPr/>
        </p:nvSpPr>
        <p:spPr>
          <a:xfrm>
            <a:off x="9442803" y="6081951"/>
            <a:ext cx="2144740" cy="198025"/>
          </a:xfrm>
          <a:prstGeom prst="rect">
            <a:avLst/>
          </a:prstGeom>
          <a:noFill/>
          <a:ln>
            <a:noFill/>
          </a:ln>
        </p:spPr>
        <p:txBody>
          <a:bodyPr wrap="none" lIns="0" tIns="0" rIns="0" bIns="0" anchor="t" anchorCtr="0">
            <a:spAutoFit/>
          </a:bodyPr>
          <a:lstStyle/>
          <a:p>
            <a:pPr algn="r"/>
            <a:r>
              <a:rPr lang="en-US" sz="1010" b="1" dirty="0">
                <a:solidFill>
                  <a:srgbClr val="34D3C0"/>
                </a:solidFill>
                <a:latin typeface="+mn-lt"/>
                <a:ea typeface="+mn-ea"/>
                <a:cs typeface="+mn-cs"/>
              </a:rPr>
              <a:t>github.com/ngushchin/LightSB</a:t>
            </a:r>
          </a:p>
        </p:txBody>
      </p:sp>
      <p:sp>
        <p:nvSpPr>
          <p:cNvPr id="38" name="cue_s01_c1_schr_dinger_bridges_connect_two" title="cue_s01_c1_schr_dinger_bridges_connect_two" descr="cue_s01_c1_schr_dinger_bridges_connect_two Schrödinger Bridges connect two probability distributions with a diffusion process, but nearly every existing solver is heavy: it stacks several neural networks, needs adversarial min-max training, and can take hours on a GPU."/>
          <p:cNvSpPr/>
          <p:nvPr/>
        </p:nvSpPr>
        <p:spPr>
          <a:xfrm>
            <a:off x="609600" y="2762402"/>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cue_s01_c2_introduces_lightsb_lightweight_schr" title="cue_s01_c2_introduces_lightsb_lightweight_schr" descr="cue_s01_c2_introduces_lightsb_lightweight_schr This paper introduces LightSB, a lightweight Schrödinger Bridge solver."/>
          <p:cNvSpPr/>
          <p:nvPr/>
        </p:nvSpPr>
        <p:spPr>
          <a:xfrm>
            <a:off x="6248399" y="2762402"/>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cue_s01_c3_parameterizing_schr_dinger_potential" title="cue_s01_c3_parameterizing_schr_dinger_potential" descr="cue_s01_c3_parameterizing_schr_dinger_potential By parameterizing the Schrödinger potential as a Gaussian mixture and treating its logarithm as an energy function, LightSB turns the problem into one simple, non-minimax optimization objective with closed-form components."/>
          <p:cNvSpPr/>
          <p:nvPr/>
        </p:nvSpPr>
        <p:spPr>
          <a:xfrm>
            <a:off x="609600" y="4114800"/>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1_c4_result_solves_schr_dinger_bridges" title="cue_s01_c4_result_solves_schr_dinger_bridges" descr="cue_s01_c4_result_solves_schr_dinger_bridges The result solves Schrödinger Bridges in moderate dimensions in minutes on a CPU, with no painful hyperparameter tuning, and is provably a universal approximator of Schrödinger Bridges."/>
          <p:cNvSpPr/>
          <p:nvPr/>
        </p:nvSpPr>
        <p:spPr>
          <a:xfrm>
            <a:off x="6248399" y="4114800"/>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658857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No simple baseline for Schrödinger Bridges</a:t>
            </a:r>
          </a:p>
        </p:txBody>
      </p:sp>
      <p:grpSp>
        <p:nvGrpSpPr>
          <p:cNvPr id="41" name="Group 41"/>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3143009"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What the Schrödinger Bridge asks</a:t>
              </a:r>
            </a:p>
          </p:txBody>
        </p:sp>
        <p:sp>
          <p:nvSpPr>
            <p:cNvPr id="8" name="TextBox 8"/>
            <p:cNvSpPr txBox="1"/>
            <p:nvPr/>
          </p:nvSpPr>
          <p:spPr>
            <a:xfrm>
              <a:off x="870776" y="2149554"/>
              <a:ext cx="28330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Find the diffusion process carrying one</a:t>
              </a:r>
            </a:p>
          </p:txBody>
        </p:sp>
        <p:sp>
          <p:nvSpPr>
            <p:cNvPr id="9" name="TextBox 9"/>
            <p:cNvSpPr txBox="1"/>
            <p:nvPr/>
          </p:nvSpPr>
          <p:spPr>
            <a:xfrm>
              <a:off x="870776" y="2359104"/>
              <a:ext cx="331994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distribution to another that stays as close as</a:t>
              </a:r>
            </a:p>
          </p:txBody>
        </p:sp>
        <p:sp>
          <p:nvSpPr>
            <p:cNvPr id="10" name="TextBox 10"/>
            <p:cNvSpPr txBox="1"/>
            <p:nvPr/>
          </p:nvSpPr>
          <p:spPr>
            <a:xfrm>
              <a:off x="870776" y="2568654"/>
              <a:ext cx="2899353"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possible to a reference Wiener process.</a:t>
              </a:r>
            </a:p>
          </p:txBody>
        </p:sp>
        <p:sp>
          <p:nvSpPr>
            <p:cNvPr id="11" name="Rectangle 11"/>
            <p:cNvSpPr/>
            <p:nvPr/>
          </p:nvSpPr>
          <p:spPr>
            <a:xfrm>
              <a:off x="876300" y="3200400"/>
              <a:ext cx="4800600" cy="1428750"/>
            </a:xfrm>
            <a:prstGeom prst="roundRect">
              <a:avLst>
                <a:gd name="adj" fmla="val 6667"/>
              </a:avLst>
            </a:prstGeom>
            <a:solidFill>
              <a:srgbClr val="0E2334"/>
            </a:solidFill>
            <a:ln w="14288">
              <a:solidFill>
                <a:srgbClr val="26455F"/>
              </a:solidFill>
            </a:ln>
          </p:spPr>
        </p:sp>
        <p:sp>
          <p:nvSpPr>
            <p:cNvPr id="12" name="Ellipse 12"/>
            <p:cNvSpPr/>
            <p:nvPr/>
          </p:nvSpPr>
          <p:spPr>
            <a:xfrm>
              <a:off x="1143000" y="3714750"/>
              <a:ext cx="571500" cy="419100"/>
            </a:xfrm>
            <a:prstGeom prst="ellipse">
              <a:avLst/>
            </a:prstGeom>
            <a:solidFill>
              <a:schemeClr val="accent2">
                <a:alpha val="16000"/>
              </a:schemeClr>
            </a:solidFill>
            <a:ln>
              <a:noFill/>
            </a:ln>
          </p:spPr>
        </p:sp>
        <p:sp>
          <p:nvSpPr>
            <p:cNvPr id="13" name="Ellipse 13"/>
            <p:cNvSpPr/>
            <p:nvPr/>
          </p:nvSpPr>
          <p:spPr>
            <a:xfrm>
              <a:off x="1398270" y="3893820"/>
              <a:ext cx="60960" cy="60960"/>
            </a:xfrm>
            <a:prstGeom prst="ellipse">
              <a:avLst/>
            </a:prstGeom>
            <a:solidFill>
              <a:schemeClr val="accent2"/>
            </a:solidFill>
            <a:ln>
              <a:noFill/>
            </a:ln>
          </p:spPr>
        </p:sp>
        <p:sp>
          <p:nvSpPr>
            <p:cNvPr id="14" name="Ellipse 14"/>
            <p:cNvSpPr/>
            <p:nvPr/>
          </p:nvSpPr>
          <p:spPr>
            <a:xfrm>
              <a:off x="1512570" y="3836670"/>
              <a:ext cx="60960" cy="60960"/>
            </a:xfrm>
            <a:prstGeom prst="ellipse">
              <a:avLst/>
            </a:prstGeom>
            <a:solidFill>
              <a:schemeClr val="accent2"/>
            </a:solidFill>
            <a:ln>
              <a:noFill/>
            </a:ln>
          </p:spPr>
        </p:sp>
        <p:sp>
          <p:nvSpPr>
            <p:cNvPr id="15" name="Ellipse 15"/>
            <p:cNvSpPr/>
            <p:nvPr/>
          </p:nvSpPr>
          <p:spPr>
            <a:xfrm>
              <a:off x="1293495" y="3960495"/>
              <a:ext cx="60960" cy="60960"/>
            </a:xfrm>
            <a:prstGeom prst="ellipse">
              <a:avLst/>
            </a:prstGeom>
            <a:solidFill>
              <a:schemeClr val="accent2"/>
            </a:solidFill>
            <a:ln>
              <a:noFill/>
            </a:ln>
          </p:spPr>
        </p:sp>
        <p:sp>
          <p:nvSpPr>
            <p:cNvPr id="16" name="Ellipse 16"/>
            <p:cNvSpPr/>
            <p:nvPr/>
          </p:nvSpPr>
          <p:spPr>
            <a:xfrm>
              <a:off x="1455420" y="3989070"/>
              <a:ext cx="60960" cy="60960"/>
            </a:xfrm>
            <a:prstGeom prst="ellipse">
              <a:avLst/>
            </a:prstGeom>
            <a:solidFill>
              <a:schemeClr val="accent2"/>
            </a:solidFill>
            <a:ln>
              <a:noFill/>
            </a:ln>
          </p:spPr>
        </p:sp>
        <p:sp>
          <p:nvSpPr>
            <p:cNvPr id="17" name="Ellipse 17"/>
            <p:cNvSpPr/>
            <p:nvPr/>
          </p:nvSpPr>
          <p:spPr>
            <a:xfrm>
              <a:off x="1322070" y="3808095"/>
              <a:ext cx="60960" cy="60960"/>
            </a:xfrm>
            <a:prstGeom prst="ellipse">
              <a:avLst/>
            </a:prstGeom>
            <a:solidFill>
              <a:schemeClr val="accent2"/>
            </a:solidFill>
            <a:ln>
              <a:noFill/>
            </a:ln>
          </p:spPr>
        </p:sp>
        <p:sp>
          <p:nvSpPr>
            <p:cNvPr id="18" name="Ellipse 18"/>
            <p:cNvSpPr/>
            <p:nvPr/>
          </p:nvSpPr>
          <p:spPr>
            <a:xfrm>
              <a:off x="1550670" y="3941445"/>
              <a:ext cx="60960" cy="60960"/>
            </a:xfrm>
            <a:prstGeom prst="ellipse">
              <a:avLst/>
            </a:prstGeom>
            <a:solidFill>
              <a:schemeClr val="accent2"/>
            </a:solidFill>
            <a:ln>
              <a:noFill/>
            </a:ln>
          </p:spPr>
        </p:sp>
        <p:sp>
          <p:nvSpPr>
            <p:cNvPr id="19" name="Ellipse 19"/>
            <p:cNvSpPr/>
            <p:nvPr/>
          </p:nvSpPr>
          <p:spPr>
            <a:xfrm>
              <a:off x="1245870" y="3865245"/>
              <a:ext cx="60960" cy="60960"/>
            </a:xfrm>
            <a:prstGeom prst="ellipse">
              <a:avLst/>
            </a:prstGeom>
            <a:solidFill>
              <a:schemeClr val="accent2"/>
            </a:solidFill>
            <a:ln>
              <a:noFill/>
            </a:ln>
          </p:spPr>
        </p:sp>
        <p:sp>
          <p:nvSpPr>
            <p:cNvPr id="20" name="Ellipse 20"/>
            <p:cNvSpPr/>
            <p:nvPr/>
          </p:nvSpPr>
          <p:spPr>
            <a:xfrm>
              <a:off x="1417320" y="3769995"/>
              <a:ext cx="60960" cy="60960"/>
            </a:xfrm>
            <a:prstGeom prst="ellipse">
              <a:avLst/>
            </a:prstGeom>
            <a:solidFill>
              <a:schemeClr val="accent2"/>
            </a:solidFill>
            <a:ln>
              <a:noFill/>
            </a:ln>
          </p:spPr>
        </p:sp>
        <p:sp>
          <p:nvSpPr>
            <p:cNvPr id="21" name="Ellipse 21"/>
            <p:cNvSpPr/>
            <p:nvPr/>
          </p:nvSpPr>
          <p:spPr>
            <a:xfrm>
              <a:off x="1483995" y="3884295"/>
              <a:ext cx="60960" cy="60960"/>
            </a:xfrm>
            <a:prstGeom prst="ellipse">
              <a:avLst/>
            </a:prstGeom>
            <a:solidFill>
              <a:schemeClr val="accent2"/>
            </a:solidFill>
            <a:ln>
              <a:noFill/>
            </a:ln>
          </p:spPr>
        </p:sp>
        <p:sp>
          <p:nvSpPr>
            <p:cNvPr id="22" name="Ellipse 22"/>
            <p:cNvSpPr/>
            <p:nvPr/>
          </p:nvSpPr>
          <p:spPr>
            <a:xfrm>
              <a:off x="1360170" y="3931920"/>
              <a:ext cx="60960" cy="60960"/>
            </a:xfrm>
            <a:prstGeom prst="ellipse">
              <a:avLst/>
            </a:prstGeom>
            <a:solidFill>
              <a:schemeClr val="accent2"/>
            </a:solidFill>
            <a:ln>
              <a:noFill/>
            </a:ln>
          </p:spPr>
        </p:sp>
        <p:sp>
          <p:nvSpPr>
            <p:cNvPr id="23" name="TextBox 23"/>
            <p:cNvSpPr txBox="1"/>
            <p:nvPr/>
          </p:nvSpPr>
          <p:spPr>
            <a:xfrm>
              <a:off x="1111743" y="4204097"/>
              <a:ext cx="63401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source p0</a:t>
              </a:r>
            </a:p>
          </p:txBody>
        </p:sp>
        <p:sp>
          <p:nvSpPr>
            <p:cNvPr id="24" name="Ellipse 24"/>
            <p:cNvSpPr/>
            <p:nvPr/>
          </p:nvSpPr>
          <p:spPr>
            <a:xfrm>
              <a:off x="4838700" y="3714750"/>
              <a:ext cx="571500" cy="419100"/>
            </a:xfrm>
            <a:prstGeom prst="ellipse">
              <a:avLst/>
            </a:prstGeom>
            <a:solidFill>
              <a:srgbClr val="F2C14E">
                <a:alpha val="16000"/>
              </a:srgbClr>
            </a:solidFill>
            <a:ln>
              <a:noFill/>
            </a:ln>
          </p:spPr>
        </p:sp>
        <p:sp>
          <p:nvSpPr>
            <p:cNvPr id="25" name="Ellipse 25"/>
            <p:cNvSpPr/>
            <p:nvPr/>
          </p:nvSpPr>
          <p:spPr>
            <a:xfrm>
              <a:off x="5093970" y="3893820"/>
              <a:ext cx="60960" cy="60960"/>
            </a:xfrm>
            <a:prstGeom prst="ellipse">
              <a:avLst/>
            </a:prstGeom>
            <a:solidFill>
              <a:srgbClr val="F2C14E"/>
            </a:solidFill>
            <a:ln>
              <a:noFill/>
            </a:ln>
          </p:spPr>
        </p:sp>
        <p:sp>
          <p:nvSpPr>
            <p:cNvPr id="26" name="Ellipse 26"/>
            <p:cNvSpPr/>
            <p:nvPr/>
          </p:nvSpPr>
          <p:spPr>
            <a:xfrm>
              <a:off x="5208270" y="3836670"/>
              <a:ext cx="60960" cy="60960"/>
            </a:xfrm>
            <a:prstGeom prst="ellipse">
              <a:avLst/>
            </a:prstGeom>
            <a:solidFill>
              <a:srgbClr val="F2C14E"/>
            </a:solidFill>
            <a:ln>
              <a:noFill/>
            </a:ln>
          </p:spPr>
        </p:sp>
        <p:sp>
          <p:nvSpPr>
            <p:cNvPr id="27" name="Ellipse 27"/>
            <p:cNvSpPr/>
            <p:nvPr/>
          </p:nvSpPr>
          <p:spPr>
            <a:xfrm>
              <a:off x="4989195" y="3960495"/>
              <a:ext cx="60960" cy="60960"/>
            </a:xfrm>
            <a:prstGeom prst="ellipse">
              <a:avLst/>
            </a:prstGeom>
            <a:solidFill>
              <a:srgbClr val="F2C14E"/>
            </a:solidFill>
            <a:ln>
              <a:noFill/>
            </a:ln>
          </p:spPr>
        </p:sp>
        <p:sp>
          <p:nvSpPr>
            <p:cNvPr id="28" name="Ellipse 28"/>
            <p:cNvSpPr/>
            <p:nvPr/>
          </p:nvSpPr>
          <p:spPr>
            <a:xfrm>
              <a:off x="5151120" y="3989070"/>
              <a:ext cx="60960" cy="60960"/>
            </a:xfrm>
            <a:prstGeom prst="ellipse">
              <a:avLst/>
            </a:prstGeom>
            <a:solidFill>
              <a:srgbClr val="F2C14E"/>
            </a:solidFill>
            <a:ln>
              <a:noFill/>
            </a:ln>
          </p:spPr>
        </p:sp>
        <p:sp>
          <p:nvSpPr>
            <p:cNvPr id="29" name="Ellipse 29"/>
            <p:cNvSpPr/>
            <p:nvPr/>
          </p:nvSpPr>
          <p:spPr>
            <a:xfrm>
              <a:off x="5017770" y="3808095"/>
              <a:ext cx="60960" cy="60960"/>
            </a:xfrm>
            <a:prstGeom prst="ellipse">
              <a:avLst/>
            </a:prstGeom>
            <a:solidFill>
              <a:srgbClr val="F2C14E"/>
            </a:solidFill>
            <a:ln>
              <a:noFill/>
            </a:ln>
          </p:spPr>
        </p:sp>
        <p:sp>
          <p:nvSpPr>
            <p:cNvPr id="30" name="Ellipse 30"/>
            <p:cNvSpPr/>
            <p:nvPr/>
          </p:nvSpPr>
          <p:spPr>
            <a:xfrm>
              <a:off x="5246370" y="3941445"/>
              <a:ext cx="60960" cy="60960"/>
            </a:xfrm>
            <a:prstGeom prst="ellipse">
              <a:avLst/>
            </a:prstGeom>
            <a:solidFill>
              <a:srgbClr val="F2C14E"/>
            </a:solidFill>
            <a:ln>
              <a:noFill/>
            </a:ln>
          </p:spPr>
        </p:sp>
        <p:sp>
          <p:nvSpPr>
            <p:cNvPr id="31" name="Ellipse 31"/>
            <p:cNvSpPr/>
            <p:nvPr/>
          </p:nvSpPr>
          <p:spPr>
            <a:xfrm>
              <a:off x="4941570" y="3865245"/>
              <a:ext cx="60960" cy="60960"/>
            </a:xfrm>
            <a:prstGeom prst="ellipse">
              <a:avLst/>
            </a:prstGeom>
            <a:solidFill>
              <a:srgbClr val="F2C14E"/>
            </a:solidFill>
            <a:ln>
              <a:noFill/>
            </a:ln>
          </p:spPr>
        </p:sp>
        <p:sp>
          <p:nvSpPr>
            <p:cNvPr id="32" name="Ellipse 32"/>
            <p:cNvSpPr/>
            <p:nvPr/>
          </p:nvSpPr>
          <p:spPr>
            <a:xfrm>
              <a:off x="5113020" y="3769995"/>
              <a:ext cx="60960" cy="60960"/>
            </a:xfrm>
            <a:prstGeom prst="ellipse">
              <a:avLst/>
            </a:prstGeom>
            <a:solidFill>
              <a:srgbClr val="F2C14E"/>
            </a:solidFill>
            <a:ln>
              <a:noFill/>
            </a:ln>
          </p:spPr>
        </p:sp>
        <p:sp>
          <p:nvSpPr>
            <p:cNvPr id="33" name="Ellipse 33"/>
            <p:cNvSpPr/>
            <p:nvPr/>
          </p:nvSpPr>
          <p:spPr>
            <a:xfrm>
              <a:off x="5179695" y="3884295"/>
              <a:ext cx="60960" cy="60960"/>
            </a:xfrm>
            <a:prstGeom prst="ellipse">
              <a:avLst/>
            </a:prstGeom>
            <a:solidFill>
              <a:srgbClr val="F2C14E"/>
            </a:solidFill>
            <a:ln>
              <a:noFill/>
            </a:ln>
          </p:spPr>
        </p:sp>
        <p:sp>
          <p:nvSpPr>
            <p:cNvPr id="34" name="Ellipse 34"/>
            <p:cNvSpPr/>
            <p:nvPr/>
          </p:nvSpPr>
          <p:spPr>
            <a:xfrm>
              <a:off x="5055870" y="3931920"/>
              <a:ext cx="60960" cy="60960"/>
            </a:xfrm>
            <a:prstGeom prst="ellipse">
              <a:avLst/>
            </a:prstGeom>
            <a:solidFill>
              <a:srgbClr val="F2C14E"/>
            </a:solidFill>
            <a:ln>
              <a:noFill/>
            </a:ln>
          </p:spPr>
        </p:sp>
        <p:sp>
          <p:nvSpPr>
            <p:cNvPr id="35" name="TextBox 35"/>
            <p:cNvSpPr txBox="1"/>
            <p:nvPr/>
          </p:nvSpPr>
          <p:spPr>
            <a:xfrm>
              <a:off x="4807443" y="4204097"/>
              <a:ext cx="63401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target p1</a:t>
              </a:r>
            </a:p>
          </p:txBody>
        </p:sp>
        <p:sp>
          <p:nvSpPr>
            <p:cNvPr id="36" name="Freeform 36"/>
            <p:cNvSpPr/>
            <p:nvPr/>
          </p:nvSpPr>
          <p:spPr>
            <a:xfrm>
              <a:off x="1809750" y="3524250"/>
              <a:ext cx="2933700" cy="495300"/>
            </a:xfrm>
            <a:custGeom>
              <a:avLst/>
              <a:gdLst/>
              <a:ahLst/>
              <a:cxnLst/>
              <a:rect l="l" t="t" r="r" b="b"/>
              <a:pathLst>
                <a:path w="2933700" h="495300">
                  <a:moveTo>
                    <a:pt x="0" y="247650"/>
                  </a:moveTo>
                  <a:cubicBezTo>
                    <a:pt x="571500" y="19050"/>
                    <a:pt x="1181100" y="495300"/>
                    <a:pt x="1466850" y="247650"/>
                  </a:cubicBezTo>
                  <a:cubicBezTo>
                    <a:pt x="1752600" y="0"/>
                    <a:pt x="2552700" y="38100"/>
                    <a:pt x="2933700" y="247650"/>
                  </a:cubicBezTo>
                </a:path>
              </a:pathLst>
            </a:custGeom>
            <a:noFill/>
            <a:ln w="19050" cap="rnd">
              <a:solidFill>
                <a:srgbClr val="34D3C0"/>
              </a:solidFill>
              <a:custDash>
                <a:ds d="50000" sp="350000"/>
              </a:custDash>
              <a:round/>
            </a:ln>
          </p:spPr>
        </p:sp>
        <p:sp>
          <p:nvSpPr>
            <p:cNvPr id="37" name="Freeform 37"/>
            <p:cNvSpPr/>
            <p:nvPr/>
          </p:nvSpPr>
          <p:spPr>
            <a:xfrm>
              <a:off x="1809750" y="3676650"/>
              <a:ext cx="2933700" cy="495300"/>
            </a:xfrm>
            <a:custGeom>
              <a:avLst/>
              <a:gdLst/>
              <a:ahLst/>
              <a:cxnLst/>
              <a:rect l="l" t="t" r="r" b="b"/>
              <a:pathLst>
                <a:path w="2933700" h="495300">
                  <a:moveTo>
                    <a:pt x="0" y="247650"/>
                  </a:moveTo>
                  <a:cubicBezTo>
                    <a:pt x="571500" y="19050"/>
                    <a:pt x="1181100" y="495300"/>
                    <a:pt x="1466850" y="247650"/>
                  </a:cubicBezTo>
                  <a:cubicBezTo>
                    <a:pt x="1752600" y="0"/>
                    <a:pt x="2552700" y="38100"/>
                    <a:pt x="2933700" y="247650"/>
                  </a:cubicBezTo>
                </a:path>
              </a:pathLst>
            </a:custGeom>
            <a:noFill/>
            <a:ln w="19050" cap="rnd">
              <a:solidFill>
                <a:srgbClr val="34D3C0"/>
              </a:solidFill>
              <a:custDash>
                <a:ds d="50000" sp="350000"/>
              </a:custDash>
              <a:round/>
            </a:ln>
          </p:spPr>
        </p:sp>
        <p:sp>
          <p:nvSpPr>
            <p:cNvPr id="38" name="Freeform 38"/>
            <p:cNvSpPr/>
            <p:nvPr/>
          </p:nvSpPr>
          <p:spPr>
            <a:xfrm>
              <a:off x="1809750" y="3829050"/>
              <a:ext cx="2933700" cy="495300"/>
            </a:xfrm>
            <a:custGeom>
              <a:avLst/>
              <a:gdLst/>
              <a:ahLst/>
              <a:cxnLst/>
              <a:rect l="l" t="t" r="r" b="b"/>
              <a:pathLst>
                <a:path w="2933700" h="495300">
                  <a:moveTo>
                    <a:pt x="0" y="247650"/>
                  </a:moveTo>
                  <a:cubicBezTo>
                    <a:pt x="571500" y="19050"/>
                    <a:pt x="1181100" y="495300"/>
                    <a:pt x="1466850" y="247650"/>
                  </a:cubicBezTo>
                  <a:cubicBezTo>
                    <a:pt x="1752600" y="0"/>
                    <a:pt x="2552700" y="38100"/>
                    <a:pt x="2933700" y="247650"/>
                  </a:cubicBezTo>
                </a:path>
              </a:pathLst>
            </a:custGeom>
            <a:noFill/>
            <a:ln w="19050" cap="rnd">
              <a:solidFill>
                <a:srgbClr val="34D3C0"/>
              </a:solidFill>
              <a:custDash>
                <a:ds d="50000" sp="350000"/>
              </a:custDash>
              <a:round/>
            </a:ln>
          </p:spPr>
        </p:sp>
        <p:sp>
          <p:nvSpPr>
            <p:cNvPr id="39" name="TextBox 39"/>
            <p:cNvSpPr txBox="1"/>
            <p:nvPr/>
          </p:nvSpPr>
          <p:spPr>
            <a:xfrm>
              <a:off x="2337871" y="3293745"/>
              <a:ext cx="1877458"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closest to a Wiener reference</a:t>
              </a:r>
            </a:p>
          </p:txBody>
        </p:sp>
        <p:sp>
          <p:nvSpPr>
            <p:cNvPr id="40" name="TextBox 40"/>
            <p:cNvSpPr txBox="1"/>
            <p:nvPr/>
          </p:nvSpPr>
          <p:spPr>
            <a:xfrm>
              <a:off x="871156" y="4862751"/>
              <a:ext cx="3434336"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The dynamic form of entropic optimal transport.</a:t>
              </a:r>
            </a:p>
          </p:txBody>
        </p:sp>
      </p:grpSp>
      <p:grpSp>
        <p:nvGrpSpPr>
          <p:cNvPr id="49" name="Group 49"/>
          <p:cNvGrpSpPr/>
          <p:nvPr/>
        </p:nvGrpSpPr>
        <p:grpSpPr>
          <a:xfrm>
            <a:off x="6248400" y="1504950"/>
            <a:ext cx="5334000" cy="1143000"/>
            <a:chOff x="6248400" y="1504950"/>
            <a:chExt cx="5334000" cy="1143000"/>
          </a:xfrm>
        </p:grpSpPr>
        <p:sp>
          <p:nvSpPr>
            <p:cNvPr id="42" name="Rectangle 42"/>
            <p:cNvSpPr/>
            <p:nvPr/>
          </p:nvSpPr>
          <p:spPr>
            <a:xfrm>
              <a:off x="6248400" y="1504950"/>
              <a:ext cx="5334000" cy="1143000"/>
            </a:xfrm>
            <a:prstGeom prst="roundRect">
              <a:avLst>
                <a:gd name="adj" fmla="val 11667"/>
              </a:avLst>
            </a:prstGeom>
            <a:solidFill>
              <a:schemeClr val="accent5"/>
            </a:solidFill>
            <a:ln w="14288">
              <a:solidFill>
                <a:srgbClr val="26455F"/>
              </a:solidFill>
            </a:ln>
          </p:spPr>
        </p:sp>
        <p:sp>
          <p:nvSpPr>
            <p:cNvPr id="43" name="Rectangle 43"/>
            <p:cNvSpPr/>
            <p:nvPr/>
          </p:nvSpPr>
          <p:spPr>
            <a:xfrm>
              <a:off x="6248400" y="1504950"/>
              <a:ext cx="57150" cy="1143000"/>
            </a:xfrm>
            <a:prstGeom prst="roundRect">
              <a:avLst>
                <a:gd name="adj" fmla="val 50000"/>
              </a:avLst>
            </a:prstGeom>
            <a:solidFill>
              <a:srgbClr val="34D3C0"/>
            </a:solidFill>
            <a:ln>
              <a:noFill/>
            </a:ln>
          </p:spPr>
        </p:sp>
        <p:sp>
          <p:nvSpPr>
            <p:cNvPr id="44" name="TextBox 44"/>
            <p:cNvSpPr txBox="1"/>
            <p:nvPr/>
          </p:nvSpPr>
          <p:spPr>
            <a:xfrm>
              <a:off x="6508814" y="1733312"/>
              <a:ext cx="3059151"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Dynamic entropic optimal transport</a:t>
              </a:r>
            </a:p>
          </p:txBody>
        </p:sp>
        <p:sp>
          <p:nvSpPr>
            <p:cNvPr id="45" name="TextBox 45"/>
            <p:cNvSpPr txBox="1"/>
            <p:nvPr/>
          </p:nvSpPr>
          <p:spPr>
            <a:xfrm>
              <a:off x="6509766" y="2020252"/>
              <a:ext cx="38810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underpins real applications across science and vision.</a:t>
              </a:r>
            </a:p>
          </p:txBody>
        </p:sp>
        <p:sp>
          <p:nvSpPr>
            <p:cNvPr id="46" name="Rectangle 46"/>
            <p:cNvSpPr/>
            <p:nvPr/>
          </p:nvSpPr>
          <p:spPr>
            <a:xfrm>
              <a:off x="6515100" y="2305050"/>
              <a:ext cx="4800600" cy="285750"/>
            </a:xfrm>
            <a:prstGeom prst="roundRect">
              <a:avLst>
                <a:gd name="adj" fmla="val 26667"/>
              </a:avLst>
            </a:prstGeom>
            <a:solidFill>
              <a:schemeClr val="accent6"/>
            </a:solidFill>
            <a:ln w="14288">
              <a:solidFill>
                <a:srgbClr val="26455F"/>
              </a:solidFill>
            </a:ln>
          </p:spPr>
        </p:sp>
        <p:sp>
          <p:nvSpPr>
            <p:cNvPr id="47" name="Ellipse 47"/>
            <p:cNvSpPr/>
            <p:nvPr/>
          </p:nvSpPr>
          <p:spPr>
            <a:xfrm>
              <a:off x="6638925" y="2400300"/>
              <a:ext cx="95250" cy="95250"/>
            </a:xfrm>
            <a:prstGeom prst="ellipse">
              <a:avLst/>
            </a:prstGeom>
            <a:solidFill>
              <a:srgbClr val="34D3C0"/>
            </a:solidFill>
            <a:ln>
              <a:noFill/>
            </a:ln>
          </p:spPr>
        </p:sp>
        <p:sp>
          <p:nvSpPr>
            <p:cNvPr id="48" name="TextBox 48"/>
            <p:cNvSpPr txBox="1"/>
            <p:nvPr/>
          </p:nvSpPr>
          <p:spPr>
            <a:xfrm>
              <a:off x="6833426" y="2387679"/>
              <a:ext cx="2845985"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single-cell biology · image translation</a:t>
              </a:r>
            </a:p>
          </p:txBody>
        </p:sp>
      </p:grpSp>
      <p:grpSp>
        <p:nvGrpSpPr>
          <p:cNvPr id="57" name="Group 57"/>
          <p:cNvGrpSpPr/>
          <p:nvPr/>
        </p:nvGrpSpPr>
        <p:grpSpPr>
          <a:xfrm>
            <a:off x="6248400" y="2762250"/>
            <a:ext cx="5334000" cy="1269826"/>
            <a:chOff x="6248400" y="2762250"/>
            <a:chExt cx="5334000" cy="1269826"/>
          </a:xfrm>
        </p:grpSpPr>
        <p:sp>
          <p:nvSpPr>
            <p:cNvPr id="50" name="Rectangle 50"/>
            <p:cNvSpPr/>
            <p:nvPr/>
          </p:nvSpPr>
          <p:spPr>
            <a:xfrm>
              <a:off x="6248400" y="2762250"/>
              <a:ext cx="5334000" cy="1257300"/>
            </a:xfrm>
            <a:prstGeom prst="roundRect">
              <a:avLst>
                <a:gd name="adj" fmla="val 10606"/>
              </a:avLst>
            </a:prstGeom>
            <a:solidFill>
              <a:srgbClr val="2A1720"/>
            </a:solidFill>
            <a:ln w="14288">
              <a:solidFill>
                <a:srgbClr val="F2685C"/>
              </a:solidFill>
            </a:ln>
          </p:spPr>
        </p:sp>
        <p:sp>
          <p:nvSpPr>
            <p:cNvPr id="51" name="Rectangle 51"/>
            <p:cNvSpPr/>
            <p:nvPr/>
          </p:nvSpPr>
          <p:spPr>
            <a:xfrm>
              <a:off x="6248400" y="2762250"/>
              <a:ext cx="57150" cy="1257300"/>
            </a:xfrm>
            <a:prstGeom prst="roundRect">
              <a:avLst>
                <a:gd name="adj" fmla="val 50000"/>
              </a:avLst>
            </a:prstGeom>
            <a:solidFill>
              <a:srgbClr val="F2685C"/>
            </a:solidFill>
            <a:ln>
              <a:noFill/>
            </a:ln>
          </p:spPr>
        </p:sp>
        <p:sp>
          <p:nvSpPr>
            <p:cNvPr id="52" name="TextBox 52"/>
            <p:cNvSpPr txBox="1"/>
            <p:nvPr/>
          </p:nvSpPr>
          <p:spPr>
            <a:xfrm>
              <a:off x="6509004" y="2994660"/>
              <a:ext cx="2562271" cy="234696"/>
            </a:xfrm>
            <a:prstGeom prst="rect">
              <a:avLst/>
            </a:prstGeom>
            <a:noFill/>
            <a:ln>
              <a:noFill/>
            </a:ln>
          </p:spPr>
          <p:txBody>
            <a:bodyPr wrap="none" lIns="0" tIns="0" rIns="0" bIns="0" anchor="t" anchorCtr="0">
              <a:spAutoFit/>
            </a:bodyPr>
            <a:lstStyle/>
            <a:p>
              <a:pPr algn="l"/>
              <a:r>
                <a:rPr lang="en-US" sz="1200" b="1" dirty="0">
                  <a:solidFill>
                    <a:srgbClr val="F2685C"/>
                  </a:solidFill>
                  <a:latin typeface="+mn-lt"/>
                  <a:ea typeface="+mn-ea"/>
                  <a:cs typeface="+mn-cs"/>
                </a:rPr>
                <a:t>The trouble: solvers are heavy</a:t>
              </a:r>
            </a:p>
          </p:txBody>
        </p:sp>
        <p:sp>
          <p:nvSpPr>
            <p:cNvPr id="53" name="TextBox 53"/>
            <p:cNvSpPr txBox="1"/>
            <p:nvPr/>
          </p:nvSpPr>
          <p:spPr>
            <a:xfrm>
              <a:off x="6509576" y="3292554"/>
              <a:ext cx="3816083"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Almost all existing solvers stack several large neural</a:t>
              </a:r>
            </a:p>
          </p:txBody>
        </p:sp>
        <p:sp>
          <p:nvSpPr>
            <p:cNvPr id="54" name="TextBox 54"/>
            <p:cNvSpPr txBox="1"/>
            <p:nvPr/>
          </p:nvSpPr>
          <p:spPr>
            <a:xfrm>
              <a:off x="6509576" y="3502104"/>
              <a:ext cx="353270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networks and require complex, often adversarial</a:t>
              </a:r>
            </a:p>
          </p:txBody>
        </p:sp>
        <p:sp>
          <p:nvSpPr>
            <p:cNvPr id="55" name="TextBox 55"/>
            <p:cNvSpPr txBox="1"/>
            <p:nvPr/>
          </p:nvSpPr>
          <p:spPr>
            <a:xfrm>
              <a:off x="6509576" y="3711654"/>
              <a:ext cx="979505"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optimization.</a:t>
              </a:r>
            </a:p>
          </p:txBody>
        </p:sp>
        <p:sp>
          <p:nvSpPr>
            <p:cNvPr id="56" name="TextBox 56"/>
            <p:cNvSpPr txBox="1"/>
            <p:nvPr/>
          </p:nvSpPr>
          <p:spPr>
            <a:xfrm>
              <a:off x="6509956" y="3834051"/>
              <a:ext cx="3629367" cy="198025"/>
            </a:xfrm>
            <a:prstGeom prst="rect">
              <a:avLst/>
            </a:prstGeom>
            <a:noFill/>
            <a:ln>
              <a:noFill/>
            </a:ln>
          </p:spPr>
          <p:txBody>
            <a:bodyPr wrap="none" lIns="0" tIns="0" rIns="0" bIns="0" anchor="t" anchorCtr="0">
              <a:spAutoFit/>
            </a:bodyPr>
            <a:lstStyle/>
            <a:p>
              <a:pPr algn="l"/>
              <a:r>
                <a:rPr lang="en-US" sz="1010" b="1" dirty="0">
                  <a:solidFill>
                    <a:srgbClr val="F2685C"/>
                  </a:solidFill>
                  <a:latin typeface="Consolas"/>
                  <a:ea typeface="Consolas"/>
                  <a:cs typeface="Consolas"/>
                </a:rPr>
                <a:t>several networks + min-max training = slow, fragile</a:t>
              </a:r>
            </a:p>
          </p:txBody>
        </p:sp>
      </p:grpSp>
      <p:grpSp>
        <p:nvGrpSpPr>
          <p:cNvPr id="63" name="Group 63"/>
          <p:cNvGrpSpPr/>
          <p:nvPr/>
        </p:nvGrpSpPr>
        <p:grpSpPr>
          <a:xfrm>
            <a:off x="6248400" y="4133850"/>
            <a:ext cx="5334000" cy="1104900"/>
            <a:chOff x="6248400" y="4133850"/>
            <a:chExt cx="5334000" cy="1104900"/>
          </a:xfrm>
        </p:grpSpPr>
        <p:sp>
          <p:nvSpPr>
            <p:cNvPr id="58" name="Rectangle 58"/>
            <p:cNvSpPr/>
            <p:nvPr/>
          </p:nvSpPr>
          <p:spPr>
            <a:xfrm>
              <a:off x="6248400" y="4133850"/>
              <a:ext cx="5334000" cy="1104900"/>
            </a:xfrm>
            <a:prstGeom prst="roundRect">
              <a:avLst>
                <a:gd name="adj" fmla="val 12069"/>
              </a:avLst>
            </a:prstGeom>
            <a:solidFill>
              <a:schemeClr val="accent5"/>
            </a:solidFill>
            <a:ln w="14288">
              <a:solidFill>
                <a:srgbClr val="26455F"/>
              </a:solidFill>
            </a:ln>
          </p:spPr>
        </p:sp>
        <p:sp>
          <p:nvSpPr>
            <p:cNvPr id="59" name="Rectangle 59"/>
            <p:cNvSpPr/>
            <p:nvPr/>
          </p:nvSpPr>
          <p:spPr>
            <a:xfrm>
              <a:off x="6248400" y="4133850"/>
              <a:ext cx="57150" cy="1104900"/>
            </a:xfrm>
            <a:prstGeom prst="roundRect">
              <a:avLst>
                <a:gd name="adj" fmla="val 50000"/>
              </a:avLst>
            </a:prstGeom>
            <a:solidFill>
              <a:srgbClr val="F2C14E"/>
            </a:solidFill>
            <a:ln>
              <a:noFill/>
            </a:ln>
          </p:spPr>
        </p:sp>
        <p:sp>
          <p:nvSpPr>
            <p:cNvPr id="60" name="TextBox 60"/>
            <p:cNvSpPr txBox="1"/>
            <p:nvPr/>
          </p:nvSpPr>
          <p:spPr>
            <a:xfrm>
              <a:off x="6509004" y="4366260"/>
              <a:ext cx="1476095"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A missing baseline</a:t>
              </a:r>
            </a:p>
          </p:txBody>
        </p:sp>
        <p:sp>
          <p:nvSpPr>
            <p:cNvPr id="61" name="TextBox 61"/>
            <p:cNvSpPr txBox="1"/>
            <p:nvPr/>
          </p:nvSpPr>
          <p:spPr>
            <a:xfrm>
              <a:off x="6509576" y="4664154"/>
              <a:ext cx="382423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The field has no go-to method the way k-means is for</a:t>
              </a:r>
            </a:p>
          </p:txBody>
        </p:sp>
        <p:sp>
          <p:nvSpPr>
            <p:cNvPr id="62" name="TextBox 62"/>
            <p:cNvSpPr txBox="1"/>
            <p:nvPr/>
          </p:nvSpPr>
          <p:spPr>
            <a:xfrm>
              <a:off x="6509576" y="4873704"/>
              <a:ext cx="304110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clustering or Sinkhorn is for discrete OT.</a:t>
              </a:r>
            </a:p>
          </p:txBody>
        </p:sp>
      </p:grpSp>
      <p:sp>
        <p:nvSpPr>
          <p:cNvPr id="64" name="cue_s02_c1_schr_dinger_bridge_problem_asks" title="cue_s02_c1_schr_dinger_bridge_problem_asks" descr="cue_s02_c1_schr_dinger_bridge_problem_asks The Schrödinger Bridge problem asks for the diffusion process between two given distributions that stays as close as possible to a reference Wiener process."/>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2_c2_dynamic_version_entropic_optimal_tra" title="cue_s02_c2_dynamic_version_entropic_optimal_tra" descr="cue_s02_c2_dynamic_version_entropic_optimal_tra It is the dynamic version of entropic optimal transport, and it underpins applications from single-cell biology to image translation."/>
          <p:cNvSpPr/>
          <p:nvPr/>
        </p:nvSpPr>
        <p:spPr>
          <a:xfrm>
            <a:off x="6248399" y="1504645"/>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2_c3_trouble_almost_all_existing_solvers" title="cue_s02_c3_trouble_almost_all_existing_solvers" descr="cue_s02_c3_trouble_almost_all_existing_solvers The trouble is that almost all existing solvers are heavy-weighted. They parameterize the solution with several large neural networks and require complex, often adversarial optimization."/>
          <p:cNvSpPr/>
          <p:nvPr/>
        </p:nvSpPr>
        <p:spPr>
          <a:xfrm>
            <a:off x="6248399" y="2762402"/>
            <a:ext cx="5334000" cy="127010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cue_s02_c4_result_field_lacks_simple_principled" title="cue_s02_c4_result_field_lacks_simple_principled" descr="cue_s02_c4_result_field_lacks_simple_principled As a result, the field lacks a simple, principled baseline, the kind of go-to method that k-means is for clustering or Sinkhorn is for discrete optimal transport."/>
          <p:cNvSpPr/>
          <p:nvPr/>
        </p:nvSpPr>
        <p:spPr>
          <a:xfrm>
            <a:off x="6248399" y="4134002"/>
            <a:ext cx="53340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537672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Heavy machinery for a modest goal</a:t>
            </a:r>
          </a:p>
        </p:txBody>
      </p:sp>
      <p:grpSp>
        <p:nvGrpSpPr>
          <p:cNvPr id="42" name="Group 42"/>
          <p:cNvGrpSpPr/>
          <p:nvPr/>
        </p:nvGrpSpPr>
        <p:grpSpPr>
          <a:xfrm>
            <a:off x="609600" y="1504950"/>
            <a:ext cx="5334000" cy="3733800"/>
            <a:chOff x="609600" y="1504950"/>
            <a:chExt cx="5334000" cy="3733800"/>
          </a:xfrm>
        </p:grpSpPr>
        <p:sp>
          <p:nvSpPr>
            <p:cNvPr id="5" name="Rectangle 5"/>
            <p:cNvSpPr/>
            <p:nvPr/>
          </p:nvSpPr>
          <p:spPr>
            <a:xfrm>
              <a:off x="609600" y="1504950"/>
              <a:ext cx="53340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rgbClr val="34D3C0"/>
            </a:solidFill>
            <a:ln>
              <a:noFill/>
            </a:ln>
          </p:spPr>
        </p:sp>
        <p:sp>
          <p:nvSpPr>
            <p:cNvPr id="7" name="TextBox 7"/>
            <p:cNvSpPr txBox="1"/>
            <p:nvPr/>
          </p:nvSpPr>
          <p:spPr>
            <a:xfrm>
              <a:off x="869442" y="1759268"/>
              <a:ext cx="1833383" cy="264033"/>
            </a:xfrm>
            <a:prstGeom prst="rect">
              <a:avLst/>
            </a:prstGeom>
            <a:noFill/>
            <a:ln>
              <a:noFill/>
            </a:ln>
          </p:spPr>
          <p:txBody>
            <a:bodyPr wrap="none" lIns="0" tIns="0" rIns="0" bIns="0" anchor="t" anchorCtr="0">
              <a:spAutoFit/>
            </a:bodyPr>
            <a:lstStyle/>
            <a:p>
              <a:pPr algn="l"/>
              <a:r>
                <a:rPr lang="en-US" sz="1350" b="1" dirty="0">
                  <a:solidFill>
                    <a:srgbClr val="34D3C0"/>
                  </a:solidFill>
                  <a:latin typeface="+mn-lt"/>
                  <a:ea typeface="+mn-ea"/>
                  <a:cs typeface="+mn-cs"/>
                </a:rPr>
                <a:t>A very common wish</a:t>
              </a:r>
            </a:p>
          </p:txBody>
        </p:sp>
        <p:sp>
          <p:nvSpPr>
            <p:cNvPr id="8" name="TextBox 8"/>
            <p:cNvSpPr txBox="1"/>
            <p:nvPr/>
          </p:nvSpPr>
          <p:spPr>
            <a:xfrm>
              <a:off x="870776" y="2111454"/>
              <a:ext cx="333209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researcher simply wants an entropic optimal</a:t>
              </a:r>
            </a:p>
          </p:txBody>
        </p:sp>
        <p:sp>
          <p:nvSpPr>
            <p:cNvPr id="9" name="TextBox 9"/>
            <p:cNvSpPr txBox="1"/>
            <p:nvPr/>
          </p:nvSpPr>
          <p:spPr>
            <a:xfrm>
              <a:off x="870776" y="2321004"/>
              <a:ext cx="32930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transport or Schrödinger Bridge between two</a:t>
              </a:r>
            </a:p>
          </p:txBody>
        </p:sp>
        <p:sp>
          <p:nvSpPr>
            <p:cNvPr id="10" name="TextBox 10"/>
            <p:cNvSpPr txBox="1"/>
            <p:nvPr/>
          </p:nvSpPr>
          <p:spPr>
            <a:xfrm>
              <a:off x="870776" y="2530554"/>
              <a:ext cx="234414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moderate-dimensional datasets.</a:t>
              </a:r>
            </a:p>
          </p:txBody>
        </p:sp>
        <p:sp>
          <p:nvSpPr>
            <p:cNvPr id="11" name="Rectangle 11"/>
            <p:cNvSpPr/>
            <p:nvPr/>
          </p:nvSpPr>
          <p:spPr>
            <a:xfrm>
              <a:off x="876300" y="3105150"/>
              <a:ext cx="4800600" cy="857250"/>
            </a:xfrm>
            <a:prstGeom prst="roundRect">
              <a:avLst>
                <a:gd name="adj" fmla="val 11111"/>
              </a:avLst>
            </a:prstGeom>
            <a:solidFill>
              <a:schemeClr val="accent6"/>
            </a:solidFill>
            <a:ln w="14288">
              <a:solidFill>
                <a:srgbClr val="26455F"/>
              </a:solidFill>
            </a:ln>
          </p:spPr>
        </p:sp>
        <p:sp>
          <p:nvSpPr>
            <p:cNvPr id="12" name="Ellipse 12"/>
            <p:cNvSpPr/>
            <p:nvPr/>
          </p:nvSpPr>
          <p:spPr>
            <a:xfrm>
              <a:off x="1238250" y="3324225"/>
              <a:ext cx="571500" cy="419100"/>
            </a:xfrm>
            <a:prstGeom prst="ellipse">
              <a:avLst/>
            </a:prstGeom>
            <a:solidFill>
              <a:schemeClr val="accent2">
                <a:alpha val="16000"/>
              </a:schemeClr>
            </a:solidFill>
            <a:ln>
              <a:noFill/>
            </a:ln>
          </p:spPr>
        </p:sp>
        <p:sp>
          <p:nvSpPr>
            <p:cNvPr id="13" name="Ellipse 13"/>
            <p:cNvSpPr/>
            <p:nvPr/>
          </p:nvSpPr>
          <p:spPr>
            <a:xfrm>
              <a:off x="1493520" y="3503295"/>
              <a:ext cx="60960" cy="60960"/>
            </a:xfrm>
            <a:prstGeom prst="ellipse">
              <a:avLst/>
            </a:prstGeom>
            <a:solidFill>
              <a:schemeClr val="accent2"/>
            </a:solidFill>
            <a:ln>
              <a:noFill/>
            </a:ln>
          </p:spPr>
        </p:sp>
        <p:sp>
          <p:nvSpPr>
            <p:cNvPr id="14" name="Ellipse 14"/>
            <p:cNvSpPr/>
            <p:nvPr/>
          </p:nvSpPr>
          <p:spPr>
            <a:xfrm>
              <a:off x="1607820" y="3446145"/>
              <a:ext cx="60960" cy="60960"/>
            </a:xfrm>
            <a:prstGeom prst="ellipse">
              <a:avLst/>
            </a:prstGeom>
            <a:solidFill>
              <a:schemeClr val="accent2"/>
            </a:solidFill>
            <a:ln>
              <a:noFill/>
            </a:ln>
          </p:spPr>
        </p:sp>
        <p:sp>
          <p:nvSpPr>
            <p:cNvPr id="15" name="Ellipse 15"/>
            <p:cNvSpPr/>
            <p:nvPr/>
          </p:nvSpPr>
          <p:spPr>
            <a:xfrm>
              <a:off x="1388745" y="3569970"/>
              <a:ext cx="60960" cy="60960"/>
            </a:xfrm>
            <a:prstGeom prst="ellipse">
              <a:avLst/>
            </a:prstGeom>
            <a:solidFill>
              <a:schemeClr val="accent2"/>
            </a:solidFill>
            <a:ln>
              <a:noFill/>
            </a:ln>
          </p:spPr>
        </p:sp>
        <p:sp>
          <p:nvSpPr>
            <p:cNvPr id="16" name="Ellipse 16"/>
            <p:cNvSpPr/>
            <p:nvPr/>
          </p:nvSpPr>
          <p:spPr>
            <a:xfrm>
              <a:off x="1550670" y="3598545"/>
              <a:ext cx="60960" cy="60960"/>
            </a:xfrm>
            <a:prstGeom prst="ellipse">
              <a:avLst/>
            </a:prstGeom>
            <a:solidFill>
              <a:schemeClr val="accent2"/>
            </a:solidFill>
            <a:ln>
              <a:noFill/>
            </a:ln>
          </p:spPr>
        </p:sp>
        <p:sp>
          <p:nvSpPr>
            <p:cNvPr id="17" name="Ellipse 17"/>
            <p:cNvSpPr/>
            <p:nvPr/>
          </p:nvSpPr>
          <p:spPr>
            <a:xfrm>
              <a:off x="1417320" y="3417570"/>
              <a:ext cx="60960" cy="60960"/>
            </a:xfrm>
            <a:prstGeom prst="ellipse">
              <a:avLst/>
            </a:prstGeom>
            <a:solidFill>
              <a:schemeClr val="accent2"/>
            </a:solidFill>
            <a:ln>
              <a:noFill/>
            </a:ln>
          </p:spPr>
        </p:sp>
        <p:sp>
          <p:nvSpPr>
            <p:cNvPr id="18" name="Ellipse 18"/>
            <p:cNvSpPr/>
            <p:nvPr/>
          </p:nvSpPr>
          <p:spPr>
            <a:xfrm>
              <a:off x="1645920" y="3550920"/>
              <a:ext cx="60960" cy="60960"/>
            </a:xfrm>
            <a:prstGeom prst="ellipse">
              <a:avLst/>
            </a:prstGeom>
            <a:solidFill>
              <a:schemeClr val="accent2"/>
            </a:solidFill>
            <a:ln>
              <a:noFill/>
            </a:ln>
          </p:spPr>
        </p:sp>
        <p:sp>
          <p:nvSpPr>
            <p:cNvPr id="19" name="Ellipse 19"/>
            <p:cNvSpPr/>
            <p:nvPr/>
          </p:nvSpPr>
          <p:spPr>
            <a:xfrm>
              <a:off x="1341120" y="3474720"/>
              <a:ext cx="60960" cy="60960"/>
            </a:xfrm>
            <a:prstGeom prst="ellipse">
              <a:avLst/>
            </a:prstGeom>
            <a:solidFill>
              <a:schemeClr val="accent2"/>
            </a:solidFill>
            <a:ln>
              <a:noFill/>
            </a:ln>
          </p:spPr>
        </p:sp>
        <p:sp>
          <p:nvSpPr>
            <p:cNvPr id="20" name="Ellipse 20"/>
            <p:cNvSpPr/>
            <p:nvPr/>
          </p:nvSpPr>
          <p:spPr>
            <a:xfrm>
              <a:off x="1512570" y="3379470"/>
              <a:ext cx="60960" cy="60960"/>
            </a:xfrm>
            <a:prstGeom prst="ellipse">
              <a:avLst/>
            </a:prstGeom>
            <a:solidFill>
              <a:schemeClr val="accent2"/>
            </a:solidFill>
            <a:ln>
              <a:noFill/>
            </a:ln>
          </p:spPr>
        </p:sp>
        <p:sp>
          <p:nvSpPr>
            <p:cNvPr id="21" name="Ellipse 21"/>
            <p:cNvSpPr/>
            <p:nvPr/>
          </p:nvSpPr>
          <p:spPr>
            <a:xfrm>
              <a:off x="1579245" y="3493770"/>
              <a:ext cx="60960" cy="60960"/>
            </a:xfrm>
            <a:prstGeom prst="ellipse">
              <a:avLst/>
            </a:prstGeom>
            <a:solidFill>
              <a:schemeClr val="accent2"/>
            </a:solidFill>
            <a:ln>
              <a:noFill/>
            </a:ln>
          </p:spPr>
        </p:sp>
        <p:sp>
          <p:nvSpPr>
            <p:cNvPr id="22" name="Ellipse 22"/>
            <p:cNvSpPr/>
            <p:nvPr/>
          </p:nvSpPr>
          <p:spPr>
            <a:xfrm>
              <a:off x="1455420" y="3541395"/>
              <a:ext cx="60960" cy="60960"/>
            </a:xfrm>
            <a:prstGeom prst="ellipse">
              <a:avLst/>
            </a:prstGeom>
            <a:solidFill>
              <a:schemeClr val="accent2"/>
            </a:solidFill>
            <a:ln>
              <a:noFill/>
            </a:ln>
          </p:spPr>
        </p:sp>
        <p:sp>
          <p:nvSpPr>
            <p:cNvPr id="23" name="TextBox 23"/>
            <p:cNvSpPr txBox="1"/>
            <p:nvPr/>
          </p:nvSpPr>
          <p:spPr>
            <a:xfrm>
              <a:off x="1204784" y="3813572"/>
              <a:ext cx="63843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dataset A</a:t>
              </a:r>
            </a:p>
          </p:txBody>
        </p:sp>
        <p:sp>
          <p:nvSpPr>
            <p:cNvPr id="24" name="TextBox 24"/>
            <p:cNvSpPr txBox="1"/>
            <p:nvPr/>
          </p:nvSpPr>
          <p:spPr>
            <a:xfrm>
              <a:off x="2833367" y="3480197"/>
              <a:ext cx="886467" cy="183356"/>
            </a:xfrm>
            <a:prstGeom prst="rect">
              <a:avLst/>
            </a:prstGeom>
            <a:noFill/>
            <a:ln>
              <a:noFill/>
            </a:ln>
          </p:spPr>
          <p:txBody>
            <a:bodyPr wrap="none" lIns="0" tIns="0" rIns="0" bIns="0" anchor="t" anchorCtr="0">
              <a:spAutoFit/>
            </a:bodyPr>
            <a:lstStyle/>
            <a:p>
              <a:pPr algn="ctr"/>
              <a:r>
                <a:rPr lang="en-US" sz="940" b="1" dirty="0">
                  <a:solidFill>
                    <a:srgbClr val="F2C14E"/>
                  </a:solidFill>
                  <a:latin typeface="+mn-lt"/>
                  <a:ea typeface="+mn-ea"/>
                  <a:cs typeface="+mn-cs"/>
                </a:rPr>
                <a:t>want the plan</a:t>
              </a:r>
            </a:p>
          </p:txBody>
        </p:sp>
        <p:sp>
          <p:nvSpPr>
            <p:cNvPr id="25" name="TextBox 25"/>
            <p:cNvSpPr txBox="1"/>
            <p:nvPr/>
          </p:nvSpPr>
          <p:spPr>
            <a:xfrm>
              <a:off x="3204080" y="3593782"/>
              <a:ext cx="145040" cy="322707"/>
            </a:xfrm>
            <a:prstGeom prst="rect">
              <a:avLst/>
            </a:prstGeom>
            <a:noFill/>
            <a:ln>
              <a:noFill/>
            </a:ln>
          </p:spPr>
          <p:txBody>
            <a:bodyPr wrap="none" lIns="0" tIns="0" rIns="0" bIns="0" anchor="t" anchorCtr="0">
              <a:spAutoFit/>
            </a:bodyPr>
            <a:lstStyle/>
            <a:p>
              <a:pPr algn="ctr"/>
              <a:r>
                <a:rPr lang="en-US" sz="1650" b="1" dirty="0">
                  <a:solidFill>
                    <a:srgbClr val="F2C14E"/>
                  </a:solidFill>
                  <a:latin typeface="+mn-lt"/>
                  <a:ea typeface="+mn-ea"/>
                  <a:cs typeface="+mn-cs"/>
                </a:rPr>
                <a:t>→</a:t>
              </a:r>
            </a:p>
          </p:txBody>
        </p:sp>
        <p:sp>
          <p:nvSpPr>
            <p:cNvPr id="26" name="Ellipse 26"/>
            <p:cNvSpPr/>
            <p:nvPr/>
          </p:nvSpPr>
          <p:spPr>
            <a:xfrm>
              <a:off x="4743450" y="3324225"/>
              <a:ext cx="571500" cy="419100"/>
            </a:xfrm>
            <a:prstGeom prst="ellipse">
              <a:avLst/>
            </a:prstGeom>
            <a:solidFill>
              <a:srgbClr val="48C78E">
                <a:alpha val="16000"/>
              </a:srgbClr>
            </a:solidFill>
            <a:ln>
              <a:noFill/>
            </a:ln>
          </p:spPr>
        </p:sp>
        <p:sp>
          <p:nvSpPr>
            <p:cNvPr id="27" name="Ellipse 27"/>
            <p:cNvSpPr/>
            <p:nvPr/>
          </p:nvSpPr>
          <p:spPr>
            <a:xfrm>
              <a:off x="4998720" y="3503295"/>
              <a:ext cx="60960" cy="60960"/>
            </a:xfrm>
            <a:prstGeom prst="ellipse">
              <a:avLst/>
            </a:prstGeom>
            <a:solidFill>
              <a:srgbClr val="48C78E"/>
            </a:solidFill>
            <a:ln>
              <a:noFill/>
            </a:ln>
          </p:spPr>
        </p:sp>
        <p:sp>
          <p:nvSpPr>
            <p:cNvPr id="28" name="Ellipse 28"/>
            <p:cNvSpPr/>
            <p:nvPr/>
          </p:nvSpPr>
          <p:spPr>
            <a:xfrm>
              <a:off x="5113020" y="3446145"/>
              <a:ext cx="60960" cy="60960"/>
            </a:xfrm>
            <a:prstGeom prst="ellipse">
              <a:avLst/>
            </a:prstGeom>
            <a:solidFill>
              <a:srgbClr val="48C78E"/>
            </a:solidFill>
            <a:ln>
              <a:noFill/>
            </a:ln>
          </p:spPr>
        </p:sp>
        <p:sp>
          <p:nvSpPr>
            <p:cNvPr id="29" name="Ellipse 29"/>
            <p:cNvSpPr/>
            <p:nvPr/>
          </p:nvSpPr>
          <p:spPr>
            <a:xfrm>
              <a:off x="4893945" y="3569970"/>
              <a:ext cx="60960" cy="60960"/>
            </a:xfrm>
            <a:prstGeom prst="ellipse">
              <a:avLst/>
            </a:prstGeom>
            <a:solidFill>
              <a:srgbClr val="48C78E"/>
            </a:solidFill>
            <a:ln>
              <a:noFill/>
            </a:ln>
          </p:spPr>
        </p:sp>
        <p:sp>
          <p:nvSpPr>
            <p:cNvPr id="30" name="Ellipse 30"/>
            <p:cNvSpPr/>
            <p:nvPr/>
          </p:nvSpPr>
          <p:spPr>
            <a:xfrm>
              <a:off x="5055870" y="3598545"/>
              <a:ext cx="60960" cy="60960"/>
            </a:xfrm>
            <a:prstGeom prst="ellipse">
              <a:avLst/>
            </a:prstGeom>
            <a:solidFill>
              <a:srgbClr val="48C78E"/>
            </a:solidFill>
            <a:ln>
              <a:noFill/>
            </a:ln>
          </p:spPr>
        </p:sp>
        <p:sp>
          <p:nvSpPr>
            <p:cNvPr id="31" name="Ellipse 31"/>
            <p:cNvSpPr/>
            <p:nvPr/>
          </p:nvSpPr>
          <p:spPr>
            <a:xfrm>
              <a:off x="4922520" y="3417570"/>
              <a:ext cx="60960" cy="60960"/>
            </a:xfrm>
            <a:prstGeom prst="ellipse">
              <a:avLst/>
            </a:prstGeom>
            <a:solidFill>
              <a:srgbClr val="48C78E"/>
            </a:solidFill>
            <a:ln>
              <a:noFill/>
            </a:ln>
          </p:spPr>
        </p:sp>
        <p:sp>
          <p:nvSpPr>
            <p:cNvPr id="32" name="Ellipse 32"/>
            <p:cNvSpPr/>
            <p:nvPr/>
          </p:nvSpPr>
          <p:spPr>
            <a:xfrm>
              <a:off x="5151120" y="3550920"/>
              <a:ext cx="60960" cy="60960"/>
            </a:xfrm>
            <a:prstGeom prst="ellipse">
              <a:avLst/>
            </a:prstGeom>
            <a:solidFill>
              <a:srgbClr val="48C78E"/>
            </a:solidFill>
            <a:ln>
              <a:noFill/>
            </a:ln>
          </p:spPr>
        </p:sp>
        <p:sp>
          <p:nvSpPr>
            <p:cNvPr id="33" name="Ellipse 33"/>
            <p:cNvSpPr/>
            <p:nvPr/>
          </p:nvSpPr>
          <p:spPr>
            <a:xfrm>
              <a:off x="4846320" y="3474720"/>
              <a:ext cx="60960" cy="60960"/>
            </a:xfrm>
            <a:prstGeom prst="ellipse">
              <a:avLst/>
            </a:prstGeom>
            <a:solidFill>
              <a:srgbClr val="48C78E"/>
            </a:solidFill>
            <a:ln>
              <a:noFill/>
            </a:ln>
          </p:spPr>
        </p:sp>
        <p:sp>
          <p:nvSpPr>
            <p:cNvPr id="34" name="Ellipse 34"/>
            <p:cNvSpPr/>
            <p:nvPr/>
          </p:nvSpPr>
          <p:spPr>
            <a:xfrm>
              <a:off x="5017770" y="3379470"/>
              <a:ext cx="60960" cy="60960"/>
            </a:xfrm>
            <a:prstGeom prst="ellipse">
              <a:avLst/>
            </a:prstGeom>
            <a:solidFill>
              <a:srgbClr val="48C78E"/>
            </a:solidFill>
            <a:ln>
              <a:noFill/>
            </a:ln>
          </p:spPr>
        </p:sp>
        <p:sp>
          <p:nvSpPr>
            <p:cNvPr id="35" name="Ellipse 35"/>
            <p:cNvSpPr/>
            <p:nvPr/>
          </p:nvSpPr>
          <p:spPr>
            <a:xfrm>
              <a:off x="5084445" y="3493770"/>
              <a:ext cx="60960" cy="60960"/>
            </a:xfrm>
            <a:prstGeom prst="ellipse">
              <a:avLst/>
            </a:prstGeom>
            <a:solidFill>
              <a:srgbClr val="48C78E"/>
            </a:solidFill>
            <a:ln>
              <a:noFill/>
            </a:ln>
          </p:spPr>
        </p:sp>
        <p:sp>
          <p:nvSpPr>
            <p:cNvPr id="36" name="Ellipse 36"/>
            <p:cNvSpPr/>
            <p:nvPr/>
          </p:nvSpPr>
          <p:spPr>
            <a:xfrm>
              <a:off x="4960620" y="3541395"/>
              <a:ext cx="60960" cy="60960"/>
            </a:xfrm>
            <a:prstGeom prst="ellipse">
              <a:avLst/>
            </a:prstGeom>
            <a:solidFill>
              <a:srgbClr val="48C78E"/>
            </a:solidFill>
            <a:ln>
              <a:noFill/>
            </a:ln>
          </p:spPr>
        </p:sp>
        <p:sp>
          <p:nvSpPr>
            <p:cNvPr id="37" name="TextBox 37"/>
            <p:cNvSpPr txBox="1"/>
            <p:nvPr/>
          </p:nvSpPr>
          <p:spPr>
            <a:xfrm>
              <a:off x="4709984" y="3813572"/>
              <a:ext cx="63843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dataset B</a:t>
              </a:r>
            </a:p>
          </p:txBody>
        </p:sp>
        <p:sp>
          <p:nvSpPr>
            <p:cNvPr id="38" name="Rectangle 38"/>
            <p:cNvSpPr/>
            <p:nvPr/>
          </p:nvSpPr>
          <p:spPr>
            <a:xfrm>
              <a:off x="876300" y="4152900"/>
              <a:ext cx="4800600" cy="914400"/>
            </a:xfrm>
            <a:prstGeom prst="roundRect">
              <a:avLst>
                <a:gd name="adj" fmla="val 12500"/>
              </a:avLst>
            </a:prstGeom>
            <a:solidFill>
              <a:srgbClr val="0F2E2B"/>
            </a:solidFill>
            <a:ln w="14288">
              <a:solidFill>
                <a:srgbClr val="34D3C0"/>
              </a:solidFill>
            </a:ln>
          </p:spPr>
        </p:sp>
        <p:sp>
          <p:nvSpPr>
            <p:cNvPr id="39" name="TextBox 39"/>
            <p:cNvSpPr txBox="1"/>
            <p:nvPr/>
          </p:nvSpPr>
          <p:spPr>
            <a:xfrm>
              <a:off x="1061656" y="4329351"/>
              <a:ext cx="2292155" cy="198025"/>
            </a:xfrm>
            <a:prstGeom prst="rect">
              <a:avLst/>
            </a:prstGeom>
            <a:noFill/>
            <a:ln>
              <a:noFill/>
            </a:ln>
          </p:spPr>
          <p:txBody>
            <a:bodyPr wrap="none" lIns="0" tIns="0" rIns="0" bIns="0" anchor="t" anchorCtr="0">
              <a:spAutoFit/>
            </a:bodyPr>
            <a:lstStyle/>
            <a:p>
              <a:pPr algn="l"/>
              <a:r>
                <a:rPr lang="en-US" sz="1010" b="1" dirty="0">
                  <a:solidFill>
                    <a:srgbClr val="34D3C0"/>
                  </a:solidFill>
                  <a:latin typeface="+mn-lt"/>
                  <a:ea typeface="+mn-ea"/>
                  <a:cs typeface="+mn-cs"/>
                </a:rPr>
                <a:t>Often only the endpoints matter</a:t>
              </a:r>
            </a:p>
          </p:txBody>
        </p:sp>
        <p:sp>
          <p:nvSpPr>
            <p:cNvPr id="40" name="TextBox 40"/>
            <p:cNvSpPr txBox="1"/>
            <p:nvPr/>
          </p:nvSpPr>
          <p:spPr>
            <a:xfrm>
              <a:off x="1061656" y="4557951"/>
              <a:ext cx="386938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 many settings the user cares only about the conditional</a:t>
              </a:r>
            </a:p>
          </p:txBody>
        </p:sp>
        <p:sp>
          <p:nvSpPr>
            <p:cNvPr id="41" name="TextBox 41"/>
            <p:cNvSpPr txBox="1"/>
            <p:nvPr/>
          </p:nvSpPr>
          <p:spPr>
            <a:xfrm>
              <a:off x="1061656" y="4748451"/>
              <a:ext cx="107762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plan pi(x1 | x0).</a:t>
              </a:r>
            </a:p>
          </p:txBody>
        </p:sp>
      </p:grpSp>
      <p:grpSp>
        <p:nvGrpSpPr>
          <p:cNvPr id="49" name="Group 49"/>
          <p:cNvGrpSpPr/>
          <p:nvPr/>
        </p:nvGrpSpPr>
        <p:grpSpPr>
          <a:xfrm>
            <a:off x="6248400" y="1504950"/>
            <a:ext cx="5334000" cy="1181100"/>
            <a:chOff x="6248400" y="1504950"/>
            <a:chExt cx="5334000" cy="1181100"/>
          </a:xfrm>
        </p:grpSpPr>
        <p:sp>
          <p:nvSpPr>
            <p:cNvPr id="43" name="Rectangle 43"/>
            <p:cNvSpPr/>
            <p:nvPr/>
          </p:nvSpPr>
          <p:spPr>
            <a:xfrm>
              <a:off x="6248400" y="1504950"/>
              <a:ext cx="5334000" cy="1181100"/>
            </a:xfrm>
            <a:prstGeom prst="roundRect">
              <a:avLst>
                <a:gd name="adj" fmla="val 11290"/>
              </a:avLst>
            </a:prstGeom>
            <a:solidFill>
              <a:schemeClr val="accent5"/>
            </a:solidFill>
            <a:ln w="14288">
              <a:solidFill>
                <a:srgbClr val="26455F"/>
              </a:solidFill>
            </a:ln>
          </p:spPr>
        </p:sp>
        <p:sp>
          <p:nvSpPr>
            <p:cNvPr id="44" name="Rectangle 44"/>
            <p:cNvSpPr/>
            <p:nvPr/>
          </p:nvSpPr>
          <p:spPr>
            <a:xfrm>
              <a:off x="6248400" y="1504950"/>
              <a:ext cx="57150" cy="1181100"/>
            </a:xfrm>
            <a:prstGeom prst="roundRect">
              <a:avLst>
                <a:gd name="adj" fmla="val 50000"/>
              </a:avLst>
            </a:prstGeom>
            <a:solidFill>
              <a:schemeClr val="accent2"/>
            </a:solidFill>
            <a:ln>
              <a:noFill/>
            </a:ln>
          </p:spPr>
        </p:sp>
        <p:sp>
          <p:nvSpPr>
            <p:cNvPr id="45" name="TextBox 45"/>
            <p:cNvSpPr txBox="1"/>
            <p:nvPr/>
          </p:nvSpPr>
          <p:spPr>
            <a:xfrm>
              <a:off x="6509004" y="1737360"/>
              <a:ext cx="1714052"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Today's only options</a:t>
              </a:r>
            </a:p>
          </p:txBody>
        </p:sp>
        <p:sp>
          <p:nvSpPr>
            <p:cNvPr id="46" name="TextBox 46"/>
            <p:cNvSpPr txBox="1"/>
            <p:nvPr/>
          </p:nvSpPr>
          <p:spPr>
            <a:xfrm>
              <a:off x="6509956" y="2024301"/>
              <a:ext cx="412102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Adopt a heavy solver: iterative proportional fitting, min-max</a:t>
              </a:r>
            </a:p>
          </p:txBody>
        </p:sp>
        <p:sp>
          <p:nvSpPr>
            <p:cNvPr id="47" name="TextBox 47"/>
            <p:cNvSpPr txBox="1"/>
            <p:nvPr/>
          </p:nvSpPr>
          <p:spPr>
            <a:xfrm>
              <a:off x="6509956" y="2224326"/>
              <a:ext cx="339584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optimization, or simulating the process each step.</a:t>
              </a:r>
            </a:p>
          </p:txBody>
        </p:sp>
        <p:sp>
          <p:nvSpPr>
            <p:cNvPr id="48" name="TextBox 48"/>
            <p:cNvSpPr txBox="1"/>
            <p:nvPr/>
          </p:nvSpPr>
          <p:spPr>
            <a:xfrm>
              <a:off x="6510147" y="2485549"/>
              <a:ext cx="2908767" cy="190690"/>
            </a:xfrm>
            <a:prstGeom prst="rect">
              <a:avLst/>
            </a:prstGeom>
            <a:noFill/>
            <a:ln>
              <a:noFill/>
            </a:ln>
          </p:spPr>
          <p:txBody>
            <a:bodyPr wrap="none" lIns="0" tIns="0" rIns="0" bIns="0" anchor="t" anchorCtr="0">
              <a:spAutoFit/>
            </a:bodyPr>
            <a:lstStyle/>
            <a:p>
              <a:pPr algn="l"/>
              <a:r>
                <a:rPr lang="en-US" sz="980" b="1" dirty="0">
                  <a:solidFill>
                    <a:schemeClr val="accent2"/>
                  </a:solidFill>
                  <a:latin typeface="Consolas"/>
                  <a:ea typeface="Consolas"/>
                  <a:cs typeface="Consolas"/>
                </a:rPr>
                <a:t>IPF · min-max · simulate the SDE each step</a:t>
              </a:r>
            </a:p>
          </p:txBody>
        </p:sp>
      </p:grpSp>
      <p:grpSp>
        <p:nvGrpSpPr>
          <p:cNvPr id="56" name="Group 56"/>
          <p:cNvGrpSpPr/>
          <p:nvPr/>
        </p:nvGrpSpPr>
        <p:grpSpPr>
          <a:xfrm>
            <a:off x="6248400" y="2800350"/>
            <a:ext cx="5334000" cy="1143000"/>
            <a:chOff x="6248400" y="2800350"/>
            <a:chExt cx="5334000" cy="1143000"/>
          </a:xfrm>
        </p:grpSpPr>
        <p:sp>
          <p:nvSpPr>
            <p:cNvPr id="50" name="Rectangle 50"/>
            <p:cNvSpPr/>
            <p:nvPr/>
          </p:nvSpPr>
          <p:spPr>
            <a:xfrm>
              <a:off x="6248400" y="2800350"/>
              <a:ext cx="5334000" cy="1143000"/>
            </a:xfrm>
            <a:prstGeom prst="roundRect">
              <a:avLst>
                <a:gd name="adj" fmla="val 11667"/>
              </a:avLst>
            </a:prstGeom>
            <a:solidFill>
              <a:srgbClr val="2A2417"/>
            </a:solidFill>
            <a:ln w="14288">
              <a:solidFill>
                <a:srgbClr val="F2C14E"/>
              </a:solidFill>
            </a:ln>
          </p:spPr>
        </p:sp>
        <p:sp>
          <p:nvSpPr>
            <p:cNvPr id="51" name="Rectangle 51"/>
            <p:cNvSpPr/>
            <p:nvPr/>
          </p:nvSpPr>
          <p:spPr>
            <a:xfrm>
              <a:off x="6248400" y="2800350"/>
              <a:ext cx="57150" cy="1143000"/>
            </a:xfrm>
            <a:prstGeom prst="roundRect">
              <a:avLst>
                <a:gd name="adj" fmla="val 50000"/>
              </a:avLst>
            </a:prstGeom>
            <a:solidFill>
              <a:srgbClr val="F2C14E"/>
            </a:solidFill>
            <a:ln>
              <a:noFill/>
            </a:ln>
          </p:spPr>
        </p:sp>
        <p:sp>
          <p:nvSpPr>
            <p:cNvPr id="52" name="TextBox 52"/>
            <p:cNvSpPr txBox="1"/>
            <p:nvPr/>
          </p:nvSpPr>
          <p:spPr>
            <a:xfrm>
              <a:off x="6509004" y="3032760"/>
              <a:ext cx="128989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They are costly</a:t>
              </a:r>
            </a:p>
          </p:txBody>
        </p:sp>
        <p:sp>
          <p:nvSpPr>
            <p:cNvPr id="53" name="TextBox 53"/>
            <p:cNvSpPr txBox="1"/>
            <p:nvPr/>
          </p:nvSpPr>
          <p:spPr>
            <a:xfrm>
              <a:off x="6509576" y="3330654"/>
              <a:ext cx="368545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Careful neural-network design, hours on GPUs, and</a:t>
              </a:r>
            </a:p>
          </p:txBody>
        </p:sp>
        <p:sp>
          <p:nvSpPr>
            <p:cNvPr id="54" name="TextBox 54"/>
            <p:cNvSpPr txBox="1"/>
            <p:nvPr/>
          </p:nvSpPr>
          <p:spPr>
            <a:xfrm>
              <a:off x="6509576" y="3540204"/>
              <a:ext cx="275500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sensitivity to many hyperparameters.</a:t>
              </a:r>
            </a:p>
          </p:txBody>
        </p:sp>
        <p:sp>
          <p:nvSpPr>
            <p:cNvPr id="55" name="TextBox 55"/>
            <p:cNvSpPr txBox="1"/>
            <p:nvPr/>
          </p:nvSpPr>
          <p:spPr>
            <a:xfrm>
              <a:off x="6510147" y="3742849"/>
              <a:ext cx="2704569" cy="190690"/>
            </a:xfrm>
            <a:prstGeom prst="rect">
              <a:avLst/>
            </a:prstGeom>
            <a:noFill/>
            <a:ln>
              <a:noFill/>
            </a:ln>
          </p:spPr>
          <p:txBody>
            <a:bodyPr wrap="none" lIns="0" tIns="0" rIns="0" bIns="0" anchor="t" anchorCtr="0">
              <a:spAutoFit/>
            </a:bodyPr>
            <a:lstStyle/>
            <a:p>
              <a:pPr algn="l"/>
              <a:r>
                <a:rPr lang="en-US" sz="980" b="1" dirty="0">
                  <a:solidFill>
                    <a:srgbClr val="F2C14E"/>
                  </a:solidFill>
                  <a:latin typeface="Consolas"/>
                  <a:ea typeface="Consolas"/>
                  <a:cs typeface="Consolas"/>
                </a:rPr>
                <a:t>hours of GPU · fragile hyperparameters</a:t>
              </a:r>
            </a:p>
          </p:txBody>
        </p:sp>
      </p:grpSp>
      <p:grpSp>
        <p:nvGrpSpPr>
          <p:cNvPr id="62" name="Group 62"/>
          <p:cNvGrpSpPr/>
          <p:nvPr/>
        </p:nvGrpSpPr>
        <p:grpSpPr>
          <a:xfrm>
            <a:off x="6248400" y="4057650"/>
            <a:ext cx="5334000" cy="1181100"/>
            <a:chOff x="6248400" y="4057650"/>
            <a:chExt cx="5334000" cy="1181100"/>
          </a:xfrm>
        </p:grpSpPr>
        <p:sp>
          <p:nvSpPr>
            <p:cNvPr id="57" name="Rectangle 57"/>
            <p:cNvSpPr/>
            <p:nvPr/>
          </p:nvSpPr>
          <p:spPr>
            <a:xfrm>
              <a:off x="6248400" y="4057650"/>
              <a:ext cx="5334000" cy="1181100"/>
            </a:xfrm>
            <a:prstGeom prst="roundRect">
              <a:avLst>
                <a:gd name="adj" fmla="val 11290"/>
              </a:avLst>
            </a:prstGeom>
            <a:solidFill>
              <a:schemeClr val="accent5"/>
            </a:solidFill>
            <a:ln w="14288">
              <a:solidFill>
                <a:srgbClr val="26455F"/>
              </a:solidFill>
            </a:ln>
          </p:spPr>
        </p:sp>
        <p:sp>
          <p:nvSpPr>
            <p:cNvPr id="58" name="Rectangle 58"/>
            <p:cNvSpPr/>
            <p:nvPr/>
          </p:nvSpPr>
          <p:spPr>
            <a:xfrm>
              <a:off x="6248400" y="4057650"/>
              <a:ext cx="57150" cy="1181100"/>
            </a:xfrm>
            <a:prstGeom prst="roundRect">
              <a:avLst>
                <a:gd name="adj" fmla="val 50000"/>
              </a:avLst>
            </a:prstGeom>
            <a:solidFill>
              <a:srgbClr val="48C78E"/>
            </a:solidFill>
            <a:ln>
              <a:noFill/>
            </a:ln>
          </p:spPr>
        </p:sp>
        <p:sp>
          <p:nvSpPr>
            <p:cNvPr id="59" name="TextBox 59"/>
            <p:cNvSpPr txBox="1"/>
            <p:nvPr/>
          </p:nvSpPr>
          <p:spPr>
            <a:xfrm>
              <a:off x="6509004" y="4290060"/>
              <a:ext cx="2366486"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The mismatch LightSB closes</a:t>
              </a:r>
            </a:p>
          </p:txBody>
        </p:sp>
        <p:sp>
          <p:nvSpPr>
            <p:cNvPr id="60" name="TextBox 60"/>
            <p:cNvSpPr txBox="1"/>
            <p:nvPr/>
          </p:nvSpPr>
          <p:spPr>
            <a:xfrm>
              <a:off x="6509576" y="4587954"/>
              <a:ext cx="404446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Heavy machinery for a modest goal. LightSB returns the</a:t>
              </a:r>
            </a:p>
          </p:txBody>
        </p:sp>
        <p:sp>
          <p:nvSpPr>
            <p:cNvPr id="61" name="TextBox 61"/>
            <p:cNvSpPr txBox="1"/>
            <p:nvPr/>
          </p:nvSpPr>
          <p:spPr>
            <a:xfrm>
              <a:off x="6509576" y="4797504"/>
              <a:ext cx="2674304"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conditional plan directly and cheaply.</a:t>
              </a:r>
            </a:p>
          </p:txBody>
        </p:sp>
      </p:grpSp>
      <p:sp>
        <p:nvSpPr>
          <p:cNvPr id="63" name="cue_s03_c1_consider_researcher_who_simply_wants" title="cue_s03_c1_consider_researcher_who_simply_wants" descr="cue_s03_c1_consider_researcher_who_simply_wants Consider a researcher who simply wants to compute an entropic optimal transport or Schrödinger Bridge between two moderate-dimensional datasets."/>
          <p:cNvSpPr/>
          <p:nvPr/>
        </p:nvSpPr>
        <p:spPr>
          <a:xfrm>
            <a:off x="609600" y="1504645"/>
            <a:ext cx="5334000"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cue_s03_c2_today_means_adopting_solver_iterativ" title="cue_s03_c2_today_means_adopting_solver_iterativ" descr="cue_s03_c2_today_means_adopting_solver_iterativ Today, that means adopting a solver with iterative proportional fitting steps, or min-max optimization, or simulation of the full stochastic process at every training step."/>
          <p:cNvSpPr/>
          <p:nvPr/>
        </p:nvSpPr>
        <p:spPr>
          <a:xfrm>
            <a:off x="6248399" y="1504645"/>
            <a:ext cx="53340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03_c3_these_solvers_demand_careful_neural" title="cue_s03_c3_these_solvers_demand_careful_neural" descr="cue_s03_c3_these_solvers_demand_careful_neural These solvers demand careful neural network design, run for hours on GPUs, and are sensitive to many hyperparameters."/>
          <p:cNvSpPr/>
          <p:nvPr/>
        </p:nvSpPr>
        <p:spPr>
          <a:xfrm>
            <a:off x="6248399" y="2800121"/>
            <a:ext cx="5334000" cy="11432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03_c4_yet_many_real_settings_user" title="cue_s03_c4_yet_many_real_settings_user" descr="cue_s03_c4_yet_many_real_settings_user Yet in many real settings, the user only cares about where the trajectories end, that is, the conditional plan. This mismatch, heavy machinery for a modest goal, is exactly the gap LightSB is built to close."/>
          <p:cNvSpPr/>
          <p:nvPr/>
        </p:nvSpPr>
        <p:spPr>
          <a:xfrm>
            <a:off x="6248399" y="4057878"/>
            <a:ext cx="5334000" cy="11809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488352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light solver, three results</a:t>
            </a:r>
          </a:p>
        </p:txBody>
      </p:sp>
      <p:grpSp>
        <p:nvGrpSpPr>
          <p:cNvPr id="18" name="Group 18"/>
          <p:cNvGrpSpPr/>
          <p:nvPr/>
        </p:nvGrpSpPr>
        <p:grpSpPr>
          <a:xfrm>
            <a:off x="609600" y="1676400"/>
            <a:ext cx="2590800" cy="3619500"/>
            <a:chOff x="609600" y="1676400"/>
            <a:chExt cx="2590800" cy="3619500"/>
          </a:xfrm>
        </p:grpSpPr>
        <p:sp>
          <p:nvSpPr>
            <p:cNvPr id="5" name="Rectangle 5"/>
            <p:cNvSpPr/>
            <p:nvPr/>
          </p:nvSpPr>
          <p:spPr>
            <a:xfrm>
              <a:off x="609600" y="1676400"/>
              <a:ext cx="2590800" cy="36195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6764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993552" y="2211705"/>
              <a:ext cx="184596" cy="410718"/>
            </a:xfrm>
            <a:prstGeom prst="rect">
              <a:avLst/>
            </a:prstGeom>
            <a:noFill/>
            <a:ln>
              <a:noFill/>
            </a:ln>
          </p:spPr>
          <p:txBody>
            <a:bodyPr wrap="none" lIns="0" tIns="0" rIns="0" bIns="0" anchor="t" anchorCtr="0">
              <a:spAutoFit/>
            </a:bodyPr>
            <a:lstStyle/>
            <a:p>
              <a:pPr algn="ctr"/>
              <a:r>
                <a:rPr lang="en-US" sz="2100" b="1" dirty="0">
                  <a:solidFill>
                    <a:schemeClr val="accent2"/>
                  </a:solidFill>
                  <a:latin typeface="+mn-lt"/>
                  <a:ea typeface="+mn-ea"/>
                  <a:cs typeface="+mn-cs"/>
                </a:rPr>
                <a:t>1</a:t>
              </a:r>
            </a:p>
          </p:txBody>
        </p:sp>
        <p:sp>
          <p:nvSpPr>
            <p:cNvPr id="9" name="TextBox 9"/>
            <p:cNvSpPr txBox="1"/>
            <p:nvPr/>
          </p:nvSpPr>
          <p:spPr>
            <a:xfrm>
              <a:off x="831532" y="2868216"/>
              <a:ext cx="142962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LightSB, a light</a:t>
              </a:r>
            </a:p>
          </p:txBody>
        </p:sp>
        <p:sp>
          <p:nvSpPr>
            <p:cNvPr id="10" name="TextBox 10"/>
            <p:cNvSpPr txBox="1"/>
            <p:nvPr/>
          </p:nvSpPr>
          <p:spPr>
            <a:xfrm>
              <a:off x="831532" y="3106341"/>
              <a:ext cx="57810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solver</a:t>
              </a:r>
            </a:p>
          </p:txBody>
        </p:sp>
        <p:sp>
          <p:nvSpPr>
            <p:cNvPr id="11" name="TextBox 11"/>
            <p:cNvSpPr txBox="1"/>
            <p:nvPr/>
          </p:nvSpPr>
          <p:spPr>
            <a:xfrm>
              <a:off x="833056" y="3510201"/>
              <a:ext cx="127954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Combine two ideas:</a:t>
              </a:r>
            </a:p>
          </p:txBody>
        </p:sp>
        <p:sp>
          <p:nvSpPr>
            <p:cNvPr id="12" name="TextBox 12"/>
            <p:cNvSpPr txBox="1"/>
            <p:nvPr/>
          </p:nvSpPr>
          <p:spPr>
            <a:xfrm>
              <a:off x="833056" y="3710226"/>
              <a:ext cx="199971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parameterize the Schrödinger</a:t>
              </a:r>
            </a:p>
          </p:txBody>
        </p:sp>
        <p:sp>
          <p:nvSpPr>
            <p:cNvPr id="13" name="TextBox 13"/>
            <p:cNvSpPr txBox="1"/>
            <p:nvPr/>
          </p:nvSpPr>
          <p:spPr>
            <a:xfrm>
              <a:off x="833056" y="3910251"/>
              <a:ext cx="153990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potential with sum-exp</a:t>
              </a:r>
            </a:p>
          </p:txBody>
        </p:sp>
        <p:sp>
          <p:nvSpPr>
            <p:cNvPr id="14" name="TextBox 14"/>
            <p:cNvSpPr txBox="1"/>
            <p:nvPr/>
          </p:nvSpPr>
          <p:spPr>
            <a:xfrm>
              <a:off x="833056" y="4110276"/>
              <a:ext cx="196600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quadratic (Gaussian mixture)</a:t>
              </a:r>
            </a:p>
          </p:txBody>
        </p:sp>
        <p:sp>
          <p:nvSpPr>
            <p:cNvPr id="15" name="TextBox 15"/>
            <p:cNvSpPr txBox="1"/>
            <p:nvPr/>
          </p:nvSpPr>
          <p:spPr>
            <a:xfrm>
              <a:off x="833056" y="4310301"/>
              <a:ext cx="158749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functions, and view the</a:t>
              </a:r>
            </a:p>
          </p:txBody>
        </p:sp>
        <p:sp>
          <p:nvSpPr>
            <p:cNvPr id="16" name="TextBox 16"/>
            <p:cNvSpPr txBox="1"/>
            <p:nvPr/>
          </p:nvSpPr>
          <p:spPr>
            <a:xfrm>
              <a:off x="833056" y="4510326"/>
              <a:ext cx="175065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log-potential as an energy</a:t>
              </a:r>
            </a:p>
          </p:txBody>
        </p:sp>
        <p:sp>
          <p:nvSpPr>
            <p:cNvPr id="17" name="TextBox 17"/>
            <p:cNvSpPr txBox="1"/>
            <p:nvPr/>
          </p:nvSpPr>
          <p:spPr>
            <a:xfrm>
              <a:off x="833056" y="4710351"/>
              <a:ext cx="64932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function.</a:t>
              </a:r>
            </a:p>
          </p:txBody>
        </p:sp>
      </p:grpSp>
      <p:grpSp>
        <p:nvGrpSpPr>
          <p:cNvPr id="30" name="Group 30"/>
          <p:cNvGrpSpPr/>
          <p:nvPr/>
        </p:nvGrpSpPr>
        <p:grpSpPr>
          <a:xfrm>
            <a:off x="3429000" y="1676400"/>
            <a:ext cx="2590800" cy="3619500"/>
            <a:chOff x="3429000" y="1676400"/>
            <a:chExt cx="2590800" cy="3619500"/>
          </a:xfrm>
        </p:grpSpPr>
        <p:sp>
          <p:nvSpPr>
            <p:cNvPr id="19" name="Rectangle 19"/>
            <p:cNvSpPr/>
            <p:nvPr/>
          </p:nvSpPr>
          <p:spPr>
            <a:xfrm>
              <a:off x="3429000" y="1676400"/>
              <a:ext cx="2590800" cy="3619500"/>
            </a:xfrm>
            <a:prstGeom prst="roundRect">
              <a:avLst>
                <a:gd name="adj" fmla="val 5147"/>
              </a:avLst>
            </a:prstGeom>
            <a:solidFill>
              <a:schemeClr val="accent5"/>
            </a:solidFill>
            <a:ln w="14288">
              <a:solidFill>
                <a:srgbClr val="26455F"/>
              </a:solidFill>
            </a:ln>
          </p:spPr>
        </p:sp>
        <p:sp>
          <p:nvSpPr>
            <p:cNvPr id="20" name="Rectangle 20"/>
            <p:cNvSpPr/>
            <p:nvPr/>
          </p:nvSpPr>
          <p:spPr>
            <a:xfrm>
              <a:off x="3429000" y="1676400"/>
              <a:ext cx="2590800" cy="57150"/>
            </a:xfrm>
            <a:prstGeom prst="roundRect">
              <a:avLst>
                <a:gd name="adj" fmla="val 50000"/>
              </a:avLst>
            </a:prstGeom>
            <a:solidFill>
              <a:srgbClr val="34D3C0"/>
            </a:solidFill>
            <a:ln>
              <a:noFill/>
            </a:ln>
          </p:spPr>
        </p:sp>
        <p:sp>
          <p:nvSpPr>
            <p:cNvPr id="21" name="Ellipse 21"/>
            <p:cNvSpPr/>
            <p:nvPr/>
          </p:nvSpPr>
          <p:spPr>
            <a:xfrm>
              <a:off x="3657600" y="2095500"/>
              <a:ext cx="495300" cy="495300"/>
            </a:xfrm>
            <a:prstGeom prst="ellipse">
              <a:avLst/>
            </a:prstGeom>
            <a:noFill/>
            <a:ln w="23812">
              <a:solidFill>
                <a:srgbClr val="34D3C0"/>
              </a:solidFill>
            </a:ln>
          </p:spPr>
        </p:sp>
        <p:sp>
          <p:nvSpPr>
            <p:cNvPr id="22" name="TextBox 22"/>
            <p:cNvSpPr txBox="1"/>
            <p:nvPr/>
          </p:nvSpPr>
          <p:spPr>
            <a:xfrm>
              <a:off x="3812952" y="2211705"/>
              <a:ext cx="184596" cy="410718"/>
            </a:xfrm>
            <a:prstGeom prst="rect">
              <a:avLst/>
            </a:prstGeom>
            <a:noFill/>
            <a:ln>
              <a:noFill/>
            </a:ln>
          </p:spPr>
          <p:txBody>
            <a:bodyPr wrap="none" lIns="0" tIns="0" rIns="0" bIns="0" anchor="t" anchorCtr="0">
              <a:spAutoFit/>
            </a:bodyPr>
            <a:lstStyle/>
            <a:p>
              <a:pPr algn="ctr"/>
              <a:r>
                <a:rPr lang="en-US" sz="2100" b="1" dirty="0">
                  <a:solidFill>
                    <a:srgbClr val="34D3C0"/>
                  </a:solidFill>
                  <a:latin typeface="+mn-lt"/>
                  <a:ea typeface="+mn-ea"/>
                  <a:cs typeface="+mn-cs"/>
                </a:rPr>
                <a:t>2</a:t>
              </a:r>
            </a:p>
          </p:txBody>
        </p:sp>
        <p:sp>
          <p:nvSpPr>
            <p:cNvPr id="23" name="TextBox 23"/>
            <p:cNvSpPr txBox="1"/>
            <p:nvPr/>
          </p:nvSpPr>
          <p:spPr>
            <a:xfrm>
              <a:off x="3650932" y="2868216"/>
              <a:ext cx="88046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One clean</a:t>
              </a:r>
            </a:p>
          </p:txBody>
        </p:sp>
        <p:sp>
          <p:nvSpPr>
            <p:cNvPr id="24" name="TextBox 24"/>
            <p:cNvSpPr txBox="1"/>
            <p:nvPr/>
          </p:nvSpPr>
          <p:spPr>
            <a:xfrm>
              <a:off x="3650932" y="3106341"/>
              <a:ext cx="837341"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objective</a:t>
              </a:r>
            </a:p>
          </p:txBody>
        </p:sp>
        <p:sp>
          <p:nvSpPr>
            <p:cNvPr id="25" name="TextBox 25"/>
            <p:cNvSpPr txBox="1"/>
            <p:nvPr/>
          </p:nvSpPr>
          <p:spPr>
            <a:xfrm>
              <a:off x="3652456" y="3510201"/>
              <a:ext cx="187079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Together they give a single,</a:t>
              </a:r>
            </a:p>
          </p:txBody>
        </p:sp>
        <p:sp>
          <p:nvSpPr>
            <p:cNvPr id="26" name="TextBox 26"/>
            <p:cNvSpPr txBox="1"/>
            <p:nvPr/>
          </p:nvSpPr>
          <p:spPr>
            <a:xfrm>
              <a:off x="3652456" y="3710226"/>
              <a:ext cx="198179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non-minimax, simulation-free</a:t>
              </a:r>
            </a:p>
          </p:txBody>
        </p:sp>
        <p:sp>
          <p:nvSpPr>
            <p:cNvPr id="27" name="TextBox 27"/>
            <p:cNvSpPr txBox="1"/>
            <p:nvPr/>
          </p:nvSpPr>
          <p:spPr>
            <a:xfrm>
              <a:off x="3652456" y="3910251"/>
              <a:ext cx="187982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objective, with closed-form</a:t>
              </a:r>
            </a:p>
          </p:txBody>
        </p:sp>
        <p:sp>
          <p:nvSpPr>
            <p:cNvPr id="28" name="TextBox 28"/>
            <p:cNvSpPr txBox="1"/>
            <p:nvPr/>
          </p:nvSpPr>
          <p:spPr>
            <a:xfrm>
              <a:off x="3652456" y="4110276"/>
              <a:ext cx="197499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expressions for both the plan</a:t>
              </a:r>
            </a:p>
          </p:txBody>
        </p:sp>
        <p:sp>
          <p:nvSpPr>
            <p:cNvPr id="29" name="TextBox 29"/>
            <p:cNvSpPr txBox="1"/>
            <p:nvPr/>
          </p:nvSpPr>
          <p:spPr>
            <a:xfrm>
              <a:off x="3652456" y="4310301"/>
              <a:ext cx="95525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and the drift.</a:t>
              </a:r>
            </a:p>
          </p:txBody>
        </p:sp>
      </p:grpSp>
      <p:grpSp>
        <p:nvGrpSpPr>
          <p:cNvPr id="42" name="Group 42"/>
          <p:cNvGrpSpPr/>
          <p:nvPr/>
        </p:nvGrpSpPr>
        <p:grpSpPr>
          <a:xfrm>
            <a:off x="6248400" y="1676400"/>
            <a:ext cx="2590800" cy="3619500"/>
            <a:chOff x="6248400" y="1676400"/>
            <a:chExt cx="2590800" cy="3619500"/>
          </a:xfrm>
        </p:grpSpPr>
        <p:sp>
          <p:nvSpPr>
            <p:cNvPr id="31" name="Rectangle 31"/>
            <p:cNvSpPr/>
            <p:nvPr/>
          </p:nvSpPr>
          <p:spPr>
            <a:xfrm>
              <a:off x="6248400" y="1676400"/>
              <a:ext cx="2590800" cy="3619500"/>
            </a:xfrm>
            <a:prstGeom prst="roundRect">
              <a:avLst>
                <a:gd name="adj" fmla="val 5147"/>
              </a:avLst>
            </a:prstGeom>
            <a:solidFill>
              <a:schemeClr val="accent5"/>
            </a:solidFill>
            <a:ln w="14288">
              <a:solidFill>
                <a:srgbClr val="26455F"/>
              </a:solidFill>
            </a:ln>
          </p:spPr>
        </p:sp>
        <p:sp>
          <p:nvSpPr>
            <p:cNvPr id="32" name="Rectangle 32"/>
            <p:cNvSpPr/>
            <p:nvPr/>
          </p:nvSpPr>
          <p:spPr>
            <a:xfrm>
              <a:off x="6248400" y="1676400"/>
              <a:ext cx="2590800" cy="57150"/>
            </a:xfrm>
            <a:prstGeom prst="roundRect">
              <a:avLst>
                <a:gd name="adj" fmla="val 50000"/>
              </a:avLst>
            </a:prstGeom>
            <a:solidFill>
              <a:srgbClr val="F2C14E"/>
            </a:solidFill>
            <a:ln>
              <a:noFill/>
            </a:ln>
          </p:spPr>
        </p:sp>
        <p:sp>
          <p:nvSpPr>
            <p:cNvPr id="33" name="Ellipse 33"/>
            <p:cNvSpPr/>
            <p:nvPr/>
          </p:nvSpPr>
          <p:spPr>
            <a:xfrm>
              <a:off x="6477000" y="2095500"/>
              <a:ext cx="495300" cy="495300"/>
            </a:xfrm>
            <a:prstGeom prst="ellipse">
              <a:avLst/>
            </a:prstGeom>
            <a:noFill/>
            <a:ln w="23812">
              <a:solidFill>
                <a:srgbClr val="F2C14E"/>
              </a:solidFill>
            </a:ln>
          </p:spPr>
        </p:sp>
        <p:sp>
          <p:nvSpPr>
            <p:cNvPr id="34" name="TextBox 34"/>
            <p:cNvSpPr txBox="1"/>
            <p:nvPr/>
          </p:nvSpPr>
          <p:spPr>
            <a:xfrm>
              <a:off x="6632352" y="2211705"/>
              <a:ext cx="184596" cy="410718"/>
            </a:xfrm>
            <a:prstGeom prst="rect">
              <a:avLst/>
            </a:prstGeom>
            <a:noFill/>
            <a:ln>
              <a:noFill/>
            </a:ln>
          </p:spPr>
          <p:txBody>
            <a:bodyPr wrap="none" lIns="0" tIns="0" rIns="0" bIns="0" anchor="t" anchorCtr="0">
              <a:spAutoFit/>
            </a:bodyPr>
            <a:lstStyle/>
            <a:p>
              <a:pPr algn="ctr"/>
              <a:r>
                <a:rPr lang="en-US" sz="2100" b="1" dirty="0">
                  <a:solidFill>
                    <a:srgbClr val="F2C14E"/>
                  </a:solidFill>
                  <a:latin typeface="+mn-lt"/>
                  <a:ea typeface="+mn-ea"/>
                  <a:cs typeface="+mn-cs"/>
                </a:rPr>
                <a:t>3</a:t>
              </a:r>
            </a:p>
          </p:txBody>
        </p:sp>
        <p:sp>
          <p:nvSpPr>
            <p:cNvPr id="35" name="TextBox 35"/>
            <p:cNvSpPr txBox="1"/>
            <p:nvPr/>
          </p:nvSpPr>
          <p:spPr>
            <a:xfrm>
              <a:off x="6470332" y="2868216"/>
              <a:ext cx="84252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Universal</a:t>
              </a:r>
            </a:p>
          </p:txBody>
        </p:sp>
        <p:sp>
          <p:nvSpPr>
            <p:cNvPr id="36" name="TextBox 36"/>
            <p:cNvSpPr txBox="1"/>
            <p:nvPr/>
          </p:nvSpPr>
          <p:spPr>
            <a:xfrm>
              <a:off x="6470332" y="3106341"/>
              <a:ext cx="1226197"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approximator</a:t>
              </a:r>
            </a:p>
          </p:txBody>
        </p:sp>
        <p:sp>
          <p:nvSpPr>
            <p:cNvPr id="37" name="TextBox 37"/>
            <p:cNvSpPr txBox="1"/>
            <p:nvPr/>
          </p:nvSpPr>
          <p:spPr>
            <a:xfrm>
              <a:off x="6471856" y="3510201"/>
              <a:ext cx="18548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Prove the Gaussian-mixture</a:t>
              </a:r>
            </a:p>
          </p:txBody>
        </p:sp>
        <p:sp>
          <p:nvSpPr>
            <p:cNvPr id="38" name="TextBox 38"/>
            <p:cNvSpPr txBox="1"/>
            <p:nvPr/>
          </p:nvSpPr>
          <p:spPr>
            <a:xfrm>
              <a:off x="6471856" y="3710226"/>
              <a:ext cx="134275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solver is a universal</a:t>
              </a:r>
            </a:p>
          </p:txBody>
        </p:sp>
        <p:sp>
          <p:nvSpPr>
            <p:cNvPr id="39" name="TextBox 39"/>
            <p:cNvSpPr txBox="1"/>
            <p:nvPr/>
          </p:nvSpPr>
          <p:spPr>
            <a:xfrm>
              <a:off x="6471856" y="3910251"/>
              <a:ext cx="19249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approximator of Schrödinger</a:t>
              </a:r>
            </a:p>
          </p:txBody>
        </p:sp>
        <p:sp>
          <p:nvSpPr>
            <p:cNvPr id="40" name="TextBox 40"/>
            <p:cNvSpPr txBox="1"/>
            <p:nvPr/>
          </p:nvSpPr>
          <p:spPr>
            <a:xfrm>
              <a:off x="6471856" y="4110276"/>
              <a:ext cx="15649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Bridges, the first such</a:t>
              </a:r>
            </a:p>
          </p:txBody>
        </p:sp>
        <p:sp>
          <p:nvSpPr>
            <p:cNvPr id="41" name="TextBox 41"/>
            <p:cNvSpPr txBox="1"/>
            <p:nvPr/>
          </p:nvSpPr>
          <p:spPr>
            <a:xfrm>
              <a:off x="6471856" y="4310301"/>
              <a:ext cx="49976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result.</a:t>
              </a:r>
            </a:p>
          </p:txBody>
        </p:sp>
      </p:grpSp>
      <p:grpSp>
        <p:nvGrpSpPr>
          <p:cNvPr id="53" name="Group 53"/>
          <p:cNvGrpSpPr/>
          <p:nvPr/>
        </p:nvGrpSpPr>
        <p:grpSpPr>
          <a:xfrm>
            <a:off x="9067800" y="1676400"/>
            <a:ext cx="2590800" cy="3619500"/>
            <a:chOff x="9067800" y="1676400"/>
            <a:chExt cx="2590800" cy="3619500"/>
          </a:xfrm>
        </p:grpSpPr>
        <p:sp>
          <p:nvSpPr>
            <p:cNvPr id="43" name="Rectangle 43"/>
            <p:cNvSpPr/>
            <p:nvPr/>
          </p:nvSpPr>
          <p:spPr>
            <a:xfrm>
              <a:off x="9067800" y="1676400"/>
              <a:ext cx="2590800" cy="3619500"/>
            </a:xfrm>
            <a:prstGeom prst="roundRect">
              <a:avLst>
                <a:gd name="adj" fmla="val 5147"/>
              </a:avLst>
            </a:prstGeom>
            <a:solidFill>
              <a:schemeClr val="accent5"/>
            </a:solidFill>
            <a:ln w="14288">
              <a:solidFill>
                <a:srgbClr val="26455F"/>
              </a:solidFill>
            </a:ln>
          </p:spPr>
        </p:sp>
        <p:sp>
          <p:nvSpPr>
            <p:cNvPr id="44" name="Rectangle 44"/>
            <p:cNvSpPr/>
            <p:nvPr/>
          </p:nvSpPr>
          <p:spPr>
            <a:xfrm>
              <a:off x="9067800" y="1676400"/>
              <a:ext cx="2590800" cy="57150"/>
            </a:xfrm>
            <a:prstGeom prst="roundRect">
              <a:avLst>
                <a:gd name="adj" fmla="val 50000"/>
              </a:avLst>
            </a:prstGeom>
            <a:solidFill>
              <a:srgbClr val="48C78E"/>
            </a:solidFill>
            <a:ln>
              <a:noFill/>
            </a:ln>
          </p:spPr>
        </p:sp>
        <p:sp>
          <p:nvSpPr>
            <p:cNvPr id="45" name="Ellipse 45"/>
            <p:cNvSpPr/>
            <p:nvPr/>
          </p:nvSpPr>
          <p:spPr>
            <a:xfrm>
              <a:off x="9296400" y="2095500"/>
              <a:ext cx="495300" cy="495300"/>
            </a:xfrm>
            <a:prstGeom prst="ellipse">
              <a:avLst/>
            </a:prstGeom>
            <a:noFill/>
            <a:ln w="23812">
              <a:solidFill>
                <a:srgbClr val="48C78E"/>
              </a:solidFill>
            </a:ln>
          </p:spPr>
        </p:sp>
        <p:sp>
          <p:nvSpPr>
            <p:cNvPr id="46" name="TextBox 46"/>
            <p:cNvSpPr txBox="1"/>
            <p:nvPr/>
          </p:nvSpPr>
          <p:spPr>
            <a:xfrm>
              <a:off x="9451752" y="2211705"/>
              <a:ext cx="184596" cy="410718"/>
            </a:xfrm>
            <a:prstGeom prst="rect">
              <a:avLst/>
            </a:prstGeom>
            <a:noFill/>
            <a:ln>
              <a:noFill/>
            </a:ln>
          </p:spPr>
          <p:txBody>
            <a:bodyPr wrap="none" lIns="0" tIns="0" rIns="0" bIns="0" anchor="t" anchorCtr="0">
              <a:spAutoFit/>
            </a:bodyPr>
            <a:lstStyle/>
            <a:p>
              <a:pPr algn="ctr"/>
              <a:r>
                <a:rPr lang="en-US" sz="2100" b="1" dirty="0">
                  <a:solidFill>
                    <a:srgbClr val="48C78E"/>
                  </a:solidFill>
                  <a:latin typeface="+mn-lt"/>
                  <a:ea typeface="+mn-ea"/>
                  <a:cs typeface="+mn-cs"/>
                </a:rPr>
                <a:t>4</a:t>
              </a:r>
            </a:p>
          </p:txBody>
        </p:sp>
        <p:sp>
          <p:nvSpPr>
            <p:cNvPr id="47" name="TextBox 47"/>
            <p:cNvSpPr txBox="1"/>
            <p:nvPr/>
          </p:nvSpPr>
          <p:spPr>
            <a:xfrm>
              <a:off x="9289732" y="2868216"/>
              <a:ext cx="130546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Generalization</a:t>
              </a:r>
            </a:p>
          </p:txBody>
        </p:sp>
        <p:sp>
          <p:nvSpPr>
            <p:cNvPr id="48" name="TextBox 48"/>
            <p:cNvSpPr txBox="1"/>
            <p:nvPr/>
          </p:nvSpPr>
          <p:spPr>
            <a:xfrm>
              <a:off x="9289732" y="3106341"/>
              <a:ext cx="522552"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bound</a:t>
              </a:r>
            </a:p>
          </p:txBody>
        </p:sp>
        <p:sp>
          <p:nvSpPr>
            <p:cNvPr id="49" name="TextBox 49"/>
            <p:cNvSpPr txBox="1"/>
            <p:nvPr/>
          </p:nvSpPr>
          <p:spPr>
            <a:xfrm>
              <a:off x="9291256" y="3510201"/>
              <a:ext cx="175475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Analyze the generalization</a:t>
              </a:r>
            </a:p>
          </p:txBody>
        </p:sp>
        <p:sp>
          <p:nvSpPr>
            <p:cNvPr id="50" name="TextBox 50"/>
            <p:cNvSpPr txBox="1"/>
            <p:nvPr/>
          </p:nvSpPr>
          <p:spPr>
            <a:xfrm>
              <a:off x="9291256" y="3710226"/>
              <a:ext cx="188662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error and show it converges</a:t>
              </a:r>
            </a:p>
          </p:txBody>
        </p:sp>
        <p:sp>
          <p:nvSpPr>
            <p:cNvPr id="51" name="TextBox 51"/>
            <p:cNvSpPr txBox="1"/>
            <p:nvPr/>
          </p:nvSpPr>
          <p:spPr>
            <a:xfrm>
              <a:off x="9291256" y="3910251"/>
              <a:ext cx="184583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at the standard parametric</a:t>
              </a:r>
            </a:p>
          </p:txBody>
        </p:sp>
        <p:sp>
          <p:nvSpPr>
            <p:cNvPr id="52" name="TextBox 52"/>
            <p:cNvSpPr txBox="1"/>
            <p:nvPr/>
          </p:nvSpPr>
          <p:spPr>
            <a:xfrm>
              <a:off x="9291256" y="4110276"/>
              <a:ext cx="180504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rate as sample size grows.</a:t>
              </a:r>
            </a:p>
          </p:txBody>
        </p:sp>
      </p:grpSp>
      <p:sp>
        <p:nvSpPr>
          <p:cNvPr id="54" name="TextBox 54"/>
          <p:cNvSpPr txBox="1"/>
          <p:nvPr/>
        </p:nvSpPr>
        <p:spPr>
          <a:xfrm>
            <a:off x="603694" y="5494258"/>
            <a:ext cx="555129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Fast and simple, yet backed by a universal-approximation guarantee.</a:t>
            </a:r>
          </a:p>
        </p:txBody>
      </p:sp>
      <p:sp>
        <p:nvSpPr>
          <p:cNvPr id="55" name="cue_s04_c1_makes_three_contributions_first_intr" title="cue_s04_c1_makes_three_contributions_first_intr" descr="cue_s04_c1_makes_three_contributions_first_intr The paper makes three contributions. First, it introduces LightSB, a lightweight solver that combines two recent ideas: parameterizing the Schrödinger potential with sum-exp quadratic, that is Gaussian mixture, functions, and viewing the log-potential as an en"/>
          <p:cNvSpPr/>
          <p:nvPr/>
        </p:nvSpPr>
        <p:spPr>
          <a:xfrm>
            <a:off x="609600"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4_c2_together_these_yield_single_non_mini" title="cue_s04_c2_together_these_yield_single_non_mini" descr="cue_s04_c2_together_these_yield_single_non_mini Together these yield a single, non-minimax, simulation-free optimization objective with closed-form expressions for the plan and the drift."/>
          <p:cNvSpPr/>
          <p:nvPr/>
        </p:nvSpPr>
        <p:spPr>
          <a:xfrm>
            <a:off x="3428390"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4_c3_second_authors_prove_gaussian_mixtur" title="cue_s04_c3_second_authors_prove_gaussian_mixtur" descr="cue_s04_c3_second_authors_prove_gaussian_mixtur Second, the authors prove that this Gaussian-mixture solver is a universal approximator of Schrödinger Bridges, which they note is the first ever such result."/>
          <p:cNvSpPr/>
          <p:nvPr/>
        </p:nvSpPr>
        <p:spPr>
          <a:xfrm>
            <a:off x="6248399"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cue_s04_c4_third_they_analyze_generalization_er" title="cue_s04_c4_third_they_analyze_generalization_er" descr="cue_s04_c4_third_they_analyze_generalization_er Third, they analyze the generalization error and show it converges at the standard parametric rate as sample size grows."/>
          <p:cNvSpPr/>
          <p:nvPr/>
        </p:nvSpPr>
        <p:spPr>
          <a:xfrm>
            <a:off x="9068409" y="1676095"/>
            <a:ext cx="2590800" cy="36196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01775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Minimize a KL you can actually compute</a:t>
            </a:r>
          </a:p>
        </p:txBody>
      </p:sp>
      <p:grpSp>
        <p:nvGrpSpPr>
          <p:cNvPr id="13" name="Group 13"/>
          <p:cNvGrpSpPr/>
          <p:nvPr/>
        </p:nvGrpSpPr>
        <p:grpSpPr>
          <a:xfrm>
            <a:off x="609600" y="1504950"/>
            <a:ext cx="5410200" cy="1866900"/>
            <a:chOff x="609600" y="1504950"/>
            <a:chExt cx="5410200" cy="1866900"/>
          </a:xfrm>
        </p:grpSpPr>
        <p:sp>
          <p:nvSpPr>
            <p:cNvPr id="5" name="Rectangle 5"/>
            <p:cNvSpPr/>
            <p:nvPr/>
          </p:nvSpPr>
          <p:spPr>
            <a:xfrm>
              <a:off x="609600" y="1504950"/>
              <a:ext cx="5410200" cy="1866900"/>
            </a:xfrm>
            <a:prstGeom prst="roundRect">
              <a:avLst>
                <a:gd name="adj" fmla="val 7143"/>
              </a:avLst>
            </a:prstGeom>
            <a:solidFill>
              <a:schemeClr val="accent5"/>
            </a:solidFill>
            <a:ln w="14288">
              <a:solidFill>
                <a:srgbClr val="26455F"/>
              </a:solidFill>
            </a:ln>
          </p:spPr>
        </p:sp>
        <p:sp>
          <p:nvSpPr>
            <p:cNvPr id="6" name="Rectangle 6"/>
            <p:cNvSpPr/>
            <p:nvPr/>
          </p:nvSpPr>
          <p:spPr>
            <a:xfrm>
              <a:off x="609600" y="1504950"/>
              <a:ext cx="57150" cy="1866900"/>
            </a:xfrm>
            <a:prstGeom prst="roundRect">
              <a:avLst>
                <a:gd name="adj" fmla="val 50000"/>
              </a:avLst>
            </a:prstGeom>
            <a:solidFill>
              <a:schemeClr val="accent2"/>
            </a:solidFill>
            <a:ln>
              <a:noFill/>
            </a:ln>
          </p:spPr>
        </p:sp>
        <p:sp>
          <p:nvSpPr>
            <p:cNvPr id="7" name="TextBox 7"/>
            <p:cNvSpPr txBox="1"/>
            <p:nvPr/>
          </p:nvSpPr>
          <p:spPr>
            <a:xfrm>
              <a:off x="870014" y="1733312"/>
              <a:ext cx="2212395"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Start from a KL objective</a:t>
              </a:r>
            </a:p>
          </p:txBody>
        </p:sp>
        <p:sp>
          <p:nvSpPr>
            <p:cNvPr id="8" name="TextBox 8"/>
            <p:cNvSpPr txBox="1"/>
            <p:nvPr/>
          </p:nvSpPr>
          <p:spPr>
            <a:xfrm>
              <a:off x="871156" y="2043351"/>
              <a:ext cx="374550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Minimize the KL between the true entropic OT plan and a</a:t>
              </a:r>
            </a:p>
          </p:txBody>
        </p:sp>
        <p:sp>
          <p:nvSpPr>
            <p:cNvPr id="9" name="TextBox 9"/>
            <p:cNvSpPr txBox="1"/>
            <p:nvPr/>
          </p:nvSpPr>
          <p:spPr>
            <a:xfrm>
              <a:off x="871156" y="2233851"/>
              <a:ext cx="350944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parameterized plan. We cannot see the true plan, so</a:t>
              </a:r>
            </a:p>
          </p:txBody>
        </p:sp>
        <p:sp>
          <p:nvSpPr>
            <p:cNvPr id="10" name="TextBox 10"/>
            <p:cNvSpPr txBox="1"/>
            <p:nvPr/>
          </p:nvSpPr>
          <p:spPr>
            <a:xfrm>
              <a:off x="871156" y="2424351"/>
              <a:ext cx="27975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parameterize only the adjusted potential.</a:t>
              </a:r>
            </a:p>
          </p:txBody>
        </p:sp>
        <p:sp>
          <p:nvSpPr>
            <p:cNvPr id="11" name="Rectangle 11"/>
            <p:cNvSpPr/>
            <p:nvPr/>
          </p:nvSpPr>
          <p:spPr>
            <a:xfrm>
              <a:off x="876300" y="2914650"/>
              <a:ext cx="4876800" cy="400050"/>
            </a:xfrm>
            <a:prstGeom prst="roundRect">
              <a:avLst>
                <a:gd name="adj" fmla="val 19048"/>
              </a:avLst>
            </a:prstGeom>
            <a:solidFill>
              <a:schemeClr val="accent6"/>
            </a:solidFill>
            <a:ln w="14288">
              <a:solidFill>
                <a:srgbClr val="26455F"/>
              </a:solidFill>
            </a:ln>
          </p:spPr>
        </p:sp>
        <p:sp>
          <p:nvSpPr>
            <p:cNvPr id="12" name="TextBox 12"/>
            <p:cNvSpPr txBox="1"/>
            <p:nvPr/>
          </p:nvSpPr>
          <p:spPr>
            <a:xfrm>
              <a:off x="1845335" y="3050381"/>
              <a:ext cx="2938729"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KL( pi* || pi_theta ) -&gt; min over theta</a:t>
              </a:r>
            </a:p>
          </p:txBody>
        </p:sp>
      </p:grpSp>
      <p:grpSp>
        <p:nvGrpSpPr>
          <p:cNvPr id="22" name="Group 22"/>
          <p:cNvGrpSpPr/>
          <p:nvPr/>
        </p:nvGrpSpPr>
        <p:grpSpPr>
          <a:xfrm>
            <a:off x="609600" y="3524250"/>
            <a:ext cx="5410200" cy="1714500"/>
            <a:chOff x="609600" y="3524250"/>
            <a:chExt cx="5410200" cy="1714500"/>
          </a:xfrm>
        </p:grpSpPr>
        <p:sp>
          <p:nvSpPr>
            <p:cNvPr id="14" name="Rectangle 14"/>
            <p:cNvSpPr/>
            <p:nvPr/>
          </p:nvSpPr>
          <p:spPr>
            <a:xfrm>
              <a:off x="609600" y="3524250"/>
              <a:ext cx="5410200" cy="1714500"/>
            </a:xfrm>
            <a:prstGeom prst="roundRect">
              <a:avLst>
                <a:gd name="adj" fmla="val 7778"/>
              </a:avLst>
            </a:prstGeom>
            <a:solidFill>
              <a:srgbClr val="0F2E2B"/>
            </a:solidFill>
            <a:ln w="14288">
              <a:solidFill>
                <a:srgbClr val="34D3C0"/>
              </a:solidFill>
            </a:ln>
          </p:spPr>
        </p:sp>
        <p:sp>
          <p:nvSpPr>
            <p:cNvPr id="15" name="Rectangle 15"/>
            <p:cNvSpPr/>
            <p:nvPr/>
          </p:nvSpPr>
          <p:spPr>
            <a:xfrm>
              <a:off x="609600" y="3524250"/>
              <a:ext cx="57150" cy="1714500"/>
            </a:xfrm>
            <a:prstGeom prst="roundRect">
              <a:avLst>
                <a:gd name="adj" fmla="val 50000"/>
              </a:avLst>
            </a:prstGeom>
            <a:solidFill>
              <a:srgbClr val="34D3C0"/>
            </a:solidFill>
            <a:ln>
              <a:noFill/>
            </a:ln>
          </p:spPr>
        </p:sp>
        <p:sp>
          <p:nvSpPr>
            <p:cNvPr id="16" name="TextBox 16"/>
            <p:cNvSpPr txBox="1"/>
            <p:nvPr/>
          </p:nvSpPr>
          <p:spPr>
            <a:xfrm>
              <a:off x="870204" y="3756660"/>
              <a:ext cx="1948290"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Pick a Gaussian mixture</a:t>
              </a:r>
            </a:p>
          </p:txBody>
        </p:sp>
        <p:sp>
          <p:nvSpPr>
            <p:cNvPr id="17" name="TextBox 17"/>
            <p:cNvSpPr txBox="1"/>
            <p:nvPr/>
          </p:nvSpPr>
          <p:spPr>
            <a:xfrm>
              <a:off x="871156" y="4062651"/>
              <a:ext cx="39690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Choose an unnormalized Gaussian mixture for the potential.</a:t>
              </a:r>
            </a:p>
          </p:txBody>
        </p:sp>
        <p:sp>
          <p:nvSpPr>
            <p:cNvPr id="18" name="TextBox 18"/>
            <p:cNvSpPr txBox="1"/>
            <p:nvPr/>
          </p:nvSpPr>
          <p:spPr>
            <a:xfrm>
              <a:off x="871156" y="4253151"/>
              <a:ext cx="359731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Then the conditional plan and its normalization become</a:t>
              </a:r>
            </a:p>
          </p:txBody>
        </p:sp>
        <p:sp>
          <p:nvSpPr>
            <p:cNvPr id="19" name="TextBox 19"/>
            <p:cNvSpPr txBox="1"/>
            <p:nvPr/>
          </p:nvSpPr>
          <p:spPr>
            <a:xfrm>
              <a:off x="871156" y="4443651"/>
              <a:ext cx="90086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closed-form.</a:t>
              </a:r>
            </a:p>
          </p:txBody>
        </p:sp>
        <p:sp>
          <p:nvSpPr>
            <p:cNvPr id="20" name="Rectangle 20"/>
            <p:cNvSpPr/>
            <p:nvPr/>
          </p:nvSpPr>
          <p:spPr>
            <a:xfrm>
              <a:off x="876300" y="4819650"/>
              <a:ext cx="4876800" cy="400050"/>
            </a:xfrm>
            <a:prstGeom prst="roundRect">
              <a:avLst>
                <a:gd name="adj" fmla="val 19048"/>
              </a:avLst>
            </a:prstGeom>
            <a:solidFill>
              <a:schemeClr val="accent6"/>
            </a:solidFill>
            <a:ln w="14288">
              <a:solidFill>
                <a:srgbClr val="26455F"/>
              </a:solidFill>
            </a:ln>
          </p:spPr>
        </p:sp>
        <p:sp>
          <p:nvSpPr>
            <p:cNvPr id="21" name="TextBox 21"/>
            <p:cNvSpPr txBox="1"/>
            <p:nvPr/>
          </p:nvSpPr>
          <p:spPr>
            <a:xfrm>
              <a:off x="1657172" y="4963478"/>
              <a:ext cx="3315056"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v_theta(x1) = sum_k a_k N(x1 | r_k, eps S_k)</a:t>
              </a:r>
            </a:p>
          </p:txBody>
        </p:sp>
      </p:grpSp>
      <p:grpSp>
        <p:nvGrpSpPr>
          <p:cNvPr id="32" name="Group 32"/>
          <p:cNvGrpSpPr/>
          <p:nvPr/>
        </p:nvGrpSpPr>
        <p:grpSpPr>
          <a:xfrm>
            <a:off x="6248400" y="1504950"/>
            <a:ext cx="5334000" cy="1866900"/>
            <a:chOff x="6248400" y="1504950"/>
            <a:chExt cx="5334000" cy="1866900"/>
          </a:xfrm>
        </p:grpSpPr>
        <p:sp>
          <p:nvSpPr>
            <p:cNvPr id="23" name="Rectangle 23"/>
            <p:cNvSpPr/>
            <p:nvPr/>
          </p:nvSpPr>
          <p:spPr>
            <a:xfrm>
              <a:off x="6248400" y="1504950"/>
              <a:ext cx="5334000" cy="1866900"/>
            </a:xfrm>
            <a:prstGeom prst="roundRect">
              <a:avLst>
                <a:gd name="adj" fmla="val 7143"/>
              </a:avLst>
            </a:prstGeom>
            <a:solidFill>
              <a:schemeClr val="accent5"/>
            </a:solidFill>
            <a:ln w="14288">
              <a:solidFill>
                <a:srgbClr val="26455F"/>
              </a:solidFill>
            </a:ln>
          </p:spPr>
        </p:sp>
        <p:sp>
          <p:nvSpPr>
            <p:cNvPr id="24" name="Rectangle 24"/>
            <p:cNvSpPr/>
            <p:nvPr/>
          </p:nvSpPr>
          <p:spPr>
            <a:xfrm>
              <a:off x="6248400" y="1504950"/>
              <a:ext cx="57150" cy="1866900"/>
            </a:xfrm>
            <a:prstGeom prst="roundRect">
              <a:avLst>
                <a:gd name="adj" fmla="val 50000"/>
              </a:avLst>
            </a:prstGeom>
            <a:solidFill>
              <a:srgbClr val="F2C14E"/>
            </a:solidFill>
            <a:ln>
              <a:noFill/>
            </a:ln>
          </p:spPr>
        </p:sp>
        <p:sp>
          <p:nvSpPr>
            <p:cNvPr id="25" name="TextBox 25"/>
            <p:cNvSpPr txBox="1"/>
            <p:nvPr/>
          </p:nvSpPr>
          <p:spPr>
            <a:xfrm>
              <a:off x="6508814" y="1733312"/>
              <a:ext cx="2551817"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Proposition 3.1: a simple loss</a:t>
              </a:r>
            </a:p>
          </p:txBody>
        </p:sp>
        <p:sp>
          <p:nvSpPr>
            <p:cNvPr id="26" name="TextBox 26"/>
            <p:cNvSpPr txBox="1"/>
            <p:nvPr/>
          </p:nvSpPr>
          <p:spPr>
            <a:xfrm>
              <a:off x="6509956" y="2043351"/>
              <a:ext cx="336242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KL becomes a difference of two expectations:</a:t>
              </a:r>
            </a:p>
          </p:txBody>
        </p:sp>
        <p:sp>
          <p:nvSpPr>
            <p:cNvPr id="27" name="TextBox 27"/>
            <p:cNvSpPr txBox="1"/>
            <p:nvPr/>
          </p:nvSpPr>
          <p:spPr>
            <a:xfrm>
              <a:off x="6509956" y="2233851"/>
              <a:ext cx="366097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log-normalization under the source minus log-potential</a:t>
              </a:r>
            </a:p>
          </p:txBody>
        </p:sp>
        <p:sp>
          <p:nvSpPr>
            <p:cNvPr id="28" name="TextBox 28"/>
            <p:cNvSpPr txBox="1"/>
            <p:nvPr/>
          </p:nvSpPr>
          <p:spPr>
            <a:xfrm>
              <a:off x="6509956" y="2424351"/>
              <a:ext cx="387915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under the target. Estimate by Monte Carlo, optimize with</a:t>
              </a:r>
            </a:p>
          </p:txBody>
        </p:sp>
        <p:sp>
          <p:nvSpPr>
            <p:cNvPr id="29" name="TextBox 29"/>
            <p:cNvSpPr txBox="1"/>
            <p:nvPr/>
          </p:nvSpPr>
          <p:spPr>
            <a:xfrm>
              <a:off x="6509956" y="2614851"/>
              <a:ext cx="66983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plain SGD.</a:t>
              </a:r>
            </a:p>
          </p:txBody>
        </p:sp>
        <p:sp>
          <p:nvSpPr>
            <p:cNvPr id="30" name="Rectangle 30"/>
            <p:cNvSpPr/>
            <p:nvPr/>
          </p:nvSpPr>
          <p:spPr>
            <a:xfrm>
              <a:off x="6515100" y="2914650"/>
              <a:ext cx="4800600" cy="400050"/>
            </a:xfrm>
            <a:prstGeom prst="roundRect">
              <a:avLst>
                <a:gd name="adj" fmla="val 19048"/>
              </a:avLst>
            </a:prstGeom>
            <a:solidFill>
              <a:schemeClr val="accent6"/>
            </a:solidFill>
            <a:ln w="14288">
              <a:solidFill>
                <a:srgbClr val="26455F"/>
              </a:solidFill>
            </a:ln>
          </p:spPr>
        </p:sp>
        <p:sp>
          <p:nvSpPr>
            <p:cNvPr id="31" name="TextBox 31"/>
            <p:cNvSpPr txBox="1"/>
            <p:nvPr/>
          </p:nvSpPr>
          <p:spPr>
            <a:xfrm>
              <a:off x="7284098" y="3058478"/>
              <a:ext cx="3262605" cy="205359"/>
            </a:xfrm>
            <a:prstGeom prst="rect">
              <a:avLst/>
            </a:prstGeom>
            <a:noFill/>
            <a:ln>
              <a:noFill/>
            </a:ln>
          </p:spPr>
          <p:txBody>
            <a:bodyPr wrap="none" lIns="0" tIns="0" rIns="0" bIns="0" anchor="t" anchorCtr="0">
              <a:spAutoFit/>
            </a:bodyPr>
            <a:lstStyle/>
            <a:p>
              <a:pPr algn="ctr"/>
              <a:r>
                <a:rPr lang="en-US" sz="1050" b="1" dirty="0">
                  <a:solidFill>
                    <a:schemeClr val="dk1"/>
                  </a:solidFill>
                  <a:latin typeface="Consolas"/>
                  <a:ea typeface="Consolas"/>
                  <a:cs typeface="Consolas"/>
                </a:rPr>
                <a:t>L = E_p0[ log c_theta ] - E_p1[ log v_theta ]</a:t>
              </a:r>
            </a:p>
          </p:txBody>
        </p:sp>
      </p:grpSp>
      <p:grpSp>
        <p:nvGrpSpPr>
          <p:cNvPr id="42" name="Group 42"/>
          <p:cNvGrpSpPr/>
          <p:nvPr/>
        </p:nvGrpSpPr>
        <p:grpSpPr>
          <a:xfrm>
            <a:off x="6248400" y="3524250"/>
            <a:ext cx="5334000" cy="1714500"/>
            <a:chOff x="6248400" y="3524250"/>
            <a:chExt cx="5334000" cy="1714500"/>
          </a:xfrm>
        </p:grpSpPr>
        <p:sp>
          <p:nvSpPr>
            <p:cNvPr id="33" name="Rectangle 33"/>
            <p:cNvSpPr/>
            <p:nvPr/>
          </p:nvSpPr>
          <p:spPr>
            <a:xfrm>
              <a:off x="6248400" y="3524250"/>
              <a:ext cx="5334000" cy="1714500"/>
            </a:xfrm>
            <a:prstGeom prst="roundRect">
              <a:avLst>
                <a:gd name="adj" fmla="val 7778"/>
              </a:avLst>
            </a:prstGeom>
            <a:solidFill>
              <a:schemeClr val="accent5"/>
            </a:solidFill>
            <a:ln w="14288">
              <a:solidFill>
                <a:srgbClr val="26455F"/>
              </a:solidFill>
            </a:ln>
          </p:spPr>
        </p:sp>
        <p:sp>
          <p:nvSpPr>
            <p:cNvPr id="34" name="Rectangle 34"/>
            <p:cNvSpPr/>
            <p:nvPr/>
          </p:nvSpPr>
          <p:spPr>
            <a:xfrm>
              <a:off x="6248400" y="3524250"/>
              <a:ext cx="57150" cy="1714500"/>
            </a:xfrm>
            <a:prstGeom prst="roundRect">
              <a:avLst>
                <a:gd name="adj" fmla="val 50000"/>
              </a:avLst>
            </a:prstGeom>
            <a:solidFill>
              <a:srgbClr val="48C78E"/>
            </a:solidFill>
            <a:ln>
              <a:noFill/>
            </a:ln>
          </p:spPr>
        </p:sp>
        <p:sp>
          <p:nvSpPr>
            <p:cNvPr id="35" name="TextBox 35"/>
            <p:cNvSpPr txBox="1"/>
            <p:nvPr/>
          </p:nvSpPr>
          <p:spPr>
            <a:xfrm>
              <a:off x="6509004" y="3756660"/>
              <a:ext cx="2155468"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No min-max, no simulation</a:t>
              </a:r>
            </a:p>
          </p:txBody>
        </p:sp>
        <p:sp>
          <p:nvSpPr>
            <p:cNvPr id="36" name="TextBox 36"/>
            <p:cNvSpPr txBox="1"/>
            <p:nvPr/>
          </p:nvSpPr>
          <p:spPr>
            <a:xfrm>
              <a:off x="6509956" y="4062651"/>
              <a:ext cx="386938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No adversarial game, no iterative proportional fitting, no</a:t>
              </a:r>
            </a:p>
          </p:txBody>
        </p:sp>
        <p:sp>
          <p:nvSpPr>
            <p:cNvPr id="37" name="TextBox 37"/>
            <p:cNvSpPr txBox="1"/>
            <p:nvPr/>
          </p:nvSpPr>
          <p:spPr>
            <a:xfrm>
              <a:off x="6509956" y="4253151"/>
              <a:ext cx="333893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trajectory simulation during training. The trained</a:t>
              </a:r>
            </a:p>
          </p:txBody>
        </p:sp>
        <p:sp>
          <p:nvSpPr>
            <p:cNvPr id="38" name="TextBox 38"/>
            <p:cNvSpPr txBox="1"/>
            <p:nvPr/>
          </p:nvSpPr>
          <p:spPr>
            <a:xfrm>
              <a:off x="6509956" y="4443651"/>
              <a:ext cx="246447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potential yields a closed-form drift.</a:t>
              </a:r>
            </a:p>
          </p:txBody>
        </p:sp>
        <p:sp>
          <p:nvSpPr>
            <p:cNvPr id="39" name="Rectangle 39"/>
            <p:cNvSpPr/>
            <p:nvPr/>
          </p:nvSpPr>
          <p:spPr>
            <a:xfrm>
              <a:off x="6515100" y="4819650"/>
              <a:ext cx="4800600" cy="285750"/>
            </a:xfrm>
            <a:prstGeom prst="roundRect">
              <a:avLst>
                <a:gd name="adj" fmla="val 26667"/>
              </a:avLst>
            </a:prstGeom>
            <a:solidFill>
              <a:schemeClr val="accent6"/>
            </a:solidFill>
            <a:ln w="14288">
              <a:solidFill>
                <a:srgbClr val="26455F"/>
              </a:solidFill>
            </a:ln>
          </p:spPr>
        </p:sp>
        <p:sp>
          <p:nvSpPr>
            <p:cNvPr id="40" name="Ellipse 40"/>
            <p:cNvSpPr/>
            <p:nvPr/>
          </p:nvSpPr>
          <p:spPr>
            <a:xfrm>
              <a:off x="6638925" y="4914900"/>
              <a:ext cx="95250" cy="95250"/>
            </a:xfrm>
            <a:prstGeom prst="ellipse">
              <a:avLst/>
            </a:prstGeom>
            <a:solidFill>
              <a:srgbClr val="48C78E"/>
            </a:solidFill>
            <a:ln>
              <a:noFill/>
            </a:ln>
          </p:spPr>
        </p:sp>
        <p:sp>
          <p:nvSpPr>
            <p:cNvPr id="41" name="TextBox 41"/>
            <p:cNvSpPr txBox="1"/>
            <p:nvPr/>
          </p:nvSpPr>
          <p:spPr>
            <a:xfrm>
              <a:off x="6833426" y="4902279"/>
              <a:ext cx="392449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closed-form plan + closed-form drift g_theta(x, t)</a:t>
              </a:r>
            </a:p>
          </p:txBody>
        </p:sp>
      </p:grpSp>
      <p:sp>
        <p:nvSpPr>
          <p:cNvPr id="43" name="cue_s05_c1_lightsb_starts_goal_minimizing_kullb" title="cue_s05_c1_lightsb_starts_goal_minimizing_kullb" descr="cue_s05_c1_lightsb_starts_goal_minimizing_kullb LightSB starts from the goal of minimizing the Kullback-Leibler divergence between the true entropic optimal transport plan and a parameterized plan. The obstacle is that we do not know the true plan. The key move is to exploit the known form of that plan and"/>
          <p:cNvSpPr/>
          <p:nvPr/>
        </p:nvSpPr>
        <p:spPr>
          <a:xfrm>
            <a:off x="609600" y="1504645"/>
            <a:ext cx="540959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cue_s05_c2_authors_choose_unnormalized_gaussian" title="cue_s05_c2_authors_choose_unnormalized_gaussian" descr="cue_s05_c2_authors_choose_unnormalized_gaussian The authors choose an unnormalized Gaussian mixture for this potential. Under this choice, two things become tractable in closed form: the conditional distributions of the plan, and the normalization constant."/>
          <p:cNvSpPr/>
          <p:nvPr/>
        </p:nvSpPr>
        <p:spPr>
          <a:xfrm>
            <a:off x="609600" y="3524326"/>
            <a:ext cx="540959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5_c3_proposition_3_1_rewrites_objective_s" title="cue_s05_c3_proposition_3_1_rewrites_objective_s" descr="cue_s05_c3_proposition_3_1_rewrites_objective_s Proposition 3.1 rewrites the KL objective as a simple difference of two expectations, of the log normalization under the source and the log potential under the target, which can be estimated by Monte Carlo and optimized with ordinary stochastic gradient descen"/>
          <p:cNvSpPr/>
          <p:nvPr/>
        </p:nvSpPr>
        <p:spPr>
          <a:xfrm>
            <a:off x="6248399" y="1504645"/>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5_c4_min_max_iterative_proportional_fitti" title="cue_s05_c4_min_max_iterative_proportional_fitti" descr="cue_s05_c4_min_max_iterative_proportional_fitti No min-max, no iterative proportional fitting, and no simulation of trajectories during training. Once trained, the same potential gives a closed-form drift, so the full bridge process can be reconstructed directly."/>
          <p:cNvSpPr/>
          <p:nvPr/>
        </p:nvSpPr>
        <p:spPr>
          <a:xfrm>
            <a:off x="6248399" y="3524326"/>
            <a:ext cx="5334000" cy="171450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526448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testbeds of rising difficulty</a:t>
            </a:r>
          </a:p>
        </p:txBody>
      </p:sp>
      <p:grpSp>
        <p:nvGrpSpPr>
          <p:cNvPr id="19" name="Group 19"/>
          <p:cNvGrpSpPr/>
          <p:nvPr/>
        </p:nvGrpSpPr>
        <p:grpSpPr>
          <a:xfrm>
            <a:off x="609600" y="1504950"/>
            <a:ext cx="5334000" cy="1676400"/>
            <a:chOff x="609600" y="1504950"/>
            <a:chExt cx="5334000" cy="1676400"/>
          </a:xfrm>
        </p:grpSpPr>
        <p:sp>
          <p:nvSpPr>
            <p:cNvPr id="5" name="Rectangle 5"/>
            <p:cNvSpPr/>
            <p:nvPr/>
          </p:nvSpPr>
          <p:spPr>
            <a:xfrm>
              <a:off x="609600" y="1504950"/>
              <a:ext cx="5334000" cy="1676400"/>
            </a:xfrm>
            <a:prstGeom prst="roundRect">
              <a:avLst>
                <a:gd name="adj" fmla="val 7955"/>
              </a:avLst>
            </a:prstGeom>
            <a:solidFill>
              <a:schemeClr val="accent5"/>
            </a:solidFill>
            <a:ln w="14288">
              <a:solidFill>
                <a:srgbClr val="26455F"/>
              </a:solidFill>
            </a:ln>
          </p:spPr>
        </p:sp>
        <p:sp>
          <p:nvSpPr>
            <p:cNvPr id="6" name="Rectangle 6"/>
            <p:cNvSpPr/>
            <p:nvPr/>
          </p:nvSpPr>
          <p:spPr>
            <a:xfrm>
              <a:off x="609600" y="1504950"/>
              <a:ext cx="57150" cy="1676400"/>
            </a:xfrm>
            <a:prstGeom prst="roundRect">
              <a:avLst>
                <a:gd name="adj" fmla="val 50000"/>
              </a:avLst>
            </a:prstGeom>
            <a:solidFill>
              <a:schemeClr val="accent2"/>
            </a:solidFill>
            <a:ln>
              <a:noFill/>
            </a:ln>
          </p:spPr>
        </p:sp>
        <p:sp>
          <p:nvSpPr>
            <p:cNvPr id="7" name="TextBox 7"/>
            <p:cNvSpPr txBox="1"/>
            <p:nvPr/>
          </p:nvSpPr>
          <p:spPr>
            <a:xfrm>
              <a:off x="869632" y="1744266"/>
              <a:ext cx="2601764" cy="256699"/>
            </a:xfrm>
            <a:prstGeom prst="rect">
              <a:avLst/>
            </a:prstGeom>
            <a:noFill/>
            <a:ln>
              <a:noFill/>
            </a:ln>
          </p:spPr>
          <p:txBody>
            <a:bodyPr wrap="none" lIns="0" tIns="0" rIns="0" bIns="0" anchor="t" anchorCtr="0">
              <a:spAutoFit/>
            </a:bodyPr>
            <a:lstStyle/>
            <a:p>
              <a:pPr algn="l"/>
              <a:r>
                <a:rPr lang="en-US" sz="1310" b="1" dirty="0">
                  <a:solidFill>
                    <a:schemeClr val="accent2"/>
                  </a:solidFill>
                  <a:latin typeface="+mn-lt"/>
                  <a:ea typeface="+mn-ea"/>
                  <a:cs typeface="+mn-cs"/>
                </a:rPr>
                <a:t>1 · Gaussian → Swiss-roll toy</a:t>
              </a:r>
            </a:p>
          </p:txBody>
        </p:sp>
        <p:sp>
          <p:nvSpPr>
            <p:cNvPr id="8" name="TextBox 8"/>
            <p:cNvSpPr txBox="1"/>
            <p:nvPr/>
          </p:nvSpPr>
          <p:spPr>
            <a:xfrm>
              <a:off x="870966" y="2077402"/>
              <a:ext cx="393070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two-dimensional toy that visualizes how the noise level</a:t>
              </a:r>
            </a:p>
          </p:txBody>
        </p:sp>
        <p:sp>
          <p:nvSpPr>
            <p:cNvPr id="9" name="TextBox 9"/>
            <p:cNvSpPr txBox="1"/>
            <p:nvPr/>
          </p:nvSpPr>
          <p:spPr>
            <a:xfrm>
              <a:off x="870966" y="2277428"/>
              <a:ext cx="27246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epsilon shapes the bridge trajectories.</a:t>
              </a:r>
            </a:p>
          </p:txBody>
        </p:sp>
        <p:sp>
          <p:nvSpPr>
            <p:cNvPr id="10" name="Rectangle 10"/>
            <p:cNvSpPr/>
            <p:nvPr/>
          </p:nvSpPr>
          <p:spPr>
            <a:xfrm>
              <a:off x="876300" y="2571750"/>
              <a:ext cx="1428750" cy="419100"/>
            </a:xfrm>
            <a:prstGeom prst="roundRect">
              <a:avLst>
                <a:gd name="adj" fmla="val 18182"/>
              </a:avLst>
            </a:prstGeom>
            <a:solidFill>
              <a:srgbClr val="0E2334"/>
            </a:solidFill>
            <a:ln w="14288">
              <a:solidFill>
                <a:srgbClr val="26455F"/>
              </a:solidFill>
            </a:ln>
          </p:spPr>
        </p:sp>
        <p:sp>
          <p:nvSpPr>
            <p:cNvPr id="11" name="Ellipse 11"/>
            <p:cNvSpPr/>
            <p:nvPr/>
          </p:nvSpPr>
          <p:spPr>
            <a:xfrm>
              <a:off x="1019175" y="2628900"/>
              <a:ext cx="133350" cy="304800"/>
            </a:xfrm>
            <a:prstGeom prst="ellipse">
              <a:avLst/>
            </a:prstGeom>
            <a:solidFill>
              <a:schemeClr val="accent2">
                <a:alpha val="50000"/>
              </a:schemeClr>
            </a:solidFill>
            <a:ln>
              <a:noFill/>
            </a:ln>
          </p:spPr>
        </p:sp>
        <p:sp>
          <p:nvSpPr>
            <p:cNvPr id="12" name="Ellipse 12"/>
            <p:cNvSpPr/>
            <p:nvPr/>
          </p:nvSpPr>
          <p:spPr>
            <a:xfrm>
              <a:off x="1943100" y="2686050"/>
              <a:ext cx="304800" cy="190500"/>
            </a:xfrm>
            <a:prstGeom prst="ellipse">
              <a:avLst/>
            </a:prstGeom>
            <a:solidFill>
              <a:srgbClr val="F2C14E">
                <a:alpha val="40000"/>
              </a:srgbClr>
            </a:solidFill>
            <a:ln>
              <a:noFill/>
            </a:ln>
          </p:spPr>
        </p:sp>
        <p:sp>
          <p:nvSpPr>
            <p:cNvPr id="13" name="Freeform 13"/>
            <p:cNvSpPr/>
            <p:nvPr/>
          </p:nvSpPr>
          <p:spPr>
            <a:xfrm>
              <a:off x="1085850" y="2638425"/>
              <a:ext cx="1009650" cy="93345"/>
            </a:xfrm>
            <a:custGeom>
              <a:avLst/>
              <a:gdLst/>
              <a:ahLst/>
              <a:cxnLst/>
              <a:rect l="l" t="t" r="r" b="b"/>
              <a:pathLst>
                <a:path w="1009650" h="93345">
                  <a:moveTo>
                    <a:pt x="0" y="93345"/>
                  </a:moveTo>
                  <a:cubicBezTo>
                    <a:pt x="336550" y="24765"/>
                    <a:pt x="673100" y="0"/>
                    <a:pt x="1009650" y="19050"/>
                  </a:cubicBezTo>
                </a:path>
              </a:pathLst>
            </a:custGeom>
            <a:noFill/>
            <a:ln w="17145" cap="rnd">
              <a:solidFill>
                <a:schemeClr val="accent2"/>
              </a:solidFill>
              <a:round/>
            </a:ln>
          </p:spPr>
        </p:sp>
        <p:sp>
          <p:nvSpPr>
            <p:cNvPr id="14" name="Freeform 14"/>
            <p:cNvSpPr/>
            <p:nvPr/>
          </p:nvSpPr>
          <p:spPr>
            <a:xfrm>
              <a:off x="1085850" y="2762250"/>
              <a:ext cx="1009650" cy="19050"/>
            </a:xfrm>
            <a:custGeom>
              <a:avLst/>
              <a:gdLst/>
              <a:ahLst/>
              <a:cxnLst/>
              <a:rect l="l" t="t" r="r" b="b"/>
              <a:pathLst>
                <a:path w="1009650" h="19050">
                  <a:moveTo>
                    <a:pt x="0" y="19050"/>
                  </a:moveTo>
                  <a:cubicBezTo>
                    <a:pt x="336550" y="0"/>
                    <a:pt x="673100" y="0"/>
                    <a:pt x="1009650" y="19050"/>
                  </a:cubicBezTo>
                </a:path>
              </a:pathLst>
            </a:custGeom>
            <a:noFill/>
            <a:ln w="17145" cap="rnd">
              <a:solidFill>
                <a:schemeClr val="accent2"/>
              </a:solidFill>
              <a:round/>
            </a:ln>
          </p:spPr>
        </p:sp>
        <p:sp>
          <p:nvSpPr>
            <p:cNvPr id="15" name="Freeform 15"/>
            <p:cNvSpPr/>
            <p:nvPr/>
          </p:nvSpPr>
          <p:spPr>
            <a:xfrm>
              <a:off x="1085850" y="2830830"/>
              <a:ext cx="1009650" cy="74295"/>
            </a:xfrm>
            <a:custGeom>
              <a:avLst/>
              <a:gdLst/>
              <a:ahLst/>
              <a:cxnLst/>
              <a:rect l="l" t="t" r="r" b="b"/>
              <a:pathLst>
                <a:path w="1009650" h="74295">
                  <a:moveTo>
                    <a:pt x="0" y="0"/>
                  </a:moveTo>
                  <a:cubicBezTo>
                    <a:pt x="336550" y="30480"/>
                    <a:pt x="673100" y="55245"/>
                    <a:pt x="1009650" y="74295"/>
                  </a:cubicBezTo>
                </a:path>
              </a:pathLst>
            </a:custGeom>
            <a:noFill/>
            <a:ln w="17145" cap="rnd">
              <a:solidFill>
                <a:schemeClr val="accent2"/>
              </a:solidFill>
              <a:round/>
            </a:ln>
          </p:spPr>
        </p:sp>
        <p:sp>
          <p:nvSpPr>
            <p:cNvPr id="16" name="Rectangle 16"/>
            <p:cNvSpPr/>
            <p:nvPr/>
          </p:nvSpPr>
          <p:spPr>
            <a:xfrm>
              <a:off x="2476500" y="2628900"/>
              <a:ext cx="3200400" cy="323850"/>
            </a:xfrm>
            <a:prstGeom prst="roundRect">
              <a:avLst>
                <a:gd name="adj" fmla="val 23529"/>
              </a:avLst>
            </a:prstGeom>
            <a:solidFill>
              <a:schemeClr val="accent6"/>
            </a:solidFill>
            <a:ln w="14288">
              <a:solidFill>
                <a:srgbClr val="26455F"/>
              </a:solidFill>
            </a:ln>
          </p:spPr>
        </p:sp>
        <p:sp>
          <p:nvSpPr>
            <p:cNvPr id="17" name="Ellipse 17"/>
            <p:cNvSpPr/>
            <p:nvPr/>
          </p:nvSpPr>
          <p:spPr>
            <a:xfrm>
              <a:off x="2600325" y="2743200"/>
              <a:ext cx="95250" cy="95250"/>
            </a:xfrm>
            <a:prstGeom prst="ellipse">
              <a:avLst/>
            </a:prstGeom>
            <a:solidFill>
              <a:schemeClr val="accent2"/>
            </a:solidFill>
            <a:ln>
              <a:noFill/>
            </a:ln>
          </p:spPr>
        </p:sp>
        <p:sp>
          <p:nvSpPr>
            <p:cNvPr id="18" name="TextBox 18"/>
            <p:cNvSpPr txBox="1"/>
            <p:nvPr/>
          </p:nvSpPr>
          <p:spPr>
            <a:xfrm>
              <a:off x="2794826" y="2730579"/>
              <a:ext cx="1742088"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2-D · visualizes epsilon</a:t>
              </a:r>
            </a:p>
          </p:txBody>
        </p:sp>
      </p:grpSp>
      <p:grpSp>
        <p:nvGrpSpPr>
          <p:cNvPr id="28" name="Group 28"/>
          <p:cNvGrpSpPr/>
          <p:nvPr/>
        </p:nvGrpSpPr>
        <p:grpSpPr>
          <a:xfrm>
            <a:off x="6248400" y="1504950"/>
            <a:ext cx="5334000" cy="1676400"/>
            <a:chOff x="6248400" y="1504950"/>
            <a:chExt cx="5334000" cy="1676400"/>
          </a:xfrm>
        </p:grpSpPr>
        <p:sp>
          <p:nvSpPr>
            <p:cNvPr id="20" name="Rectangle 20"/>
            <p:cNvSpPr/>
            <p:nvPr/>
          </p:nvSpPr>
          <p:spPr>
            <a:xfrm>
              <a:off x="6248400" y="1504950"/>
              <a:ext cx="5334000" cy="1676400"/>
            </a:xfrm>
            <a:prstGeom prst="roundRect">
              <a:avLst>
                <a:gd name="adj" fmla="val 7955"/>
              </a:avLst>
            </a:prstGeom>
            <a:solidFill>
              <a:schemeClr val="accent5"/>
            </a:solidFill>
            <a:ln w="14288">
              <a:solidFill>
                <a:srgbClr val="26455F"/>
              </a:solidFill>
            </a:ln>
          </p:spPr>
        </p:sp>
        <p:sp>
          <p:nvSpPr>
            <p:cNvPr id="21" name="Rectangle 21"/>
            <p:cNvSpPr/>
            <p:nvPr/>
          </p:nvSpPr>
          <p:spPr>
            <a:xfrm>
              <a:off x="6248400" y="1504950"/>
              <a:ext cx="57150" cy="1676400"/>
            </a:xfrm>
            <a:prstGeom prst="roundRect">
              <a:avLst>
                <a:gd name="adj" fmla="val 50000"/>
              </a:avLst>
            </a:prstGeom>
            <a:solidFill>
              <a:srgbClr val="34D3C0"/>
            </a:solidFill>
            <a:ln>
              <a:noFill/>
            </a:ln>
          </p:spPr>
        </p:sp>
        <p:sp>
          <p:nvSpPr>
            <p:cNvPr id="22" name="TextBox 22"/>
            <p:cNvSpPr txBox="1"/>
            <p:nvPr/>
          </p:nvSpPr>
          <p:spPr>
            <a:xfrm>
              <a:off x="6508432" y="1744266"/>
              <a:ext cx="2524179" cy="256699"/>
            </a:xfrm>
            <a:prstGeom prst="rect">
              <a:avLst/>
            </a:prstGeom>
            <a:noFill/>
            <a:ln>
              <a:noFill/>
            </a:ln>
          </p:spPr>
          <p:txBody>
            <a:bodyPr wrap="none" lIns="0" tIns="0" rIns="0" bIns="0" anchor="t" anchorCtr="0">
              <a:spAutoFit/>
            </a:bodyPr>
            <a:lstStyle/>
            <a:p>
              <a:pPr algn="l"/>
              <a:r>
                <a:rPr lang="en-US" sz="1310" b="1" dirty="0">
                  <a:solidFill>
                    <a:srgbClr val="34D3C0"/>
                  </a:solidFill>
                  <a:latin typeface="+mn-lt"/>
                  <a:ea typeface="+mn-ea"/>
                  <a:cs typeface="+mn-cs"/>
                </a:rPr>
                <a:t>2 · High-dim EOT benchmark</a:t>
              </a:r>
            </a:p>
          </p:txBody>
        </p:sp>
        <p:sp>
          <p:nvSpPr>
            <p:cNvPr id="23" name="TextBox 23"/>
            <p:cNvSpPr txBox="1"/>
            <p:nvPr/>
          </p:nvSpPr>
          <p:spPr>
            <a:xfrm>
              <a:off x="6509766" y="2077402"/>
              <a:ext cx="382509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recent benchmark with known ground-truth plans, so</a:t>
              </a:r>
            </a:p>
          </p:txBody>
        </p:sp>
        <p:sp>
          <p:nvSpPr>
            <p:cNvPr id="24" name="TextBox 24"/>
            <p:cNvSpPr txBox="1"/>
            <p:nvPr/>
          </p:nvSpPr>
          <p:spPr>
            <a:xfrm>
              <a:off x="6509766" y="2277428"/>
              <a:ext cx="242777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accuracy can be measured exactly.</a:t>
              </a:r>
            </a:p>
          </p:txBody>
        </p:sp>
        <p:sp>
          <p:nvSpPr>
            <p:cNvPr id="25" name="Rectangle 25"/>
            <p:cNvSpPr/>
            <p:nvPr/>
          </p:nvSpPr>
          <p:spPr>
            <a:xfrm>
              <a:off x="6515100" y="2628900"/>
              <a:ext cx="4800600" cy="323850"/>
            </a:xfrm>
            <a:prstGeom prst="roundRect">
              <a:avLst>
                <a:gd name="adj" fmla="val 23529"/>
              </a:avLst>
            </a:prstGeom>
            <a:solidFill>
              <a:schemeClr val="accent6"/>
            </a:solidFill>
            <a:ln w="14288">
              <a:solidFill>
                <a:srgbClr val="26455F"/>
              </a:solidFill>
            </a:ln>
          </p:spPr>
        </p:sp>
        <p:sp>
          <p:nvSpPr>
            <p:cNvPr id="26" name="Ellipse 26"/>
            <p:cNvSpPr/>
            <p:nvPr/>
          </p:nvSpPr>
          <p:spPr>
            <a:xfrm>
              <a:off x="6638925" y="2743200"/>
              <a:ext cx="95250" cy="95250"/>
            </a:xfrm>
            <a:prstGeom prst="ellipse">
              <a:avLst/>
            </a:prstGeom>
            <a:solidFill>
              <a:srgbClr val="34D3C0"/>
            </a:solidFill>
            <a:ln>
              <a:noFill/>
            </a:ln>
          </p:spPr>
        </p:sp>
        <p:sp>
          <p:nvSpPr>
            <p:cNvPr id="27" name="TextBox 27"/>
            <p:cNvSpPr txBox="1"/>
            <p:nvPr/>
          </p:nvSpPr>
          <p:spPr>
            <a:xfrm>
              <a:off x="6833426" y="2730579"/>
              <a:ext cx="254554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dims 2 → 128 · epsilon = 0.1, 1, 10</a:t>
              </a:r>
            </a:p>
          </p:txBody>
        </p:sp>
      </p:grpSp>
      <p:grpSp>
        <p:nvGrpSpPr>
          <p:cNvPr id="37" name="Group 37"/>
          <p:cNvGrpSpPr/>
          <p:nvPr/>
        </p:nvGrpSpPr>
        <p:grpSpPr>
          <a:xfrm>
            <a:off x="609600" y="3352800"/>
            <a:ext cx="5334000" cy="1676400"/>
            <a:chOff x="609600" y="3352800"/>
            <a:chExt cx="5334000" cy="1676400"/>
          </a:xfrm>
        </p:grpSpPr>
        <p:sp>
          <p:nvSpPr>
            <p:cNvPr id="29" name="Rectangle 29"/>
            <p:cNvSpPr/>
            <p:nvPr/>
          </p:nvSpPr>
          <p:spPr>
            <a:xfrm>
              <a:off x="609600" y="3352800"/>
              <a:ext cx="5334000" cy="1676400"/>
            </a:xfrm>
            <a:prstGeom prst="roundRect">
              <a:avLst>
                <a:gd name="adj" fmla="val 7955"/>
              </a:avLst>
            </a:prstGeom>
            <a:solidFill>
              <a:schemeClr val="accent5"/>
            </a:solidFill>
            <a:ln w="14288">
              <a:solidFill>
                <a:srgbClr val="26455F"/>
              </a:solidFill>
            </a:ln>
          </p:spPr>
        </p:sp>
        <p:sp>
          <p:nvSpPr>
            <p:cNvPr id="30" name="Rectangle 30"/>
            <p:cNvSpPr/>
            <p:nvPr/>
          </p:nvSpPr>
          <p:spPr>
            <a:xfrm>
              <a:off x="609600" y="3352800"/>
              <a:ext cx="57150" cy="1676400"/>
            </a:xfrm>
            <a:prstGeom prst="roundRect">
              <a:avLst>
                <a:gd name="adj" fmla="val 50000"/>
              </a:avLst>
            </a:prstGeom>
            <a:solidFill>
              <a:srgbClr val="F2C14E"/>
            </a:solidFill>
            <a:ln>
              <a:noFill/>
            </a:ln>
          </p:spPr>
        </p:sp>
        <p:sp>
          <p:nvSpPr>
            <p:cNvPr id="31" name="TextBox 31"/>
            <p:cNvSpPr txBox="1"/>
            <p:nvPr/>
          </p:nvSpPr>
          <p:spPr>
            <a:xfrm>
              <a:off x="869632" y="3592116"/>
              <a:ext cx="2576670" cy="256699"/>
            </a:xfrm>
            <a:prstGeom prst="rect">
              <a:avLst/>
            </a:prstGeom>
            <a:noFill/>
            <a:ln>
              <a:noFill/>
            </a:ln>
          </p:spPr>
          <p:txBody>
            <a:bodyPr wrap="none" lIns="0" tIns="0" rIns="0" bIns="0" anchor="t" anchorCtr="0">
              <a:spAutoFit/>
            </a:bodyPr>
            <a:lstStyle/>
            <a:p>
              <a:pPr algn="l"/>
              <a:r>
                <a:rPr lang="en-US" sz="1310" b="1" dirty="0">
                  <a:solidFill>
                    <a:srgbClr val="F2C14E"/>
                  </a:solidFill>
                  <a:latin typeface="+mn-lt"/>
                  <a:ea typeface="+mn-ea"/>
                  <a:cs typeface="+mn-cs"/>
                </a:rPr>
                <a:t>3 · MSCI single-cell (Kaggle)</a:t>
              </a:r>
            </a:p>
          </p:txBody>
        </p:sp>
        <p:sp>
          <p:nvSpPr>
            <p:cNvPr id="32" name="TextBox 32"/>
            <p:cNvSpPr txBox="1"/>
            <p:nvPr/>
          </p:nvSpPr>
          <p:spPr>
            <a:xfrm>
              <a:off x="870966" y="3925252"/>
              <a:ext cx="34857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Cells from four human donors at four time points,</a:t>
              </a:r>
            </a:p>
          </p:txBody>
        </p:sp>
        <p:sp>
          <p:nvSpPr>
            <p:cNvPr id="33" name="TextBox 33"/>
            <p:cNvSpPr txBox="1"/>
            <p:nvPr/>
          </p:nvSpPr>
          <p:spPr>
            <a:xfrm>
              <a:off x="870966" y="4125278"/>
              <a:ext cx="28869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projected by PCA to increasing dimension.</a:t>
              </a:r>
            </a:p>
          </p:txBody>
        </p:sp>
        <p:sp>
          <p:nvSpPr>
            <p:cNvPr id="34" name="Rectangle 34"/>
            <p:cNvSpPr/>
            <p:nvPr/>
          </p:nvSpPr>
          <p:spPr>
            <a:xfrm>
              <a:off x="876300" y="4476750"/>
              <a:ext cx="4800600" cy="323850"/>
            </a:xfrm>
            <a:prstGeom prst="roundRect">
              <a:avLst>
                <a:gd name="adj" fmla="val 23529"/>
              </a:avLst>
            </a:prstGeom>
            <a:solidFill>
              <a:schemeClr val="accent6"/>
            </a:solidFill>
            <a:ln w="14288">
              <a:solidFill>
                <a:srgbClr val="26455F"/>
              </a:solidFill>
            </a:ln>
          </p:spPr>
        </p:sp>
        <p:sp>
          <p:nvSpPr>
            <p:cNvPr id="35" name="Ellipse 35"/>
            <p:cNvSpPr/>
            <p:nvPr/>
          </p:nvSpPr>
          <p:spPr>
            <a:xfrm>
              <a:off x="1000125" y="4591050"/>
              <a:ext cx="95250" cy="95250"/>
            </a:xfrm>
            <a:prstGeom prst="ellipse">
              <a:avLst/>
            </a:prstGeom>
            <a:solidFill>
              <a:srgbClr val="F2C14E"/>
            </a:solidFill>
            <a:ln>
              <a:noFill/>
            </a:ln>
          </p:spPr>
        </p:sp>
        <p:sp>
          <p:nvSpPr>
            <p:cNvPr id="36" name="TextBox 36"/>
            <p:cNvSpPr txBox="1"/>
            <p:nvPr/>
          </p:nvSpPr>
          <p:spPr>
            <a:xfrm>
              <a:off x="1194626" y="4578429"/>
              <a:ext cx="3444922"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4 donors · days 2/3/4/7 · PCA 50 / 100 / 1000</a:t>
              </a:r>
            </a:p>
          </p:txBody>
        </p:sp>
      </p:grpSp>
      <p:grpSp>
        <p:nvGrpSpPr>
          <p:cNvPr id="46" name="Group 46"/>
          <p:cNvGrpSpPr/>
          <p:nvPr/>
        </p:nvGrpSpPr>
        <p:grpSpPr>
          <a:xfrm>
            <a:off x="6248400" y="3352800"/>
            <a:ext cx="5334000" cy="1676400"/>
            <a:chOff x="6248400" y="3352800"/>
            <a:chExt cx="5334000" cy="1676400"/>
          </a:xfrm>
        </p:grpSpPr>
        <p:sp>
          <p:nvSpPr>
            <p:cNvPr id="38" name="Rectangle 38"/>
            <p:cNvSpPr/>
            <p:nvPr/>
          </p:nvSpPr>
          <p:spPr>
            <a:xfrm>
              <a:off x="6248400" y="3352800"/>
              <a:ext cx="5334000" cy="1676400"/>
            </a:xfrm>
            <a:prstGeom prst="roundRect">
              <a:avLst>
                <a:gd name="adj" fmla="val 7955"/>
              </a:avLst>
            </a:prstGeom>
            <a:solidFill>
              <a:schemeClr val="accent5"/>
            </a:solidFill>
            <a:ln w="14288">
              <a:solidFill>
                <a:srgbClr val="26455F"/>
              </a:solidFill>
            </a:ln>
          </p:spPr>
        </p:sp>
        <p:sp>
          <p:nvSpPr>
            <p:cNvPr id="39" name="Rectangle 39"/>
            <p:cNvSpPr/>
            <p:nvPr/>
          </p:nvSpPr>
          <p:spPr>
            <a:xfrm>
              <a:off x="6248400" y="3352800"/>
              <a:ext cx="57150" cy="1676400"/>
            </a:xfrm>
            <a:prstGeom prst="roundRect">
              <a:avLst>
                <a:gd name="adj" fmla="val 50000"/>
              </a:avLst>
            </a:prstGeom>
            <a:solidFill>
              <a:srgbClr val="B08CE8"/>
            </a:solidFill>
            <a:ln>
              <a:noFill/>
            </a:ln>
          </p:spPr>
        </p:sp>
        <p:sp>
          <p:nvSpPr>
            <p:cNvPr id="40" name="TextBox 40"/>
            <p:cNvSpPr txBox="1"/>
            <p:nvPr/>
          </p:nvSpPr>
          <p:spPr>
            <a:xfrm>
              <a:off x="6508432" y="3592116"/>
              <a:ext cx="2346171" cy="256699"/>
            </a:xfrm>
            <a:prstGeom prst="rect">
              <a:avLst/>
            </a:prstGeom>
            <a:noFill/>
            <a:ln>
              <a:noFill/>
            </a:ln>
          </p:spPr>
          <p:txBody>
            <a:bodyPr wrap="none" lIns="0" tIns="0" rIns="0" bIns="0" anchor="t" anchorCtr="0">
              <a:spAutoFit/>
            </a:bodyPr>
            <a:lstStyle/>
            <a:p>
              <a:pPr algn="l"/>
              <a:r>
                <a:rPr lang="en-US" sz="1310" b="1" dirty="0">
                  <a:solidFill>
                    <a:srgbClr val="B08CE8"/>
                  </a:solidFill>
                  <a:latin typeface="+mn-lt"/>
                  <a:ea typeface="+mn-ea"/>
                  <a:cs typeface="+mn-cs"/>
                </a:rPr>
                <a:t>4 · FFHQ face translation</a:t>
              </a:r>
            </a:p>
          </p:txBody>
        </p:sp>
        <p:sp>
          <p:nvSpPr>
            <p:cNvPr id="41" name="TextBox 41"/>
            <p:cNvSpPr txBox="1"/>
            <p:nvPr/>
          </p:nvSpPr>
          <p:spPr>
            <a:xfrm>
              <a:off x="6509766" y="3925252"/>
              <a:ext cx="367441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Unpaired image translation on FFHQ faces, run in the</a:t>
              </a:r>
            </a:p>
          </p:txBody>
        </p:sp>
        <p:sp>
          <p:nvSpPr>
            <p:cNvPr id="42" name="TextBox 42"/>
            <p:cNvSpPr txBox="1"/>
            <p:nvPr/>
          </p:nvSpPr>
          <p:spPr>
            <a:xfrm>
              <a:off x="6509766" y="4125278"/>
              <a:ext cx="332326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latent space of a pretrained ALAE autoencoder.</a:t>
              </a:r>
            </a:p>
          </p:txBody>
        </p:sp>
        <p:sp>
          <p:nvSpPr>
            <p:cNvPr id="43" name="Rectangle 43"/>
            <p:cNvSpPr/>
            <p:nvPr/>
          </p:nvSpPr>
          <p:spPr>
            <a:xfrm>
              <a:off x="6515100" y="4476750"/>
              <a:ext cx="4800600" cy="323850"/>
            </a:xfrm>
            <a:prstGeom prst="roundRect">
              <a:avLst>
                <a:gd name="adj" fmla="val 23529"/>
              </a:avLst>
            </a:prstGeom>
            <a:solidFill>
              <a:schemeClr val="accent6"/>
            </a:solidFill>
            <a:ln w="14288">
              <a:solidFill>
                <a:srgbClr val="26455F"/>
              </a:solidFill>
            </a:ln>
          </p:spPr>
        </p:sp>
        <p:sp>
          <p:nvSpPr>
            <p:cNvPr id="44" name="Ellipse 44"/>
            <p:cNvSpPr/>
            <p:nvPr/>
          </p:nvSpPr>
          <p:spPr>
            <a:xfrm>
              <a:off x="6638925" y="4591050"/>
              <a:ext cx="95250" cy="95250"/>
            </a:xfrm>
            <a:prstGeom prst="ellipse">
              <a:avLst/>
            </a:prstGeom>
            <a:solidFill>
              <a:srgbClr val="B08CE8"/>
            </a:solidFill>
            <a:ln>
              <a:noFill/>
            </a:ln>
          </p:spPr>
        </p:sp>
        <p:sp>
          <p:nvSpPr>
            <p:cNvPr id="45" name="TextBox 45"/>
            <p:cNvSpPr txBox="1"/>
            <p:nvPr/>
          </p:nvSpPr>
          <p:spPr>
            <a:xfrm>
              <a:off x="6833426" y="4578429"/>
              <a:ext cx="280850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512-dim ALAE latent · unpaired faces</a:t>
              </a:r>
            </a:p>
          </p:txBody>
        </p:sp>
      </p:grpSp>
      <p:sp>
        <p:nvSpPr>
          <p:cNvPr id="47" name="cue_s06_c1_solver_tested_across_four_kinds" title="cue_s06_c1_solver_tested_across_four_kinds" descr="cue_s06_c1_solver_tested_across_four_kinds The solver is tested across four kinds of data. First, a two-dimensional Gaussian to Swiss-roll toy, which visualizes how the noise level epsilon shapes the trajectories."/>
          <p:cNvSpPr/>
          <p:nvPr/>
        </p:nvSpPr>
        <p:spPr>
          <a:xfrm>
            <a:off x="609600" y="15046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cue_s06_c2_second_recent_high_dimensional_entro" title="cue_s06_c2_second_recent_high_dimensional_entro" descr="cue_s06_c2_second_recent_high_dimensional_entro Second, a recent high-dimensional entropic optimal transport benchmark with known ground-truth plans, spanning dimensions from two to one hundred twenty-eight and several values of epsilon."/>
          <p:cNvSpPr/>
          <p:nvPr/>
        </p:nvSpPr>
        <p:spPr>
          <a:xfrm>
            <a:off x="6248399" y="1504645"/>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3_third_msci_single_cell_dataset_kaggl" title="cue_s06_c3_third_msci_single_cell_dataset_kaggl" descr="cue_s06_c3_third_msci_single_cell_dataset_kaggl Third, the MSCI single-cell dataset from a Kaggle competition, with cells from four human donors at four time points, projected by PCA to fifty, one hundred, and one thousand dimensions."/>
          <p:cNvSpPr/>
          <p:nvPr/>
        </p:nvSpPr>
        <p:spPr>
          <a:xfrm>
            <a:off x="609600" y="3352876"/>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4_fourth_unpaired_image_translation_ff" title="cue_s06_c4_fourth_unpaired_image_translation_ff" descr="cue_s06_c4_fourth_unpaired_image_translation_ff And fourth, unpaired image translation on FFHQ faces, performed in the five-hundred-twelve-dimensional latent space of a pretrained ALAE autoencoder."/>
          <p:cNvSpPr/>
          <p:nvPr/>
        </p:nvSpPr>
        <p:spPr>
          <a:xfrm>
            <a:off x="6248399" y="3352876"/>
            <a:ext cx="5334000" cy="16760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5539016"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Sharper plans, on a CPU, in minutes</a:t>
            </a:r>
          </a:p>
        </p:txBody>
      </p:sp>
      <p:grpSp>
        <p:nvGrpSpPr>
          <p:cNvPr id="8" name="Group 8"/>
          <p:cNvGrpSpPr/>
          <p:nvPr/>
        </p:nvGrpSpPr>
        <p:grpSpPr>
          <a:xfrm>
            <a:off x="609600" y="1428750"/>
            <a:ext cx="10972800" cy="457200"/>
            <a:chOff x="609600" y="1428750"/>
            <a:chExt cx="10972800" cy="457200"/>
          </a:xfrm>
        </p:grpSpPr>
        <p:sp>
          <p:nvSpPr>
            <p:cNvPr id="5" name="Rectangle 5"/>
            <p:cNvSpPr/>
            <p:nvPr/>
          </p:nvSpPr>
          <p:spPr>
            <a:xfrm>
              <a:off x="609600" y="1428750"/>
              <a:ext cx="10972800" cy="457200"/>
            </a:xfrm>
            <a:prstGeom prst="roundRect">
              <a:avLst>
                <a:gd name="adj" fmla="val 29167"/>
              </a:avLst>
            </a:prstGeom>
            <a:solidFill>
              <a:schemeClr val="accent5"/>
            </a:solidFill>
            <a:ln w="14288">
              <a:solidFill>
                <a:srgbClr val="26455F"/>
              </a:solidFill>
            </a:ln>
          </p:spPr>
        </p:sp>
        <p:sp>
          <p:nvSpPr>
            <p:cNvPr id="6" name="Rectangle 6"/>
            <p:cNvSpPr/>
            <p:nvPr/>
          </p:nvSpPr>
          <p:spPr>
            <a:xfrm>
              <a:off x="609600" y="1428750"/>
              <a:ext cx="57150" cy="457200"/>
            </a:xfrm>
            <a:prstGeom prst="roundRect">
              <a:avLst>
                <a:gd name="adj" fmla="val 50000"/>
              </a:avLst>
            </a:prstGeom>
            <a:solidFill>
              <a:srgbClr val="48C78E"/>
            </a:solidFill>
            <a:ln>
              <a:noFill/>
            </a:ln>
          </p:spPr>
        </p:sp>
        <p:sp>
          <p:nvSpPr>
            <p:cNvPr id="7" name="TextBox 7"/>
            <p:cNvSpPr txBox="1"/>
            <p:nvPr/>
          </p:nvSpPr>
          <p:spPr>
            <a:xfrm>
              <a:off x="870014" y="1580912"/>
              <a:ext cx="6470010" cy="242030"/>
            </a:xfrm>
            <a:prstGeom prst="rect">
              <a:avLst/>
            </a:prstGeom>
            <a:noFill/>
            <a:ln>
              <a:noFill/>
            </a:ln>
          </p:spPr>
          <p:txBody>
            <a:bodyPr wrap="none" lIns="0" tIns="0" rIns="0" bIns="0" anchor="t" anchorCtr="0">
              <a:spAutoFit/>
            </a:bodyPr>
            <a:lstStyle/>
            <a:p>
              <a:pPr algn="l"/>
              <a:r>
                <a:rPr lang="en-US" sz="1240" b="1" dirty="0">
                  <a:solidFill>
                    <a:schemeClr val="dk1"/>
                  </a:solidFill>
                  <a:latin typeface="+mn-lt"/>
                  <a:ea typeface="+mn-ea"/>
                  <a:cs typeface="+mn-cs"/>
                </a:rPr>
                <a:t>Across the board LightSB delivers both accuracy and speed, without a GPU.</a:t>
              </a:r>
            </a:p>
          </p:txBody>
        </p:sp>
      </p:grpSp>
      <p:grpSp>
        <p:nvGrpSpPr>
          <p:cNvPr id="24" name="Group 24"/>
          <p:cNvGrpSpPr/>
          <p:nvPr/>
        </p:nvGrpSpPr>
        <p:grpSpPr>
          <a:xfrm>
            <a:off x="609600" y="2019300"/>
            <a:ext cx="5524000" cy="2533650"/>
            <a:chOff x="609600" y="2019300"/>
            <a:chExt cx="5524000" cy="2533650"/>
          </a:xfrm>
        </p:grpSpPr>
        <p:sp>
          <p:nvSpPr>
            <p:cNvPr id="9" name="Rectangle 9"/>
            <p:cNvSpPr/>
            <p:nvPr/>
          </p:nvSpPr>
          <p:spPr>
            <a:xfrm>
              <a:off x="609600" y="2019300"/>
              <a:ext cx="5334000" cy="2533650"/>
            </a:xfrm>
            <a:prstGeom prst="roundRect">
              <a:avLst>
                <a:gd name="adj" fmla="val 5263"/>
              </a:avLst>
            </a:prstGeom>
            <a:solidFill>
              <a:schemeClr val="accent5"/>
            </a:solidFill>
            <a:ln w="14288">
              <a:solidFill>
                <a:srgbClr val="26455F"/>
              </a:solidFill>
            </a:ln>
          </p:spPr>
        </p:sp>
        <p:sp>
          <p:nvSpPr>
            <p:cNvPr id="10" name="Rectangle 10"/>
            <p:cNvSpPr/>
            <p:nvPr/>
          </p:nvSpPr>
          <p:spPr>
            <a:xfrm>
              <a:off x="609600" y="2019300"/>
              <a:ext cx="57150" cy="2533650"/>
            </a:xfrm>
            <a:prstGeom prst="roundRect">
              <a:avLst>
                <a:gd name="adj" fmla="val 50000"/>
              </a:avLst>
            </a:prstGeom>
            <a:solidFill>
              <a:srgbClr val="34D3C0"/>
            </a:solidFill>
            <a:ln>
              <a:noFill/>
            </a:ln>
          </p:spPr>
        </p:sp>
        <p:sp>
          <p:nvSpPr>
            <p:cNvPr id="11" name="TextBox 11"/>
            <p:cNvSpPr txBox="1"/>
            <p:nvPr/>
          </p:nvSpPr>
          <p:spPr>
            <a:xfrm>
              <a:off x="870204" y="2232660"/>
              <a:ext cx="3244708"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EOT benchmark error · lower is better</a:t>
              </a:r>
            </a:p>
          </p:txBody>
        </p:sp>
        <p:sp>
          <p:nvSpPr>
            <p:cNvPr id="12" name="TextBox 12"/>
            <p:cNvSpPr txBox="1"/>
            <p:nvPr/>
          </p:nvSpPr>
          <p:spPr>
            <a:xfrm>
              <a:off x="871538" y="2489597"/>
              <a:ext cx="2557870"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conditional Bures-Wasserstein UVP (%)</a:t>
              </a:r>
            </a:p>
          </p:txBody>
        </p:sp>
        <p:sp>
          <p:nvSpPr>
            <p:cNvPr id="13" name="Rectangle 13"/>
            <p:cNvSpPr/>
            <p:nvPr/>
          </p:nvSpPr>
          <p:spPr>
            <a:xfrm>
              <a:off x="2857500" y="2781300"/>
              <a:ext cx="2247900" cy="285750"/>
            </a:xfrm>
            <a:prstGeom prst="roundRect">
              <a:avLst>
                <a:gd name="adj" fmla="val 20000"/>
              </a:avLst>
            </a:prstGeom>
            <a:solidFill>
              <a:srgbClr val="0E2334"/>
            </a:solidFill>
            <a:ln w="9525">
              <a:solidFill>
                <a:srgbClr val="26455F"/>
              </a:solidFill>
            </a:ln>
          </p:spPr>
        </p:sp>
        <p:sp>
          <p:nvSpPr>
            <p:cNvPr id="14" name="Rectangle 14"/>
            <p:cNvSpPr/>
            <p:nvPr/>
          </p:nvSpPr>
          <p:spPr>
            <a:xfrm>
              <a:off x="2857500" y="2781300"/>
              <a:ext cx="28575" cy="285750"/>
            </a:xfrm>
            <a:prstGeom prst="roundRect">
              <a:avLst>
                <a:gd name="adj" fmla="val 50000"/>
              </a:avLst>
            </a:prstGeom>
            <a:solidFill>
              <a:srgbClr val="48C78E"/>
            </a:solidFill>
            <a:ln>
              <a:noFill/>
            </a:ln>
          </p:spPr>
        </p:sp>
        <p:sp>
          <p:nvSpPr>
            <p:cNvPr id="15" name="TextBox 15"/>
            <p:cNvSpPr txBox="1"/>
            <p:nvPr/>
          </p:nvSpPr>
          <p:spPr>
            <a:xfrm>
              <a:off x="2190598" y="2873693"/>
              <a:ext cx="557936"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LightSB</a:t>
              </a:r>
            </a:p>
          </p:txBody>
        </p:sp>
        <p:sp>
          <p:nvSpPr>
            <p:cNvPr id="16" name="TextBox 16"/>
            <p:cNvSpPr txBox="1"/>
            <p:nvPr/>
          </p:nvSpPr>
          <p:spPr>
            <a:xfrm>
              <a:off x="2975991" y="2873693"/>
              <a:ext cx="938284"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≈0.03–0.62%</a:t>
              </a:r>
            </a:p>
          </p:txBody>
        </p:sp>
        <p:sp>
          <p:nvSpPr>
            <p:cNvPr id="17" name="Rectangle 17"/>
            <p:cNvSpPr/>
            <p:nvPr/>
          </p:nvSpPr>
          <p:spPr>
            <a:xfrm>
              <a:off x="2857500" y="3238500"/>
              <a:ext cx="2247900" cy="285750"/>
            </a:xfrm>
            <a:prstGeom prst="roundRect">
              <a:avLst>
                <a:gd name="adj" fmla="val 20000"/>
              </a:avLst>
            </a:prstGeom>
            <a:solidFill>
              <a:srgbClr val="0E2334"/>
            </a:solidFill>
            <a:ln w="9525">
              <a:solidFill>
                <a:srgbClr val="26455F"/>
              </a:solidFill>
            </a:ln>
          </p:spPr>
        </p:sp>
        <p:sp>
          <p:nvSpPr>
            <p:cNvPr id="18" name="Rectangle 18"/>
            <p:cNvSpPr/>
            <p:nvPr/>
          </p:nvSpPr>
          <p:spPr>
            <a:xfrm>
              <a:off x="2857500" y="3238500"/>
              <a:ext cx="2247900" cy="285750"/>
            </a:xfrm>
            <a:prstGeom prst="roundRect">
              <a:avLst>
                <a:gd name="adj" fmla="val 20000"/>
              </a:avLst>
            </a:prstGeom>
            <a:solidFill>
              <a:srgbClr val="F2685C"/>
            </a:solidFill>
            <a:ln>
              <a:noFill/>
            </a:ln>
          </p:spPr>
        </p:sp>
        <p:sp>
          <p:nvSpPr>
            <p:cNvPr id="19" name="TextBox 19"/>
            <p:cNvSpPr txBox="1"/>
            <p:nvPr/>
          </p:nvSpPr>
          <p:spPr>
            <a:xfrm>
              <a:off x="1787987" y="3330893"/>
              <a:ext cx="96054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best baseline</a:t>
              </a:r>
            </a:p>
          </p:txBody>
        </p:sp>
        <p:sp>
          <p:nvSpPr>
            <p:cNvPr id="20" name="TextBox 20"/>
            <p:cNvSpPr txBox="1"/>
            <p:nvPr/>
          </p:nvSpPr>
          <p:spPr>
            <a:xfrm>
              <a:off x="5195316" y="3330893"/>
              <a:ext cx="93828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1.04–18.05%</a:t>
              </a:r>
            </a:p>
          </p:txBody>
        </p:sp>
        <p:sp>
          <p:nvSpPr>
            <p:cNvPr id="21" name="Rectangle 21"/>
            <p:cNvSpPr/>
            <p:nvPr/>
          </p:nvSpPr>
          <p:spPr>
            <a:xfrm>
              <a:off x="876300" y="3771900"/>
              <a:ext cx="4800600" cy="609600"/>
            </a:xfrm>
            <a:prstGeom prst="roundRect">
              <a:avLst>
                <a:gd name="adj" fmla="val 15625"/>
              </a:avLst>
            </a:prstGeom>
            <a:solidFill>
              <a:srgbClr val="0F2E2B"/>
            </a:solidFill>
            <a:ln w="14288">
              <a:solidFill>
                <a:srgbClr val="34D3C0"/>
              </a:solidFill>
            </a:ln>
          </p:spPr>
        </p:sp>
        <p:sp>
          <p:nvSpPr>
            <p:cNvPr id="22" name="TextBox 22"/>
            <p:cNvSpPr txBox="1"/>
            <p:nvPr/>
          </p:nvSpPr>
          <p:spPr>
            <a:xfrm>
              <a:off x="1061656" y="3929301"/>
              <a:ext cx="440006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Error well under one percent, often a few hundredths, where the</a:t>
              </a:r>
            </a:p>
          </p:txBody>
        </p:sp>
        <p:sp>
          <p:nvSpPr>
            <p:cNvPr id="23" name="TextBox 23"/>
            <p:cNvSpPr txBox="1"/>
            <p:nvPr/>
          </p:nvSpPr>
          <p:spPr>
            <a:xfrm>
              <a:off x="1061656" y="4110276"/>
              <a:ext cx="3212291"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best prior sits between about one and eighteen.</a:t>
              </a:r>
            </a:p>
          </p:txBody>
        </p:sp>
      </p:grpSp>
      <p:grpSp>
        <p:nvGrpSpPr>
          <p:cNvPr id="37" name="Group 37"/>
          <p:cNvGrpSpPr/>
          <p:nvPr/>
        </p:nvGrpSpPr>
        <p:grpSpPr>
          <a:xfrm>
            <a:off x="6248400" y="2019300"/>
            <a:ext cx="5334000" cy="2533650"/>
            <a:chOff x="6248400" y="2019300"/>
            <a:chExt cx="5334000" cy="2533650"/>
          </a:xfrm>
        </p:grpSpPr>
        <p:sp>
          <p:nvSpPr>
            <p:cNvPr id="25" name="Rectangle 25"/>
            <p:cNvSpPr/>
            <p:nvPr/>
          </p:nvSpPr>
          <p:spPr>
            <a:xfrm>
              <a:off x="6248400" y="2019300"/>
              <a:ext cx="5334000" cy="2533650"/>
            </a:xfrm>
            <a:prstGeom prst="roundRect">
              <a:avLst>
                <a:gd name="adj" fmla="val 5263"/>
              </a:avLst>
            </a:prstGeom>
            <a:solidFill>
              <a:schemeClr val="accent5"/>
            </a:solidFill>
            <a:ln w="14288">
              <a:solidFill>
                <a:srgbClr val="26455F"/>
              </a:solidFill>
            </a:ln>
          </p:spPr>
        </p:sp>
        <p:sp>
          <p:nvSpPr>
            <p:cNvPr id="26" name="Rectangle 26"/>
            <p:cNvSpPr/>
            <p:nvPr/>
          </p:nvSpPr>
          <p:spPr>
            <a:xfrm>
              <a:off x="6248400" y="2019300"/>
              <a:ext cx="57150" cy="2533650"/>
            </a:xfrm>
            <a:prstGeom prst="roundRect">
              <a:avLst>
                <a:gd name="adj" fmla="val 50000"/>
              </a:avLst>
            </a:prstGeom>
            <a:solidFill>
              <a:srgbClr val="F2C14E"/>
            </a:solidFill>
            <a:ln>
              <a:noFill/>
            </a:ln>
          </p:spPr>
        </p:sp>
        <p:sp>
          <p:nvSpPr>
            <p:cNvPr id="27" name="TextBox 27"/>
            <p:cNvSpPr txBox="1"/>
            <p:nvPr/>
          </p:nvSpPr>
          <p:spPr>
            <a:xfrm>
              <a:off x="6509194" y="2236708"/>
              <a:ext cx="3617670"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MSCI single-cell · same accuracy, far faster</a:t>
              </a:r>
            </a:p>
          </p:txBody>
        </p:sp>
        <p:sp>
          <p:nvSpPr>
            <p:cNvPr id="28" name="Rectangle 28"/>
            <p:cNvSpPr/>
            <p:nvPr/>
          </p:nvSpPr>
          <p:spPr>
            <a:xfrm>
              <a:off x="6515100" y="2590800"/>
              <a:ext cx="2381250" cy="952500"/>
            </a:xfrm>
            <a:prstGeom prst="roundRect">
              <a:avLst>
                <a:gd name="adj" fmla="val 12000"/>
              </a:avLst>
            </a:prstGeom>
            <a:solidFill>
              <a:schemeClr val="accent6"/>
            </a:solidFill>
            <a:ln w="14288">
              <a:solidFill>
                <a:srgbClr val="26455F"/>
              </a:solidFill>
            </a:ln>
          </p:spPr>
        </p:sp>
        <p:sp>
          <p:nvSpPr>
            <p:cNvPr id="29" name="TextBox 29"/>
            <p:cNvSpPr txBox="1"/>
            <p:nvPr/>
          </p:nvSpPr>
          <p:spPr>
            <a:xfrm>
              <a:off x="6954853" y="2881312"/>
              <a:ext cx="1501745"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1–2.5 min</a:t>
              </a:r>
            </a:p>
          </p:txBody>
        </p:sp>
        <p:sp>
          <p:nvSpPr>
            <p:cNvPr id="30" name="TextBox 30"/>
            <p:cNvSpPr txBox="1"/>
            <p:nvPr/>
          </p:nvSpPr>
          <p:spPr>
            <a:xfrm>
              <a:off x="7021571" y="3270647"/>
              <a:ext cx="136830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LightSB, 4 CPU cores</a:t>
              </a:r>
            </a:p>
          </p:txBody>
        </p:sp>
        <p:sp>
          <p:nvSpPr>
            <p:cNvPr id="31" name="Rectangle 31"/>
            <p:cNvSpPr/>
            <p:nvPr/>
          </p:nvSpPr>
          <p:spPr>
            <a:xfrm>
              <a:off x="9163050" y="2590800"/>
              <a:ext cx="2381250" cy="952500"/>
            </a:xfrm>
            <a:prstGeom prst="roundRect">
              <a:avLst>
                <a:gd name="adj" fmla="val 12000"/>
              </a:avLst>
            </a:prstGeom>
            <a:solidFill>
              <a:schemeClr val="accent6"/>
            </a:solidFill>
            <a:ln w="14288">
              <a:solidFill>
                <a:srgbClr val="26455F"/>
              </a:solidFill>
            </a:ln>
          </p:spPr>
        </p:sp>
        <p:sp>
          <p:nvSpPr>
            <p:cNvPr id="32" name="TextBox 32"/>
            <p:cNvSpPr txBox="1"/>
            <p:nvPr/>
          </p:nvSpPr>
          <p:spPr>
            <a:xfrm>
              <a:off x="9284763" y="2881312"/>
              <a:ext cx="2137824" cy="440055"/>
            </a:xfrm>
            <a:prstGeom prst="rect">
              <a:avLst/>
            </a:prstGeom>
            <a:noFill/>
            <a:ln>
              <a:noFill/>
            </a:ln>
          </p:spPr>
          <p:txBody>
            <a:bodyPr wrap="none" lIns="0" tIns="0" rIns="0" bIns="0" anchor="t" anchorCtr="0">
              <a:spAutoFit/>
            </a:bodyPr>
            <a:lstStyle/>
            <a:p>
              <a:pPr algn="ctr"/>
              <a:r>
                <a:rPr lang="en-US" sz="2250" b="1" dirty="0">
                  <a:solidFill>
                    <a:srgbClr val="F2685C"/>
                  </a:solidFill>
                  <a:latin typeface="+mn-lt"/>
                  <a:ea typeface="+mn-ea"/>
                  <a:cs typeface="+mn-cs"/>
                </a:rPr>
                <a:t>10 min – 1 hr+</a:t>
              </a:r>
            </a:p>
          </p:txBody>
        </p:sp>
        <p:sp>
          <p:nvSpPr>
            <p:cNvPr id="33" name="TextBox 33"/>
            <p:cNvSpPr txBox="1"/>
            <p:nvPr/>
          </p:nvSpPr>
          <p:spPr>
            <a:xfrm>
              <a:off x="9710168" y="3270647"/>
              <a:ext cx="1287015"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GPU baselines, V100</a:t>
              </a:r>
            </a:p>
          </p:txBody>
        </p:sp>
        <p:sp>
          <p:nvSpPr>
            <p:cNvPr id="34" name="Rectangle 34"/>
            <p:cNvSpPr/>
            <p:nvPr/>
          </p:nvSpPr>
          <p:spPr>
            <a:xfrm>
              <a:off x="6515100" y="3695700"/>
              <a:ext cx="5029200" cy="685800"/>
            </a:xfrm>
            <a:prstGeom prst="roundRect">
              <a:avLst>
                <a:gd name="adj" fmla="val 13889"/>
              </a:avLst>
            </a:prstGeom>
            <a:solidFill>
              <a:schemeClr val="accent6"/>
            </a:solidFill>
            <a:ln w="14288">
              <a:solidFill>
                <a:srgbClr val="26455F"/>
              </a:solidFill>
            </a:ln>
          </p:spPr>
        </p:sp>
        <p:sp>
          <p:nvSpPr>
            <p:cNvPr id="35" name="TextBox 35"/>
            <p:cNvSpPr txBox="1"/>
            <p:nvPr/>
          </p:nvSpPr>
          <p:spPr>
            <a:xfrm>
              <a:off x="6700456" y="3834051"/>
              <a:ext cx="439992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Energy distance comparable to strong GPU solvers, but trained on</a:t>
              </a:r>
            </a:p>
          </p:txBody>
        </p:sp>
        <p:sp>
          <p:nvSpPr>
            <p:cNvPr id="36" name="TextBox 36"/>
            <p:cNvSpPr txBox="1"/>
            <p:nvPr/>
          </p:nvSpPr>
          <p:spPr>
            <a:xfrm>
              <a:off x="6700456" y="4024551"/>
              <a:ext cx="138437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just four CPU cores.</a:t>
              </a:r>
            </a:p>
          </p:txBody>
        </p:sp>
      </p:grpSp>
      <p:grpSp>
        <p:nvGrpSpPr>
          <p:cNvPr id="50" name="Group 50"/>
          <p:cNvGrpSpPr/>
          <p:nvPr/>
        </p:nvGrpSpPr>
        <p:grpSpPr>
          <a:xfrm>
            <a:off x="609600" y="4686300"/>
            <a:ext cx="10972800" cy="1123997"/>
            <a:chOff x="609600" y="4686300"/>
            <a:chExt cx="10972800" cy="1123997"/>
          </a:xfrm>
        </p:grpSpPr>
        <p:sp>
          <p:nvSpPr>
            <p:cNvPr id="38" name="Rectangle 38"/>
            <p:cNvSpPr/>
            <p:nvPr/>
          </p:nvSpPr>
          <p:spPr>
            <a:xfrm>
              <a:off x="609600" y="4686300"/>
              <a:ext cx="10972800" cy="1104900"/>
            </a:xfrm>
            <a:prstGeom prst="roundRect">
              <a:avLst>
                <a:gd name="adj" fmla="val 12069"/>
              </a:avLst>
            </a:prstGeom>
            <a:solidFill>
              <a:schemeClr val="accent5"/>
            </a:solidFill>
            <a:ln w="14288">
              <a:solidFill>
                <a:srgbClr val="26455F"/>
              </a:solidFill>
            </a:ln>
          </p:spPr>
        </p:sp>
        <p:sp>
          <p:nvSpPr>
            <p:cNvPr id="39" name="Rectangle 39"/>
            <p:cNvSpPr/>
            <p:nvPr/>
          </p:nvSpPr>
          <p:spPr>
            <a:xfrm>
              <a:off x="609600" y="4686300"/>
              <a:ext cx="57150" cy="1104900"/>
            </a:xfrm>
            <a:prstGeom prst="roundRect">
              <a:avLst>
                <a:gd name="adj" fmla="val 50000"/>
              </a:avLst>
            </a:prstGeom>
            <a:solidFill>
              <a:srgbClr val="B08CE8"/>
            </a:solidFill>
            <a:ln>
              <a:noFill/>
            </a:ln>
          </p:spPr>
        </p:sp>
        <p:sp>
          <p:nvSpPr>
            <p:cNvPr id="40" name="TextBox 40"/>
            <p:cNvSpPr txBox="1"/>
            <p:nvPr/>
          </p:nvSpPr>
          <p:spPr>
            <a:xfrm>
              <a:off x="870204" y="4880610"/>
              <a:ext cx="1857349" cy="234696"/>
            </a:xfrm>
            <a:prstGeom prst="rect">
              <a:avLst/>
            </a:prstGeom>
            <a:noFill/>
            <a:ln>
              <a:noFill/>
            </a:ln>
          </p:spPr>
          <p:txBody>
            <a:bodyPr wrap="none" lIns="0" tIns="0" rIns="0" bIns="0" anchor="t" anchorCtr="0">
              <a:spAutoFit/>
            </a:bodyPr>
            <a:lstStyle/>
            <a:p>
              <a:pPr algn="l"/>
              <a:r>
                <a:rPr lang="en-US" sz="1200" b="1" dirty="0">
                  <a:solidFill>
                    <a:srgbClr val="B08CE8"/>
                  </a:solidFill>
                  <a:latin typeface="+mn-lt"/>
                  <a:ea typeface="+mn-ea"/>
                  <a:cs typeface="+mn-cs"/>
                </a:rPr>
                <a:t>FFHQ face translation</a:t>
              </a:r>
            </a:p>
          </p:txBody>
        </p:sp>
        <p:sp>
          <p:nvSpPr>
            <p:cNvPr id="41" name="TextBox 41"/>
            <p:cNvSpPr txBox="1"/>
            <p:nvPr/>
          </p:nvSpPr>
          <p:spPr>
            <a:xfrm>
              <a:off x="870776" y="5178504"/>
              <a:ext cx="44546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Realistic male-to-female and child-to-adult translation in the</a:t>
              </a:r>
            </a:p>
          </p:txBody>
        </p:sp>
        <p:sp>
          <p:nvSpPr>
            <p:cNvPr id="42" name="TextBox 42"/>
            <p:cNvSpPr txBox="1"/>
            <p:nvPr/>
          </p:nvSpPr>
          <p:spPr>
            <a:xfrm>
              <a:off x="870776" y="5388054"/>
              <a:ext cx="483020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512-dimensional ALAE latent space, converging in under a minute on</a:t>
              </a:r>
            </a:p>
          </p:txBody>
        </p:sp>
        <p:sp>
          <p:nvSpPr>
            <p:cNvPr id="43" name="TextBox 43"/>
            <p:cNvSpPr txBox="1"/>
            <p:nvPr/>
          </p:nvSpPr>
          <p:spPr>
            <a:xfrm>
              <a:off x="870776" y="5597604"/>
              <a:ext cx="352141"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CPU.</a:t>
              </a:r>
            </a:p>
          </p:txBody>
        </p:sp>
        <p:sp>
          <p:nvSpPr>
            <p:cNvPr id="44" name="Rectangle 44"/>
            <p:cNvSpPr/>
            <p:nvPr/>
          </p:nvSpPr>
          <p:spPr>
            <a:xfrm>
              <a:off x="7239000" y="4953000"/>
              <a:ext cx="4095750" cy="304800"/>
            </a:xfrm>
            <a:prstGeom prst="roundRect">
              <a:avLst>
                <a:gd name="adj" fmla="val 25000"/>
              </a:avLst>
            </a:prstGeom>
            <a:solidFill>
              <a:schemeClr val="accent6"/>
            </a:solidFill>
            <a:ln w="14288">
              <a:solidFill>
                <a:srgbClr val="26455F"/>
              </a:solidFill>
            </a:ln>
          </p:spPr>
        </p:sp>
        <p:sp>
          <p:nvSpPr>
            <p:cNvPr id="45" name="Ellipse 45"/>
            <p:cNvSpPr/>
            <p:nvPr/>
          </p:nvSpPr>
          <p:spPr>
            <a:xfrm>
              <a:off x="7362825" y="5057775"/>
              <a:ext cx="95250" cy="95250"/>
            </a:xfrm>
            <a:prstGeom prst="ellipse">
              <a:avLst/>
            </a:prstGeom>
            <a:solidFill>
              <a:srgbClr val="B08CE8"/>
            </a:solidFill>
            <a:ln>
              <a:noFill/>
            </a:ln>
          </p:spPr>
        </p:sp>
        <p:sp>
          <p:nvSpPr>
            <p:cNvPr id="46" name="TextBox 46"/>
            <p:cNvSpPr txBox="1"/>
            <p:nvPr/>
          </p:nvSpPr>
          <p:spPr>
            <a:xfrm>
              <a:off x="7557326" y="5045154"/>
              <a:ext cx="2106436"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male ↔ female · child ↔ adult</a:t>
              </a:r>
            </a:p>
          </p:txBody>
        </p:sp>
        <p:sp>
          <p:nvSpPr>
            <p:cNvPr id="47" name="Rectangle 47"/>
            <p:cNvSpPr/>
            <p:nvPr/>
          </p:nvSpPr>
          <p:spPr>
            <a:xfrm>
              <a:off x="7239000" y="5334000"/>
              <a:ext cx="4095750" cy="304800"/>
            </a:xfrm>
            <a:prstGeom prst="roundRect">
              <a:avLst>
                <a:gd name="adj" fmla="val 25000"/>
              </a:avLst>
            </a:prstGeom>
            <a:solidFill>
              <a:schemeClr val="accent6"/>
            </a:solidFill>
            <a:ln w="14288">
              <a:solidFill>
                <a:srgbClr val="26455F"/>
              </a:solidFill>
            </a:ln>
          </p:spPr>
        </p:sp>
        <p:sp>
          <p:nvSpPr>
            <p:cNvPr id="48" name="Ellipse 48"/>
            <p:cNvSpPr/>
            <p:nvPr/>
          </p:nvSpPr>
          <p:spPr>
            <a:xfrm>
              <a:off x="7362825" y="5438775"/>
              <a:ext cx="95250" cy="95250"/>
            </a:xfrm>
            <a:prstGeom prst="ellipse">
              <a:avLst/>
            </a:prstGeom>
            <a:solidFill>
              <a:srgbClr val="B08CE8"/>
            </a:solidFill>
            <a:ln>
              <a:noFill/>
            </a:ln>
          </p:spPr>
        </p:sp>
        <p:sp>
          <p:nvSpPr>
            <p:cNvPr id="49" name="TextBox 49"/>
            <p:cNvSpPr txBox="1"/>
            <p:nvPr/>
          </p:nvSpPr>
          <p:spPr>
            <a:xfrm>
              <a:off x="7557326" y="5426154"/>
              <a:ext cx="2337443"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512-dim latent · &lt; 1 min on CPU</a:t>
              </a:r>
            </a:p>
          </p:txBody>
        </p:sp>
      </p:grpSp>
      <p:sp>
        <p:nvSpPr>
          <p:cNvPr id="51" name="TextBox 51"/>
          <p:cNvSpPr txBox="1"/>
          <p:nvPr/>
        </p:nvSpPr>
        <p:spPr>
          <a:xfrm>
            <a:off x="604266" y="6039802"/>
            <a:ext cx="3770971" cy="205359"/>
          </a:xfrm>
          <a:prstGeom prst="rect">
            <a:avLst/>
          </a:prstGeom>
          <a:noFill/>
          <a:ln>
            <a:noFill/>
          </a:ln>
        </p:spPr>
        <p:txBody>
          <a:bodyPr wrap="none" lIns="0" tIns="0" rIns="0" bIns="0" anchor="t" anchorCtr="0">
            <a:spAutoFit/>
          </a:bodyPr>
          <a:lstStyle/>
          <a:p>
            <a:pPr algn="l"/>
            <a:r>
              <a:rPr lang="en-US" sz="1050" b="1" dirty="0">
                <a:solidFill>
                  <a:schemeClr val="dk2"/>
                </a:solidFill>
                <a:latin typeface="+mn-lt"/>
                <a:ea typeface="+mn-ea"/>
                <a:cs typeface="+mn-cs"/>
              </a:rPr>
              <a:t>Accurate where it matters, cheap where it counts.</a:t>
            </a:r>
          </a:p>
        </p:txBody>
      </p:sp>
      <p:sp>
        <p:nvSpPr>
          <p:cNvPr id="52" name="cue_s07_c1_results_show_both_accuracy_speed" title="cue_s07_c1_results_show_both_accuracy_speed" descr="cue_s07_c1_results_show_both_accuracy_speed The results show both accuracy and speed."/>
          <p:cNvSpPr/>
          <p:nvPr/>
        </p:nvSpPr>
        <p:spPr>
          <a:xfrm>
            <a:off x="609600" y="1428521"/>
            <a:ext cx="10972800" cy="4574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7_c2_entropic_optimal_transport_benchmark" title="cue_s07_c2_entropic_optimal_transport_benchmark" descr="cue_s07_c2_entropic_optimal_transport_benchmark On the entropic optimal transport benchmark, where the ground truth is known, LightSB reduces the conditional Bures-Wasserstein error to well under one percent, often around a few hundredths, while the best previous solver sits between about one and eighteen p"/>
          <p:cNvSpPr/>
          <p:nvPr/>
        </p:nvSpPr>
        <p:spPr>
          <a:xfrm>
            <a:off x="609600" y="2018995"/>
            <a:ext cx="5524195"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cue_s07_c3_msci_single_cell_task_lightsb_reache" title="cue_s07_c3_msci_single_cell_task_lightsb_reache" descr="cue_s07_c3_msci_single_cell_task_lightsb_reache On the MSCI single-cell task, LightSB reaches energy distance comparable to strong GPU baselines, but it trains in roughly one to two and a half minutes on just four CPU cores, whereas competing continuous solvers need tens of minutes to over an hour on a V100"/>
          <p:cNvSpPr/>
          <p:nvPr/>
        </p:nvSpPr>
        <p:spPr>
          <a:xfrm>
            <a:off x="6248399" y="2018995"/>
            <a:ext cx="5334000" cy="253334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cue_s07_c4_ffhq_faces_performs_realistic_male_t" title="cue_s07_c4_ffhq_faces_performs_realistic_male_t" descr="cue_s07_c4_ffhq_faces_performs_realistic_male_t And on FFHQ faces, it performs realistic male-to-female and child-to-adult translation in a five-hundred-twelve-dimensional latent space, converging in under a minute on CPU."/>
          <p:cNvSpPr/>
          <p:nvPr/>
        </p:nvSpPr>
        <p:spPr>
          <a:xfrm>
            <a:off x="609600" y="4686071"/>
            <a:ext cx="10972800" cy="11240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43973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Epsilon controls the bridge's noise</a:t>
            </a:r>
          </a:p>
        </p:txBody>
      </p:sp>
      <p:grpSp>
        <p:nvGrpSpPr>
          <p:cNvPr id="8" name="Group 8"/>
          <p:cNvGrpSpPr/>
          <p:nvPr/>
        </p:nvGrpSpPr>
        <p:grpSpPr>
          <a:xfrm>
            <a:off x="609600" y="1504950"/>
            <a:ext cx="10972800" cy="552450"/>
            <a:chOff x="609600" y="1504950"/>
            <a:chExt cx="10972800" cy="552450"/>
          </a:xfrm>
        </p:grpSpPr>
        <p:sp>
          <p:nvSpPr>
            <p:cNvPr id="5" name="Rectangle 5"/>
            <p:cNvSpPr/>
            <p:nvPr/>
          </p:nvSpPr>
          <p:spPr>
            <a:xfrm>
              <a:off x="609600" y="1504950"/>
              <a:ext cx="10972800" cy="552450"/>
            </a:xfrm>
            <a:prstGeom prst="roundRect">
              <a:avLst>
                <a:gd name="adj" fmla="val 24138"/>
              </a:avLst>
            </a:prstGeom>
            <a:solidFill>
              <a:schemeClr val="accent5"/>
            </a:solidFill>
            <a:ln w="14288">
              <a:solidFill>
                <a:srgbClr val="26455F"/>
              </a:solidFill>
            </a:ln>
          </p:spPr>
        </p:sp>
        <p:sp>
          <p:nvSpPr>
            <p:cNvPr id="6" name="Rectangle 6"/>
            <p:cNvSpPr/>
            <p:nvPr/>
          </p:nvSpPr>
          <p:spPr>
            <a:xfrm>
              <a:off x="609600" y="1504950"/>
              <a:ext cx="57150" cy="552450"/>
            </a:xfrm>
            <a:prstGeom prst="roundRect">
              <a:avLst>
                <a:gd name="adj" fmla="val 50000"/>
              </a:avLst>
            </a:prstGeom>
            <a:solidFill>
              <a:schemeClr val="accent2"/>
            </a:solidFill>
            <a:ln>
              <a:noFill/>
            </a:ln>
          </p:spPr>
        </p:sp>
        <p:sp>
          <p:nvSpPr>
            <p:cNvPr id="7" name="TextBox 7"/>
            <p:cNvSpPr txBox="1"/>
            <p:nvPr/>
          </p:nvSpPr>
          <p:spPr>
            <a:xfrm>
              <a:off x="870204" y="1708785"/>
              <a:ext cx="7710722"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Map a 2-D Gaussian to a Swiss roll while sweeping the noise level epsilon across three values.</a:t>
              </a:r>
            </a:p>
          </p:txBody>
        </p:sp>
      </p:grpSp>
      <p:grpSp>
        <p:nvGrpSpPr>
          <p:cNvPr id="22" name="Group 22"/>
          <p:cNvGrpSpPr/>
          <p:nvPr/>
        </p:nvGrpSpPr>
        <p:grpSpPr>
          <a:xfrm>
            <a:off x="609600" y="2286000"/>
            <a:ext cx="5334000" cy="1866900"/>
            <a:chOff x="609600" y="2286000"/>
            <a:chExt cx="5334000" cy="1866900"/>
          </a:xfrm>
        </p:grpSpPr>
        <p:sp>
          <p:nvSpPr>
            <p:cNvPr id="9" name="Rectangle 9"/>
            <p:cNvSpPr/>
            <p:nvPr/>
          </p:nvSpPr>
          <p:spPr>
            <a:xfrm>
              <a:off x="609600" y="2286000"/>
              <a:ext cx="5334000" cy="1866900"/>
            </a:xfrm>
            <a:prstGeom prst="roundRect">
              <a:avLst>
                <a:gd name="adj" fmla="val 7143"/>
              </a:avLst>
            </a:prstGeom>
            <a:solidFill>
              <a:schemeClr val="accent5"/>
            </a:solidFill>
            <a:ln w="14288">
              <a:solidFill>
                <a:srgbClr val="26455F"/>
              </a:solidFill>
            </a:ln>
          </p:spPr>
        </p:sp>
        <p:sp>
          <p:nvSpPr>
            <p:cNvPr id="10" name="Rectangle 10"/>
            <p:cNvSpPr/>
            <p:nvPr/>
          </p:nvSpPr>
          <p:spPr>
            <a:xfrm>
              <a:off x="609600" y="2286000"/>
              <a:ext cx="57150" cy="1866900"/>
            </a:xfrm>
            <a:prstGeom prst="roundRect">
              <a:avLst>
                <a:gd name="adj" fmla="val 50000"/>
              </a:avLst>
            </a:prstGeom>
            <a:solidFill>
              <a:srgbClr val="34D3C0"/>
            </a:solidFill>
            <a:ln>
              <a:noFill/>
            </a:ln>
          </p:spPr>
        </p:sp>
        <p:sp>
          <p:nvSpPr>
            <p:cNvPr id="11" name="TextBox 11"/>
            <p:cNvSpPr txBox="1"/>
            <p:nvPr/>
          </p:nvSpPr>
          <p:spPr>
            <a:xfrm>
              <a:off x="870394" y="2522458"/>
              <a:ext cx="2837196"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Small epsilon · nearly deterministic</a:t>
              </a:r>
            </a:p>
          </p:txBody>
        </p:sp>
        <p:sp>
          <p:nvSpPr>
            <p:cNvPr id="12" name="Rectangle 12"/>
            <p:cNvSpPr/>
            <p:nvPr/>
          </p:nvSpPr>
          <p:spPr>
            <a:xfrm>
              <a:off x="876300" y="2857500"/>
              <a:ext cx="2095500" cy="800100"/>
            </a:xfrm>
            <a:prstGeom prst="roundRect">
              <a:avLst>
                <a:gd name="adj" fmla="val 9524"/>
              </a:avLst>
            </a:prstGeom>
            <a:solidFill>
              <a:srgbClr val="0E2334"/>
            </a:solidFill>
            <a:ln w="14288">
              <a:solidFill>
                <a:srgbClr val="26455F"/>
              </a:solidFill>
            </a:ln>
          </p:spPr>
        </p:sp>
        <p:sp>
          <p:nvSpPr>
            <p:cNvPr id="13" name="Ellipse 13"/>
            <p:cNvSpPr/>
            <p:nvPr/>
          </p:nvSpPr>
          <p:spPr>
            <a:xfrm>
              <a:off x="1019175" y="3105150"/>
              <a:ext cx="133350" cy="304800"/>
            </a:xfrm>
            <a:prstGeom prst="ellipse">
              <a:avLst/>
            </a:prstGeom>
            <a:solidFill>
              <a:srgbClr val="34D3C0">
                <a:alpha val="50000"/>
              </a:srgbClr>
            </a:solidFill>
            <a:ln>
              <a:noFill/>
            </a:ln>
          </p:spPr>
        </p:sp>
        <p:sp>
          <p:nvSpPr>
            <p:cNvPr id="14" name="Ellipse 14"/>
            <p:cNvSpPr/>
            <p:nvPr/>
          </p:nvSpPr>
          <p:spPr>
            <a:xfrm>
              <a:off x="2609850" y="3162300"/>
              <a:ext cx="304800" cy="190500"/>
            </a:xfrm>
            <a:prstGeom prst="ellipse">
              <a:avLst/>
            </a:prstGeom>
            <a:solidFill>
              <a:srgbClr val="F2C14E">
                <a:alpha val="40000"/>
              </a:srgbClr>
            </a:solidFill>
            <a:ln>
              <a:noFill/>
            </a:ln>
          </p:spPr>
        </p:sp>
        <p:sp>
          <p:nvSpPr>
            <p:cNvPr id="15" name="Freeform 15"/>
            <p:cNvSpPr/>
            <p:nvPr/>
          </p:nvSpPr>
          <p:spPr>
            <a:xfrm>
              <a:off x="1085850" y="3123565"/>
              <a:ext cx="1676400" cy="84455"/>
            </a:xfrm>
            <a:custGeom>
              <a:avLst/>
              <a:gdLst/>
              <a:ahLst/>
              <a:cxnLst/>
              <a:rect l="l" t="t" r="r" b="b"/>
              <a:pathLst>
                <a:path w="1676400" h="84455">
                  <a:moveTo>
                    <a:pt x="0" y="84455"/>
                  </a:moveTo>
                  <a:cubicBezTo>
                    <a:pt x="558800" y="24765"/>
                    <a:pt x="1117600" y="0"/>
                    <a:pt x="1676400" y="10160"/>
                  </a:cubicBezTo>
                </a:path>
              </a:pathLst>
            </a:custGeom>
            <a:noFill/>
            <a:ln w="17145" cap="rnd">
              <a:solidFill>
                <a:srgbClr val="34D3C0"/>
              </a:solidFill>
              <a:round/>
            </a:ln>
          </p:spPr>
        </p:sp>
        <p:sp>
          <p:nvSpPr>
            <p:cNvPr id="16" name="Freeform 16"/>
            <p:cNvSpPr/>
            <p:nvPr/>
          </p:nvSpPr>
          <p:spPr>
            <a:xfrm>
              <a:off x="1085850" y="3247390"/>
              <a:ext cx="1676400" cy="10160"/>
            </a:xfrm>
            <a:custGeom>
              <a:avLst/>
              <a:gdLst/>
              <a:ahLst/>
              <a:cxnLst/>
              <a:rect l="l" t="t" r="r" b="b"/>
              <a:pathLst>
                <a:path w="1676400" h="10160">
                  <a:moveTo>
                    <a:pt x="0" y="10160"/>
                  </a:moveTo>
                  <a:cubicBezTo>
                    <a:pt x="558800" y="0"/>
                    <a:pt x="1117600" y="0"/>
                    <a:pt x="1676400" y="10160"/>
                  </a:cubicBezTo>
                </a:path>
              </a:pathLst>
            </a:custGeom>
            <a:noFill/>
            <a:ln w="17145" cap="rnd">
              <a:solidFill>
                <a:srgbClr val="34D3C0"/>
              </a:solidFill>
              <a:round/>
            </a:ln>
          </p:spPr>
        </p:sp>
        <p:sp>
          <p:nvSpPr>
            <p:cNvPr id="17" name="Freeform 17"/>
            <p:cNvSpPr/>
            <p:nvPr/>
          </p:nvSpPr>
          <p:spPr>
            <a:xfrm>
              <a:off x="1085850" y="3307080"/>
              <a:ext cx="1676400" cy="74295"/>
            </a:xfrm>
            <a:custGeom>
              <a:avLst/>
              <a:gdLst/>
              <a:ahLst/>
              <a:cxnLst/>
              <a:rect l="l" t="t" r="r" b="b"/>
              <a:pathLst>
                <a:path w="1676400" h="74295">
                  <a:moveTo>
                    <a:pt x="0" y="0"/>
                  </a:moveTo>
                  <a:cubicBezTo>
                    <a:pt x="558800" y="39370"/>
                    <a:pt x="1117600" y="64135"/>
                    <a:pt x="1676400" y="74295"/>
                  </a:cubicBezTo>
                </a:path>
              </a:pathLst>
            </a:custGeom>
            <a:noFill/>
            <a:ln w="17145" cap="rnd">
              <a:solidFill>
                <a:srgbClr val="34D3C0"/>
              </a:solidFill>
              <a:round/>
            </a:ln>
          </p:spPr>
        </p:sp>
        <p:sp>
          <p:nvSpPr>
            <p:cNvPr id="18" name="TextBox 18"/>
            <p:cNvSpPr txBox="1"/>
            <p:nvPr/>
          </p:nvSpPr>
          <p:spPr>
            <a:xfrm>
              <a:off x="1278049" y="3716893"/>
              <a:ext cx="1292003"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eps = 2e-3 (straight)</a:t>
              </a:r>
            </a:p>
          </p:txBody>
        </p:sp>
        <p:sp>
          <p:nvSpPr>
            <p:cNvPr id="19" name="TextBox 19"/>
            <p:cNvSpPr txBox="1"/>
            <p:nvPr/>
          </p:nvSpPr>
          <p:spPr>
            <a:xfrm>
              <a:off x="3233356" y="2938701"/>
              <a:ext cx="197263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learned process is almost</a:t>
              </a:r>
            </a:p>
          </p:txBody>
        </p:sp>
        <p:sp>
          <p:nvSpPr>
            <p:cNvPr id="20" name="TextBox 20"/>
            <p:cNvSpPr txBox="1"/>
            <p:nvPr/>
          </p:nvSpPr>
          <p:spPr>
            <a:xfrm>
              <a:off x="3233356" y="3138726"/>
              <a:ext cx="208377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deterministic; its trajectories</a:t>
              </a:r>
            </a:p>
          </p:txBody>
        </p:sp>
        <p:sp>
          <p:nvSpPr>
            <p:cNvPr id="21" name="TextBox 21"/>
            <p:cNvSpPr txBox="1"/>
            <p:nvPr/>
          </p:nvSpPr>
          <p:spPr>
            <a:xfrm>
              <a:off x="3233356" y="3338751"/>
              <a:ext cx="171666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are nearly straight lines.</a:t>
              </a:r>
            </a:p>
          </p:txBody>
        </p:sp>
      </p:grpSp>
      <p:grpSp>
        <p:nvGrpSpPr>
          <p:cNvPr id="37" name="Group 37"/>
          <p:cNvGrpSpPr/>
          <p:nvPr/>
        </p:nvGrpSpPr>
        <p:grpSpPr>
          <a:xfrm>
            <a:off x="6248400" y="2286000"/>
            <a:ext cx="5334000" cy="1866900"/>
            <a:chOff x="6248400" y="2286000"/>
            <a:chExt cx="5334000" cy="1866900"/>
          </a:xfrm>
        </p:grpSpPr>
        <p:sp>
          <p:nvSpPr>
            <p:cNvPr id="23" name="Rectangle 23"/>
            <p:cNvSpPr/>
            <p:nvPr/>
          </p:nvSpPr>
          <p:spPr>
            <a:xfrm>
              <a:off x="6248400" y="2286000"/>
              <a:ext cx="5334000" cy="1866900"/>
            </a:xfrm>
            <a:prstGeom prst="roundRect">
              <a:avLst>
                <a:gd name="adj" fmla="val 7143"/>
              </a:avLst>
            </a:prstGeom>
            <a:solidFill>
              <a:schemeClr val="accent5"/>
            </a:solidFill>
            <a:ln w="14288">
              <a:solidFill>
                <a:srgbClr val="26455F"/>
              </a:solidFill>
            </a:ln>
          </p:spPr>
        </p:sp>
        <p:sp>
          <p:nvSpPr>
            <p:cNvPr id="24" name="Rectangle 24"/>
            <p:cNvSpPr/>
            <p:nvPr/>
          </p:nvSpPr>
          <p:spPr>
            <a:xfrm>
              <a:off x="6248400" y="2286000"/>
              <a:ext cx="57150" cy="1866900"/>
            </a:xfrm>
            <a:prstGeom prst="roundRect">
              <a:avLst>
                <a:gd name="adj" fmla="val 50000"/>
              </a:avLst>
            </a:prstGeom>
            <a:solidFill>
              <a:srgbClr val="F2C14E"/>
            </a:solidFill>
            <a:ln>
              <a:noFill/>
            </a:ln>
          </p:spPr>
        </p:sp>
        <p:sp>
          <p:nvSpPr>
            <p:cNvPr id="25" name="TextBox 25"/>
            <p:cNvSpPr txBox="1"/>
            <p:nvPr/>
          </p:nvSpPr>
          <p:spPr>
            <a:xfrm>
              <a:off x="6509194" y="2522458"/>
              <a:ext cx="2853980"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Large epsilon · volatile, spread out</a:t>
              </a:r>
            </a:p>
          </p:txBody>
        </p:sp>
        <p:sp>
          <p:nvSpPr>
            <p:cNvPr id="26" name="Rectangle 26"/>
            <p:cNvSpPr/>
            <p:nvPr/>
          </p:nvSpPr>
          <p:spPr>
            <a:xfrm>
              <a:off x="6515100" y="2857500"/>
              <a:ext cx="2095500" cy="800100"/>
            </a:xfrm>
            <a:prstGeom prst="roundRect">
              <a:avLst>
                <a:gd name="adj" fmla="val 9524"/>
              </a:avLst>
            </a:prstGeom>
            <a:solidFill>
              <a:srgbClr val="0E2334"/>
            </a:solidFill>
            <a:ln w="14288">
              <a:solidFill>
                <a:srgbClr val="26455F"/>
              </a:solidFill>
            </a:ln>
          </p:spPr>
        </p:sp>
        <p:sp>
          <p:nvSpPr>
            <p:cNvPr id="27" name="Ellipse 27"/>
            <p:cNvSpPr/>
            <p:nvPr/>
          </p:nvSpPr>
          <p:spPr>
            <a:xfrm>
              <a:off x="6657975" y="3105150"/>
              <a:ext cx="133350" cy="304800"/>
            </a:xfrm>
            <a:prstGeom prst="ellipse">
              <a:avLst/>
            </a:prstGeom>
            <a:solidFill>
              <a:srgbClr val="F2C14E">
                <a:alpha val="50000"/>
              </a:srgbClr>
            </a:solidFill>
            <a:ln>
              <a:noFill/>
            </a:ln>
          </p:spPr>
        </p:sp>
        <p:sp>
          <p:nvSpPr>
            <p:cNvPr id="28" name="Ellipse 28"/>
            <p:cNvSpPr/>
            <p:nvPr/>
          </p:nvSpPr>
          <p:spPr>
            <a:xfrm>
              <a:off x="8248650" y="3162300"/>
              <a:ext cx="304800" cy="190500"/>
            </a:xfrm>
            <a:prstGeom prst="ellipse">
              <a:avLst/>
            </a:prstGeom>
            <a:solidFill>
              <a:srgbClr val="F2C14E">
                <a:alpha val="40000"/>
              </a:srgbClr>
            </a:solidFill>
            <a:ln>
              <a:noFill/>
            </a:ln>
          </p:spPr>
        </p:sp>
        <p:sp>
          <p:nvSpPr>
            <p:cNvPr id="29" name="Freeform 29"/>
            <p:cNvSpPr/>
            <p:nvPr/>
          </p:nvSpPr>
          <p:spPr>
            <a:xfrm>
              <a:off x="6724650" y="3025775"/>
              <a:ext cx="1676400" cy="182245"/>
            </a:xfrm>
            <a:custGeom>
              <a:avLst/>
              <a:gdLst/>
              <a:ahLst/>
              <a:cxnLst/>
              <a:rect l="l" t="t" r="r" b="b"/>
              <a:pathLst>
                <a:path w="1676400" h="182245">
                  <a:moveTo>
                    <a:pt x="0" y="182245"/>
                  </a:moveTo>
                  <a:cubicBezTo>
                    <a:pt x="558800" y="24765"/>
                    <a:pt x="1117600" y="0"/>
                    <a:pt x="1676400" y="107950"/>
                  </a:cubicBezTo>
                </a:path>
              </a:pathLst>
            </a:custGeom>
            <a:noFill/>
            <a:ln w="17145" cap="rnd">
              <a:solidFill>
                <a:srgbClr val="F2C14E"/>
              </a:solidFill>
              <a:round/>
            </a:ln>
          </p:spPr>
        </p:sp>
        <p:sp>
          <p:nvSpPr>
            <p:cNvPr id="30" name="Freeform 30"/>
            <p:cNvSpPr/>
            <p:nvPr/>
          </p:nvSpPr>
          <p:spPr>
            <a:xfrm>
              <a:off x="6724650" y="3149600"/>
              <a:ext cx="1676400" cy="107950"/>
            </a:xfrm>
            <a:custGeom>
              <a:avLst/>
              <a:gdLst/>
              <a:ahLst/>
              <a:cxnLst/>
              <a:rect l="l" t="t" r="r" b="b"/>
              <a:pathLst>
                <a:path w="1676400" h="107950">
                  <a:moveTo>
                    <a:pt x="0" y="107950"/>
                  </a:moveTo>
                  <a:cubicBezTo>
                    <a:pt x="558800" y="0"/>
                    <a:pt x="1117600" y="0"/>
                    <a:pt x="1676400" y="107950"/>
                  </a:cubicBezTo>
                </a:path>
              </a:pathLst>
            </a:custGeom>
            <a:noFill/>
            <a:ln w="17145" cap="rnd">
              <a:solidFill>
                <a:srgbClr val="F2C14E"/>
              </a:solidFill>
              <a:round/>
            </a:ln>
          </p:spPr>
        </p:sp>
        <p:sp>
          <p:nvSpPr>
            <p:cNvPr id="31" name="Freeform 31"/>
            <p:cNvSpPr/>
            <p:nvPr/>
          </p:nvSpPr>
          <p:spPr>
            <a:xfrm>
              <a:off x="6724650" y="3248660"/>
              <a:ext cx="1676400" cy="132715"/>
            </a:xfrm>
            <a:custGeom>
              <a:avLst/>
              <a:gdLst/>
              <a:ahLst/>
              <a:cxnLst/>
              <a:rect l="l" t="t" r="r" b="b"/>
              <a:pathLst>
                <a:path w="1676400" h="132715">
                  <a:moveTo>
                    <a:pt x="0" y="58420"/>
                  </a:moveTo>
                  <a:cubicBezTo>
                    <a:pt x="558800" y="0"/>
                    <a:pt x="1117600" y="24765"/>
                    <a:pt x="1676400" y="132715"/>
                  </a:cubicBezTo>
                </a:path>
              </a:pathLst>
            </a:custGeom>
            <a:noFill/>
            <a:ln w="17145" cap="rnd">
              <a:solidFill>
                <a:srgbClr val="F2C14E"/>
              </a:solidFill>
              <a:round/>
            </a:ln>
          </p:spPr>
        </p:sp>
        <p:sp>
          <p:nvSpPr>
            <p:cNvPr id="32" name="TextBox 32"/>
            <p:cNvSpPr txBox="1"/>
            <p:nvPr/>
          </p:nvSpPr>
          <p:spPr>
            <a:xfrm>
              <a:off x="6947239" y="3716893"/>
              <a:ext cx="1231222" cy="169069"/>
            </a:xfrm>
            <a:prstGeom prst="rect">
              <a:avLst/>
            </a:prstGeom>
            <a:noFill/>
            <a:ln>
              <a:noFill/>
            </a:ln>
          </p:spPr>
          <p:txBody>
            <a:bodyPr wrap="none" lIns="0" tIns="0" rIns="0" bIns="0" anchor="t" anchorCtr="0">
              <a:spAutoFit/>
            </a:bodyPr>
            <a:lstStyle/>
            <a:p>
              <a:pPr algn="ctr"/>
              <a:r>
                <a:rPr lang="en-US" sz="860" b="1" dirty="0">
                  <a:solidFill>
                    <a:schemeClr val="dk2"/>
                  </a:solidFill>
                  <a:latin typeface="+mn-lt"/>
                  <a:ea typeface="+mn-ea"/>
                  <a:cs typeface="+mn-cs"/>
                </a:rPr>
                <a:t>eps = 1e-1 (volatile)</a:t>
              </a:r>
            </a:p>
          </p:txBody>
        </p:sp>
        <p:sp>
          <p:nvSpPr>
            <p:cNvPr id="33" name="TextBox 33"/>
            <p:cNvSpPr txBox="1"/>
            <p:nvPr/>
          </p:nvSpPr>
          <p:spPr>
            <a:xfrm>
              <a:off x="8872156" y="2938701"/>
              <a:ext cx="201318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Trajectories grow volatile and</a:t>
              </a:r>
            </a:p>
          </p:txBody>
        </p:sp>
        <p:sp>
          <p:nvSpPr>
            <p:cNvPr id="34" name="TextBox 34"/>
            <p:cNvSpPr txBox="1"/>
            <p:nvPr/>
          </p:nvSpPr>
          <p:spPr>
            <a:xfrm>
              <a:off x="8872156" y="3138726"/>
              <a:ext cx="167587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the endpoint conditionals</a:t>
              </a:r>
            </a:p>
          </p:txBody>
        </p:sp>
        <p:sp>
          <p:nvSpPr>
            <p:cNvPr id="35" name="TextBox 35"/>
            <p:cNvSpPr txBox="1"/>
            <p:nvPr/>
          </p:nvSpPr>
          <p:spPr>
            <a:xfrm>
              <a:off x="8872156" y="3338751"/>
              <a:ext cx="1635083"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spread; epsilon sets the</a:t>
              </a:r>
            </a:p>
          </p:txBody>
        </p:sp>
        <p:sp>
          <p:nvSpPr>
            <p:cNvPr id="36" name="TextBox 36"/>
            <p:cNvSpPr txBox="1"/>
            <p:nvPr/>
          </p:nvSpPr>
          <p:spPr>
            <a:xfrm>
              <a:off x="8872156" y="3538776"/>
              <a:ext cx="98924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stochasticity.</a:t>
              </a:r>
            </a:p>
          </p:txBody>
        </p:sp>
      </p:grpSp>
      <p:grpSp>
        <p:nvGrpSpPr>
          <p:cNvPr id="43" name="Group 43"/>
          <p:cNvGrpSpPr/>
          <p:nvPr/>
        </p:nvGrpSpPr>
        <p:grpSpPr>
          <a:xfrm>
            <a:off x="609600" y="4305300"/>
            <a:ext cx="10972800" cy="933450"/>
            <a:chOff x="609600" y="4305300"/>
            <a:chExt cx="10972800" cy="933450"/>
          </a:xfrm>
        </p:grpSpPr>
        <p:sp>
          <p:nvSpPr>
            <p:cNvPr id="38" name="Rectangle 38"/>
            <p:cNvSpPr/>
            <p:nvPr/>
          </p:nvSpPr>
          <p:spPr>
            <a:xfrm>
              <a:off x="609600" y="4305300"/>
              <a:ext cx="10972800" cy="933450"/>
            </a:xfrm>
            <a:prstGeom prst="roundRect">
              <a:avLst>
                <a:gd name="adj" fmla="val 14286"/>
              </a:avLst>
            </a:prstGeom>
            <a:solidFill>
              <a:srgbClr val="0F2E2B"/>
            </a:solidFill>
            <a:ln w="14288">
              <a:solidFill>
                <a:srgbClr val="48C78E"/>
              </a:solidFill>
            </a:ln>
          </p:spPr>
        </p:sp>
        <p:sp>
          <p:nvSpPr>
            <p:cNvPr id="39" name="Rectangle 39"/>
            <p:cNvSpPr/>
            <p:nvPr/>
          </p:nvSpPr>
          <p:spPr>
            <a:xfrm>
              <a:off x="609600" y="4305300"/>
              <a:ext cx="57150" cy="933450"/>
            </a:xfrm>
            <a:prstGeom prst="roundRect">
              <a:avLst>
                <a:gd name="adj" fmla="val 50000"/>
              </a:avLst>
            </a:prstGeom>
            <a:solidFill>
              <a:srgbClr val="48C78E"/>
            </a:solidFill>
            <a:ln>
              <a:noFill/>
            </a:ln>
          </p:spPr>
        </p:sp>
        <p:sp>
          <p:nvSpPr>
            <p:cNvPr id="40" name="TextBox 40"/>
            <p:cNvSpPr txBox="1"/>
            <p:nvPr/>
          </p:nvSpPr>
          <p:spPr>
            <a:xfrm>
              <a:off x="870204" y="4518660"/>
              <a:ext cx="207068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Where LightSB wins most</a:t>
              </a:r>
            </a:p>
          </p:txBody>
        </p:sp>
        <p:sp>
          <p:nvSpPr>
            <p:cNvPr id="41" name="TextBox 41"/>
            <p:cNvSpPr txBox="1"/>
            <p:nvPr/>
          </p:nvSpPr>
          <p:spPr>
            <a:xfrm>
              <a:off x="870776" y="4797504"/>
              <a:ext cx="7651127"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Gains are largest when the target aligns with its sum-exp Gaussian-mixture inductive bias, while accuracy</a:t>
              </a:r>
            </a:p>
          </p:txBody>
        </p:sp>
        <p:sp>
          <p:nvSpPr>
            <p:cNvPr id="42" name="TextBox 42"/>
            <p:cNvSpPr txBox="1"/>
            <p:nvPr/>
          </p:nvSpPr>
          <p:spPr>
            <a:xfrm>
              <a:off x="870776" y="5007054"/>
              <a:ext cx="3921558"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holds across dimensions 2–128 and noise levels 0.1–10.</a:t>
              </a:r>
            </a:p>
          </p:txBody>
        </p:sp>
      </p:grpSp>
      <p:sp>
        <p:nvSpPr>
          <p:cNvPr id="44" name="cue_s08_c1_understand_role_noise_parameter_epsi" title="cue_s08_c1_understand_role_noise_parameter_epsi" descr="cue_s08_c1_understand_role_noise_parameter_epsi To understand the role of the noise parameter epsilon, the authors map a two-dimensional Gaussian to a Swiss roll while sweeping epsilon across three values."/>
          <p:cNvSpPr/>
          <p:nvPr/>
        </p:nvSpPr>
        <p:spPr>
          <a:xfrm>
            <a:off x="609600" y="1504645"/>
            <a:ext cx="10972800" cy="5527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8_c2_when_epsilon_small_learned_process" title="cue_s08_c2_when_epsilon_small_learned_process" descr="cue_s08_c2_when_epsilon_small_learned_process When epsilon is small, the learned process is nearly deterministic and its trajectories are almost straight lines."/>
          <p:cNvSpPr/>
          <p:nvPr/>
        </p:nvSpPr>
        <p:spPr>
          <a:xfrm>
            <a:off x="609600" y="2285771"/>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8_c3_epsilon_grows_trajectories_become_mo" title="cue_s08_c3_epsilon_grows_trajectories_become_mo" descr="cue_s08_c3_epsilon_grows_trajectories_become_mo As epsilon grows, the trajectories become more volatile and the conditional distributions at the endpoint spread out. This matches the theory: epsilon controls the stochasticity of the bridge."/>
          <p:cNvSpPr/>
          <p:nvPr/>
        </p:nvSpPr>
        <p:spPr>
          <a:xfrm>
            <a:off x="6248399" y="2285771"/>
            <a:ext cx="5334000" cy="18667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8_c4_benchmark_results_also_reveal_lights" title="cue_s08_c4_benchmark_results_also_reveal_lights" descr="cue_s08_c4_benchmark_results_also_reveal_lights The benchmark results also reveal that LightSB gains the most when the target distributions align with its Gaussian-mixture inductive bias, while remaining accurate across the tested dimensions and noise levels."/>
          <p:cNvSpPr/>
          <p:nvPr/>
        </p:nvSpPr>
        <p:spPr>
          <a:xfrm>
            <a:off x="609600" y="4305452"/>
            <a:ext cx="10972800"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67472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results in one place</a:t>
            </a:r>
          </a:p>
        </p:txBody>
      </p:sp>
      <p:grpSp>
        <p:nvGrpSpPr>
          <p:cNvPr id="13" name="Group 13"/>
          <p:cNvGrpSpPr/>
          <p:nvPr/>
        </p:nvGrpSpPr>
        <p:grpSpPr>
          <a:xfrm>
            <a:off x="609600" y="1600200"/>
            <a:ext cx="10972800" cy="895397"/>
            <a:chOff x="609600" y="1600200"/>
            <a:chExt cx="10972800" cy="895397"/>
          </a:xfrm>
        </p:grpSpPr>
        <p:sp>
          <p:nvSpPr>
            <p:cNvPr id="5" name="Rectangle 5"/>
            <p:cNvSpPr/>
            <p:nvPr/>
          </p:nvSpPr>
          <p:spPr>
            <a:xfrm>
              <a:off x="609600" y="1600200"/>
              <a:ext cx="10972800" cy="876300"/>
            </a:xfrm>
            <a:prstGeom prst="roundRect">
              <a:avLst>
                <a:gd name="adj" fmla="val 15217"/>
              </a:avLst>
            </a:prstGeom>
            <a:solidFill>
              <a:schemeClr val="accent5"/>
            </a:solidFill>
            <a:ln w="14288">
              <a:solidFill>
                <a:srgbClr val="26455F"/>
              </a:solidFill>
            </a:ln>
          </p:spPr>
        </p:sp>
        <p:sp>
          <p:nvSpPr>
            <p:cNvPr id="6" name="Rectangle 6"/>
            <p:cNvSpPr/>
            <p:nvPr/>
          </p:nvSpPr>
          <p:spPr>
            <a:xfrm>
              <a:off x="609600" y="1600200"/>
              <a:ext cx="57150" cy="876300"/>
            </a:xfrm>
            <a:prstGeom prst="roundRect">
              <a:avLst>
                <a:gd name="adj" fmla="val 50000"/>
              </a:avLst>
            </a:prstGeom>
            <a:solidFill>
              <a:srgbClr val="48C78E"/>
            </a:solidFill>
            <a:ln>
              <a:noFill/>
            </a:ln>
          </p:spPr>
        </p:sp>
        <p:sp>
          <p:nvSpPr>
            <p:cNvPr id="7" name="TextBox 7"/>
            <p:cNvSpPr txBox="1"/>
            <p:nvPr/>
          </p:nvSpPr>
          <p:spPr>
            <a:xfrm>
              <a:off x="870204" y="1813560"/>
              <a:ext cx="282577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Image translation, 512-dim latent</a:t>
              </a:r>
            </a:p>
          </p:txBody>
        </p:sp>
        <p:sp>
          <p:nvSpPr>
            <p:cNvPr id="8" name="Rectangle 8"/>
            <p:cNvSpPr/>
            <p:nvPr/>
          </p:nvSpPr>
          <p:spPr>
            <a:xfrm>
              <a:off x="6667500" y="1714500"/>
              <a:ext cx="2190750" cy="647700"/>
            </a:xfrm>
            <a:prstGeom prst="roundRect">
              <a:avLst>
                <a:gd name="adj" fmla="val 17647"/>
              </a:avLst>
            </a:prstGeom>
            <a:solidFill>
              <a:schemeClr val="accent6"/>
            </a:solidFill>
            <a:ln w="14288">
              <a:solidFill>
                <a:srgbClr val="26455F"/>
              </a:solidFill>
            </a:ln>
          </p:spPr>
        </p:sp>
        <p:sp>
          <p:nvSpPr>
            <p:cNvPr id="9" name="TextBox 9"/>
            <p:cNvSpPr txBox="1"/>
            <p:nvPr/>
          </p:nvSpPr>
          <p:spPr>
            <a:xfrm>
              <a:off x="7226679" y="1834325"/>
              <a:ext cx="1072391"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&lt; 1 min</a:t>
              </a:r>
            </a:p>
          </p:txBody>
        </p:sp>
        <p:sp>
          <p:nvSpPr>
            <p:cNvPr id="10" name="TextBox 10"/>
            <p:cNvSpPr txBox="1"/>
            <p:nvPr/>
          </p:nvSpPr>
          <p:spPr>
            <a:xfrm>
              <a:off x="7113901" y="2144411"/>
              <a:ext cx="1297949"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4 CPU cores, no GPU</a:t>
              </a:r>
            </a:p>
          </p:txBody>
        </p:sp>
        <p:sp>
          <p:nvSpPr>
            <p:cNvPr id="11" name="TextBox 11"/>
            <p:cNvSpPr txBox="1"/>
            <p:nvPr/>
          </p:nvSpPr>
          <p:spPr>
            <a:xfrm>
              <a:off x="870776" y="2092404"/>
              <a:ext cx="509447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Converges in under a minute on four CPU cores, with no GPU involved at</a:t>
              </a:r>
            </a:p>
          </p:txBody>
        </p:sp>
        <p:sp>
          <p:nvSpPr>
            <p:cNvPr id="12" name="TextBox 12"/>
            <p:cNvSpPr txBox="1"/>
            <p:nvPr/>
          </p:nvSpPr>
          <p:spPr>
            <a:xfrm>
              <a:off x="870776" y="2282904"/>
              <a:ext cx="26050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all.</a:t>
              </a:r>
            </a:p>
          </p:txBody>
        </p:sp>
      </p:grpSp>
      <p:grpSp>
        <p:nvGrpSpPr>
          <p:cNvPr id="26" name="Group 26"/>
          <p:cNvGrpSpPr/>
          <p:nvPr/>
        </p:nvGrpSpPr>
        <p:grpSpPr>
          <a:xfrm>
            <a:off x="609600" y="2628900"/>
            <a:ext cx="5334000" cy="2609850"/>
            <a:chOff x="609600" y="2628900"/>
            <a:chExt cx="5334000" cy="2609850"/>
          </a:xfrm>
        </p:grpSpPr>
        <p:sp>
          <p:nvSpPr>
            <p:cNvPr id="14" name="Rectangle 14"/>
            <p:cNvSpPr/>
            <p:nvPr/>
          </p:nvSpPr>
          <p:spPr>
            <a:xfrm>
              <a:off x="609600" y="2628900"/>
              <a:ext cx="5334000" cy="2609850"/>
            </a:xfrm>
            <a:prstGeom prst="roundRect">
              <a:avLst>
                <a:gd name="adj" fmla="val 5109"/>
              </a:avLst>
            </a:prstGeom>
            <a:solidFill>
              <a:srgbClr val="0F2E2B"/>
            </a:solidFill>
            <a:ln w="14288">
              <a:solidFill>
                <a:srgbClr val="34D3C0"/>
              </a:solidFill>
            </a:ln>
          </p:spPr>
        </p:sp>
        <p:sp>
          <p:nvSpPr>
            <p:cNvPr id="15" name="Rectangle 15"/>
            <p:cNvSpPr/>
            <p:nvPr/>
          </p:nvSpPr>
          <p:spPr>
            <a:xfrm>
              <a:off x="609600" y="2628900"/>
              <a:ext cx="57150" cy="2609850"/>
            </a:xfrm>
            <a:prstGeom prst="roundRect">
              <a:avLst>
                <a:gd name="adj" fmla="val 50000"/>
              </a:avLst>
            </a:prstGeom>
            <a:solidFill>
              <a:srgbClr val="34D3C0"/>
            </a:solidFill>
            <a:ln>
              <a:noFill/>
            </a:ln>
          </p:spPr>
        </p:sp>
        <p:sp>
          <p:nvSpPr>
            <p:cNvPr id="16" name="TextBox 16"/>
            <p:cNvSpPr txBox="1"/>
            <p:nvPr/>
          </p:nvSpPr>
          <p:spPr>
            <a:xfrm>
              <a:off x="870204" y="2861310"/>
              <a:ext cx="3122767"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Single-cell, hardest 1000-dim setting</a:t>
              </a:r>
            </a:p>
          </p:txBody>
        </p:sp>
        <p:sp>
          <p:nvSpPr>
            <p:cNvPr id="17" name="Rectangle 17"/>
            <p:cNvSpPr/>
            <p:nvPr/>
          </p:nvSpPr>
          <p:spPr>
            <a:xfrm>
              <a:off x="876300" y="3181350"/>
              <a:ext cx="2381250" cy="914400"/>
            </a:xfrm>
            <a:prstGeom prst="roundRect">
              <a:avLst>
                <a:gd name="adj" fmla="val 12500"/>
              </a:avLst>
            </a:prstGeom>
            <a:solidFill>
              <a:schemeClr val="accent6"/>
            </a:solidFill>
            <a:ln w="14288">
              <a:solidFill>
                <a:srgbClr val="26455F"/>
              </a:solidFill>
            </a:ln>
          </p:spPr>
        </p:sp>
        <p:sp>
          <p:nvSpPr>
            <p:cNvPr id="18" name="TextBox 18"/>
            <p:cNvSpPr txBox="1"/>
            <p:nvPr/>
          </p:nvSpPr>
          <p:spPr>
            <a:xfrm>
              <a:off x="1705651" y="3450526"/>
              <a:ext cx="722547"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1.27</a:t>
              </a:r>
            </a:p>
          </p:txBody>
        </p:sp>
        <p:sp>
          <p:nvSpPr>
            <p:cNvPr id="19" name="TextBox 19"/>
            <p:cNvSpPr txBox="1"/>
            <p:nvPr/>
          </p:nvSpPr>
          <p:spPr>
            <a:xfrm>
              <a:off x="1371047" y="3829955"/>
              <a:ext cx="139175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energy dist · LightSB</a:t>
              </a:r>
            </a:p>
          </p:txBody>
        </p:sp>
        <p:sp>
          <p:nvSpPr>
            <p:cNvPr id="20" name="Rectangle 20"/>
            <p:cNvSpPr/>
            <p:nvPr/>
          </p:nvSpPr>
          <p:spPr>
            <a:xfrm>
              <a:off x="3524250" y="3181350"/>
              <a:ext cx="2381250" cy="914400"/>
            </a:xfrm>
            <a:prstGeom prst="roundRect">
              <a:avLst>
                <a:gd name="adj" fmla="val 12500"/>
              </a:avLst>
            </a:prstGeom>
            <a:solidFill>
              <a:schemeClr val="accent6"/>
            </a:solidFill>
            <a:ln w="14288">
              <a:solidFill>
                <a:srgbClr val="26455F"/>
              </a:solidFill>
            </a:ln>
          </p:spPr>
        </p:sp>
        <p:sp>
          <p:nvSpPr>
            <p:cNvPr id="21" name="TextBox 21"/>
            <p:cNvSpPr txBox="1"/>
            <p:nvPr/>
          </p:nvSpPr>
          <p:spPr>
            <a:xfrm>
              <a:off x="4353601" y="3450526"/>
              <a:ext cx="722547" cy="440055"/>
            </a:xfrm>
            <a:prstGeom prst="rect">
              <a:avLst/>
            </a:prstGeom>
            <a:noFill/>
            <a:ln>
              <a:noFill/>
            </a:ln>
          </p:spPr>
          <p:txBody>
            <a:bodyPr wrap="none" lIns="0" tIns="0" rIns="0" bIns="0" anchor="t" anchorCtr="0">
              <a:spAutoFit/>
            </a:bodyPr>
            <a:lstStyle/>
            <a:p>
              <a:pPr algn="ctr"/>
              <a:r>
                <a:rPr lang="en-US" sz="2250" b="1" dirty="0">
                  <a:solidFill>
                    <a:schemeClr val="dk2"/>
                  </a:solidFill>
                  <a:latin typeface="+mn-lt"/>
                  <a:ea typeface="+mn-ea"/>
                  <a:cs typeface="+mn-cs"/>
                </a:rPr>
                <a:t>1.32</a:t>
              </a:r>
            </a:p>
          </p:txBody>
        </p:sp>
        <p:sp>
          <p:nvSpPr>
            <p:cNvPr id="22" name="TextBox 22"/>
            <p:cNvSpPr txBox="1"/>
            <p:nvPr/>
          </p:nvSpPr>
          <p:spPr>
            <a:xfrm>
              <a:off x="3879324" y="3829955"/>
              <a:ext cx="1671101"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energy dist · minimax GPU</a:t>
              </a:r>
            </a:p>
          </p:txBody>
        </p:sp>
        <p:sp>
          <p:nvSpPr>
            <p:cNvPr id="23" name="Rectangle 23"/>
            <p:cNvSpPr/>
            <p:nvPr/>
          </p:nvSpPr>
          <p:spPr>
            <a:xfrm>
              <a:off x="876300" y="4210050"/>
              <a:ext cx="5029200" cy="419100"/>
            </a:xfrm>
            <a:prstGeom prst="roundRect">
              <a:avLst>
                <a:gd name="adj" fmla="val 18182"/>
              </a:avLst>
            </a:prstGeom>
            <a:solidFill>
              <a:schemeClr val="accent6"/>
            </a:solidFill>
            <a:ln w="14288">
              <a:solidFill>
                <a:srgbClr val="26455F"/>
              </a:solidFill>
            </a:ln>
          </p:spPr>
        </p:sp>
        <p:sp>
          <p:nvSpPr>
            <p:cNvPr id="24" name="TextBox 24"/>
            <p:cNvSpPr txBox="1"/>
            <p:nvPr/>
          </p:nvSpPr>
          <p:spPr>
            <a:xfrm>
              <a:off x="1061276" y="4359354"/>
              <a:ext cx="2403942" cy="212693"/>
            </a:xfrm>
            <a:prstGeom prst="rect">
              <a:avLst/>
            </a:prstGeom>
            <a:noFill/>
            <a:ln>
              <a:noFill/>
            </a:ln>
          </p:spPr>
          <p:txBody>
            <a:bodyPr wrap="none" lIns="0" tIns="0" rIns="0" bIns="0" anchor="t" anchorCtr="0">
              <a:spAutoFit/>
            </a:bodyPr>
            <a:lstStyle/>
            <a:p>
              <a:pPr algn="l"/>
              <a:r>
                <a:rPr lang="en-US" sz="1090" b="1" dirty="0">
                  <a:solidFill>
                    <a:srgbClr val="34D3C0"/>
                  </a:solidFill>
                  <a:latin typeface="Consolas"/>
                  <a:ea typeface="Consolas"/>
                  <a:cs typeface="Consolas"/>
                </a:rPr>
                <a:t>146 s on CPU vs 71 min on a V100</a:t>
              </a:r>
            </a:p>
          </p:txBody>
        </p:sp>
        <p:sp>
          <p:nvSpPr>
            <p:cNvPr id="25" name="TextBox 25"/>
            <p:cNvSpPr txBox="1"/>
            <p:nvPr/>
          </p:nvSpPr>
          <p:spPr>
            <a:xfrm>
              <a:off x="871156" y="4805601"/>
              <a:ext cx="3999626"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Matches a minimax GPU solver at a fraction of the compute.</a:t>
              </a:r>
            </a:p>
          </p:txBody>
        </p:sp>
      </p:grpSp>
      <p:grpSp>
        <p:nvGrpSpPr>
          <p:cNvPr id="36" name="Group 36"/>
          <p:cNvGrpSpPr/>
          <p:nvPr/>
        </p:nvGrpSpPr>
        <p:grpSpPr>
          <a:xfrm>
            <a:off x="6248400" y="2628900"/>
            <a:ext cx="5334000" cy="1257300"/>
            <a:chOff x="6248400" y="2628900"/>
            <a:chExt cx="5334000" cy="1257300"/>
          </a:xfrm>
        </p:grpSpPr>
        <p:sp>
          <p:nvSpPr>
            <p:cNvPr id="27" name="Rectangle 27"/>
            <p:cNvSpPr/>
            <p:nvPr/>
          </p:nvSpPr>
          <p:spPr>
            <a:xfrm>
              <a:off x="6248400" y="2628900"/>
              <a:ext cx="5334000" cy="1257300"/>
            </a:xfrm>
            <a:prstGeom prst="roundRect">
              <a:avLst>
                <a:gd name="adj" fmla="val 10606"/>
              </a:avLst>
            </a:prstGeom>
            <a:solidFill>
              <a:schemeClr val="accent5"/>
            </a:solidFill>
            <a:ln w="14288">
              <a:solidFill>
                <a:srgbClr val="26455F"/>
              </a:solidFill>
            </a:ln>
          </p:spPr>
        </p:sp>
        <p:sp>
          <p:nvSpPr>
            <p:cNvPr id="28" name="Rectangle 28"/>
            <p:cNvSpPr/>
            <p:nvPr/>
          </p:nvSpPr>
          <p:spPr>
            <a:xfrm>
              <a:off x="6248400" y="2628900"/>
              <a:ext cx="57150" cy="1257300"/>
            </a:xfrm>
            <a:prstGeom prst="roundRect">
              <a:avLst>
                <a:gd name="adj" fmla="val 50000"/>
              </a:avLst>
            </a:prstGeom>
            <a:solidFill>
              <a:srgbClr val="F2C14E"/>
            </a:solidFill>
            <a:ln>
              <a:noFill/>
            </a:ln>
          </p:spPr>
        </p:sp>
        <p:sp>
          <p:nvSpPr>
            <p:cNvPr id="29" name="TextBox 29"/>
            <p:cNvSpPr txBox="1"/>
            <p:nvPr/>
          </p:nvSpPr>
          <p:spPr>
            <a:xfrm>
              <a:off x="6509004" y="2861310"/>
              <a:ext cx="1785308"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EOT benchmark error</a:t>
              </a:r>
            </a:p>
          </p:txBody>
        </p:sp>
        <p:sp>
          <p:nvSpPr>
            <p:cNvPr id="30" name="Rectangle 30"/>
            <p:cNvSpPr/>
            <p:nvPr/>
          </p:nvSpPr>
          <p:spPr>
            <a:xfrm>
              <a:off x="6515100" y="3143250"/>
              <a:ext cx="2381250" cy="609600"/>
            </a:xfrm>
            <a:prstGeom prst="roundRect">
              <a:avLst>
                <a:gd name="adj" fmla="val 18750"/>
              </a:avLst>
            </a:prstGeom>
            <a:solidFill>
              <a:schemeClr val="accent6"/>
            </a:solidFill>
            <a:ln w="14288">
              <a:solidFill>
                <a:srgbClr val="26455F"/>
              </a:solidFill>
            </a:ln>
          </p:spPr>
        </p:sp>
        <p:sp>
          <p:nvSpPr>
            <p:cNvPr id="31" name="TextBox 31"/>
            <p:cNvSpPr txBox="1"/>
            <p:nvPr/>
          </p:nvSpPr>
          <p:spPr>
            <a:xfrm>
              <a:off x="7225186" y="3241739"/>
              <a:ext cx="961077" cy="440055"/>
            </a:xfrm>
            <a:prstGeom prst="rect">
              <a:avLst/>
            </a:prstGeom>
            <a:noFill/>
            <a:ln>
              <a:noFill/>
            </a:ln>
          </p:spPr>
          <p:txBody>
            <a:bodyPr wrap="none" lIns="0" tIns="0" rIns="0" bIns="0" anchor="t" anchorCtr="0">
              <a:spAutoFit/>
            </a:bodyPr>
            <a:lstStyle/>
            <a:p>
              <a:pPr algn="ctr"/>
              <a:r>
                <a:rPr lang="en-US" sz="2250" b="1" dirty="0">
                  <a:solidFill>
                    <a:srgbClr val="48C78E"/>
                  </a:solidFill>
                  <a:latin typeface="+mn-lt"/>
                  <a:ea typeface="+mn-ea"/>
                  <a:cs typeface="+mn-cs"/>
                </a:rPr>
                <a:t>0.03%</a:t>
              </a:r>
            </a:p>
          </p:txBody>
        </p:sp>
        <p:sp>
          <p:nvSpPr>
            <p:cNvPr id="32" name="TextBox 32"/>
            <p:cNvSpPr txBox="1"/>
            <p:nvPr/>
          </p:nvSpPr>
          <p:spPr>
            <a:xfrm>
              <a:off x="7086201" y="3541919"/>
              <a:ext cx="123904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LightSB, best case</a:t>
              </a:r>
            </a:p>
          </p:txBody>
        </p:sp>
        <p:sp>
          <p:nvSpPr>
            <p:cNvPr id="33" name="Rectangle 33"/>
            <p:cNvSpPr/>
            <p:nvPr/>
          </p:nvSpPr>
          <p:spPr>
            <a:xfrm>
              <a:off x="9163050" y="3143250"/>
              <a:ext cx="2381250" cy="609600"/>
            </a:xfrm>
            <a:prstGeom prst="roundRect">
              <a:avLst>
                <a:gd name="adj" fmla="val 18750"/>
              </a:avLst>
            </a:prstGeom>
            <a:solidFill>
              <a:schemeClr val="accent6"/>
            </a:solidFill>
            <a:ln w="14288">
              <a:solidFill>
                <a:srgbClr val="26455F"/>
              </a:solidFill>
            </a:ln>
          </p:spPr>
        </p:sp>
        <p:sp>
          <p:nvSpPr>
            <p:cNvPr id="34" name="TextBox 34"/>
            <p:cNvSpPr txBox="1"/>
            <p:nvPr/>
          </p:nvSpPr>
          <p:spPr>
            <a:xfrm>
              <a:off x="9873136" y="3241739"/>
              <a:ext cx="961077" cy="440055"/>
            </a:xfrm>
            <a:prstGeom prst="rect">
              <a:avLst/>
            </a:prstGeom>
            <a:noFill/>
            <a:ln>
              <a:noFill/>
            </a:ln>
          </p:spPr>
          <p:txBody>
            <a:bodyPr wrap="none" lIns="0" tIns="0" rIns="0" bIns="0" anchor="t" anchorCtr="0">
              <a:spAutoFit/>
            </a:bodyPr>
            <a:lstStyle/>
            <a:p>
              <a:pPr algn="ctr"/>
              <a:r>
                <a:rPr lang="en-US" sz="2250" b="1" dirty="0">
                  <a:solidFill>
                    <a:srgbClr val="F2685C"/>
                  </a:solidFill>
                  <a:latin typeface="+mn-lt"/>
                  <a:ea typeface="+mn-ea"/>
                  <a:cs typeface="+mn-cs"/>
                </a:rPr>
                <a:t>1–18%</a:t>
              </a:r>
            </a:p>
          </p:txBody>
        </p:sp>
        <p:sp>
          <p:nvSpPr>
            <p:cNvPr id="35" name="TextBox 35"/>
            <p:cNvSpPr txBox="1"/>
            <p:nvPr/>
          </p:nvSpPr>
          <p:spPr>
            <a:xfrm>
              <a:off x="9721102" y="3541919"/>
              <a:ext cx="126514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best baseline range</a:t>
              </a:r>
            </a:p>
          </p:txBody>
        </p:sp>
      </p:grpSp>
      <p:grpSp>
        <p:nvGrpSpPr>
          <p:cNvPr id="43" name="Group 43"/>
          <p:cNvGrpSpPr/>
          <p:nvPr/>
        </p:nvGrpSpPr>
        <p:grpSpPr>
          <a:xfrm>
            <a:off x="6248400" y="4038600"/>
            <a:ext cx="5334000" cy="1200150"/>
            <a:chOff x="6248400" y="4038600"/>
            <a:chExt cx="5334000" cy="1200150"/>
          </a:xfrm>
        </p:grpSpPr>
        <p:sp>
          <p:nvSpPr>
            <p:cNvPr id="37" name="Rectangle 37"/>
            <p:cNvSpPr/>
            <p:nvPr/>
          </p:nvSpPr>
          <p:spPr>
            <a:xfrm>
              <a:off x="6248400" y="4038600"/>
              <a:ext cx="5334000" cy="1200150"/>
            </a:xfrm>
            <a:prstGeom prst="roundRect">
              <a:avLst>
                <a:gd name="adj" fmla="val 11111"/>
              </a:avLst>
            </a:prstGeom>
            <a:solidFill>
              <a:srgbClr val="2A2417"/>
            </a:solidFill>
            <a:ln w="14288">
              <a:solidFill>
                <a:srgbClr val="F2C14E"/>
              </a:solidFill>
            </a:ln>
          </p:spPr>
        </p:sp>
        <p:sp>
          <p:nvSpPr>
            <p:cNvPr id="38" name="Rectangle 38"/>
            <p:cNvSpPr/>
            <p:nvPr/>
          </p:nvSpPr>
          <p:spPr>
            <a:xfrm>
              <a:off x="6248400" y="4038600"/>
              <a:ext cx="57150" cy="1200150"/>
            </a:xfrm>
            <a:prstGeom prst="roundRect">
              <a:avLst>
                <a:gd name="adj" fmla="val 50000"/>
              </a:avLst>
            </a:prstGeom>
            <a:solidFill>
              <a:srgbClr val="F2C14E"/>
            </a:solidFill>
            <a:ln>
              <a:noFill/>
            </a:ln>
          </p:spPr>
        </p:sp>
        <p:sp>
          <p:nvSpPr>
            <p:cNvPr id="39" name="TextBox 39"/>
            <p:cNvSpPr txBox="1"/>
            <p:nvPr/>
          </p:nvSpPr>
          <p:spPr>
            <a:xfrm>
              <a:off x="6509004" y="4271010"/>
              <a:ext cx="240926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With a theoretical guarantee</a:t>
              </a:r>
            </a:p>
          </p:txBody>
        </p:sp>
        <p:sp>
          <p:nvSpPr>
            <p:cNvPr id="40" name="TextBox 40"/>
            <p:cNvSpPr txBox="1"/>
            <p:nvPr/>
          </p:nvSpPr>
          <p:spPr>
            <a:xfrm>
              <a:off x="6509766" y="4572952"/>
              <a:ext cx="377739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A universal approximator of Schrödinger Bridges, with</a:t>
              </a:r>
            </a:p>
          </p:txBody>
        </p:sp>
        <p:sp>
          <p:nvSpPr>
            <p:cNvPr id="41" name="TextBox 41"/>
            <p:cNvSpPr txBox="1"/>
            <p:nvPr/>
          </p:nvSpPr>
          <p:spPr>
            <a:xfrm>
              <a:off x="6509766" y="4782502"/>
              <a:ext cx="4046239"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generalization error vanishing at the standard parametric</a:t>
              </a:r>
            </a:p>
          </p:txBody>
        </p:sp>
        <p:sp>
          <p:nvSpPr>
            <p:cNvPr id="42" name="TextBox 42"/>
            <p:cNvSpPr txBox="1"/>
            <p:nvPr/>
          </p:nvSpPr>
          <p:spPr>
            <a:xfrm>
              <a:off x="6509766" y="4992052"/>
              <a:ext cx="399383"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rate.</a:t>
              </a:r>
            </a:p>
          </p:txBody>
        </p:sp>
      </p:grpSp>
      <p:sp>
        <p:nvSpPr>
          <p:cNvPr id="44" name="cue_s09_c1_few_numbers_capture_impact_lightsb" title="cue_s09_c1_few_numbers_capture_impact_lightsb" descr="cue_s09_c1_few_numbers_capture_impact_lightsb A few numbers capture the impact. LightSB converges in under one minute on four CPU cores for the five-hundred-twelve-dimensional image translation task, with no GPU at all."/>
          <p:cNvSpPr/>
          <p:nvPr/>
        </p:nvSpPr>
        <p:spPr>
          <a:xfrm>
            <a:off x="609600" y="1599971"/>
            <a:ext cx="10972800" cy="8956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ue_s09_c2_hardest_single_cell_setting_one_thou" title="cue_s09_c2_hardest_single_cell_setting_one_thou" descr="cue_s09_c2_hardest_single_cell_setting_one_thou On the hardest single-cell setting, one thousand dimensions, it reaches an energy distance of one point two seven in one hundred forty-six seconds on CPU, matching a minimax GPU solver that needs seventy-one minutes on a V100."/>
          <p:cNvSpPr/>
          <p:nvPr/>
        </p:nvSpPr>
        <p:spPr>
          <a:xfrm>
            <a:off x="609600" y="2628671"/>
            <a:ext cx="5334000" cy="261015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ue_s09_c3_entropic_transport_benchmark_its_con" title="cue_s09_c3_entropic_transport_benchmark_its_con" descr="cue_s09_c3_entropic_transport_benchmark_its_con On the entropic transport benchmark, its conditional error drops to as little as three hundredths of a percent, against best-baseline errors ranging from about one to eighteen percent."/>
          <p:cNvSpPr/>
          <p:nvPr/>
        </p:nvSpPr>
        <p:spPr>
          <a:xfrm>
            <a:off x="6248399" y="2628671"/>
            <a:ext cx="53340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cue_s09_c4_all_comes_theoretical_guarantee_ligh" title="cue_s09_c4_all_comes_theoretical_guarantee_ligh" descr="cue_s09_c4_all_comes_theoretical_guarantee_ligh And all of this comes with a theoretical guarantee: LightSB is a universal approximator of Schrödinger Bridges, with generalization error that vanishes at the standard parametric rate."/>
          <p:cNvSpPr/>
          <p:nvPr/>
        </p:nvSpPr>
        <p:spPr>
          <a:xfrm>
            <a:off x="6248399" y="4038676"/>
            <a:ext cx="5334000" cy="1200150"/>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542380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light solver the field was missing</a:t>
            </a:r>
          </a:p>
        </p:txBody>
      </p:sp>
      <p:grpSp>
        <p:nvGrpSpPr>
          <p:cNvPr id="10" name="Group 10"/>
          <p:cNvGrpSpPr/>
          <p:nvPr/>
        </p:nvGrpSpPr>
        <p:grpSpPr>
          <a:xfrm>
            <a:off x="609600" y="1619250"/>
            <a:ext cx="10972800" cy="933450"/>
            <a:chOff x="609600" y="1619250"/>
            <a:chExt cx="10972800" cy="933450"/>
          </a:xfrm>
        </p:grpSpPr>
        <p:sp>
          <p:nvSpPr>
            <p:cNvPr id="5" name="Rectangle 5"/>
            <p:cNvSpPr/>
            <p:nvPr/>
          </p:nvSpPr>
          <p:spPr>
            <a:xfrm>
              <a:off x="609600" y="1619250"/>
              <a:ext cx="10972800" cy="933450"/>
            </a:xfrm>
            <a:prstGeom prst="roundRect">
              <a:avLst>
                <a:gd name="adj" fmla="val 14286"/>
              </a:avLst>
            </a:prstGeom>
            <a:solidFill>
              <a:schemeClr val="accent5"/>
            </a:solidFill>
            <a:ln w="14288">
              <a:solidFill>
                <a:srgbClr val="26455F"/>
              </a:solidFill>
            </a:ln>
          </p:spPr>
        </p:sp>
        <p:sp>
          <p:nvSpPr>
            <p:cNvPr id="6" name="Rectangle 6"/>
            <p:cNvSpPr/>
            <p:nvPr/>
          </p:nvSpPr>
          <p:spPr>
            <a:xfrm>
              <a:off x="609600" y="1619250"/>
              <a:ext cx="57150" cy="933450"/>
            </a:xfrm>
            <a:prstGeom prst="roundRect">
              <a:avLst>
                <a:gd name="adj" fmla="val 50000"/>
              </a:avLst>
            </a:prstGeom>
            <a:solidFill>
              <a:schemeClr val="accent2"/>
            </a:solidFill>
            <a:ln>
              <a:noFill/>
            </a:ln>
          </p:spPr>
        </p:sp>
        <p:sp>
          <p:nvSpPr>
            <p:cNvPr id="7" name="Ellipse 7"/>
            <p:cNvSpPr/>
            <p:nvPr/>
          </p:nvSpPr>
          <p:spPr>
            <a:xfrm>
              <a:off x="971550" y="1990725"/>
              <a:ext cx="190500" cy="190500"/>
            </a:xfrm>
            <a:prstGeom prst="ellipse">
              <a:avLst/>
            </a:prstGeom>
            <a:solidFill>
              <a:schemeClr val="accent2"/>
            </a:solidFill>
            <a:ln>
              <a:noFill/>
            </a:ln>
          </p:spPr>
        </p:sp>
        <p:sp>
          <p:nvSpPr>
            <p:cNvPr id="8" name="TextBox 8"/>
            <p:cNvSpPr txBox="1"/>
            <p:nvPr/>
          </p:nvSpPr>
          <p:spPr>
            <a:xfrm>
              <a:off x="1421702" y="1850469"/>
              <a:ext cx="2476691"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Bridges need not be heavy</a:t>
              </a:r>
            </a:p>
          </p:txBody>
        </p:sp>
        <p:sp>
          <p:nvSpPr>
            <p:cNvPr id="9" name="TextBox 9"/>
            <p:cNvSpPr txBox="1"/>
            <p:nvPr/>
          </p:nvSpPr>
          <p:spPr>
            <a:xfrm>
              <a:off x="1423225" y="2168604"/>
              <a:ext cx="6021302"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 Schrödinger Bridge solver does not have to stack networks or run for GPU-hours.</a:t>
              </a:r>
            </a:p>
          </p:txBody>
        </p:sp>
      </p:grpSp>
      <p:grpSp>
        <p:nvGrpSpPr>
          <p:cNvPr id="17" name="Group 17"/>
          <p:cNvGrpSpPr/>
          <p:nvPr/>
        </p:nvGrpSpPr>
        <p:grpSpPr>
          <a:xfrm>
            <a:off x="609600" y="2686050"/>
            <a:ext cx="10972800" cy="971597"/>
            <a:chOff x="609600" y="2686050"/>
            <a:chExt cx="10972800" cy="971597"/>
          </a:xfrm>
        </p:grpSpPr>
        <p:sp>
          <p:nvSpPr>
            <p:cNvPr id="11" name="Rectangle 11"/>
            <p:cNvSpPr/>
            <p:nvPr/>
          </p:nvSpPr>
          <p:spPr>
            <a:xfrm>
              <a:off x="609600" y="2686050"/>
              <a:ext cx="10972800" cy="933450"/>
            </a:xfrm>
            <a:prstGeom prst="roundRect">
              <a:avLst>
                <a:gd name="adj" fmla="val 14286"/>
              </a:avLst>
            </a:prstGeom>
            <a:solidFill>
              <a:schemeClr val="accent5"/>
            </a:solidFill>
            <a:ln w="14288">
              <a:solidFill>
                <a:srgbClr val="26455F"/>
              </a:solidFill>
            </a:ln>
          </p:spPr>
        </p:sp>
        <p:sp>
          <p:nvSpPr>
            <p:cNvPr id="12" name="Rectangle 12"/>
            <p:cNvSpPr/>
            <p:nvPr/>
          </p:nvSpPr>
          <p:spPr>
            <a:xfrm>
              <a:off x="609600" y="2686050"/>
              <a:ext cx="57150" cy="933450"/>
            </a:xfrm>
            <a:prstGeom prst="roundRect">
              <a:avLst>
                <a:gd name="adj" fmla="val 50000"/>
              </a:avLst>
            </a:prstGeom>
            <a:solidFill>
              <a:srgbClr val="34D3C0"/>
            </a:solidFill>
            <a:ln>
              <a:noFill/>
            </a:ln>
          </p:spPr>
        </p:sp>
        <p:sp>
          <p:nvSpPr>
            <p:cNvPr id="13" name="Ellipse 13"/>
            <p:cNvSpPr/>
            <p:nvPr/>
          </p:nvSpPr>
          <p:spPr>
            <a:xfrm>
              <a:off x="971550" y="3057525"/>
              <a:ext cx="190500" cy="190500"/>
            </a:xfrm>
            <a:prstGeom prst="ellipse">
              <a:avLst/>
            </a:prstGeom>
            <a:solidFill>
              <a:srgbClr val="34D3C0"/>
            </a:solidFill>
            <a:ln>
              <a:noFill/>
            </a:ln>
          </p:spPr>
        </p:sp>
        <p:sp>
          <p:nvSpPr>
            <p:cNvPr id="14" name="TextBox 14"/>
            <p:cNvSpPr txBox="1"/>
            <p:nvPr/>
          </p:nvSpPr>
          <p:spPr>
            <a:xfrm>
              <a:off x="1421702" y="2917269"/>
              <a:ext cx="3514315"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A Gaussian mixture and one objective</a:t>
              </a:r>
            </a:p>
          </p:txBody>
        </p:sp>
        <p:sp>
          <p:nvSpPr>
            <p:cNvPr id="15" name="TextBox 15"/>
            <p:cNvSpPr txBox="1"/>
            <p:nvPr/>
          </p:nvSpPr>
          <p:spPr>
            <a:xfrm>
              <a:off x="1423225" y="3235404"/>
              <a:ext cx="591215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Parameterize the transport potential as a Gaussian mixture and optimize a single,</a:t>
              </a:r>
            </a:p>
          </p:txBody>
        </p:sp>
        <p:sp>
          <p:nvSpPr>
            <p:cNvPr id="16" name="TextBox 16"/>
            <p:cNvSpPr txBox="1"/>
            <p:nvPr/>
          </p:nvSpPr>
          <p:spPr>
            <a:xfrm>
              <a:off x="1423225" y="3444954"/>
              <a:ext cx="533755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straightforward objective, no adversarial training or process simulation.</a:t>
              </a:r>
            </a:p>
          </p:txBody>
        </p:sp>
      </p:grpSp>
      <p:grpSp>
        <p:nvGrpSpPr>
          <p:cNvPr id="24" name="Group 24"/>
          <p:cNvGrpSpPr/>
          <p:nvPr/>
        </p:nvGrpSpPr>
        <p:grpSpPr>
          <a:xfrm>
            <a:off x="609600" y="3752850"/>
            <a:ext cx="10972800" cy="971597"/>
            <a:chOff x="609600" y="3752850"/>
            <a:chExt cx="10972800" cy="971597"/>
          </a:xfrm>
        </p:grpSpPr>
        <p:sp>
          <p:nvSpPr>
            <p:cNvPr id="18" name="Rectangle 18"/>
            <p:cNvSpPr/>
            <p:nvPr/>
          </p:nvSpPr>
          <p:spPr>
            <a:xfrm>
              <a:off x="609600" y="3752850"/>
              <a:ext cx="10972800" cy="933450"/>
            </a:xfrm>
            <a:prstGeom prst="roundRect">
              <a:avLst>
                <a:gd name="adj" fmla="val 14286"/>
              </a:avLst>
            </a:prstGeom>
            <a:solidFill>
              <a:schemeClr val="accent5"/>
            </a:solidFill>
            <a:ln w="14288">
              <a:solidFill>
                <a:srgbClr val="26455F"/>
              </a:solidFill>
            </a:ln>
          </p:spPr>
        </p:sp>
        <p:sp>
          <p:nvSpPr>
            <p:cNvPr id="19" name="Rectangle 19"/>
            <p:cNvSpPr/>
            <p:nvPr/>
          </p:nvSpPr>
          <p:spPr>
            <a:xfrm>
              <a:off x="609600" y="3752850"/>
              <a:ext cx="57150" cy="933450"/>
            </a:xfrm>
            <a:prstGeom prst="roundRect">
              <a:avLst>
                <a:gd name="adj" fmla="val 50000"/>
              </a:avLst>
            </a:prstGeom>
            <a:solidFill>
              <a:srgbClr val="48C78E"/>
            </a:solidFill>
            <a:ln>
              <a:noFill/>
            </a:ln>
          </p:spPr>
        </p:sp>
        <p:sp>
          <p:nvSpPr>
            <p:cNvPr id="20" name="Ellipse 20"/>
            <p:cNvSpPr/>
            <p:nvPr/>
          </p:nvSpPr>
          <p:spPr>
            <a:xfrm>
              <a:off x="971550" y="4124325"/>
              <a:ext cx="190500" cy="190500"/>
            </a:xfrm>
            <a:prstGeom prst="ellipse">
              <a:avLst/>
            </a:prstGeom>
            <a:solidFill>
              <a:srgbClr val="48C78E"/>
            </a:solidFill>
            <a:ln>
              <a:noFill/>
            </a:ln>
          </p:spPr>
        </p:sp>
        <p:sp>
          <p:nvSpPr>
            <p:cNvPr id="21" name="TextBox 21"/>
            <p:cNvSpPr txBox="1"/>
            <p:nvPr/>
          </p:nvSpPr>
          <p:spPr>
            <a:xfrm>
              <a:off x="1421702" y="3984069"/>
              <a:ext cx="2584671"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Matches heavy GPU solvers</a:t>
              </a:r>
            </a:p>
          </p:txBody>
        </p:sp>
        <p:sp>
          <p:nvSpPr>
            <p:cNvPr id="22" name="TextBox 22"/>
            <p:cNvSpPr txBox="1"/>
            <p:nvPr/>
          </p:nvSpPr>
          <p:spPr>
            <a:xfrm>
              <a:off x="1423225" y="4302204"/>
              <a:ext cx="7198885"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It matches or outperforms much heavier GPU solvers, carries a universal-approximation guarantee,</a:t>
              </a:r>
            </a:p>
          </p:txBody>
        </p:sp>
        <p:sp>
          <p:nvSpPr>
            <p:cNvPr id="23" name="TextBox 23"/>
            <p:cNvSpPr txBox="1"/>
            <p:nvPr/>
          </p:nvSpPr>
          <p:spPr>
            <a:xfrm>
              <a:off x="1423225" y="4511754"/>
              <a:ext cx="1361018"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and is easy to use.</a:t>
              </a:r>
            </a:p>
          </p:txBody>
        </p:sp>
      </p:grpSp>
      <p:grpSp>
        <p:nvGrpSpPr>
          <p:cNvPr id="30" name="Group 30"/>
          <p:cNvGrpSpPr/>
          <p:nvPr/>
        </p:nvGrpSpPr>
        <p:grpSpPr>
          <a:xfrm>
            <a:off x="609600" y="4819650"/>
            <a:ext cx="10972800" cy="933450"/>
            <a:chOff x="609600" y="4819650"/>
            <a:chExt cx="10972800" cy="933450"/>
          </a:xfrm>
        </p:grpSpPr>
        <p:sp>
          <p:nvSpPr>
            <p:cNvPr id="25" name="Rectangle 25"/>
            <p:cNvSpPr/>
            <p:nvPr/>
          </p:nvSpPr>
          <p:spPr>
            <a:xfrm>
              <a:off x="609600" y="4819650"/>
              <a:ext cx="10972800" cy="933450"/>
            </a:xfrm>
            <a:prstGeom prst="roundRect">
              <a:avLst>
                <a:gd name="adj" fmla="val 14286"/>
              </a:avLst>
            </a:prstGeom>
            <a:solidFill>
              <a:schemeClr val="accent5"/>
            </a:solidFill>
            <a:ln w="14288">
              <a:solidFill>
                <a:srgbClr val="26455F"/>
              </a:solidFill>
            </a:ln>
          </p:spPr>
        </p:sp>
        <p:sp>
          <p:nvSpPr>
            <p:cNvPr id="26" name="Rectangle 26"/>
            <p:cNvSpPr/>
            <p:nvPr/>
          </p:nvSpPr>
          <p:spPr>
            <a:xfrm>
              <a:off x="609600" y="4819650"/>
              <a:ext cx="57150" cy="933450"/>
            </a:xfrm>
            <a:prstGeom prst="roundRect">
              <a:avLst>
                <a:gd name="adj" fmla="val 50000"/>
              </a:avLst>
            </a:prstGeom>
            <a:solidFill>
              <a:srgbClr val="F2C14E"/>
            </a:solidFill>
            <a:ln>
              <a:noFill/>
            </a:ln>
          </p:spPr>
        </p:sp>
        <p:sp>
          <p:nvSpPr>
            <p:cNvPr id="27" name="Ellipse 27"/>
            <p:cNvSpPr/>
            <p:nvPr/>
          </p:nvSpPr>
          <p:spPr>
            <a:xfrm>
              <a:off x="971550" y="5191125"/>
              <a:ext cx="190500" cy="190500"/>
            </a:xfrm>
            <a:prstGeom prst="ellipse">
              <a:avLst/>
            </a:prstGeom>
            <a:solidFill>
              <a:srgbClr val="F2C14E"/>
            </a:solidFill>
            <a:ln>
              <a:noFill/>
            </a:ln>
          </p:spPr>
        </p:sp>
        <p:sp>
          <p:nvSpPr>
            <p:cNvPr id="28" name="TextBox 28"/>
            <p:cNvSpPr txBox="1"/>
            <p:nvPr/>
          </p:nvSpPr>
          <p:spPr>
            <a:xfrm>
              <a:off x="1421702" y="5050869"/>
              <a:ext cx="2702092" cy="271367"/>
            </a:xfrm>
            <a:prstGeom prst="rect">
              <a:avLst/>
            </a:prstGeom>
            <a:noFill/>
            <a:ln>
              <a:noFill/>
            </a:ln>
          </p:spPr>
          <p:txBody>
            <a:bodyPr wrap="none" lIns="0" tIns="0" rIns="0" bIns="0" anchor="t" anchorCtr="0">
              <a:spAutoFit/>
            </a:bodyPr>
            <a:lstStyle/>
            <a:p>
              <a:pPr algn="l"/>
              <a:r>
                <a:rPr lang="en-US" sz="1390" b="1" dirty="0">
                  <a:solidFill>
                    <a:schemeClr val="dk1"/>
                  </a:solidFill>
                  <a:latin typeface="+mn-lt"/>
                  <a:ea typeface="+mn-ea"/>
                  <a:cs typeface="+mn-cs"/>
                </a:rPr>
                <a:t>The simple, reliable baseline</a:t>
              </a:r>
            </a:p>
          </p:txBody>
        </p:sp>
        <p:sp>
          <p:nvSpPr>
            <p:cNvPr id="29" name="TextBox 29"/>
            <p:cNvSpPr txBox="1"/>
            <p:nvPr/>
          </p:nvSpPr>
          <p:spPr>
            <a:xfrm>
              <a:off x="1423225" y="5369004"/>
              <a:ext cx="661633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LightSB is positioned to be the go-to Schrödinger Bridge baseline the field has been missing.</a:t>
              </a:r>
            </a:p>
          </p:txBody>
        </p:sp>
      </p:grpSp>
      <p:sp>
        <p:nvSpPr>
          <p:cNvPr id="31" name="Line 31"/>
          <p:cNvSpPr/>
          <p:nvPr/>
        </p:nvSpPr>
        <p:spPr>
          <a:xfrm>
            <a:off x="609600" y="59436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32" name="TextBox 32"/>
          <p:cNvSpPr txBox="1"/>
          <p:nvPr/>
        </p:nvSpPr>
        <p:spPr>
          <a:xfrm>
            <a:off x="603885" y="6126956"/>
            <a:ext cx="5185245" cy="220028"/>
          </a:xfrm>
          <a:prstGeom prst="rect">
            <a:avLst/>
          </a:prstGeom>
          <a:noFill/>
          <a:ln>
            <a:noFill/>
          </a:ln>
        </p:spPr>
        <p:txBody>
          <a:bodyPr wrap="none" lIns="0" tIns="0" rIns="0" bIns="0" anchor="t" anchorCtr="0">
            <a:spAutoFit/>
          </a:bodyPr>
          <a:lstStyle/>
          <a:p>
            <a:pPr algn="l"/>
            <a:r>
              <a:rPr lang="en-US" sz="1120" b="1" dirty="0">
                <a:solidFill>
                  <a:schemeClr val="dk1"/>
                </a:solidFill>
                <a:latin typeface="+mn-lt"/>
                <a:ea typeface="+mn-ea"/>
                <a:cs typeface="+mn-cs"/>
              </a:rPr>
              <a:t>Light Schrödinger Bridge · ICLR 2024 · Korotin, Gushchin &amp; Burnaev</a:t>
            </a:r>
          </a:p>
        </p:txBody>
      </p:sp>
      <p:sp>
        <p:nvSpPr>
          <p:cNvPr id="33" name="TextBox 33"/>
          <p:cNvSpPr txBox="1"/>
          <p:nvPr/>
        </p:nvSpPr>
        <p:spPr>
          <a:xfrm>
            <a:off x="9442803" y="6139101"/>
            <a:ext cx="2144740" cy="198025"/>
          </a:xfrm>
          <a:prstGeom prst="rect">
            <a:avLst/>
          </a:prstGeom>
          <a:noFill/>
          <a:ln>
            <a:noFill/>
          </a:ln>
        </p:spPr>
        <p:txBody>
          <a:bodyPr wrap="none" lIns="0" tIns="0" rIns="0" bIns="0" anchor="t" anchorCtr="0">
            <a:spAutoFit/>
          </a:bodyPr>
          <a:lstStyle/>
          <a:p>
            <a:pPr algn="r"/>
            <a:r>
              <a:rPr lang="en-US" sz="1010" b="1" dirty="0">
                <a:solidFill>
                  <a:srgbClr val="34D3C0"/>
                </a:solidFill>
                <a:latin typeface="+mn-lt"/>
                <a:ea typeface="+mn-ea"/>
                <a:cs typeface="+mn-cs"/>
              </a:rPr>
              <a:t>github.com/ngushchin/LightSB</a:t>
            </a:r>
          </a:p>
        </p:txBody>
      </p:sp>
      <p:sp>
        <p:nvSpPr>
          <p:cNvPr id="34" name="cue_s10_c1_lasting_message_schr_dinger_bridge" title="cue_s10_c1_lasting_message_schr_dinger_bridge" descr="cue_s10_c1_lasting_message_schr_dinger_bridge The lasting message is that a Schrödinger Bridge solver does not have to be heavy."/>
          <p:cNvSpPr/>
          <p:nvPr/>
        </p:nvSpPr>
        <p:spPr>
          <a:xfrm>
            <a:off x="609600" y="1619173"/>
            <a:ext cx="10972800"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cue_s10_c2_parameterizing_transport_potential_g" title="cue_s10_c2_parameterizing_transport_potential_g" descr="cue_s10_c2_parameterizing_transport_potential_g By parameterizing the transport potential as a Gaussian mixture and optimizing a single, straightforward objective, LightSB solves entropic optimal transport and Schrödinger Bridges in minutes on a CPU, without adversarial training or process simulation."/>
          <p:cNvSpPr/>
          <p:nvPr/>
        </p:nvSpPr>
        <p:spPr>
          <a:xfrm>
            <a:off x="609600" y="2686278"/>
            <a:ext cx="109728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ue_s10_c3_matches_outperforms_much_heavier_gpu" title="cue_s10_c3_matches_outperforms_much_heavier_gpu" descr="cue_s10_c3_matches_outperforms_much_heavier_gpu It matches or outperforms much heavier GPU-based solvers, comes with a universal-approximation guarantee, and is easy to use."/>
          <p:cNvSpPr/>
          <p:nvPr/>
        </p:nvSpPr>
        <p:spPr>
          <a:xfrm>
            <a:off x="609600" y="3752697"/>
            <a:ext cx="10972800" cy="97177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cue_s10_c4_short_lightsb_positioned_simple_reli" title="cue_s10_c4_short_lightsb_positioned_simple_reli" descr="cue_s10_c4_short_lightsb_positioned_simple_reli In short, LightSB is positioned to be the simple, reliable baseline that the Schrödinger Bridge field has been missing."/>
          <p:cNvSpPr/>
          <p:nvPr/>
        </p:nvSpPr>
        <p:spPr>
          <a:xfrm>
            <a:off x="609600" y="4819802"/>
            <a:ext cx="10972800" cy="93337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2026-07-16T05:38:28Z</dcterms:created>
  <dcterms:modified xsi:type="dcterms:W3CDTF">2026-07-16T05:38:28Z</dcterms:modified>
  <cp:category/>
  <cp:contentStatus/>
</cp:coreProperties>
</file>
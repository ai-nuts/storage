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e7940de277227f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rgbClr val="4F8CFF"/>
            </a:solidFill>
            <a:ln>
              <a:noFill/>
            </a:ln>
          </p:spPr>
        </p:sp>
      </p:grpSp>
      <p:sp>
        <p:nvSpPr>
          <p:cNvPr id="5" name="TextBox 5"/>
          <p:cNvSpPr txBox="1"/>
          <p:nvPr/>
        </p:nvSpPr>
        <p:spPr>
          <a:xfrm>
            <a:off x="604647" y="809149"/>
            <a:ext cx="1893213" cy="190690"/>
          </a:xfrm>
          <a:prstGeom prst="rect">
            <a:avLst/>
          </a:prstGeom>
          <a:noFill/>
          <a:ln>
            <a:noFill/>
          </a:ln>
        </p:spPr>
        <p:txBody>
          <a:bodyPr wrap="none" lIns="0" tIns="0" rIns="0" bIns="0" anchor="t" anchorCtr="0">
            <a:spAutoFit/>
          </a:bodyPr>
          <a:lstStyle/>
          <a:p>
            <a:pPr algn="l"/>
            <a:r>
              <a:rPr lang="en-US" sz="980" b="1" spc="225" dirty="0">
                <a:solidFill>
                  <a:srgbClr val="4F8CFF"/>
                </a:solidFill>
                <a:latin typeface="+mn-lt"/>
                <a:ea typeface="+mn-ea"/>
                <a:cs typeface="+mn-cs"/>
              </a:rPr>
              <a:t>HANYANG UNIVERSITY</a:t>
            </a:r>
          </a:p>
        </p:txBody>
      </p:sp>
      <p:sp>
        <p:nvSpPr>
          <p:cNvPr id="6" name="TextBox 6"/>
          <p:cNvSpPr txBox="1"/>
          <p:nvPr/>
        </p:nvSpPr>
        <p:spPr>
          <a:xfrm>
            <a:off x="604838" y="1026795"/>
            <a:ext cx="2753169" cy="176212"/>
          </a:xfrm>
          <a:prstGeom prst="rect">
            <a:avLst/>
          </a:prstGeom>
          <a:noFill/>
          <a:ln>
            <a:noFill/>
          </a:ln>
        </p:spPr>
        <p:txBody>
          <a:bodyPr wrap="none" lIns="0" tIns="0" rIns="0" bIns="0" anchor="t" anchorCtr="0">
            <a:spAutoFit/>
          </a:bodyPr>
          <a:lstStyle/>
          <a:p>
            <a:pPr algn="l"/>
            <a:r>
              <a:rPr lang="en-US" sz="900" b="1" spc="75" dirty="0">
                <a:solidFill>
                  <a:srgbClr val="6E82A6"/>
                </a:solidFill>
                <a:latin typeface="+mn-lt"/>
                <a:ea typeface="+mn-ea"/>
                <a:cs typeface="+mn-cs"/>
              </a:rPr>
              <a:t>NeurIPS 2023 · Datasets &amp; Benchmarks</a:t>
            </a:r>
          </a:p>
        </p:txBody>
      </p:sp>
      <p:grpSp>
        <p:nvGrpSpPr>
          <p:cNvPr id="14" name="Group 14"/>
          <p:cNvGrpSpPr/>
          <p:nvPr/>
        </p:nvGrpSpPr>
        <p:grpSpPr>
          <a:xfrm>
            <a:off x="590550" y="1445895"/>
            <a:ext cx="4859845" cy="2297144"/>
            <a:chOff x="590550" y="1445895"/>
            <a:chExt cx="4859845" cy="2297144"/>
          </a:xfrm>
        </p:grpSpPr>
        <p:sp>
          <p:nvSpPr>
            <p:cNvPr id="7" name="TextBox 7"/>
            <p:cNvSpPr txBox="1"/>
            <p:nvPr/>
          </p:nvSpPr>
          <p:spPr>
            <a:xfrm>
              <a:off x="590550" y="1445895"/>
              <a:ext cx="3478642" cy="762000"/>
            </a:xfrm>
            <a:prstGeom prst="rect">
              <a:avLst/>
            </a:prstGeom>
            <a:noFill/>
            <a:ln>
              <a:noFill/>
            </a:ln>
          </p:spPr>
          <p:txBody>
            <a:bodyPr wrap="none" lIns="0" tIns="0" rIns="0" bIns="0" anchor="t" anchorCtr="0">
              <a:spAutoFit/>
            </a:bodyPr>
            <a:lstStyle/>
            <a:p>
              <a:pPr algn="l"/>
              <a:r>
                <a:rPr lang="en-US" sz="3900" b="1" dirty="0">
                  <a:solidFill>
                    <a:srgbClr val="EAF1FF"/>
                  </a:solidFill>
                  <a:latin typeface="+mj-lt"/>
                  <a:ea typeface="+mj-ea"/>
                  <a:cs typeface="+mj-cs"/>
                </a:rPr>
                <a:t>SiT Dataset</a:t>
              </a:r>
            </a:p>
          </p:txBody>
        </p:sp>
        <p:sp>
          <p:nvSpPr>
            <p:cNvPr id="8" name="TextBox 8"/>
            <p:cNvSpPr txBox="1"/>
            <p:nvPr/>
          </p:nvSpPr>
          <p:spPr>
            <a:xfrm>
              <a:off x="601218" y="2107882"/>
              <a:ext cx="4849177" cy="322707"/>
            </a:xfrm>
            <a:prstGeom prst="rect">
              <a:avLst/>
            </a:prstGeom>
            <a:noFill/>
            <a:ln>
              <a:noFill/>
            </a:ln>
          </p:spPr>
          <p:txBody>
            <a:bodyPr wrap="none" lIns="0" tIns="0" rIns="0" bIns="0" anchor="t" anchorCtr="0">
              <a:spAutoFit/>
            </a:bodyPr>
            <a:lstStyle/>
            <a:p>
              <a:pPr algn="l"/>
              <a:r>
                <a:rPr lang="en-US" sz="1650" b="1" dirty="0">
                  <a:solidFill>
                    <a:srgbClr val="9DB0D0"/>
                  </a:solidFill>
                  <a:latin typeface="+mn-lt"/>
                  <a:ea typeface="+mn-ea"/>
                  <a:cs typeface="+mn-cs"/>
                </a:rPr>
                <a:t>Socially Interactive Pedestrian Trajectory</a:t>
              </a:r>
            </a:p>
          </p:txBody>
        </p:sp>
        <p:sp>
          <p:nvSpPr>
            <p:cNvPr id="9" name="TextBox 9"/>
            <p:cNvSpPr txBox="1"/>
            <p:nvPr/>
          </p:nvSpPr>
          <p:spPr>
            <a:xfrm>
              <a:off x="601218" y="2374582"/>
              <a:ext cx="3221966" cy="322707"/>
            </a:xfrm>
            <a:prstGeom prst="rect">
              <a:avLst/>
            </a:prstGeom>
            <a:noFill/>
            <a:ln>
              <a:noFill/>
            </a:ln>
          </p:spPr>
          <p:txBody>
            <a:bodyPr wrap="none" lIns="0" tIns="0" rIns="0" bIns="0" anchor="t" anchorCtr="0">
              <a:spAutoFit/>
            </a:bodyPr>
            <a:lstStyle/>
            <a:p>
              <a:pPr algn="l"/>
              <a:r>
                <a:rPr lang="en-US" sz="1650" b="1" dirty="0">
                  <a:solidFill>
                    <a:srgbClr val="9DB0D0"/>
                  </a:solidFill>
                  <a:latin typeface="+mn-lt"/>
                  <a:ea typeface="+mn-ea"/>
                  <a:cs typeface="+mn-cs"/>
                </a:rPr>
                <a:t>for Social Navigation Robots</a:t>
              </a:r>
            </a:p>
          </p:txBody>
        </p:sp>
        <p:sp>
          <p:nvSpPr>
            <p:cNvPr id="10" name="Rectangle 10"/>
            <p:cNvSpPr/>
            <p:nvPr/>
          </p:nvSpPr>
          <p:spPr>
            <a:xfrm>
              <a:off x="609600" y="2724150"/>
              <a:ext cx="857250" cy="47625"/>
            </a:xfrm>
            <a:prstGeom prst="roundRect">
              <a:avLst>
                <a:gd name="adj" fmla="val 40000"/>
              </a:avLst>
            </a:prstGeom>
            <a:solidFill>
              <a:srgbClr val="4F8CFF"/>
            </a:solidFill>
            <a:ln>
              <a:noFill/>
            </a:ln>
          </p:spPr>
        </p:sp>
        <p:sp>
          <p:nvSpPr>
            <p:cNvPr id="11" name="TextBox 11"/>
            <p:cNvSpPr txBox="1"/>
            <p:nvPr/>
          </p:nvSpPr>
          <p:spPr>
            <a:xfrm>
              <a:off x="603885" y="3021806"/>
              <a:ext cx="4645341" cy="220028"/>
            </a:xfrm>
            <a:prstGeom prst="rect">
              <a:avLst/>
            </a:prstGeom>
            <a:noFill/>
            <a:ln>
              <a:noFill/>
            </a:ln>
          </p:spPr>
          <p:txBody>
            <a:bodyPr wrap="none" lIns="0" tIns="0" rIns="0" bIns="0" anchor="t" anchorCtr="0">
              <a:spAutoFit/>
            </a:bodyPr>
            <a:lstStyle/>
            <a:p>
              <a:pPr algn="l"/>
              <a:r>
                <a:rPr lang="en-US" sz="1120" dirty="0">
                  <a:solidFill>
                    <a:srgbClr val="EAF1FF"/>
                  </a:solidFill>
                  <a:latin typeface="+mn-lt"/>
                  <a:ea typeface="+mn-ea"/>
                  <a:cs typeface="+mn-cs"/>
                </a:rPr>
                <a:t>Trajectories recorded by a robot moving through real crowds —</a:t>
              </a:r>
            </a:p>
          </p:txBody>
        </p:sp>
        <p:sp>
          <p:nvSpPr>
            <p:cNvPr id="12" name="TextBox 12"/>
            <p:cNvSpPr txBox="1"/>
            <p:nvPr/>
          </p:nvSpPr>
          <p:spPr>
            <a:xfrm>
              <a:off x="603885" y="3231356"/>
              <a:ext cx="4172803" cy="220028"/>
            </a:xfrm>
            <a:prstGeom prst="rect">
              <a:avLst/>
            </a:prstGeom>
            <a:noFill/>
            <a:ln>
              <a:noFill/>
            </a:ln>
          </p:spPr>
          <p:txBody>
            <a:bodyPr wrap="none" lIns="0" tIns="0" rIns="0" bIns="0" anchor="t" anchorCtr="0">
              <a:spAutoFit/>
            </a:bodyPr>
            <a:lstStyle/>
            <a:p>
              <a:pPr algn="l"/>
              <a:r>
                <a:rPr lang="en-US" sz="1120" dirty="0">
                  <a:solidFill>
                    <a:srgbClr val="EAF1FF"/>
                  </a:solidFill>
                  <a:latin typeface="+mn-lt"/>
                  <a:ea typeface="+mn-ea"/>
                  <a:cs typeface="+mn-cs"/>
                </a:rPr>
                <a:t>perceiving and predicting the people around it, up close.</a:t>
              </a:r>
            </a:p>
          </p:txBody>
        </p:sp>
        <p:sp>
          <p:nvSpPr>
            <p:cNvPr id="13" name="TextBox 13"/>
            <p:cNvSpPr txBox="1"/>
            <p:nvPr/>
          </p:nvSpPr>
          <p:spPr>
            <a:xfrm>
              <a:off x="604647" y="3552349"/>
              <a:ext cx="3094105" cy="190690"/>
            </a:xfrm>
            <a:prstGeom prst="rect">
              <a:avLst/>
            </a:prstGeom>
            <a:noFill/>
            <a:ln>
              <a:noFill/>
            </a:ln>
          </p:spPr>
          <p:txBody>
            <a:bodyPr wrap="none" lIns="0" tIns="0" rIns="0" bIns="0" anchor="t" anchorCtr="0">
              <a:spAutoFit/>
            </a:bodyPr>
            <a:lstStyle/>
            <a:p>
              <a:pPr algn="l"/>
              <a:r>
                <a:rPr lang="en-US" sz="980" dirty="0">
                  <a:solidFill>
                    <a:srgbClr val="6E82A6"/>
                  </a:solidFill>
                  <a:latin typeface="+mn-lt"/>
                  <a:ea typeface="+mn-ea"/>
                  <a:cs typeface="+mn-cs"/>
                </a:rPr>
                <a:t>Bae, Kim, Yun, Kang, Choi, Kim, Lee, Choi, Choi</a:t>
              </a:r>
            </a:p>
          </p:txBody>
        </p:sp>
      </p:grpSp>
      <p:sp>
        <p:nvSpPr>
          <p:cNvPr id="15" name="Rectangle 15"/>
          <p:cNvSpPr/>
          <p:nvPr/>
        </p:nvSpPr>
        <p:spPr>
          <a:xfrm>
            <a:off x="609600" y="4114800"/>
            <a:ext cx="2019300" cy="2019300"/>
          </a:xfrm>
          <a:prstGeom prst="roundRect">
            <a:avLst>
              <a:gd name="adj" fmla="val 5660"/>
            </a:avLst>
          </a:prstGeom>
          <a:solidFill>
            <a:srgbClr val="FFFFFF"/>
          </a:solidFill>
          <a:ln>
            <a:noFill/>
          </a:ln>
        </p:spPr>
        <p:txBody>
          <a:bodyPr/>
          <a:p/>
        </p:txBody>
      </p:sp>
      <p:pic>
        <p:nvPicPr>
          <p:cNvPr id="16" name="Image 16"/>
          <p:cNvPicPr>
            <a:picLocks noChangeAspect="1"/>
          </p:cNvPicPr>
          <p:nvPr/>
        </p:nvPicPr>
        <p:blipFill>
          <a:blip r:embed="rId2"/>
          <a:stretch>
            <a:fillRect/>
          </a:stretch>
        </p:blipFill>
        <p:spPr>
          <a:xfrm>
            <a:off x="685800" y="4191000"/>
            <a:ext cx="1866900" cy="1866900"/>
          </a:xfrm>
          <a:prstGeom prst="rect">
            <a:avLst/>
          </a:prstGeom>
        </p:spPr>
      </p:pic>
      <p:sp>
        <p:nvSpPr>
          <p:cNvPr id="17" name="TextBox 17"/>
          <p:cNvSpPr txBox="1"/>
          <p:nvPr/>
        </p:nvSpPr>
        <p:spPr>
          <a:xfrm>
            <a:off x="2852738" y="4665345"/>
            <a:ext cx="1213195" cy="176212"/>
          </a:xfrm>
          <a:prstGeom prst="rect">
            <a:avLst/>
          </a:prstGeom>
          <a:noFill/>
          <a:ln>
            <a:noFill/>
          </a:ln>
        </p:spPr>
        <p:txBody>
          <a:bodyPr wrap="none" lIns="0" tIns="0" rIns="0" bIns="0" anchor="t" anchorCtr="0">
            <a:spAutoFit/>
          </a:bodyPr>
          <a:lstStyle/>
          <a:p>
            <a:pPr algn="l"/>
            <a:r>
              <a:rPr lang="en-US" sz="900" b="1" spc="150" dirty="0">
                <a:solidFill>
                  <a:srgbClr val="9DB0D0"/>
                </a:solidFill>
                <a:latin typeface="+mn-lt"/>
                <a:ea typeface="+mn-ea"/>
                <a:cs typeface="+mn-cs"/>
              </a:rPr>
              <a:t>SCAN FOR CODE</a:t>
            </a:r>
          </a:p>
        </p:txBody>
      </p:sp>
      <p:sp>
        <p:nvSpPr>
          <p:cNvPr id="18" name="TextBox 18"/>
          <p:cNvSpPr txBox="1"/>
          <p:nvPr/>
        </p:nvSpPr>
        <p:spPr>
          <a:xfrm>
            <a:off x="2852547" y="4904899"/>
            <a:ext cx="2744570" cy="190690"/>
          </a:xfrm>
          <a:prstGeom prst="rect">
            <a:avLst/>
          </a:prstGeom>
          <a:noFill/>
          <a:ln>
            <a:noFill/>
          </a:ln>
        </p:spPr>
        <p:txBody>
          <a:bodyPr wrap="none" lIns="0" tIns="0" rIns="0" bIns="0" anchor="t" anchorCtr="0">
            <a:spAutoFit/>
          </a:bodyPr>
          <a:lstStyle/>
          <a:p>
            <a:pPr algn="l"/>
            <a:r>
              <a:rPr lang="en-US" sz="980" b="1" dirty="0">
                <a:solidFill>
                  <a:srgbClr val="4F8CFF"/>
                </a:solidFill>
                <a:latin typeface="+mn-lt"/>
                <a:ea typeface="+mn-ea"/>
                <a:cs typeface="+mn-cs"/>
              </a:rPr>
              <a:t>github.com/SPALaboratory/SiT-Dataset</a:t>
            </a:r>
          </a:p>
        </p:txBody>
      </p:sp>
      <p:sp>
        <p:nvSpPr>
          <p:cNvPr id="19" name="TextBox 19"/>
          <p:cNvSpPr txBox="1"/>
          <p:nvPr/>
        </p:nvSpPr>
        <p:spPr>
          <a:xfrm>
            <a:off x="2852166" y="5411152"/>
            <a:ext cx="2023016" cy="205359"/>
          </a:xfrm>
          <a:prstGeom prst="rect">
            <a:avLst/>
          </a:prstGeom>
          <a:noFill/>
          <a:ln>
            <a:noFill/>
          </a:ln>
        </p:spPr>
        <p:txBody>
          <a:bodyPr wrap="none" lIns="0" tIns="0" rIns="0" bIns="0" anchor="t" anchorCtr="0">
            <a:spAutoFit/>
          </a:bodyPr>
          <a:lstStyle/>
          <a:p>
            <a:pPr algn="l"/>
            <a:r>
              <a:rPr lang="en-US" sz="1050" i="1" dirty="0">
                <a:solidFill>
                  <a:srgbClr val="6E82A6"/>
                </a:solidFill>
                <a:latin typeface="+mn-lt"/>
                <a:ea typeface="+mn-ea"/>
                <a:cs typeface="+mn-cs"/>
              </a:rPr>
              <a:t>Dataset · dev-kit · baselines</a:t>
            </a:r>
          </a:p>
        </p:txBody>
      </p:sp>
      <p:sp>
        <p:nvSpPr>
          <p:cNvPr id="20" name="TextBox 20"/>
          <p:cNvSpPr txBox="1"/>
          <p:nvPr/>
        </p:nvSpPr>
        <p:spPr>
          <a:xfrm>
            <a:off x="2852166" y="5620702"/>
            <a:ext cx="1233354" cy="205359"/>
          </a:xfrm>
          <a:prstGeom prst="rect">
            <a:avLst/>
          </a:prstGeom>
          <a:noFill/>
          <a:ln>
            <a:noFill/>
          </a:ln>
        </p:spPr>
        <p:txBody>
          <a:bodyPr wrap="none" lIns="0" tIns="0" rIns="0" bIns="0" anchor="t" anchorCtr="0">
            <a:spAutoFit/>
          </a:bodyPr>
          <a:lstStyle/>
          <a:p>
            <a:pPr algn="l"/>
            <a:r>
              <a:rPr lang="en-US" sz="1050" i="1" dirty="0">
                <a:solidFill>
                  <a:srgbClr val="6E82A6"/>
                </a:solidFill>
                <a:latin typeface="+mn-lt"/>
                <a:ea typeface="+mn-ea"/>
                <a:cs typeface="+mn-cs"/>
              </a:rPr>
              <a:t>released publicly.</a:t>
            </a:r>
          </a:p>
        </p:txBody>
      </p:sp>
      <p:grpSp>
        <p:nvGrpSpPr>
          <p:cNvPr id="27" name="Group 27"/>
          <p:cNvGrpSpPr/>
          <p:nvPr/>
        </p:nvGrpSpPr>
        <p:grpSpPr>
          <a:xfrm>
            <a:off x="6438900" y="1428750"/>
            <a:ext cx="5143500" cy="1428750"/>
            <a:chOff x="6438900" y="1428750"/>
            <a:chExt cx="5143500" cy="1428750"/>
          </a:xfrm>
        </p:grpSpPr>
        <p:sp>
          <p:nvSpPr>
            <p:cNvPr id="21" name="Rectangle 21"/>
            <p:cNvSpPr/>
            <p:nvPr/>
          </p:nvSpPr>
          <p:spPr>
            <a:xfrm>
              <a:off x="6438900" y="1428750"/>
              <a:ext cx="5143500" cy="1428750"/>
            </a:xfrm>
            <a:prstGeom prst="roundRect">
              <a:avLst>
                <a:gd name="adj" fmla="val 9333"/>
              </a:avLst>
            </a:prstGeom>
            <a:solidFill>
              <a:schemeClr val="accent5"/>
            </a:solidFill>
            <a:ln w="9525">
              <a:solidFill>
                <a:schemeClr val="accent4"/>
              </a:solidFill>
            </a:ln>
          </p:spPr>
        </p:sp>
        <p:sp>
          <p:nvSpPr>
            <p:cNvPr id="22" name="Rectangle 22"/>
            <p:cNvSpPr/>
            <p:nvPr/>
          </p:nvSpPr>
          <p:spPr>
            <a:xfrm>
              <a:off x="6438900" y="1581150"/>
              <a:ext cx="47625" cy="1123950"/>
            </a:xfrm>
            <a:prstGeom prst="roundRect">
              <a:avLst>
                <a:gd name="adj" fmla="val 40000"/>
              </a:avLst>
            </a:prstGeom>
            <a:solidFill>
              <a:srgbClr val="4F8CFF"/>
            </a:solidFill>
            <a:ln>
              <a:noFill/>
            </a:ln>
          </p:spPr>
        </p:sp>
        <p:sp>
          <p:nvSpPr>
            <p:cNvPr id="23" name="TextBox 23"/>
            <p:cNvSpPr txBox="1"/>
            <p:nvPr/>
          </p:nvSpPr>
          <p:spPr>
            <a:xfrm>
              <a:off x="6681597" y="1666399"/>
              <a:ext cx="889845" cy="190690"/>
            </a:xfrm>
            <a:prstGeom prst="rect">
              <a:avLst/>
            </a:prstGeom>
            <a:noFill/>
            <a:ln>
              <a:noFill/>
            </a:ln>
          </p:spPr>
          <p:txBody>
            <a:bodyPr wrap="none" lIns="0" tIns="0" rIns="0" bIns="0" anchor="t" anchorCtr="0">
              <a:spAutoFit/>
            </a:bodyPr>
            <a:lstStyle/>
            <a:p>
              <a:pPr algn="l"/>
              <a:r>
                <a:rPr lang="en-US" sz="980" b="1" spc="150" dirty="0">
                  <a:solidFill>
                    <a:srgbClr val="4F8CFF"/>
                  </a:solidFill>
                  <a:latin typeface="+mn-lt"/>
                  <a:ea typeface="+mn-ea"/>
                  <a:cs typeface="+mn-cs"/>
                </a:rPr>
                <a:t>WHAT IT IS</a:t>
              </a:r>
            </a:p>
          </p:txBody>
        </p:sp>
        <p:sp>
          <p:nvSpPr>
            <p:cNvPr id="24" name="TextBox 24"/>
            <p:cNvSpPr txBox="1"/>
            <p:nvPr/>
          </p:nvSpPr>
          <p:spPr>
            <a:xfrm>
              <a:off x="6680454" y="1927860"/>
              <a:ext cx="3871744"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The SiT dataset — Socially Interactive Pedestrian</a:t>
              </a:r>
            </a:p>
          </p:txBody>
        </p:sp>
        <p:sp>
          <p:nvSpPr>
            <p:cNvPr id="25" name="TextBox 25"/>
            <p:cNvSpPr txBox="1"/>
            <p:nvPr/>
          </p:nvSpPr>
          <p:spPr>
            <a:xfrm>
              <a:off x="6680454" y="2156460"/>
              <a:ext cx="3450554"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Trajectory — captures genuine human-robot</a:t>
              </a:r>
            </a:p>
          </p:txBody>
        </p:sp>
        <p:sp>
          <p:nvSpPr>
            <p:cNvPr id="26" name="TextBox 26"/>
            <p:cNvSpPr txBox="1"/>
            <p:nvPr/>
          </p:nvSpPr>
          <p:spPr>
            <a:xfrm>
              <a:off x="6680454" y="2385060"/>
              <a:ext cx="3275381"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interaction as a robot navigates crowds.</a:t>
              </a:r>
            </a:p>
          </p:txBody>
        </p:sp>
      </p:grpSp>
      <p:grpSp>
        <p:nvGrpSpPr>
          <p:cNvPr id="34" name="Group 34"/>
          <p:cNvGrpSpPr/>
          <p:nvPr/>
        </p:nvGrpSpPr>
        <p:grpSpPr>
          <a:xfrm>
            <a:off x="6438900" y="3028950"/>
            <a:ext cx="5143500" cy="1428750"/>
            <a:chOff x="6438900" y="3028950"/>
            <a:chExt cx="5143500" cy="1428750"/>
          </a:xfrm>
        </p:grpSpPr>
        <p:sp>
          <p:nvSpPr>
            <p:cNvPr id="28" name="Rectangle 28"/>
            <p:cNvSpPr/>
            <p:nvPr/>
          </p:nvSpPr>
          <p:spPr>
            <a:xfrm>
              <a:off x="6438900" y="3028950"/>
              <a:ext cx="5143500" cy="1428750"/>
            </a:xfrm>
            <a:prstGeom prst="roundRect">
              <a:avLst>
                <a:gd name="adj" fmla="val 9333"/>
              </a:avLst>
            </a:prstGeom>
            <a:solidFill>
              <a:schemeClr val="accent5"/>
            </a:solidFill>
            <a:ln w="9525">
              <a:solidFill>
                <a:schemeClr val="accent4"/>
              </a:solidFill>
            </a:ln>
          </p:spPr>
        </p:sp>
        <p:sp>
          <p:nvSpPr>
            <p:cNvPr id="29" name="Rectangle 29"/>
            <p:cNvSpPr/>
            <p:nvPr/>
          </p:nvSpPr>
          <p:spPr>
            <a:xfrm>
              <a:off x="6438900" y="3181350"/>
              <a:ext cx="47625" cy="1123950"/>
            </a:xfrm>
            <a:prstGeom prst="roundRect">
              <a:avLst>
                <a:gd name="adj" fmla="val 40000"/>
              </a:avLst>
            </a:prstGeom>
            <a:solidFill>
              <a:srgbClr val="34D399"/>
            </a:solidFill>
            <a:ln>
              <a:noFill/>
            </a:ln>
          </p:spPr>
        </p:sp>
        <p:sp>
          <p:nvSpPr>
            <p:cNvPr id="30" name="TextBox 30"/>
            <p:cNvSpPr txBox="1"/>
            <p:nvPr/>
          </p:nvSpPr>
          <p:spPr>
            <a:xfrm>
              <a:off x="6681597" y="3266599"/>
              <a:ext cx="1188037" cy="190690"/>
            </a:xfrm>
            <a:prstGeom prst="rect">
              <a:avLst/>
            </a:prstGeom>
            <a:noFill/>
            <a:ln>
              <a:noFill/>
            </a:ln>
          </p:spPr>
          <p:txBody>
            <a:bodyPr wrap="none" lIns="0" tIns="0" rIns="0" bIns="0" anchor="t" anchorCtr="0">
              <a:spAutoFit/>
            </a:bodyPr>
            <a:lstStyle/>
            <a:p>
              <a:pPr algn="l"/>
              <a:r>
                <a:rPr lang="en-US" sz="980" b="1" spc="150" dirty="0">
                  <a:solidFill>
                    <a:srgbClr val="34D399"/>
                  </a:solidFill>
                  <a:latin typeface="+mn-lt"/>
                  <a:ea typeface="+mn-ea"/>
                  <a:cs typeface="+mn-cs"/>
                </a:rPr>
                <a:t>WHY IT IS NEW</a:t>
              </a:r>
            </a:p>
          </p:txBody>
        </p:sp>
        <p:sp>
          <p:nvSpPr>
            <p:cNvPr id="31" name="TextBox 31"/>
            <p:cNvSpPr txBox="1"/>
            <p:nvPr/>
          </p:nvSpPr>
          <p:spPr>
            <a:xfrm>
              <a:off x="6680454" y="3528060"/>
              <a:ext cx="3910777"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Unlike fixed rooftop cameras or cars on separate</a:t>
              </a:r>
            </a:p>
          </p:txBody>
        </p:sp>
        <p:sp>
          <p:nvSpPr>
            <p:cNvPr id="32" name="TextBox 32"/>
            <p:cNvSpPr txBox="1"/>
            <p:nvPr/>
          </p:nvSpPr>
          <p:spPr>
            <a:xfrm>
              <a:off x="6680454" y="3756660"/>
              <a:ext cx="3512829"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roads, SiT was recorded by a mobile robot in</a:t>
              </a:r>
            </a:p>
          </p:txBody>
        </p:sp>
        <p:sp>
          <p:nvSpPr>
            <p:cNvPr id="33" name="TextBox 33"/>
            <p:cNvSpPr txBox="1"/>
            <p:nvPr/>
          </p:nvSpPr>
          <p:spPr>
            <a:xfrm>
              <a:off x="6680454" y="3985260"/>
              <a:ext cx="3474522"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densely populated indoor and outdoor Seoul.</a:t>
              </a:r>
            </a:p>
          </p:txBody>
        </p:sp>
      </p:grpSp>
      <p:grpSp>
        <p:nvGrpSpPr>
          <p:cNvPr id="41" name="Group 41"/>
          <p:cNvGrpSpPr/>
          <p:nvPr/>
        </p:nvGrpSpPr>
        <p:grpSpPr>
          <a:xfrm>
            <a:off x="6438900" y="4629150"/>
            <a:ext cx="5143500" cy="1428750"/>
            <a:chOff x="6438900" y="4629150"/>
            <a:chExt cx="5143500" cy="1428750"/>
          </a:xfrm>
        </p:grpSpPr>
        <p:sp>
          <p:nvSpPr>
            <p:cNvPr id="35" name="Rectangle 35"/>
            <p:cNvSpPr/>
            <p:nvPr/>
          </p:nvSpPr>
          <p:spPr>
            <a:xfrm>
              <a:off x="6438900" y="4629150"/>
              <a:ext cx="5143500" cy="1428750"/>
            </a:xfrm>
            <a:prstGeom prst="roundRect">
              <a:avLst>
                <a:gd name="adj" fmla="val 9333"/>
              </a:avLst>
            </a:prstGeom>
            <a:solidFill>
              <a:schemeClr val="accent5"/>
            </a:solidFill>
            <a:ln w="9525">
              <a:solidFill>
                <a:schemeClr val="accent4"/>
              </a:solidFill>
            </a:ln>
          </p:spPr>
        </p:sp>
        <p:sp>
          <p:nvSpPr>
            <p:cNvPr id="36" name="Rectangle 36"/>
            <p:cNvSpPr/>
            <p:nvPr/>
          </p:nvSpPr>
          <p:spPr>
            <a:xfrm>
              <a:off x="6438900" y="4781550"/>
              <a:ext cx="47625" cy="1123950"/>
            </a:xfrm>
            <a:prstGeom prst="roundRect">
              <a:avLst>
                <a:gd name="adj" fmla="val 40000"/>
              </a:avLst>
            </a:prstGeom>
            <a:solidFill>
              <a:srgbClr val="FBBF24"/>
            </a:solidFill>
            <a:ln>
              <a:noFill/>
            </a:ln>
          </p:spPr>
        </p:sp>
        <p:sp>
          <p:nvSpPr>
            <p:cNvPr id="37" name="TextBox 37"/>
            <p:cNvSpPr txBox="1"/>
            <p:nvPr/>
          </p:nvSpPr>
          <p:spPr>
            <a:xfrm>
              <a:off x="6681597" y="4866799"/>
              <a:ext cx="1195355"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WHAT IT SHIPS</a:t>
              </a:r>
            </a:p>
          </p:txBody>
        </p:sp>
        <p:sp>
          <p:nvSpPr>
            <p:cNvPr id="38" name="TextBox 38"/>
            <p:cNvSpPr txBox="1"/>
            <p:nvPr/>
          </p:nvSpPr>
          <p:spPr>
            <a:xfrm>
              <a:off x="6680454" y="5128260"/>
              <a:ext cx="4155824"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Synchronized LiDAR, camera, IMU and RTK, 2D and 3D</a:t>
              </a:r>
            </a:p>
          </p:txBody>
        </p:sp>
        <p:sp>
          <p:nvSpPr>
            <p:cNvPr id="39" name="TextBox 39"/>
            <p:cNvSpPr txBox="1"/>
            <p:nvPr/>
          </p:nvSpPr>
          <p:spPr>
            <a:xfrm>
              <a:off x="6680454" y="5356860"/>
              <a:ext cx="4083101"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annotations, semantic maps, and a benchmark from</a:t>
              </a:r>
            </a:p>
          </p:txBody>
        </p:sp>
        <p:sp>
          <p:nvSpPr>
            <p:cNvPr id="40" name="TextBox 40"/>
            <p:cNvSpPr txBox="1"/>
            <p:nvPr/>
          </p:nvSpPr>
          <p:spPr>
            <a:xfrm>
              <a:off x="6680454" y="5585460"/>
              <a:ext cx="3008833"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detection to end-to-end forecasting.</a:t>
              </a:r>
            </a:p>
          </p:txBody>
        </p:sp>
      </p:grpSp>
      <p:sp>
        <p:nvSpPr>
          <p:cNvPr id="42" name="cue_s01_c1_social_navigation_robots_move_safely" title="cue_s01_c1_social_navigation_robots_move_safely" descr="cue_s01_c1_social_navigation_robots_move_safely Social navigation robots have to move safely through crowds, and that means perceiving and predicting the paths of the people around them."/>
          <p:cNvSpPr/>
          <p:nvPr/>
        </p:nvSpPr>
        <p:spPr>
          <a:xfrm>
            <a:off x="590092" y="1445666"/>
            <a:ext cx="4859731" cy="229743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1_c2_introduces_sit_dataset_short_sociall" title="cue_s01_c2_introduces_sit_dataset_short_sociall" descr="cue_s01_c2_introduces_sit_dataset_short_sociall This paper introduces the SiT dataset, short for Socially Interactive Pedestrian Trajectory."/>
          <p:cNvSpPr/>
          <p:nvPr/>
        </p:nvSpPr>
        <p:spPr>
          <a:xfrm>
            <a:off x="6438595" y="1428521"/>
            <a:ext cx="51438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1_c3_unlike_earlier_trajectory_datasets_c" title="cue_s01_c3_unlike_earlier_trajectory_datasets_c" descr="cue_s01_c3_unlike_earlier_trajectory_datasets_c Unlike earlier trajectory datasets captured from fixed rooftop cameras or from cars driving on separate roads, SiT was recorded by a mobile robot navigating densely populated indoor and outdoor spaces in downtown Seoul, capturing genuine human-robot interactio"/>
          <p:cNvSpPr/>
          <p:nvPr/>
        </p:nvSpPr>
        <p:spPr>
          <a:xfrm>
            <a:off x="6438595" y="3029178"/>
            <a:ext cx="51438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4_ships_synchronized_lidar_camera_imu" title="cue_s01_c4_ships_synchronized_lidar_camera_imu" descr="cue_s01_c4_ships_synchronized_lidar_camera_imu It ships synchronized LiDAR, camera, IMU, and RTK data with 2D and 3D annotations, semantic maps, and a full benchmark spanning 3D detection, tracking, trajectory prediction, and end-to-end motion forecasting."/>
          <p:cNvSpPr/>
          <p:nvPr/>
        </p:nvSpPr>
        <p:spPr>
          <a:xfrm>
            <a:off x="6438595" y="4629150"/>
            <a:ext cx="51438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rgbClr val="4F8CFF"/>
            </a:solidFill>
            <a:ln>
              <a:noFill/>
            </a:ln>
          </p:spPr>
        </p:sp>
      </p:grpSp>
      <p:sp>
        <p:nvSpPr>
          <p:cNvPr id="5" name="TextBox 5"/>
          <p:cNvSpPr txBox="1"/>
          <p:nvPr/>
        </p:nvSpPr>
        <p:spPr>
          <a:xfrm>
            <a:off x="604647" y="485299"/>
            <a:ext cx="1237409" cy="190690"/>
          </a:xfrm>
          <a:prstGeom prst="rect">
            <a:avLst/>
          </a:prstGeom>
          <a:noFill/>
          <a:ln>
            <a:noFill/>
          </a:ln>
        </p:spPr>
        <p:txBody>
          <a:bodyPr wrap="none" lIns="0" tIns="0" rIns="0" bIns="0" anchor="t" anchorCtr="0">
            <a:spAutoFit/>
          </a:bodyPr>
          <a:lstStyle/>
          <a:p>
            <a:pPr algn="l"/>
            <a:r>
              <a:rPr lang="en-US" sz="980" b="1" spc="225" dirty="0">
                <a:solidFill>
                  <a:srgbClr val="4F8CFF"/>
                </a:solidFill>
                <a:latin typeface="+mn-lt"/>
                <a:ea typeface="+mn-ea"/>
                <a:cs typeface="+mn-cs"/>
              </a:rPr>
              <a:t>THE PROBLEM</a:t>
            </a:r>
          </a:p>
        </p:txBody>
      </p:sp>
      <p:sp>
        <p:nvSpPr>
          <p:cNvPr id="6" name="TextBox 6"/>
          <p:cNvSpPr txBox="1"/>
          <p:nvPr/>
        </p:nvSpPr>
        <p:spPr>
          <a:xfrm>
            <a:off x="596646" y="715328"/>
            <a:ext cx="7721997" cy="498729"/>
          </a:xfrm>
          <a:prstGeom prst="rect">
            <a:avLst/>
          </a:prstGeom>
          <a:noFill/>
          <a:ln>
            <a:noFill/>
          </a:ln>
        </p:spPr>
        <p:txBody>
          <a:bodyPr wrap="none" lIns="0" tIns="0" rIns="0" bIns="0" anchor="t" anchorCtr="0">
            <a:spAutoFit/>
          </a:bodyPr>
          <a:lstStyle/>
          <a:p>
            <a:pPr algn="l"/>
            <a:r>
              <a:rPr lang="en-US" sz="2550" b="1" dirty="0">
                <a:solidFill>
                  <a:srgbClr val="EAF1FF"/>
                </a:solidFill>
                <a:latin typeface="+mj-lt"/>
                <a:ea typeface="+mj-ea"/>
                <a:cs typeface="+mj-cs"/>
              </a:rPr>
              <a:t>Training Data That Never Sees the Robot</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01 / 10</a:t>
            </a:r>
          </a:p>
        </p:txBody>
      </p:sp>
      <p:grpSp>
        <p:nvGrpSpPr>
          <p:cNvPr id="12" name="Group 12"/>
          <p:cNvGrpSpPr/>
          <p:nvPr/>
        </p:nvGrpSpPr>
        <p:grpSpPr>
          <a:xfrm>
            <a:off x="609600" y="1428750"/>
            <a:ext cx="11852853" cy="571500"/>
            <a:chOff x="609600" y="1428750"/>
            <a:chExt cx="11852853" cy="571500"/>
          </a:xfrm>
        </p:grpSpPr>
        <p:sp>
          <p:nvSpPr>
            <p:cNvPr id="9" name="Rectangle 9"/>
            <p:cNvSpPr/>
            <p:nvPr/>
          </p:nvSpPr>
          <p:spPr>
            <a:xfrm>
              <a:off x="609600" y="1428750"/>
              <a:ext cx="10972800" cy="571500"/>
            </a:xfrm>
            <a:prstGeom prst="roundRect">
              <a:avLst>
                <a:gd name="adj" fmla="val 23333"/>
              </a:avLst>
            </a:prstGeom>
            <a:solidFill>
              <a:schemeClr val="accent5"/>
            </a:solidFill>
            <a:ln w="9525">
              <a:solidFill>
                <a:schemeClr val="accent4"/>
              </a:solidFill>
            </a:ln>
          </p:spPr>
        </p:sp>
        <p:sp>
          <p:nvSpPr>
            <p:cNvPr id="10" name="Rectangle 10"/>
            <p:cNvSpPr/>
            <p:nvPr/>
          </p:nvSpPr>
          <p:spPr>
            <a:xfrm>
              <a:off x="609600" y="1581150"/>
              <a:ext cx="47625" cy="266700"/>
            </a:xfrm>
            <a:prstGeom prst="roundRect">
              <a:avLst>
                <a:gd name="adj" fmla="val 40000"/>
              </a:avLst>
            </a:prstGeom>
            <a:solidFill>
              <a:srgbClr val="4F8CFF"/>
            </a:solidFill>
            <a:ln>
              <a:noFill/>
            </a:ln>
          </p:spPr>
        </p:sp>
        <p:sp>
          <p:nvSpPr>
            <p:cNvPr id="11" name="TextBox 11"/>
            <p:cNvSpPr txBox="1"/>
            <p:nvPr/>
          </p:nvSpPr>
          <p:spPr>
            <a:xfrm>
              <a:off x="850392" y="1625918"/>
              <a:ext cx="11612061" cy="264033"/>
            </a:xfrm>
            <a:prstGeom prst="rect">
              <a:avLst/>
            </a:prstGeom>
            <a:noFill/>
            <a:ln>
              <a:noFill/>
            </a:ln>
          </p:spPr>
          <p:txBody>
            <a:bodyPr wrap="none" lIns="0" tIns="0" rIns="0" bIns="0" anchor="t" anchorCtr="0">
              <a:spAutoFit/>
            </a:bodyPr>
            <a:lstStyle/>
            <a:p>
              <a:pPr algn="l"/>
              <a:r>
                <a:rPr lang="en-US" sz="1350" dirty="0">
                  <a:solidFill>
                    <a:srgbClr val="EAF1FF"/>
                  </a:solidFill>
                  <a:latin typeface="+mn-lt"/>
                  <a:ea typeface="+mn-ea"/>
                  <a:cs typeface="+mn-cs"/>
                </a:rPr>
                <a:t>To move safely among people, a robot must perceive nearby pedestrians as individual 3D entities — and predict where they go next.</a:t>
              </a:r>
            </a:p>
          </p:txBody>
        </p:sp>
      </p:grpSp>
      <p:grpSp>
        <p:nvGrpSpPr>
          <p:cNvPr id="15" name="Group 15"/>
          <p:cNvGrpSpPr/>
          <p:nvPr/>
        </p:nvGrpSpPr>
        <p:grpSpPr>
          <a:xfrm>
            <a:off x="609600" y="2114550"/>
            <a:ext cx="10972800" cy="457200"/>
            <a:chOff x="609600" y="2114550"/>
            <a:chExt cx="10972800" cy="457200"/>
          </a:xfrm>
        </p:grpSpPr>
        <p:sp>
          <p:nvSpPr>
            <p:cNvPr id="13" name="Rectangle 13"/>
            <p:cNvSpPr/>
            <p:nvPr/>
          </p:nvSpPr>
          <p:spPr>
            <a:xfrm>
              <a:off x="609600" y="2114550"/>
              <a:ext cx="10972800" cy="457200"/>
            </a:xfrm>
            <a:prstGeom prst="roundRect">
              <a:avLst>
                <a:gd name="adj" fmla="val 29167"/>
              </a:avLst>
            </a:prstGeom>
            <a:solidFill>
              <a:srgbClr val="5A2130"/>
            </a:solidFill>
            <a:ln w="9525">
              <a:solidFill>
                <a:srgbClr val="F87171"/>
              </a:solidFill>
            </a:ln>
          </p:spPr>
        </p:sp>
        <p:sp>
          <p:nvSpPr>
            <p:cNvPr id="14" name="TextBox 14"/>
            <p:cNvSpPr txBox="1"/>
            <p:nvPr/>
          </p:nvSpPr>
          <p:spPr>
            <a:xfrm>
              <a:off x="850773" y="2262664"/>
              <a:ext cx="8495804" cy="249364"/>
            </a:xfrm>
            <a:prstGeom prst="rect">
              <a:avLst/>
            </a:prstGeom>
            <a:noFill/>
            <a:ln>
              <a:noFill/>
            </a:ln>
          </p:spPr>
          <p:txBody>
            <a:bodyPr wrap="none" lIns="0" tIns="0" rIns="0" bIns="0" anchor="t" anchorCtr="0">
              <a:spAutoFit/>
            </a:bodyPr>
            <a:lstStyle/>
            <a:p>
              <a:pPr algn="l"/>
              <a:r>
                <a:rPr lang="en-US" sz="1280" b="1" dirty="0">
                  <a:solidFill>
                    <a:srgbClr val="EAF1FF"/>
                  </a:solidFill>
                  <a:latin typeface="+mn-lt"/>
                  <a:ea typeface="+mn-ea"/>
                  <a:cs typeface="+mn-cs"/>
                </a:rPr>
                <a:t>The problem: the datasets used to train these models don't reflect the robot's real situation.</a:t>
              </a:r>
            </a:p>
          </p:txBody>
        </p:sp>
      </p:grpSp>
      <p:grpSp>
        <p:nvGrpSpPr>
          <p:cNvPr id="28" name="Group 28"/>
          <p:cNvGrpSpPr/>
          <p:nvPr/>
        </p:nvGrpSpPr>
        <p:grpSpPr>
          <a:xfrm>
            <a:off x="609600" y="2743200"/>
            <a:ext cx="5334000" cy="2305050"/>
            <a:chOff x="609600" y="2743200"/>
            <a:chExt cx="5334000" cy="2305050"/>
          </a:xfrm>
        </p:grpSpPr>
        <p:sp>
          <p:nvSpPr>
            <p:cNvPr id="16" name="Rectangle 16"/>
            <p:cNvSpPr/>
            <p:nvPr/>
          </p:nvSpPr>
          <p:spPr>
            <a:xfrm>
              <a:off x="609600" y="2743200"/>
              <a:ext cx="5334000" cy="2305050"/>
            </a:xfrm>
            <a:prstGeom prst="roundRect">
              <a:avLst>
                <a:gd name="adj" fmla="val 5785"/>
              </a:avLst>
            </a:prstGeom>
            <a:solidFill>
              <a:schemeClr val="accent5"/>
            </a:solidFill>
            <a:ln w="9525">
              <a:solidFill>
                <a:schemeClr val="accent4"/>
              </a:solidFill>
            </a:ln>
          </p:spPr>
        </p:sp>
        <p:sp>
          <p:nvSpPr>
            <p:cNvPr id="17" name="Rectangle 17"/>
            <p:cNvSpPr/>
            <p:nvPr/>
          </p:nvSpPr>
          <p:spPr>
            <a:xfrm>
              <a:off x="609600" y="2895600"/>
              <a:ext cx="47625" cy="2000250"/>
            </a:xfrm>
            <a:prstGeom prst="roundRect">
              <a:avLst>
                <a:gd name="adj" fmla="val 40000"/>
              </a:avLst>
            </a:prstGeom>
            <a:solidFill>
              <a:srgbClr val="A78BFA"/>
            </a:solidFill>
            <a:ln>
              <a:noFill/>
            </a:ln>
          </p:spPr>
        </p:sp>
        <p:sp>
          <p:nvSpPr>
            <p:cNvPr id="18" name="TextBox 18"/>
            <p:cNvSpPr txBox="1"/>
            <p:nvPr/>
          </p:nvSpPr>
          <p:spPr>
            <a:xfrm>
              <a:off x="869823" y="2948464"/>
              <a:ext cx="2099839" cy="249364"/>
            </a:xfrm>
            <a:prstGeom prst="rect">
              <a:avLst/>
            </a:prstGeom>
            <a:noFill/>
            <a:ln>
              <a:noFill/>
            </a:ln>
          </p:spPr>
          <p:txBody>
            <a:bodyPr wrap="none" lIns="0" tIns="0" rIns="0" bIns="0" anchor="t" anchorCtr="0">
              <a:spAutoFit/>
            </a:bodyPr>
            <a:lstStyle/>
            <a:p>
              <a:pPr algn="l"/>
              <a:r>
                <a:rPr lang="en-US" sz="1280" b="1" dirty="0">
                  <a:solidFill>
                    <a:srgbClr val="A78BFA"/>
                  </a:solidFill>
                  <a:latin typeface="+mn-lt"/>
                  <a:ea typeface="+mn-ea"/>
                  <a:cs typeface="+mn-cs"/>
                </a:rPr>
                <a:t>Fixed top-view cameras</a:t>
              </a:r>
            </a:p>
          </p:txBody>
        </p:sp>
        <p:sp>
          <p:nvSpPr>
            <p:cNvPr id="19" name="TextBox 19"/>
            <p:cNvSpPr txBox="1"/>
            <p:nvPr/>
          </p:nvSpPr>
          <p:spPr>
            <a:xfrm>
              <a:off x="870966" y="3220402"/>
              <a:ext cx="1147610" cy="205359"/>
            </a:xfrm>
            <a:prstGeom prst="rect">
              <a:avLst/>
            </a:prstGeom>
            <a:noFill/>
            <a:ln>
              <a:noFill/>
            </a:ln>
          </p:spPr>
          <p:txBody>
            <a:bodyPr wrap="none" lIns="0" tIns="0" rIns="0" bIns="0" anchor="t" anchorCtr="0">
              <a:spAutoFit/>
            </a:bodyPr>
            <a:lstStyle/>
            <a:p>
              <a:pPr algn="l"/>
              <a:r>
                <a:rPr lang="en-US" sz="1050" b="1" dirty="0">
                  <a:solidFill>
                    <a:srgbClr val="9DB0D0"/>
                  </a:solidFill>
                  <a:latin typeface="+mn-lt"/>
                  <a:ea typeface="+mn-ea"/>
                  <a:cs typeface="+mn-cs"/>
                </a:rPr>
                <a:t>ETH · UCY · SDD</a:t>
              </a:r>
            </a:p>
          </p:txBody>
        </p:sp>
        <p:sp>
          <p:nvSpPr>
            <p:cNvPr id="20" name="Ellipse 20"/>
            <p:cNvSpPr/>
            <p:nvPr/>
          </p:nvSpPr>
          <p:spPr>
            <a:xfrm>
              <a:off x="952500" y="3581400"/>
              <a:ext cx="76200" cy="76200"/>
            </a:xfrm>
            <a:prstGeom prst="ellipse">
              <a:avLst/>
            </a:prstGeom>
            <a:solidFill>
              <a:srgbClr val="A78BFA"/>
            </a:solidFill>
            <a:ln>
              <a:noFill/>
            </a:ln>
          </p:spPr>
        </p:sp>
        <p:sp>
          <p:nvSpPr>
            <p:cNvPr id="21" name="TextBox 21"/>
            <p:cNvSpPr txBox="1"/>
            <p:nvPr/>
          </p:nvSpPr>
          <p:spPr>
            <a:xfrm>
              <a:off x="1118616" y="3544252"/>
              <a:ext cx="2474976"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Mounted high on rooftops or drones</a:t>
              </a:r>
            </a:p>
          </p:txBody>
        </p:sp>
        <p:sp>
          <p:nvSpPr>
            <p:cNvPr id="22" name="Ellipse 22"/>
            <p:cNvSpPr/>
            <p:nvPr/>
          </p:nvSpPr>
          <p:spPr>
            <a:xfrm>
              <a:off x="952500" y="3905250"/>
              <a:ext cx="76200" cy="76200"/>
            </a:xfrm>
            <a:prstGeom prst="ellipse">
              <a:avLst/>
            </a:prstGeom>
            <a:solidFill>
              <a:srgbClr val="A78BFA"/>
            </a:solidFill>
            <a:ln>
              <a:noFill/>
            </a:ln>
          </p:spPr>
        </p:sp>
        <p:sp>
          <p:nvSpPr>
            <p:cNvPr id="23" name="TextBox 23"/>
            <p:cNvSpPr txBox="1"/>
            <p:nvPr/>
          </p:nvSpPr>
          <p:spPr>
            <a:xfrm>
              <a:off x="1118616" y="3868102"/>
              <a:ext cx="2644928"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A bird's-eye view of a plaza or street</a:t>
              </a:r>
            </a:p>
          </p:txBody>
        </p:sp>
        <p:sp>
          <p:nvSpPr>
            <p:cNvPr id="24" name="Ellipse 24"/>
            <p:cNvSpPr/>
            <p:nvPr/>
          </p:nvSpPr>
          <p:spPr>
            <a:xfrm>
              <a:off x="952500" y="4229100"/>
              <a:ext cx="76200" cy="76200"/>
            </a:xfrm>
            <a:prstGeom prst="ellipse">
              <a:avLst/>
            </a:prstGeom>
            <a:solidFill>
              <a:srgbClr val="A78BFA"/>
            </a:solidFill>
            <a:ln>
              <a:noFill/>
            </a:ln>
          </p:spPr>
        </p:sp>
        <p:sp>
          <p:nvSpPr>
            <p:cNvPr id="25" name="TextBox 25"/>
            <p:cNvSpPr txBox="1"/>
            <p:nvPr/>
          </p:nvSpPr>
          <p:spPr>
            <a:xfrm>
              <a:off x="1118616" y="4191952"/>
              <a:ext cx="2368920"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The device never enters the scene</a:t>
              </a:r>
            </a:p>
          </p:txBody>
        </p:sp>
        <p:sp>
          <p:nvSpPr>
            <p:cNvPr id="26" name="Ellipse 26"/>
            <p:cNvSpPr/>
            <p:nvPr/>
          </p:nvSpPr>
          <p:spPr>
            <a:xfrm>
              <a:off x="952500" y="4552950"/>
              <a:ext cx="76200" cy="76200"/>
            </a:xfrm>
            <a:prstGeom prst="ellipse">
              <a:avLst/>
            </a:prstGeom>
            <a:solidFill>
              <a:srgbClr val="A78BFA"/>
            </a:solidFill>
            <a:ln>
              <a:noFill/>
            </a:ln>
          </p:spPr>
        </p:sp>
        <p:sp>
          <p:nvSpPr>
            <p:cNvPr id="27" name="TextBox 27"/>
            <p:cNvSpPr txBox="1"/>
            <p:nvPr/>
          </p:nvSpPr>
          <p:spPr>
            <a:xfrm>
              <a:off x="1118616" y="4515802"/>
              <a:ext cx="2983840"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So they never see human-robot interaction</a:t>
              </a:r>
            </a:p>
          </p:txBody>
        </p:sp>
      </p:grpSp>
      <p:grpSp>
        <p:nvGrpSpPr>
          <p:cNvPr id="41" name="Group 41"/>
          <p:cNvGrpSpPr/>
          <p:nvPr/>
        </p:nvGrpSpPr>
        <p:grpSpPr>
          <a:xfrm>
            <a:off x="6134100" y="2743200"/>
            <a:ext cx="5448300" cy="2305050"/>
            <a:chOff x="6134100" y="2743200"/>
            <a:chExt cx="5448300" cy="2305050"/>
          </a:xfrm>
        </p:grpSpPr>
        <p:sp>
          <p:nvSpPr>
            <p:cNvPr id="29" name="Rectangle 29"/>
            <p:cNvSpPr/>
            <p:nvPr/>
          </p:nvSpPr>
          <p:spPr>
            <a:xfrm>
              <a:off x="6134100" y="2743200"/>
              <a:ext cx="5448300" cy="2305050"/>
            </a:xfrm>
            <a:prstGeom prst="roundRect">
              <a:avLst>
                <a:gd name="adj" fmla="val 5785"/>
              </a:avLst>
            </a:prstGeom>
            <a:solidFill>
              <a:schemeClr val="accent5"/>
            </a:solidFill>
            <a:ln w="9525">
              <a:solidFill>
                <a:schemeClr val="accent4"/>
              </a:solidFill>
            </a:ln>
          </p:spPr>
        </p:sp>
        <p:sp>
          <p:nvSpPr>
            <p:cNvPr id="30" name="Rectangle 30"/>
            <p:cNvSpPr/>
            <p:nvPr/>
          </p:nvSpPr>
          <p:spPr>
            <a:xfrm>
              <a:off x="6134100" y="2895600"/>
              <a:ext cx="47625" cy="2000250"/>
            </a:xfrm>
            <a:prstGeom prst="roundRect">
              <a:avLst>
                <a:gd name="adj" fmla="val 40000"/>
              </a:avLst>
            </a:prstGeom>
            <a:solidFill>
              <a:srgbClr val="FBBF24"/>
            </a:solidFill>
            <a:ln>
              <a:noFill/>
            </a:ln>
          </p:spPr>
        </p:sp>
        <p:sp>
          <p:nvSpPr>
            <p:cNvPr id="31" name="TextBox 31"/>
            <p:cNvSpPr txBox="1"/>
            <p:nvPr/>
          </p:nvSpPr>
          <p:spPr>
            <a:xfrm>
              <a:off x="6394323" y="2948464"/>
              <a:ext cx="2208099" cy="249364"/>
            </a:xfrm>
            <a:prstGeom prst="rect">
              <a:avLst/>
            </a:prstGeom>
            <a:noFill/>
            <a:ln>
              <a:noFill/>
            </a:ln>
          </p:spPr>
          <p:txBody>
            <a:bodyPr wrap="none" lIns="0" tIns="0" rIns="0" bIns="0" anchor="t" anchorCtr="0">
              <a:spAutoFit/>
            </a:bodyPr>
            <a:lstStyle/>
            <a:p>
              <a:pPr algn="l"/>
              <a:r>
                <a:rPr lang="en-US" sz="1280" b="1" dirty="0">
                  <a:solidFill>
                    <a:srgbClr val="FBBF24"/>
                  </a:solidFill>
                  <a:latin typeface="+mn-lt"/>
                  <a:ea typeface="+mn-ea"/>
                  <a:cs typeface="+mn-cs"/>
                </a:rPr>
                <a:t>Autonomous-driving data</a:t>
              </a:r>
            </a:p>
          </p:txBody>
        </p:sp>
        <p:sp>
          <p:nvSpPr>
            <p:cNvPr id="32" name="TextBox 32"/>
            <p:cNvSpPr txBox="1"/>
            <p:nvPr/>
          </p:nvSpPr>
          <p:spPr>
            <a:xfrm>
              <a:off x="6395466" y="3220402"/>
              <a:ext cx="2224217" cy="205359"/>
            </a:xfrm>
            <a:prstGeom prst="rect">
              <a:avLst/>
            </a:prstGeom>
            <a:noFill/>
            <a:ln>
              <a:noFill/>
            </a:ln>
          </p:spPr>
          <p:txBody>
            <a:bodyPr wrap="none" lIns="0" tIns="0" rIns="0" bIns="0" anchor="t" anchorCtr="0">
              <a:spAutoFit/>
            </a:bodyPr>
            <a:lstStyle/>
            <a:p>
              <a:pPr algn="l"/>
              <a:r>
                <a:rPr lang="en-US" sz="1050" b="1" dirty="0">
                  <a:solidFill>
                    <a:srgbClr val="9DB0D0"/>
                  </a:solidFill>
                  <a:latin typeface="+mn-lt"/>
                  <a:ea typeface="+mn-ea"/>
                  <a:cs typeface="+mn-cs"/>
                </a:rPr>
                <a:t>nuScenes · Waymo · Argoverse</a:t>
              </a:r>
            </a:p>
          </p:txBody>
        </p:sp>
        <p:sp>
          <p:nvSpPr>
            <p:cNvPr id="33" name="Ellipse 33"/>
            <p:cNvSpPr/>
            <p:nvPr/>
          </p:nvSpPr>
          <p:spPr>
            <a:xfrm>
              <a:off x="6477000" y="3581400"/>
              <a:ext cx="76200" cy="76200"/>
            </a:xfrm>
            <a:prstGeom prst="ellipse">
              <a:avLst/>
            </a:prstGeom>
            <a:solidFill>
              <a:srgbClr val="FBBF24"/>
            </a:solidFill>
            <a:ln>
              <a:noFill/>
            </a:ln>
          </p:spPr>
        </p:sp>
        <p:sp>
          <p:nvSpPr>
            <p:cNvPr id="34" name="TextBox 34"/>
            <p:cNvSpPr txBox="1"/>
            <p:nvPr/>
          </p:nvSpPr>
          <p:spPr>
            <a:xfrm>
              <a:off x="6643116" y="3544252"/>
              <a:ext cx="2856696"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Rich multi-sensor data from a moving car</a:t>
              </a:r>
            </a:p>
          </p:txBody>
        </p:sp>
        <p:sp>
          <p:nvSpPr>
            <p:cNvPr id="35" name="Ellipse 35"/>
            <p:cNvSpPr/>
            <p:nvPr/>
          </p:nvSpPr>
          <p:spPr>
            <a:xfrm>
              <a:off x="6477000" y="3905250"/>
              <a:ext cx="76200" cy="76200"/>
            </a:xfrm>
            <a:prstGeom prst="ellipse">
              <a:avLst/>
            </a:prstGeom>
            <a:solidFill>
              <a:srgbClr val="FBBF24"/>
            </a:solidFill>
            <a:ln>
              <a:noFill/>
            </a:ln>
          </p:spPr>
        </p:sp>
        <p:sp>
          <p:nvSpPr>
            <p:cNvPr id="36" name="TextBox 36"/>
            <p:cNvSpPr txBox="1"/>
            <p:nvPr/>
          </p:nvSpPr>
          <p:spPr>
            <a:xfrm>
              <a:off x="6643116" y="3868102"/>
              <a:ext cx="3033257"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But car and pedestrians use separate roads</a:t>
              </a:r>
            </a:p>
          </p:txBody>
        </p:sp>
        <p:sp>
          <p:nvSpPr>
            <p:cNvPr id="37" name="Ellipse 37"/>
            <p:cNvSpPr/>
            <p:nvPr/>
          </p:nvSpPr>
          <p:spPr>
            <a:xfrm>
              <a:off x="6477000" y="4229100"/>
              <a:ext cx="76200" cy="76200"/>
            </a:xfrm>
            <a:prstGeom prst="ellipse">
              <a:avLst/>
            </a:prstGeom>
            <a:solidFill>
              <a:srgbClr val="FBBF24"/>
            </a:solidFill>
            <a:ln>
              <a:noFill/>
            </a:ln>
          </p:spPr>
        </p:sp>
        <p:sp>
          <p:nvSpPr>
            <p:cNvPr id="38" name="TextBox 38"/>
            <p:cNvSpPr txBox="1"/>
            <p:nvPr/>
          </p:nvSpPr>
          <p:spPr>
            <a:xfrm>
              <a:off x="6643116" y="4191952"/>
              <a:ext cx="2481897"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They rarely come into close contact</a:t>
              </a:r>
            </a:p>
          </p:txBody>
        </p:sp>
        <p:sp>
          <p:nvSpPr>
            <p:cNvPr id="39" name="Ellipse 39"/>
            <p:cNvSpPr/>
            <p:nvPr/>
          </p:nvSpPr>
          <p:spPr>
            <a:xfrm>
              <a:off x="6477000" y="4552950"/>
              <a:ext cx="76200" cy="76200"/>
            </a:xfrm>
            <a:prstGeom prst="ellipse">
              <a:avLst/>
            </a:prstGeom>
            <a:solidFill>
              <a:srgbClr val="FBBF24"/>
            </a:solidFill>
            <a:ln>
              <a:noFill/>
            </a:ln>
          </p:spPr>
        </p:sp>
        <p:sp>
          <p:nvSpPr>
            <p:cNvPr id="40" name="TextBox 40"/>
            <p:cNvSpPr txBox="1"/>
            <p:nvPr/>
          </p:nvSpPr>
          <p:spPr>
            <a:xfrm>
              <a:off x="6643116" y="4515802"/>
              <a:ext cx="2983840"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Neither setting matches a robot in a crowd</a:t>
              </a:r>
            </a:p>
          </p:txBody>
        </p:sp>
      </p:grpSp>
      <p:sp>
        <p:nvSpPr>
          <p:cNvPr id="42" name="cue_s02_c1_robot_navigate_safely_among_people" title="cue_s02_c1_robot_navigate_safely_among_people" descr="cue_s02_c1_robot_navigate_safely_among_people For a robot to navigate safely among people, it needs to perceive nearby pedestrians as individual entities in three-dimensional space and predict where they will move next."/>
          <p:cNvSpPr/>
          <p:nvPr/>
        </p:nvSpPr>
        <p:spPr>
          <a:xfrm>
            <a:off x="609600" y="1428521"/>
            <a:ext cx="11582400"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2_problem_datasets_used_train_these" title="cue_s02_c2_problem_datasets_used_train_these" descr="cue_s02_c2_problem_datasets_used_train_these The problem is that the datasets used to train these models don't reflect the robot's real situation."/>
          <p:cNvSpPr/>
          <p:nvPr/>
        </p:nvSpPr>
        <p:spPr>
          <a:xfrm>
            <a:off x="609600" y="2114321"/>
            <a:ext cx="10972800" cy="4574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3_popular_pedestrian_datasets_like_eth" title="cue_s02_c3_popular_pedestrian_datasets_like_eth" descr="cue_s02_c3_popular_pedestrian_datasets_like_eth Popular pedestrian datasets like ETH, UCY, and SDD were captured by fixed cameras mounted high on rooftops or drones, so they never see human-robot interaction."/>
          <p:cNvSpPr/>
          <p:nvPr/>
        </p:nvSpPr>
        <p:spPr>
          <a:xfrm>
            <a:off x="609600" y="2743200"/>
            <a:ext cx="5334000" cy="23049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4_large_autonomous_driving_datasets_pr" title="cue_s02_c4_large_autonomous_driving_datasets_pr" descr="cue_s02_c4_large_autonomous_driving_datasets_pr Large autonomous-driving datasets do provide rich sensor data, but there the vehicle and the pedestrians usually travel on separate roads and rarely come into close contact. Neither setting matches a robot weaving through a crowded hallway or crosswalk."/>
          <p:cNvSpPr/>
          <p:nvPr/>
        </p:nvSpPr>
        <p:spPr>
          <a:xfrm>
            <a:off x="6133795" y="2743200"/>
            <a:ext cx="5448604" cy="23049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rgbClr val="4F8CFF"/>
            </a:solidFill>
            <a:ln>
              <a:noFill/>
            </a:ln>
          </p:spPr>
        </p:sp>
      </p:grpSp>
      <p:sp>
        <p:nvSpPr>
          <p:cNvPr id="5" name="TextBox 5"/>
          <p:cNvSpPr txBox="1"/>
          <p:nvPr/>
        </p:nvSpPr>
        <p:spPr>
          <a:xfrm>
            <a:off x="604647" y="485299"/>
            <a:ext cx="1117586" cy="190690"/>
          </a:xfrm>
          <a:prstGeom prst="rect">
            <a:avLst/>
          </a:prstGeom>
          <a:noFill/>
          <a:ln>
            <a:noFill/>
          </a:ln>
        </p:spPr>
        <p:txBody>
          <a:bodyPr wrap="none" lIns="0" tIns="0" rIns="0" bIns="0" anchor="t" anchorCtr="0">
            <a:spAutoFit/>
          </a:bodyPr>
          <a:lstStyle/>
          <a:p>
            <a:pPr algn="l"/>
            <a:r>
              <a:rPr lang="en-US" sz="980" b="1" spc="225" dirty="0">
                <a:solidFill>
                  <a:srgbClr val="4F8CFF"/>
                </a:solidFill>
                <a:latin typeface="+mn-lt"/>
                <a:ea typeface="+mn-ea"/>
                <a:cs typeface="+mn-cs"/>
              </a:rPr>
              <a:t>MOTIVATION</a:t>
            </a:r>
          </a:p>
        </p:txBody>
      </p:sp>
      <p:sp>
        <p:nvSpPr>
          <p:cNvPr id="6" name="TextBox 6"/>
          <p:cNvSpPr txBox="1"/>
          <p:nvPr/>
        </p:nvSpPr>
        <p:spPr>
          <a:xfrm>
            <a:off x="596646" y="715328"/>
            <a:ext cx="6482823" cy="498729"/>
          </a:xfrm>
          <a:prstGeom prst="rect">
            <a:avLst/>
          </a:prstGeom>
          <a:noFill/>
          <a:ln>
            <a:noFill/>
          </a:ln>
        </p:spPr>
        <p:txBody>
          <a:bodyPr wrap="none" lIns="0" tIns="0" rIns="0" bIns="0" anchor="t" anchorCtr="0">
            <a:spAutoFit/>
          </a:bodyPr>
          <a:lstStyle/>
          <a:p>
            <a:pPr algn="l"/>
            <a:r>
              <a:rPr lang="en-US" sz="2550" b="1" dirty="0">
                <a:solidFill>
                  <a:srgbClr val="EAF1FF"/>
                </a:solidFill>
                <a:latin typeface="+mj-lt"/>
                <a:ea typeface="+mj-ea"/>
                <a:cs typeface="+mj-cs"/>
              </a:rPr>
              <a:t>Interaction Only Appears Up Close</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02 / 10</a:t>
            </a:r>
          </a:p>
        </p:txBody>
      </p:sp>
      <p:grpSp>
        <p:nvGrpSpPr>
          <p:cNvPr id="16" name="Group 16"/>
          <p:cNvGrpSpPr/>
          <p:nvPr/>
        </p:nvGrpSpPr>
        <p:grpSpPr>
          <a:xfrm>
            <a:off x="609600" y="1428750"/>
            <a:ext cx="5334000" cy="1809750"/>
            <a:chOff x="609600" y="1428750"/>
            <a:chExt cx="5334000" cy="1809750"/>
          </a:xfrm>
        </p:grpSpPr>
        <p:sp>
          <p:nvSpPr>
            <p:cNvPr id="9" name="Rectangle 9"/>
            <p:cNvSpPr/>
            <p:nvPr/>
          </p:nvSpPr>
          <p:spPr>
            <a:xfrm>
              <a:off x="609600" y="1428750"/>
              <a:ext cx="5334000" cy="1809750"/>
            </a:xfrm>
            <a:prstGeom prst="roundRect">
              <a:avLst>
                <a:gd name="adj" fmla="val 7368"/>
              </a:avLst>
            </a:prstGeom>
            <a:solidFill>
              <a:schemeClr val="accent5"/>
            </a:solidFill>
            <a:ln w="9525">
              <a:solidFill>
                <a:schemeClr val="accent4"/>
              </a:solidFill>
            </a:ln>
          </p:spPr>
        </p:sp>
        <p:sp>
          <p:nvSpPr>
            <p:cNvPr id="10" name="Rectangle 10"/>
            <p:cNvSpPr/>
            <p:nvPr/>
          </p:nvSpPr>
          <p:spPr>
            <a:xfrm>
              <a:off x="609600" y="1581150"/>
              <a:ext cx="47625" cy="1504950"/>
            </a:xfrm>
            <a:prstGeom prst="roundRect">
              <a:avLst>
                <a:gd name="adj" fmla="val 40000"/>
              </a:avLst>
            </a:prstGeom>
            <a:solidFill>
              <a:srgbClr val="34D399"/>
            </a:solidFill>
            <a:ln>
              <a:noFill/>
            </a:ln>
          </p:spPr>
        </p:sp>
        <p:sp>
          <p:nvSpPr>
            <p:cNvPr id="11" name="TextBox 11"/>
            <p:cNvSpPr txBox="1"/>
            <p:nvPr/>
          </p:nvSpPr>
          <p:spPr>
            <a:xfrm>
              <a:off x="870204" y="1642110"/>
              <a:ext cx="1535356" cy="234696"/>
            </a:xfrm>
            <a:prstGeom prst="rect">
              <a:avLst/>
            </a:prstGeom>
            <a:noFill/>
            <a:ln>
              <a:noFill/>
            </a:ln>
          </p:spPr>
          <p:txBody>
            <a:bodyPr wrap="none" lIns="0" tIns="0" rIns="0" bIns="0" anchor="t" anchorCtr="0">
              <a:spAutoFit/>
            </a:bodyPr>
            <a:lstStyle/>
            <a:p>
              <a:pPr algn="l"/>
              <a:r>
                <a:rPr lang="en-US" sz="1200" b="1" dirty="0">
                  <a:solidFill>
                    <a:srgbClr val="34D399"/>
                  </a:solidFill>
                  <a:latin typeface="+mn-lt"/>
                  <a:ea typeface="+mn-ea"/>
                  <a:cs typeface="+mn-cs"/>
                </a:rPr>
                <a:t>Interaction is real</a:t>
              </a:r>
            </a:p>
          </p:txBody>
        </p:sp>
        <p:sp>
          <p:nvSpPr>
            <p:cNvPr id="12" name="TextBox 12"/>
            <p:cNvSpPr txBox="1"/>
            <p:nvPr/>
          </p:nvSpPr>
          <p:spPr>
            <a:xfrm>
              <a:off x="870204" y="1927860"/>
              <a:ext cx="3846342"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Human-robot interaction studies show a robot's</a:t>
              </a:r>
            </a:p>
          </p:txBody>
        </p:sp>
        <p:sp>
          <p:nvSpPr>
            <p:cNvPr id="13" name="TextBox 13"/>
            <p:cNvSpPr txBox="1"/>
            <p:nvPr/>
          </p:nvSpPr>
          <p:spPr>
            <a:xfrm>
              <a:off x="870204" y="2156460"/>
              <a:ext cx="3840785"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motion changes how nearby people walk — and the</a:t>
              </a:r>
            </a:p>
          </p:txBody>
        </p:sp>
        <p:sp>
          <p:nvSpPr>
            <p:cNvPr id="14" name="TextBox 14"/>
            <p:cNvSpPr txBox="1"/>
            <p:nvPr/>
          </p:nvSpPr>
          <p:spPr>
            <a:xfrm>
              <a:off x="870204" y="2385060"/>
              <a:ext cx="3808476"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effect is strongest when robot and pedestrians</a:t>
              </a:r>
            </a:p>
          </p:txBody>
        </p:sp>
        <p:sp>
          <p:nvSpPr>
            <p:cNvPr id="15" name="TextBox 15"/>
            <p:cNvSpPr txBox="1"/>
            <p:nvPr/>
          </p:nvSpPr>
          <p:spPr>
            <a:xfrm>
              <a:off x="870204" y="2613660"/>
              <a:ext cx="2556510" cy="234696"/>
            </a:xfrm>
            <a:prstGeom prst="rect">
              <a:avLst/>
            </a:prstGeom>
            <a:noFill/>
            <a:ln>
              <a:noFill/>
            </a:ln>
          </p:spPr>
          <p:txBody>
            <a:bodyPr wrap="none" lIns="0" tIns="0" rIns="0" bIns="0" anchor="t" anchorCtr="0">
              <a:spAutoFit/>
            </a:bodyPr>
            <a:lstStyle/>
            <a:p>
              <a:pPr algn="l"/>
              <a:r>
                <a:rPr lang="en-US" sz="1200" dirty="0">
                  <a:solidFill>
                    <a:srgbClr val="EAF1FF"/>
                  </a:solidFill>
                  <a:latin typeface="+mn-lt"/>
                  <a:ea typeface="+mn-ea"/>
                  <a:cs typeface="+mn-cs"/>
                </a:rPr>
                <a:t>share the same space, up close.</a:t>
              </a:r>
            </a:p>
          </p:txBody>
        </p:sp>
      </p:grpSp>
      <p:grpSp>
        <p:nvGrpSpPr>
          <p:cNvPr id="22" name="Group 22"/>
          <p:cNvGrpSpPr/>
          <p:nvPr/>
        </p:nvGrpSpPr>
        <p:grpSpPr>
          <a:xfrm>
            <a:off x="6134100" y="1428750"/>
            <a:ext cx="5448300" cy="1809750"/>
            <a:chOff x="6134100" y="1428750"/>
            <a:chExt cx="5448300" cy="1809750"/>
          </a:xfrm>
        </p:grpSpPr>
        <p:sp>
          <p:nvSpPr>
            <p:cNvPr id="17" name="Rectangle 17"/>
            <p:cNvSpPr/>
            <p:nvPr/>
          </p:nvSpPr>
          <p:spPr>
            <a:xfrm>
              <a:off x="6134100" y="1428750"/>
              <a:ext cx="5448300" cy="1809750"/>
            </a:xfrm>
            <a:prstGeom prst="roundRect">
              <a:avLst>
                <a:gd name="adj" fmla="val 7368"/>
              </a:avLst>
            </a:prstGeom>
            <a:solidFill>
              <a:srgbClr val="2A4A8A"/>
            </a:solidFill>
            <a:ln w="9525">
              <a:solidFill>
                <a:srgbClr val="4F8CFF"/>
              </a:solidFill>
            </a:ln>
          </p:spPr>
        </p:sp>
        <p:sp>
          <p:nvSpPr>
            <p:cNvPr id="18" name="TextBox 18"/>
            <p:cNvSpPr txBox="1"/>
            <p:nvPr/>
          </p:nvSpPr>
          <p:spPr>
            <a:xfrm>
              <a:off x="6395847" y="1666399"/>
              <a:ext cx="1195974" cy="190690"/>
            </a:xfrm>
            <a:prstGeom prst="rect">
              <a:avLst/>
            </a:prstGeom>
            <a:noFill/>
            <a:ln>
              <a:noFill/>
            </a:ln>
          </p:spPr>
          <p:txBody>
            <a:bodyPr wrap="none" lIns="0" tIns="0" rIns="0" bIns="0" anchor="t" anchorCtr="0">
              <a:spAutoFit/>
            </a:bodyPr>
            <a:lstStyle/>
            <a:p>
              <a:pPr algn="l"/>
              <a:r>
                <a:rPr lang="en-US" sz="980" b="1" spc="150" dirty="0">
                  <a:solidFill>
                    <a:srgbClr val="4F8CFF"/>
                  </a:solidFill>
                  <a:latin typeface="+mn-lt"/>
                  <a:ea typeface="+mn-ea"/>
                  <a:cs typeface="+mn-cs"/>
                </a:rPr>
                <a:t>WHAT WE NEED</a:t>
              </a:r>
            </a:p>
          </p:txBody>
        </p:sp>
        <p:sp>
          <p:nvSpPr>
            <p:cNvPr id="19" name="TextBox 19"/>
            <p:cNvSpPr txBox="1"/>
            <p:nvPr/>
          </p:nvSpPr>
          <p:spPr>
            <a:xfrm>
              <a:off x="6394323" y="1919764"/>
              <a:ext cx="4216935" cy="249364"/>
            </a:xfrm>
            <a:prstGeom prst="rect">
              <a:avLst/>
            </a:prstGeom>
            <a:noFill/>
            <a:ln>
              <a:noFill/>
            </a:ln>
          </p:spPr>
          <p:txBody>
            <a:bodyPr wrap="none" lIns="0" tIns="0" rIns="0" bIns="0" anchor="t" anchorCtr="0">
              <a:spAutoFit/>
            </a:bodyPr>
            <a:lstStyle/>
            <a:p>
              <a:pPr algn="l"/>
              <a:r>
                <a:rPr lang="en-US" sz="1280" b="1" dirty="0">
                  <a:solidFill>
                    <a:srgbClr val="EAF1FF"/>
                  </a:solidFill>
                  <a:latin typeface="+mn-lt"/>
                  <a:ea typeface="+mn-ea"/>
                  <a:cs typeface="+mn-cs"/>
                </a:rPr>
                <a:t>To study and model that behavior, we need data</a:t>
              </a:r>
            </a:p>
          </p:txBody>
        </p:sp>
        <p:sp>
          <p:nvSpPr>
            <p:cNvPr id="20" name="TextBox 20"/>
            <p:cNvSpPr txBox="1"/>
            <p:nvPr/>
          </p:nvSpPr>
          <p:spPr>
            <a:xfrm>
              <a:off x="6394323" y="2157889"/>
              <a:ext cx="4120049" cy="249364"/>
            </a:xfrm>
            <a:prstGeom prst="rect">
              <a:avLst/>
            </a:prstGeom>
            <a:noFill/>
            <a:ln>
              <a:noFill/>
            </a:ln>
          </p:spPr>
          <p:txBody>
            <a:bodyPr wrap="none" lIns="0" tIns="0" rIns="0" bIns="0" anchor="t" anchorCtr="0">
              <a:spAutoFit/>
            </a:bodyPr>
            <a:lstStyle/>
            <a:p>
              <a:pPr algn="l"/>
              <a:r>
                <a:rPr lang="en-US" sz="1280" b="1" dirty="0">
                  <a:solidFill>
                    <a:srgbClr val="EAF1FF"/>
                  </a:solidFill>
                  <a:latin typeface="+mn-lt"/>
                  <a:ea typeface="+mn-ea"/>
                  <a:cs typeface="+mn-cs"/>
                </a:rPr>
                <a:t>collected while a robot actually moves through</a:t>
              </a:r>
            </a:p>
          </p:txBody>
        </p:sp>
        <p:sp>
          <p:nvSpPr>
            <p:cNvPr id="21" name="TextBox 21"/>
            <p:cNvSpPr txBox="1"/>
            <p:nvPr/>
          </p:nvSpPr>
          <p:spPr>
            <a:xfrm>
              <a:off x="6394323" y="2396014"/>
              <a:ext cx="4310024" cy="249364"/>
            </a:xfrm>
            <a:prstGeom prst="rect">
              <a:avLst/>
            </a:prstGeom>
            <a:noFill/>
            <a:ln>
              <a:noFill/>
            </a:ln>
          </p:spPr>
          <p:txBody>
            <a:bodyPr wrap="none" lIns="0" tIns="0" rIns="0" bIns="0" anchor="t" anchorCtr="0">
              <a:spAutoFit/>
            </a:bodyPr>
            <a:lstStyle/>
            <a:p>
              <a:pPr algn="l"/>
              <a:r>
                <a:rPr lang="en-US" sz="1280" b="1" dirty="0">
                  <a:solidFill>
                    <a:srgbClr val="EAF1FF"/>
                  </a:solidFill>
                  <a:latin typeface="+mn-lt"/>
                  <a:ea typeface="+mn-ea"/>
                  <a:cs typeface="+mn-cs"/>
                </a:rPr>
                <a:t>crowds — not from a camera bolted to a building.</a:t>
              </a:r>
            </a:p>
          </p:txBody>
        </p:sp>
      </p:grpSp>
      <p:grpSp>
        <p:nvGrpSpPr>
          <p:cNvPr id="33" name="Group 33"/>
          <p:cNvGrpSpPr/>
          <p:nvPr/>
        </p:nvGrpSpPr>
        <p:grpSpPr>
          <a:xfrm>
            <a:off x="609600" y="3467100"/>
            <a:ext cx="7353300" cy="1428750"/>
            <a:chOff x="609600" y="3467100"/>
            <a:chExt cx="7353300" cy="1428750"/>
          </a:xfrm>
        </p:grpSpPr>
        <p:sp>
          <p:nvSpPr>
            <p:cNvPr id="23" name="Rectangle 23"/>
            <p:cNvSpPr/>
            <p:nvPr/>
          </p:nvSpPr>
          <p:spPr>
            <a:xfrm>
              <a:off x="609600" y="3467100"/>
              <a:ext cx="7353300" cy="1428750"/>
            </a:xfrm>
            <a:prstGeom prst="roundRect">
              <a:avLst>
                <a:gd name="adj" fmla="val 9333"/>
              </a:avLst>
            </a:prstGeom>
            <a:solidFill>
              <a:schemeClr val="accent5"/>
            </a:solidFill>
            <a:ln w="9525">
              <a:solidFill>
                <a:schemeClr val="accent4"/>
              </a:solidFill>
            </a:ln>
          </p:spPr>
        </p:sp>
        <p:sp>
          <p:nvSpPr>
            <p:cNvPr id="24" name="Rectangle 24"/>
            <p:cNvSpPr/>
            <p:nvPr/>
          </p:nvSpPr>
          <p:spPr>
            <a:xfrm>
              <a:off x="609600" y="3619500"/>
              <a:ext cx="47625" cy="1123950"/>
            </a:xfrm>
            <a:prstGeom prst="roundRect">
              <a:avLst>
                <a:gd name="adj" fmla="val 40000"/>
              </a:avLst>
            </a:prstGeom>
            <a:solidFill>
              <a:srgbClr val="F87171"/>
            </a:solidFill>
            <a:ln>
              <a:noFill/>
            </a:ln>
          </p:spPr>
        </p:sp>
        <p:sp>
          <p:nvSpPr>
            <p:cNvPr id="25" name="TextBox 25"/>
            <p:cNvSpPr txBox="1"/>
            <p:nvPr/>
          </p:nvSpPr>
          <p:spPr>
            <a:xfrm>
              <a:off x="870204" y="3680460"/>
              <a:ext cx="4394461" cy="234696"/>
            </a:xfrm>
            <a:prstGeom prst="rect">
              <a:avLst/>
            </a:prstGeom>
            <a:noFill/>
            <a:ln>
              <a:noFill/>
            </a:ln>
          </p:spPr>
          <p:txBody>
            <a:bodyPr wrap="none" lIns="0" tIns="0" rIns="0" bIns="0" anchor="t" anchorCtr="0">
              <a:spAutoFit/>
            </a:bodyPr>
            <a:lstStyle/>
            <a:p>
              <a:pPr algn="l"/>
              <a:r>
                <a:rPr lang="en-US" sz="1200" b="1" dirty="0">
                  <a:solidFill>
                    <a:srgbClr val="F87171"/>
                  </a:solidFill>
                  <a:latin typeface="+mn-lt"/>
                  <a:ea typeface="+mn-ea"/>
                  <a:cs typeface="+mn-cs"/>
                </a:rPr>
                <a:t>Prior robot datasets came close — but each had a gap</a:t>
              </a:r>
            </a:p>
          </p:txBody>
        </p:sp>
        <p:sp>
          <p:nvSpPr>
            <p:cNvPr id="26" name="TextBox 26"/>
            <p:cNvSpPr txBox="1"/>
            <p:nvPr/>
          </p:nvSpPr>
          <p:spPr>
            <a:xfrm>
              <a:off x="870585" y="4050506"/>
              <a:ext cx="668152" cy="220028"/>
            </a:xfrm>
            <a:prstGeom prst="rect">
              <a:avLst/>
            </a:prstGeom>
            <a:noFill/>
            <a:ln>
              <a:noFill/>
            </a:ln>
          </p:spPr>
          <p:txBody>
            <a:bodyPr wrap="none" lIns="0" tIns="0" rIns="0" bIns="0" anchor="t" anchorCtr="0">
              <a:spAutoFit/>
            </a:bodyPr>
            <a:lstStyle/>
            <a:p>
              <a:pPr algn="l"/>
              <a:r>
                <a:rPr lang="en-US" sz="1120" b="1" dirty="0">
                  <a:solidFill>
                    <a:srgbClr val="EAF1FF"/>
                  </a:solidFill>
                  <a:latin typeface="+mn-lt"/>
                  <a:ea typeface="+mn-ea"/>
                  <a:cs typeface="+mn-cs"/>
                </a:rPr>
                <a:t>STCrowd</a:t>
              </a:r>
            </a:p>
          </p:txBody>
        </p:sp>
        <p:sp>
          <p:nvSpPr>
            <p:cNvPr id="27" name="TextBox 27"/>
            <p:cNvSpPr txBox="1"/>
            <p:nvPr/>
          </p:nvSpPr>
          <p:spPr>
            <a:xfrm>
              <a:off x="871347" y="4295299"/>
              <a:ext cx="2184665" cy="190690"/>
            </a:xfrm>
            <a:prstGeom prst="rect">
              <a:avLst/>
            </a:prstGeom>
            <a:noFill/>
            <a:ln>
              <a:noFill/>
            </a:ln>
          </p:spPr>
          <p:txBody>
            <a:bodyPr wrap="none" lIns="0" tIns="0" rIns="0" bIns="0" anchor="t" anchorCtr="0">
              <a:spAutoFit/>
            </a:bodyPr>
            <a:lstStyle/>
            <a:p>
              <a:pPr algn="l"/>
              <a:r>
                <a:rPr lang="en-US" sz="980" dirty="0">
                  <a:solidFill>
                    <a:srgbClr val="9DB0D0"/>
                  </a:solidFill>
                  <a:latin typeface="+mn-lt"/>
                  <a:ea typeface="+mn-ea"/>
                  <a:cs typeface="+mn-cs"/>
                </a:rPr>
                <a:t>Sensors kept at a fixed position →</a:t>
              </a:r>
            </a:p>
          </p:txBody>
        </p:sp>
        <p:sp>
          <p:nvSpPr>
            <p:cNvPr id="28" name="TextBox 28"/>
            <p:cNvSpPr txBox="1"/>
            <p:nvPr/>
          </p:nvSpPr>
          <p:spPr>
            <a:xfrm>
              <a:off x="871347" y="4504849"/>
              <a:ext cx="1401742" cy="190690"/>
            </a:xfrm>
            <a:prstGeom prst="rect">
              <a:avLst/>
            </a:prstGeom>
            <a:noFill/>
            <a:ln>
              <a:noFill/>
            </a:ln>
          </p:spPr>
          <p:txBody>
            <a:bodyPr wrap="none" lIns="0" tIns="0" rIns="0" bIns="0" anchor="t" anchorCtr="0">
              <a:spAutoFit/>
            </a:bodyPr>
            <a:lstStyle/>
            <a:p>
              <a:pPr algn="l"/>
              <a:r>
                <a:rPr lang="en-US" sz="980" dirty="0">
                  <a:solidFill>
                    <a:srgbClr val="9DB0D0"/>
                  </a:solidFill>
                  <a:latin typeface="+mn-lt"/>
                  <a:ea typeface="+mn-ea"/>
                  <a:cs typeface="+mn-cs"/>
                </a:rPr>
                <a:t>scenes barely varied.</a:t>
              </a:r>
            </a:p>
          </p:txBody>
        </p:sp>
        <p:sp>
          <p:nvSpPr>
            <p:cNvPr id="29" name="Line 29"/>
            <p:cNvSpPr/>
            <p:nvPr/>
          </p:nvSpPr>
          <p:spPr>
            <a:xfrm>
              <a:off x="4305300" y="4076700"/>
              <a:ext cx="9525" cy="685800"/>
            </a:xfrm>
            <a:custGeom>
              <a:avLst/>
              <a:gdLst/>
              <a:ahLst/>
              <a:cxnLst/>
              <a:rect l="l" t="t" r="r" b="b"/>
              <a:pathLst>
                <a:path w="9525" h="685800">
                  <a:moveTo>
                    <a:pt x="0" y="0"/>
                  </a:moveTo>
                  <a:lnTo>
                    <a:pt x="0" y="685800"/>
                  </a:lnTo>
                </a:path>
              </a:pathLst>
            </a:custGeom>
            <a:noFill/>
            <a:ln w="9525" cap="rnd">
              <a:solidFill>
                <a:schemeClr val="accent4"/>
              </a:solidFill>
            </a:ln>
          </p:spPr>
        </p:sp>
        <p:sp>
          <p:nvSpPr>
            <p:cNvPr id="30" name="TextBox 30"/>
            <p:cNvSpPr txBox="1"/>
            <p:nvPr/>
          </p:nvSpPr>
          <p:spPr>
            <a:xfrm>
              <a:off x="4509135" y="4050506"/>
              <a:ext cx="379433" cy="220028"/>
            </a:xfrm>
            <a:prstGeom prst="rect">
              <a:avLst/>
            </a:prstGeom>
            <a:noFill/>
            <a:ln>
              <a:noFill/>
            </a:ln>
          </p:spPr>
          <p:txBody>
            <a:bodyPr wrap="none" lIns="0" tIns="0" rIns="0" bIns="0" anchor="t" anchorCtr="0">
              <a:spAutoFit/>
            </a:bodyPr>
            <a:lstStyle/>
            <a:p>
              <a:pPr algn="l"/>
              <a:r>
                <a:rPr lang="en-US" sz="1120" b="1" dirty="0">
                  <a:solidFill>
                    <a:srgbClr val="EAF1FF"/>
                  </a:solidFill>
                  <a:latin typeface="+mn-lt"/>
                  <a:ea typeface="+mn-ea"/>
                  <a:cs typeface="+mn-cs"/>
                </a:rPr>
                <a:t>JRDB</a:t>
              </a:r>
            </a:p>
          </p:txBody>
        </p:sp>
        <p:sp>
          <p:nvSpPr>
            <p:cNvPr id="31" name="TextBox 31"/>
            <p:cNvSpPr txBox="1"/>
            <p:nvPr/>
          </p:nvSpPr>
          <p:spPr>
            <a:xfrm>
              <a:off x="4509897" y="4295299"/>
              <a:ext cx="2652725" cy="190690"/>
            </a:xfrm>
            <a:prstGeom prst="rect">
              <a:avLst/>
            </a:prstGeom>
            <a:noFill/>
            <a:ln>
              <a:noFill/>
            </a:ln>
          </p:spPr>
          <p:txBody>
            <a:bodyPr wrap="none" lIns="0" tIns="0" rIns="0" bIns="0" anchor="t" anchorCtr="0">
              <a:spAutoFit/>
            </a:bodyPr>
            <a:lstStyle/>
            <a:p>
              <a:pPr algn="l"/>
              <a:r>
                <a:rPr lang="en-US" sz="980" dirty="0">
                  <a:solidFill>
                    <a:srgbClr val="9DB0D0"/>
                  </a:solidFill>
                  <a:latin typeface="+mn-lt"/>
                  <a:ea typeface="+mn-ea"/>
                  <a:cs typeface="+mn-cs"/>
                </a:rPr>
                <a:t>Not organized into trajectories; sensors</a:t>
              </a:r>
            </a:p>
          </p:txBody>
        </p:sp>
        <p:sp>
          <p:nvSpPr>
            <p:cNvPr id="32" name="TextBox 32"/>
            <p:cNvSpPr txBox="1"/>
            <p:nvPr/>
          </p:nvSpPr>
          <p:spPr>
            <a:xfrm>
              <a:off x="4509897" y="4504849"/>
              <a:ext cx="2826560" cy="190690"/>
            </a:xfrm>
            <a:prstGeom prst="rect">
              <a:avLst/>
            </a:prstGeom>
            <a:noFill/>
            <a:ln>
              <a:noFill/>
            </a:ln>
          </p:spPr>
          <p:txBody>
            <a:bodyPr wrap="none" lIns="0" tIns="0" rIns="0" bIns="0" anchor="t" anchorCtr="0">
              <a:spAutoFit/>
            </a:bodyPr>
            <a:lstStyle/>
            <a:p>
              <a:pPr algn="l"/>
              <a:r>
                <a:rPr lang="en-US" sz="980" dirty="0">
                  <a:solidFill>
                    <a:srgbClr val="9DB0D0"/>
                  </a:solidFill>
                  <a:latin typeface="+mn-lt"/>
                  <a:ea typeface="+mn-ea"/>
                  <a:cs typeface="+mn-cs"/>
                </a:rPr>
                <a:t>not fully time-synchronized → limits fusion.</a:t>
              </a:r>
            </a:p>
          </p:txBody>
        </p:sp>
      </p:grpSp>
      <p:grpSp>
        <p:nvGrpSpPr>
          <p:cNvPr id="38" name="Group 38"/>
          <p:cNvGrpSpPr/>
          <p:nvPr/>
        </p:nvGrpSpPr>
        <p:grpSpPr>
          <a:xfrm>
            <a:off x="8153400" y="3467100"/>
            <a:ext cx="3429000" cy="1428750"/>
            <a:chOff x="8153400" y="3467100"/>
            <a:chExt cx="3429000" cy="1428750"/>
          </a:xfrm>
        </p:grpSpPr>
        <p:sp>
          <p:nvSpPr>
            <p:cNvPr id="34" name="Rectangle 34"/>
            <p:cNvSpPr/>
            <p:nvPr/>
          </p:nvSpPr>
          <p:spPr>
            <a:xfrm>
              <a:off x="8153400" y="3467100"/>
              <a:ext cx="3429000" cy="1428750"/>
            </a:xfrm>
            <a:prstGeom prst="roundRect">
              <a:avLst>
                <a:gd name="adj" fmla="val 9333"/>
              </a:avLst>
            </a:prstGeom>
            <a:solidFill>
              <a:srgbClr val="14532D"/>
            </a:solidFill>
            <a:ln w="9525">
              <a:solidFill>
                <a:srgbClr val="34D399"/>
              </a:solidFill>
            </a:ln>
          </p:spPr>
        </p:sp>
        <p:sp>
          <p:nvSpPr>
            <p:cNvPr id="35" name="TextBox 35"/>
            <p:cNvSpPr txBox="1"/>
            <p:nvPr/>
          </p:nvSpPr>
          <p:spPr>
            <a:xfrm>
              <a:off x="8369046" y="3572828"/>
              <a:ext cx="635264" cy="498729"/>
            </a:xfrm>
            <a:prstGeom prst="rect">
              <a:avLst/>
            </a:prstGeom>
            <a:noFill/>
            <a:ln>
              <a:noFill/>
            </a:ln>
          </p:spPr>
          <p:txBody>
            <a:bodyPr wrap="none" lIns="0" tIns="0" rIns="0" bIns="0" anchor="t" anchorCtr="0">
              <a:spAutoFit/>
            </a:bodyPr>
            <a:lstStyle/>
            <a:p>
              <a:pPr algn="l"/>
              <a:r>
                <a:rPr lang="en-US" sz="2550" b="1" dirty="0">
                  <a:solidFill>
                    <a:srgbClr val="34D399"/>
                  </a:solidFill>
                  <a:latin typeface="+mj-lt"/>
                  <a:ea typeface="+mj-ea"/>
                  <a:cs typeface="+mj-cs"/>
                </a:rPr>
                <a:t>SiT</a:t>
              </a:r>
            </a:p>
          </p:txBody>
        </p:sp>
        <p:sp>
          <p:nvSpPr>
            <p:cNvPr id="36" name="TextBox 36"/>
            <p:cNvSpPr txBox="1"/>
            <p:nvPr/>
          </p:nvSpPr>
          <p:spPr>
            <a:xfrm>
              <a:off x="8375523" y="4053364"/>
              <a:ext cx="2292663" cy="249364"/>
            </a:xfrm>
            <a:prstGeom prst="rect">
              <a:avLst/>
            </a:prstGeom>
            <a:noFill/>
            <a:ln>
              <a:noFill/>
            </a:ln>
          </p:spPr>
          <p:txBody>
            <a:bodyPr wrap="none" lIns="0" tIns="0" rIns="0" bIns="0" anchor="t" anchorCtr="0">
              <a:spAutoFit/>
            </a:bodyPr>
            <a:lstStyle/>
            <a:p>
              <a:pPr algn="l"/>
              <a:r>
                <a:rPr lang="en-US" sz="1280" b="1" dirty="0">
                  <a:solidFill>
                    <a:srgbClr val="EAF1FF"/>
                  </a:solidFill>
                  <a:latin typeface="+mn-lt"/>
                  <a:ea typeface="+mn-ea"/>
                  <a:cs typeface="+mn-cs"/>
                </a:rPr>
                <a:t>is designed specifically to</a:t>
              </a:r>
            </a:p>
          </p:txBody>
        </p:sp>
        <p:sp>
          <p:nvSpPr>
            <p:cNvPr id="37" name="TextBox 37"/>
            <p:cNvSpPr txBox="1"/>
            <p:nvPr/>
          </p:nvSpPr>
          <p:spPr>
            <a:xfrm>
              <a:off x="8375523" y="4281964"/>
              <a:ext cx="1378970" cy="249364"/>
            </a:xfrm>
            <a:prstGeom prst="rect">
              <a:avLst/>
            </a:prstGeom>
            <a:noFill/>
            <a:ln>
              <a:noFill/>
            </a:ln>
          </p:spPr>
          <p:txBody>
            <a:bodyPr wrap="none" lIns="0" tIns="0" rIns="0" bIns="0" anchor="t" anchorCtr="0">
              <a:spAutoFit/>
            </a:bodyPr>
            <a:lstStyle/>
            <a:p>
              <a:pPr algn="l"/>
              <a:r>
                <a:rPr lang="en-US" sz="1280" b="1" dirty="0">
                  <a:solidFill>
                    <a:srgbClr val="EAF1FF"/>
                  </a:solidFill>
                  <a:latin typeface="+mn-lt"/>
                  <a:ea typeface="+mn-ea"/>
                  <a:cs typeface="+mn-cs"/>
                </a:rPr>
                <a:t>fill these gaps.</a:t>
              </a:r>
            </a:p>
          </p:txBody>
        </p:sp>
      </p:grpSp>
      <p:sp>
        <p:nvSpPr>
          <p:cNvPr id="39" name="cue_s03_c1_studies_human_robot_interaction_show" title="cue_s03_c1_studies_human_robot_interaction_show" descr="cue_s03_c1_studies_human_robot_interaction_show Studies of human-robot interaction show that a robot's motion changes how nearby people walk, and these effects are strongest when the robot and pedestrians share the same space at close distance."/>
          <p:cNvSpPr/>
          <p:nvPr/>
        </p:nvSpPr>
        <p:spPr>
          <a:xfrm>
            <a:off x="609600" y="1428521"/>
            <a:ext cx="5334000"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2_study_need_collected_while_robot" title="cue_s03_c2_study_need_collected_while_robot" descr="cue_s03_c2_study_need_collected_while_robot To study and model that, we need data collected while a robot actually moves through crowds, not from a camera bolted to a building."/>
          <p:cNvSpPr/>
          <p:nvPr/>
        </p:nvSpPr>
        <p:spPr>
          <a:xfrm>
            <a:off x="6133795" y="1428521"/>
            <a:ext cx="5448604"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3_earlier_robot_datasets_came_close" title="cue_s03_c3_earlier_robot_datasets_came_close" descr="cue_s03_c3_earlier_robot_datasets_came_close Earlier robot datasets came close but each had a gap: STCrowd kept its sensors at a fixed position, so scenes barely varied, and JRDB did not organize its data into trajectories and did not fully synchronize its multiple sensors in time, which limits sensor fu"/>
          <p:cNvSpPr/>
          <p:nvPr/>
        </p:nvSpPr>
        <p:spPr>
          <a:xfrm>
            <a:off x="609600" y="3467404"/>
            <a:ext cx="7352995"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4_sit_designed_specifically_fill_these" title="cue_s03_c4_sit_designed_specifically_fill_these" descr="cue_s03_c4_sit_designed_specifically_fill_these SiT is designed specifically to fill these gaps."/>
          <p:cNvSpPr/>
          <p:nvPr/>
        </p:nvSpPr>
        <p:spPr>
          <a:xfrm>
            <a:off x="8152790" y="3467404"/>
            <a:ext cx="34283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rgbClr val="4F8CFF"/>
            </a:solidFill>
            <a:ln>
              <a:noFill/>
            </a:ln>
          </p:spPr>
        </p:sp>
      </p:grpSp>
      <p:sp>
        <p:nvSpPr>
          <p:cNvPr id="5" name="TextBox 5"/>
          <p:cNvSpPr txBox="1"/>
          <p:nvPr/>
        </p:nvSpPr>
        <p:spPr>
          <a:xfrm>
            <a:off x="604647" y="485299"/>
            <a:ext cx="1425827" cy="190690"/>
          </a:xfrm>
          <a:prstGeom prst="rect">
            <a:avLst/>
          </a:prstGeom>
          <a:noFill/>
          <a:ln>
            <a:noFill/>
          </a:ln>
        </p:spPr>
        <p:txBody>
          <a:bodyPr wrap="none" lIns="0" tIns="0" rIns="0" bIns="0" anchor="t" anchorCtr="0">
            <a:spAutoFit/>
          </a:bodyPr>
          <a:lstStyle/>
          <a:p>
            <a:pPr algn="l"/>
            <a:r>
              <a:rPr lang="en-US" sz="980" b="1" spc="225" dirty="0">
                <a:solidFill>
                  <a:srgbClr val="4F8CFF"/>
                </a:solidFill>
                <a:latin typeface="+mn-lt"/>
                <a:ea typeface="+mn-ea"/>
                <a:cs typeface="+mn-cs"/>
              </a:rPr>
              <a:t>CONTRIBUTIONS</a:t>
            </a:r>
          </a:p>
        </p:txBody>
      </p:sp>
      <p:sp>
        <p:nvSpPr>
          <p:cNvPr id="6" name="TextBox 6"/>
          <p:cNvSpPr txBox="1"/>
          <p:nvPr/>
        </p:nvSpPr>
        <p:spPr>
          <a:xfrm>
            <a:off x="596646" y="715328"/>
            <a:ext cx="3367574" cy="498729"/>
          </a:xfrm>
          <a:prstGeom prst="rect">
            <a:avLst/>
          </a:prstGeom>
          <a:noFill/>
          <a:ln>
            <a:noFill/>
          </a:ln>
        </p:spPr>
        <p:txBody>
          <a:bodyPr wrap="none" lIns="0" tIns="0" rIns="0" bIns="0" anchor="t" anchorCtr="0">
            <a:spAutoFit/>
          </a:bodyPr>
          <a:lstStyle/>
          <a:p>
            <a:pPr algn="l"/>
            <a:r>
              <a:rPr lang="en-US" sz="2550" b="1" dirty="0">
                <a:solidFill>
                  <a:srgbClr val="EAF1FF"/>
                </a:solidFill>
                <a:latin typeface="+mj-lt"/>
                <a:ea typeface="+mj-ea"/>
                <a:cs typeface="+mj-cs"/>
              </a:rPr>
              <a:t>What SiT Delivers</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03 / 10</a:t>
            </a:r>
          </a:p>
        </p:txBody>
      </p:sp>
      <p:grpSp>
        <p:nvGrpSpPr>
          <p:cNvPr id="18" name="Group 18"/>
          <p:cNvGrpSpPr/>
          <p:nvPr/>
        </p:nvGrpSpPr>
        <p:grpSpPr>
          <a:xfrm>
            <a:off x="609600" y="1428750"/>
            <a:ext cx="5257800" cy="1695450"/>
            <a:chOff x="609600" y="1428750"/>
            <a:chExt cx="5257800" cy="1695450"/>
          </a:xfrm>
        </p:grpSpPr>
        <p:sp>
          <p:nvSpPr>
            <p:cNvPr id="9" name="Rectangle 9"/>
            <p:cNvSpPr/>
            <p:nvPr/>
          </p:nvSpPr>
          <p:spPr>
            <a:xfrm>
              <a:off x="609600" y="1428750"/>
              <a:ext cx="5257800" cy="1695450"/>
            </a:xfrm>
            <a:prstGeom prst="roundRect">
              <a:avLst>
                <a:gd name="adj" fmla="val 7865"/>
              </a:avLst>
            </a:prstGeom>
            <a:solidFill>
              <a:schemeClr val="accent5"/>
            </a:solidFill>
            <a:ln w="9525">
              <a:solidFill>
                <a:schemeClr val="accent4"/>
              </a:solidFill>
            </a:ln>
          </p:spPr>
        </p:sp>
        <p:sp>
          <p:nvSpPr>
            <p:cNvPr id="10" name="Rectangle 10"/>
            <p:cNvSpPr/>
            <p:nvPr/>
          </p:nvSpPr>
          <p:spPr>
            <a:xfrm>
              <a:off x="609600" y="1581150"/>
              <a:ext cx="47625" cy="1390650"/>
            </a:xfrm>
            <a:prstGeom prst="roundRect">
              <a:avLst>
                <a:gd name="adj" fmla="val 40000"/>
              </a:avLst>
            </a:prstGeom>
            <a:solidFill>
              <a:srgbClr val="4F8CFF"/>
            </a:solidFill>
            <a:ln>
              <a:noFill/>
            </a:ln>
          </p:spPr>
        </p:sp>
        <p:sp>
          <p:nvSpPr>
            <p:cNvPr id="11" name="TextBox 11"/>
            <p:cNvSpPr txBox="1"/>
            <p:nvPr/>
          </p:nvSpPr>
          <p:spPr>
            <a:xfrm>
              <a:off x="880110" y="1657350"/>
              <a:ext cx="523342" cy="586740"/>
            </a:xfrm>
            <a:prstGeom prst="rect">
              <a:avLst/>
            </a:prstGeom>
            <a:noFill/>
            <a:ln>
              <a:noFill/>
            </a:ln>
          </p:spPr>
          <p:txBody>
            <a:bodyPr wrap="none" lIns="0" tIns="0" rIns="0" bIns="0" anchor="t" anchorCtr="0">
              <a:spAutoFit/>
            </a:bodyPr>
            <a:lstStyle/>
            <a:p>
              <a:pPr algn="l"/>
              <a:r>
                <a:rPr lang="en-US" sz="3000" b="1" dirty="0">
                  <a:solidFill>
                    <a:srgbClr val="4F8CFF"/>
                  </a:solidFill>
                  <a:latin typeface="+mj-lt"/>
                  <a:ea typeface="+mj-ea"/>
                  <a:cs typeface="+mj-cs"/>
                </a:rPr>
                <a:t>01</a:t>
              </a:r>
            </a:p>
          </p:txBody>
        </p:sp>
        <p:sp>
          <p:nvSpPr>
            <p:cNvPr id="12" name="TextBox 12"/>
            <p:cNvSpPr txBox="1"/>
            <p:nvPr/>
          </p:nvSpPr>
          <p:spPr>
            <a:xfrm>
              <a:off x="1516380" y="1743075"/>
              <a:ext cx="2481377" cy="293370"/>
            </a:xfrm>
            <a:prstGeom prst="rect">
              <a:avLst/>
            </a:prstGeom>
            <a:noFill/>
            <a:ln>
              <a:noFill/>
            </a:ln>
          </p:spPr>
          <p:txBody>
            <a:bodyPr wrap="none" lIns="0" tIns="0" rIns="0" bIns="0" anchor="t" anchorCtr="0">
              <a:spAutoFit/>
            </a:bodyPr>
            <a:lstStyle/>
            <a:p>
              <a:pPr algn="l"/>
              <a:r>
                <a:rPr lang="en-US" sz="1500" b="1" dirty="0">
                  <a:solidFill>
                    <a:srgbClr val="EAF1FF"/>
                  </a:solidFill>
                  <a:latin typeface="+mn-lt"/>
                  <a:ea typeface="+mn-ea"/>
                  <a:cs typeface="+mn-cs"/>
                </a:rPr>
                <a:t>Real crowd trajectories</a:t>
              </a:r>
            </a:p>
          </p:txBody>
        </p:sp>
        <p:sp>
          <p:nvSpPr>
            <p:cNvPr id="13" name="Line 13"/>
            <p:cNvSpPr/>
            <p:nvPr/>
          </p:nvSpPr>
          <p:spPr>
            <a:xfrm>
              <a:off x="1524000" y="2019300"/>
              <a:ext cx="4057650" cy="9525"/>
            </a:xfrm>
            <a:custGeom>
              <a:avLst/>
              <a:gdLst/>
              <a:ahLst/>
              <a:cxnLst/>
              <a:rect l="l" t="t" r="r" b="b"/>
              <a:pathLst>
                <a:path w="4057650" h="9525">
                  <a:moveTo>
                    <a:pt x="0" y="0"/>
                  </a:moveTo>
                  <a:lnTo>
                    <a:pt x="4057650" y="0"/>
                  </a:lnTo>
                </a:path>
              </a:pathLst>
            </a:custGeom>
            <a:noFill/>
            <a:ln w="9525" cap="rnd">
              <a:solidFill>
                <a:schemeClr val="accent4"/>
              </a:solidFill>
            </a:ln>
          </p:spPr>
        </p:sp>
        <p:sp>
          <p:nvSpPr>
            <p:cNvPr id="14" name="TextBox 14"/>
            <p:cNvSpPr txBox="1"/>
            <p:nvPr/>
          </p:nvSpPr>
          <p:spPr>
            <a:xfrm>
              <a:off x="1518285" y="2183606"/>
              <a:ext cx="3521774"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Large-scale real-world pedestrian trajectories</a:t>
              </a:r>
            </a:p>
          </p:txBody>
        </p:sp>
        <p:sp>
          <p:nvSpPr>
            <p:cNvPr id="15" name="TextBox 15"/>
            <p:cNvSpPr txBox="1"/>
            <p:nvPr/>
          </p:nvSpPr>
          <p:spPr>
            <a:xfrm>
              <a:off x="1518285" y="2393156"/>
              <a:ext cx="368278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gathered as a robot navigated crowded indoor and</a:t>
              </a:r>
            </a:p>
          </p:txBody>
        </p:sp>
        <p:sp>
          <p:nvSpPr>
            <p:cNvPr id="16" name="TextBox 16"/>
            <p:cNvSpPr txBox="1"/>
            <p:nvPr/>
          </p:nvSpPr>
          <p:spPr>
            <a:xfrm>
              <a:off x="1518285" y="2602706"/>
              <a:ext cx="383356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outdoor scenes — interiors, campuses, crosswalks,</a:t>
              </a:r>
            </a:p>
          </p:txBody>
        </p:sp>
        <p:sp>
          <p:nvSpPr>
            <p:cNvPr id="17" name="TextBox 17"/>
            <p:cNvSpPr txBox="1"/>
            <p:nvPr/>
          </p:nvSpPr>
          <p:spPr>
            <a:xfrm>
              <a:off x="1518285" y="2812256"/>
              <a:ext cx="780379"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walkways.</a:t>
              </a:r>
            </a:p>
          </p:txBody>
        </p:sp>
      </p:grpSp>
      <p:grpSp>
        <p:nvGrpSpPr>
          <p:cNvPr id="27" name="Group 27"/>
          <p:cNvGrpSpPr/>
          <p:nvPr/>
        </p:nvGrpSpPr>
        <p:grpSpPr>
          <a:xfrm>
            <a:off x="6134100" y="1428750"/>
            <a:ext cx="5257800" cy="1695450"/>
            <a:chOff x="6134100" y="1428750"/>
            <a:chExt cx="5257800" cy="1695450"/>
          </a:xfrm>
        </p:grpSpPr>
        <p:sp>
          <p:nvSpPr>
            <p:cNvPr id="19" name="Rectangle 19"/>
            <p:cNvSpPr/>
            <p:nvPr/>
          </p:nvSpPr>
          <p:spPr>
            <a:xfrm>
              <a:off x="6134100" y="1428750"/>
              <a:ext cx="5257800" cy="1695450"/>
            </a:xfrm>
            <a:prstGeom prst="roundRect">
              <a:avLst>
                <a:gd name="adj" fmla="val 7865"/>
              </a:avLst>
            </a:prstGeom>
            <a:solidFill>
              <a:schemeClr val="accent5"/>
            </a:solidFill>
            <a:ln w="9525">
              <a:solidFill>
                <a:schemeClr val="accent4"/>
              </a:solidFill>
            </a:ln>
          </p:spPr>
        </p:sp>
        <p:sp>
          <p:nvSpPr>
            <p:cNvPr id="20" name="Rectangle 20"/>
            <p:cNvSpPr/>
            <p:nvPr/>
          </p:nvSpPr>
          <p:spPr>
            <a:xfrm>
              <a:off x="6134100" y="1581150"/>
              <a:ext cx="47625" cy="1390650"/>
            </a:xfrm>
            <a:prstGeom prst="roundRect">
              <a:avLst>
                <a:gd name="adj" fmla="val 40000"/>
              </a:avLst>
            </a:prstGeom>
            <a:solidFill>
              <a:srgbClr val="34D399"/>
            </a:solidFill>
            <a:ln>
              <a:noFill/>
            </a:ln>
          </p:spPr>
        </p:sp>
        <p:sp>
          <p:nvSpPr>
            <p:cNvPr id="21" name="TextBox 21"/>
            <p:cNvSpPr txBox="1"/>
            <p:nvPr/>
          </p:nvSpPr>
          <p:spPr>
            <a:xfrm>
              <a:off x="6404610" y="1657350"/>
              <a:ext cx="523342" cy="586740"/>
            </a:xfrm>
            <a:prstGeom prst="rect">
              <a:avLst/>
            </a:prstGeom>
            <a:noFill/>
            <a:ln>
              <a:noFill/>
            </a:ln>
          </p:spPr>
          <p:txBody>
            <a:bodyPr wrap="none" lIns="0" tIns="0" rIns="0" bIns="0" anchor="t" anchorCtr="0">
              <a:spAutoFit/>
            </a:bodyPr>
            <a:lstStyle/>
            <a:p>
              <a:pPr algn="l"/>
              <a:r>
                <a:rPr lang="en-US" sz="3000" b="1" dirty="0">
                  <a:solidFill>
                    <a:srgbClr val="34D399"/>
                  </a:solidFill>
                  <a:latin typeface="+mj-lt"/>
                  <a:ea typeface="+mj-ea"/>
                  <a:cs typeface="+mj-cs"/>
                </a:rPr>
                <a:t>02</a:t>
              </a:r>
            </a:p>
          </p:txBody>
        </p:sp>
        <p:sp>
          <p:nvSpPr>
            <p:cNvPr id="22" name="TextBox 22"/>
            <p:cNvSpPr txBox="1"/>
            <p:nvPr/>
          </p:nvSpPr>
          <p:spPr>
            <a:xfrm>
              <a:off x="7040880" y="1743075"/>
              <a:ext cx="2438857" cy="293370"/>
            </a:xfrm>
            <a:prstGeom prst="rect">
              <a:avLst/>
            </a:prstGeom>
            <a:noFill/>
            <a:ln>
              <a:noFill/>
            </a:ln>
          </p:spPr>
          <p:txBody>
            <a:bodyPr wrap="none" lIns="0" tIns="0" rIns="0" bIns="0" anchor="t" anchorCtr="0">
              <a:spAutoFit/>
            </a:bodyPr>
            <a:lstStyle/>
            <a:p>
              <a:pPr algn="l"/>
              <a:r>
                <a:rPr lang="en-US" sz="1500" b="1" dirty="0">
                  <a:solidFill>
                    <a:srgbClr val="EAF1FF"/>
                  </a:solidFill>
                  <a:latin typeface="+mn-lt"/>
                  <a:ea typeface="+mn-ea"/>
                  <a:cs typeface="+mn-cs"/>
                </a:rPr>
                <a:t>Rich prediction context</a:t>
              </a:r>
            </a:p>
          </p:txBody>
        </p:sp>
        <p:sp>
          <p:nvSpPr>
            <p:cNvPr id="23" name="Line 23"/>
            <p:cNvSpPr/>
            <p:nvPr/>
          </p:nvSpPr>
          <p:spPr>
            <a:xfrm>
              <a:off x="7048500" y="2019300"/>
              <a:ext cx="4057650" cy="9525"/>
            </a:xfrm>
            <a:custGeom>
              <a:avLst/>
              <a:gdLst/>
              <a:ahLst/>
              <a:cxnLst/>
              <a:rect l="l" t="t" r="r" b="b"/>
              <a:pathLst>
                <a:path w="4057650" h="9525">
                  <a:moveTo>
                    <a:pt x="0" y="0"/>
                  </a:moveTo>
                  <a:lnTo>
                    <a:pt x="4057650" y="0"/>
                  </a:lnTo>
                </a:path>
              </a:pathLst>
            </a:custGeom>
            <a:noFill/>
            <a:ln w="9525" cap="rnd">
              <a:solidFill>
                <a:schemeClr val="accent4"/>
              </a:solidFill>
            </a:ln>
          </p:spPr>
        </p:sp>
        <p:sp>
          <p:nvSpPr>
            <p:cNvPr id="24" name="TextBox 24"/>
            <p:cNvSpPr txBox="1"/>
            <p:nvPr/>
          </p:nvSpPr>
          <p:spPr>
            <a:xfrm>
              <a:off x="7042785" y="2183606"/>
              <a:ext cx="364999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Enables prediction with rich context: appearance</a:t>
              </a:r>
            </a:p>
          </p:txBody>
        </p:sp>
        <p:sp>
          <p:nvSpPr>
            <p:cNvPr id="25" name="TextBox 25"/>
            <p:cNvSpPr txBox="1"/>
            <p:nvPr/>
          </p:nvSpPr>
          <p:spPr>
            <a:xfrm>
              <a:off x="7042785" y="2393156"/>
              <a:ext cx="394664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features, the robot's own ego-motion, and semantic</a:t>
              </a:r>
            </a:p>
          </p:txBody>
        </p:sp>
        <p:sp>
          <p:nvSpPr>
            <p:cNvPr id="26" name="TextBox 26"/>
            <p:cNvSpPr txBox="1"/>
            <p:nvPr/>
          </p:nvSpPr>
          <p:spPr>
            <a:xfrm>
              <a:off x="7042785" y="2602706"/>
              <a:ext cx="250674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map data around each pedestrian.</a:t>
              </a:r>
            </a:p>
          </p:txBody>
        </p:sp>
      </p:grpSp>
      <p:grpSp>
        <p:nvGrpSpPr>
          <p:cNvPr id="37" name="Group 37"/>
          <p:cNvGrpSpPr/>
          <p:nvPr/>
        </p:nvGrpSpPr>
        <p:grpSpPr>
          <a:xfrm>
            <a:off x="609600" y="3352800"/>
            <a:ext cx="5257800" cy="1695450"/>
            <a:chOff x="609600" y="3352800"/>
            <a:chExt cx="5257800" cy="1695450"/>
          </a:xfrm>
        </p:grpSpPr>
        <p:sp>
          <p:nvSpPr>
            <p:cNvPr id="28" name="Rectangle 28"/>
            <p:cNvSpPr/>
            <p:nvPr/>
          </p:nvSpPr>
          <p:spPr>
            <a:xfrm>
              <a:off x="609600" y="3352800"/>
              <a:ext cx="5257800" cy="1695450"/>
            </a:xfrm>
            <a:prstGeom prst="roundRect">
              <a:avLst>
                <a:gd name="adj" fmla="val 7865"/>
              </a:avLst>
            </a:prstGeom>
            <a:solidFill>
              <a:schemeClr val="accent5"/>
            </a:solidFill>
            <a:ln w="9525">
              <a:solidFill>
                <a:schemeClr val="accent4"/>
              </a:solidFill>
            </a:ln>
          </p:spPr>
        </p:sp>
        <p:sp>
          <p:nvSpPr>
            <p:cNvPr id="29" name="Rectangle 29"/>
            <p:cNvSpPr/>
            <p:nvPr/>
          </p:nvSpPr>
          <p:spPr>
            <a:xfrm>
              <a:off x="609600" y="3505200"/>
              <a:ext cx="47625" cy="1390650"/>
            </a:xfrm>
            <a:prstGeom prst="roundRect">
              <a:avLst>
                <a:gd name="adj" fmla="val 40000"/>
              </a:avLst>
            </a:prstGeom>
            <a:solidFill>
              <a:srgbClr val="A78BFA"/>
            </a:solidFill>
            <a:ln>
              <a:noFill/>
            </a:ln>
          </p:spPr>
        </p:sp>
        <p:sp>
          <p:nvSpPr>
            <p:cNvPr id="30" name="TextBox 30"/>
            <p:cNvSpPr txBox="1"/>
            <p:nvPr/>
          </p:nvSpPr>
          <p:spPr>
            <a:xfrm>
              <a:off x="880110" y="3581400"/>
              <a:ext cx="523342" cy="586740"/>
            </a:xfrm>
            <a:prstGeom prst="rect">
              <a:avLst/>
            </a:prstGeom>
            <a:noFill/>
            <a:ln>
              <a:noFill/>
            </a:ln>
          </p:spPr>
          <p:txBody>
            <a:bodyPr wrap="none" lIns="0" tIns="0" rIns="0" bIns="0" anchor="t" anchorCtr="0">
              <a:spAutoFit/>
            </a:bodyPr>
            <a:lstStyle/>
            <a:p>
              <a:pPr algn="l"/>
              <a:r>
                <a:rPr lang="en-US" sz="3000" b="1" dirty="0">
                  <a:solidFill>
                    <a:srgbClr val="A78BFA"/>
                  </a:solidFill>
                  <a:latin typeface="+mj-lt"/>
                  <a:ea typeface="+mj-ea"/>
                  <a:cs typeface="+mj-cs"/>
                </a:rPr>
                <a:t>03</a:t>
              </a:r>
            </a:p>
          </p:txBody>
        </p:sp>
        <p:sp>
          <p:nvSpPr>
            <p:cNvPr id="31" name="TextBox 31"/>
            <p:cNvSpPr txBox="1"/>
            <p:nvPr/>
          </p:nvSpPr>
          <p:spPr>
            <a:xfrm>
              <a:off x="1516380" y="3667125"/>
              <a:ext cx="2354866" cy="293370"/>
            </a:xfrm>
            <a:prstGeom prst="rect">
              <a:avLst/>
            </a:prstGeom>
            <a:noFill/>
            <a:ln>
              <a:noFill/>
            </a:ln>
          </p:spPr>
          <p:txBody>
            <a:bodyPr wrap="none" lIns="0" tIns="0" rIns="0" bIns="0" anchor="t" anchorCtr="0">
              <a:spAutoFit/>
            </a:bodyPr>
            <a:lstStyle/>
            <a:p>
              <a:pPr algn="l"/>
              <a:r>
                <a:rPr lang="en-US" sz="1500" b="1" dirty="0">
                  <a:solidFill>
                    <a:srgbClr val="EAF1FF"/>
                  </a:solidFill>
                  <a:latin typeface="+mn-lt"/>
                  <a:ea typeface="+mn-ea"/>
                  <a:cs typeface="+mn-cs"/>
                </a:rPr>
                <a:t>Synchronized + mapped</a:t>
              </a:r>
            </a:p>
          </p:txBody>
        </p:sp>
        <p:sp>
          <p:nvSpPr>
            <p:cNvPr id="32" name="Line 32"/>
            <p:cNvSpPr/>
            <p:nvPr/>
          </p:nvSpPr>
          <p:spPr>
            <a:xfrm>
              <a:off x="1524000" y="3943350"/>
              <a:ext cx="4057650" cy="9525"/>
            </a:xfrm>
            <a:custGeom>
              <a:avLst/>
              <a:gdLst/>
              <a:ahLst/>
              <a:cxnLst/>
              <a:rect l="l" t="t" r="r" b="b"/>
              <a:pathLst>
                <a:path w="4057650" h="9525">
                  <a:moveTo>
                    <a:pt x="0" y="0"/>
                  </a:moveTo>
                  <a:lnTo>
                    <a:pt x="4057650" y="0"/>
                  </a:lnTo>
                </a:path>
              </a:pathLst>
            </a:custGeom>
            <a:noFill/>
            <a:ln w="9525" cap="rnd">
              <a:solidFill>
                <a:schemeClr val="accent4"/>
              </a:solidFill>
            </a:ln>
          </p:spPr>
        </p:sp>
        <p:sp>
          <p:nvSpPr>
            <p:cNvPr id="33" name="TextBox 33"/>
            <p:cNvSpPr txBox="1"/>
            <p:nvPr/>
          </p:nvSpPr>
          <p:spPr>
            <a:xfrm>
              <a:off x="1518285" y="4107656"/>
              <a:ext cx="378553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Precise time synchronization across all sensors via</a:t>
              </a:r>
            </a:p>
          </p:txBody>
        </p:sp>
        <p:sp>
          <p:nvSpPr>
            <p:cNvPr id="34" name="TextBox 34"/>
            <p:cNvSpPr txBox="1"/>
            <p:nvPr/>
          </p:nvSpPr>
          <p:spPr>
            <a:xfrm>
              <a:off x="1518285" y="4317206"/>
              <a:ext cx="378079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centralized triggering makes fusion practical, plus</a:t>
              </a:r>
            </a:p>
          </p:txBody>
        </p:sp>
        <p:sp>
          <p:nvSpPr>
            <p:cNvPr id="35" name="TextBox 35"/>
            <p:cNvSpPr txBox="1"/>
            <p:nvPr/>
          </p:nvSpPr>
          <p:spPr>
            <a:xfrm>
              <a:off x="1518285" y="4526756"/>
              <a:ext cx="383356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multi-layered semantic maps for indoor and outdoor</a:t>
              </a:r>
            </a:p>
          </p:txBody>
        </p:sp>
        <p:sp>
          <p:nvSpPr>
            <p:cNvPr id="36" name="TextBox 36"/>
            <p:cNvSpPr txBox="1"/>
            <p:nvPr/>
          </p:nvSpPr>
          <p:spPr>
            <a:xfrm>
              <a:off x="1518285" y="4736306"/>
              <a:ext cx="59191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scenes.</a:t>
              </a:r>
            </a:p>
          </p:txBody>
        </p:sp>
      </p:grpSp>
      <p:grpSp>
        <p:nvGrpSpPr>
          <p:cNvPr id="47" name="Group 47"/>
          <p:cNvGrpSpPr/>
          <p:nvPr/>
        </p:nvGrpSpPr>
        <p:grpSpPr>
          <a:xfrm>
            <a:off x="6134100" y="3352800"/>
            <a:ext cx="5257800" cy="1695450"/>
            <a:chOff x="6134100" y="3352800"/>
            <a:chExt cx="5257800" cy="1695450"/>
          </a:xfrm>
        </p:grpSpPr>
        <p:sp>
          <p:nvSpPr>
            <p:cNvPr id="38" name="Rectangle 38"/>
            <p:cNvSpPr/>
            <p:nvPr/>
          </p:nvSpPr>
          <p:spPr>
            <a:xfrm>
              <a:off x="6134100" y="3352800"/>
              <a:ext cx="5257800" cy="1695450"/>
            </a:xfrm>
            <a:prstGeom prst="roundRect">
              <a:avLst>
                <a:gd name="adj" fmla="val 7865"/>
              </a:avLst>
            </a:prstGeom>
            <a:solidFill>
              <a:schemeClr val="accent5"/>
            </a:solidFill>
            <a:ln w="9525">
              <a:solidFill>
                <a:schemeClr val="accent4"/>
              </a:solidFill>
            </a:ln>
          </p:spPr>
        </p:sp>
        <p:sp>
          <p:nvSpPr>
            <p:cNvPr id="39" name="Rectangle 39"/>
            <p:cNvSpPr/>
            <p:nvPr/>
          </p:nvSpPr>
          <p:spPr>
            <a:xfrm>
              <a:off x="6134100" y="3505200"/>
              <a:ext cx="47625" cy="1390650"/>
            </a:xfrm>
            <a:prstGeom prst="roundRect">
              <a:avLst>
                <a:gd name="adj" fmla="val 40000"/>
              </a:avLst>
            </a:prstGeom>
            <a:solidFill>
              <a:srgbClr val="FBBF24"/>
            </a:solidFill>
            <a:ln>
              <a:noFill/>
            </a:ln>
          </p:spPr>
        </p:sp>
        <p:sp>
          <p:nvSpPr>
            <p:cNvPr id="40" name="TextBox 40"/>
            <p:cNvSpPr txBox="1"/>
            <p:nvPr/>
          </p:nvSpPr>
          <p:spPr>
            <a:xfrm>
              <a:off x="6404610" y="3581400"/>
              <a:ext cx="523342" cy="586740"/>
            </a:xfrm>
            <a:prstGeom prst="rect">
              <a:avLst/>
            </a:prstGeom>
            <a:noFill/>
            <a:ln>
              <a:noFill/>
            </a:ln>
          </p:spPr>
          <p:txBody>
            <a:bodyPr wrap="none" lIns="0" tIns="0" rIns="0" bIns="0" anchor="t" anchorCtr="0">
              <a:spAutoFit/>
            </a:bodyPr>
            <a:lstStyle/>
            <a:p>
              <a:pPr algn="l"/>
              <a:r>
                <a:rPr lang="en-US" sz="3000" b="1" dirty="0">
                  <a:solidFill>
                    <a:srgbClr val="FBBF24"/>
                  </a:solidFill>
                  <a:latin typeface="+mj-lt"/>
                  <a:ea typeface="+mj-ea"/>
                  <a:cs typeface="+mj-cs"/>
                </a:rPr>
                <a:t>04</a:t>
              </a:r>
            </a:p>
          </p:txBody>
        </p:sp>
        <p:sp>
          <p:nvSpPr>
            <p:cNvPr id="41" name="TextBox 41"/>
            <p:cNvSpPr txBox="1"/>
            <p:nvPr/>
          </p:nvSpPr>
          <p:spPr>
            <a:xfrm>
              <a:off x="7040880" y="3667125"/>
              <a:ext cx="1887674" cy="293370"/>
            </a:xfrm>
            <a:prstGeom prst="rect">
              <a:avLst/>
            </a:prstGeom>
            <a:noFill/>
            <a:ln>
              <a:noFill/>
            </a:ln>
          </p:spPr>
          <p:txBody>
            <a:bodyPr wrap="none" lIns="0" tIns="0" rIns="0" bIns="0" anchor="t" anchorCtr="0">
              <a:spAutoFit/>
            </a:bodyPr>
            <a:lstStyle/>
            <a:p>
              <a:pPr algn="l"/>
              <a:r>
                <a:rPr lang="en-US" sz="1500" b="1" dirty="0">
                  <a:solidFill>
                    <a:srgbClr val="EAF1FF"/>
                  </a:solidFill>
                  <a:latin typeface="+mn-lt"/>
                  <a:ea typeface="+mn-ea"/>
                  <a:cs typeface="+mn-cs"/>
                </a:rPr>
                <a:t>Unified benchmark</a:t>
              </a:r>
            </a:p>
          </p:txBody>
        </p:sp>
        <p:sp>
          <p:nvSpPr>
            <p:cNvPr id="42" name="Line 42"/>
            <p:cNvSpPr/>
            <p:nvPr/>
          </p:nvSpPr>
          <p:spPr>
            <a:xfrm>
              <a:off x="7048500" y="3943350"/>
              <a:ext cx="4057650" cy="9525"/>
            </a:xfrm>
            <a:custGeom>
              <a:avLst/>
              <a:gdLst/>
              <a:ahLst/>
              <a:cxnLst/>
              <a:rect l="l" t="t" r="r" b="b"/>
              <a:pathLst>
                <a:path w="4057650" h="9525">
                  <a:moveTo>
                    <a:pt x="0" y="0"/>
                  </a:moveTo>
                  <a:lnTo>
                    <a:pt x="4057650" y="0"/>
                  </a:lnTo>
                </a:path>
              </a:pathLst>
            </a:custGeom>
            <a:noFill/>
            <a:ln w="9525" cap="rnd">
              <a:solidFill>
                <a:schemeClr val="accent4"/>
              </a:solidFill>
            </a:ln>
          </p:spPr>
        </p:sp>
        <p:sp>
          <p:nvSpPr>
            <p:cNvPr id="43" name="TextBox 43"/>
            <p:cNvSpPr txBox="1"/>
            <p:nvPr/>
          </p:nvSpPr>
          <p:spPr>
            <a:xfrm>
              <a:off x="7042785" y="4107656"/>
              <a:ext cx="348802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 curated benchmark spanning 3D detection, 3D</a:t>
              </a:r>
            </a:p>
          </p:txBody>
        </p:sp>
        <p:sp>
          <p:nvSpPr>
            <p:cNvPr id="44" name="TextBox 44"/>
            <p:cNvSpPr txBox="1"/>
            <p:nvPr/>
          </p:nvSpPr>
          <p:spPr>
            <a:xfrm>
              <a:off x="7042785" y="4317206"/>
              <a:ext cx="369032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multi-object tracking, trajectory prediction, and</a:t>
              </a:r>
            </a:p>
          </p:txBody>
        </p:sp>
        <p:sp>
          <p:nvSpPr>
            <p:cNvPr id="45" name="TextBox 45"/>
            <p:cNvSpPr txBox="1"/>
            <p:nvPr/>
          </p:nvSpPr>
          <p:spPr>
            <a:xfrm>
              <a:off x="7042785" y="4526756"/>
              <a:ext cx="3313389"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end-to-end motion forecasting — all released</a:t>
              </a:r>
            </a:p>
          </p:txBody>
        </p:sp>
        <p:sp>
          <p:nvSpPr>
            <p:cNvPr id="46" name="TextBox 46"/>
            <p:cNvSpPr txBox="1"/>
            <p:nvPr/>
          </p:nvSpPr>
          <p:spPr>
            <a:xfrm>
              <a:off x="7042785" y="4736306"/>
              <a:ext cx="64468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publicly.</a:t>
              </a:r>
            </a:p>
          </p:txBody>
        </p:sp>
      </p:grpSp>
      <p:sp>
        <p:nvSpPr>
          <p:cNvPr id="48" name="cue_s04_c1_sit_dataset_makes_several_contributi" title="cue_s04_c1_sit_dataset_makes_several_contributi" descr="cue_s04_c1_sit_dataset_makes_several_contributi The SiT dataset makes several contributions. It provides large-scale real-world pedestrian trajectories gathered as a robot navigated densely populated indoor and outdoor environments, from building interiors and campuses to crosswalks and public walkways."/>
          <p:cNvSpPr/>
          <p:nvPr/>
        </p:nvSpPr>
        <p:spPr>
          <a:xfrm>
            <a:off x="609600" y="1428521"/>
            <a:ext cx="5258409" cy="16952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4_c2_lets_researchers_build_prediction_mo" title="cue_s04_c2_lets_researchers_build_prediction_mo" descr="cue_s04_c2_lets_researchers_build_prediction_mo It lets researchers build prediction models using rich context, including appearance features, the robot's ego-motion, and semantic map data."/>
          <p:cNvSpPr/>
          <p:nvPr/>
        </p:nvSpPr>
        <p:spPr>
          <a:xfrm>
            <a:off x="6133795" y="1428521"/>
            <a:ext cx="5258409" cy="16952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4_c3_achieves_precise_time_synchronizatio" title="cue_s04_c3_achieves_precise_time_synchronizatio" descr="cue_s04_c3_achieves_precise_time_synchronizatio It achieves precise time synchronization between all sensor modalities using a centralized triggering method, which makes sensor fusion practical. It supplies multi-layered semantic maps for both indoor and outdoor scenes."/>
          <p:cNvSpPr/>
          <p:nvPr/>
        </p:nvSpPr>
        <p:spPr>
          <a:xfrm>
            <a:off x="609600" y="3352876"/>
            <a:ext cx="5258409" cy="16952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4_offers_curated_benchmark_covering_3" title="cue_s04_c4_offers_curated_benchmark_covering_3" descr="cue_s04_c4_offers_curated_benchmark_covering_3 And it offers a curated benchmark covering 3D detection, 3D multi-object tracking, trajectory prediction, and an end-to-end task from perception to motion forecasting, with everything released publicly."/>
          <p:cNvSpPr/>
          <p:nvPr/>
        </p:nvSpPr>
        <p:spPr>
          <a:xfrm>
            <a:off x="6133795" y="3352876"/>
            <a:ext cx="5258409" cy="16952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rgbClr val="4F8CFF"/>
            </a:solidFill>
            <a:ln>
              <a:noFill/>
            </a:ln>
          </p:spPr>
        </p:sp>
      </p:grpSp>
      <p:sp>
        <p:nvSpPr>
          <p:cNvPr id="5" name="TextBox 5"/>
          <p:cNvSpPr txBox="1"/>
          <p:nvPr/>
        </p:nvSpPr>
        <p:spPr>
          <a:xfrm>
            <a:off x="604647" y="485299"/>
            <a:ext cx="1650836" cy="190690"/>
          </a:xfrm>
          <a:prstGeom prst="rect">
            <a:avLst/>
          </a:prstGeom>
          <a:noFill/>
          <a:ln>
            <a:noFill/>
          </a:ln>
        </p:spPr>
        <p:txBody>
          <a:bodyPr wrap="none" lIns="0" tIns="0" rIns="0" bIns="0" anchor="t" anchorCtr="0">
            <a:spAutoFit/>
          </a:bodyPr>
          <a:lstStyle/>
          <a:p>
            <a:pPr algn="l"/>
            <a:r>
              <a:rPr lang="en-US" sz="980" b="1" spc="225" dirty="0">
                <a:solidFill>
                  <a:srgbClr val="4F8CFF"/>
                </a:solidFill>
                <a:latin typeface="+mn-lt"/>
                <a:ea typeface="+mn-ea"/>
                <a:cs typeface="+mn-cs"/>
              </a:rPr>
              <a:t>DATA COLLECTION</a:t>
            </a:r>
          </a:p>
        </p:txBody>
      </p:sp>
      <p:sp>
        <p:nvSpPr>
          <p:cNvPr id="6" name="TextBox 6"/>
          <p:cNvSpPr txBox="1"/>
          <p:nvPr/>
        </p:nvSpPr>
        <p:spPr>
          <a:xfrm>
            <a:off x="596646" y="715328"/>
            <a:ext cx="6390405" cy="498729"/>
          </a:xfrm>
          <a:prstGeom prst="rect">
            <a:avLst/>
          </a:prstGeom>
          <a:noFill/>
          <a:ln>
            <a:noFill/>
          </a:ln>
        </p:spPr>
        <p:txBody>
          <a:bodyPr wrap="none" lIns="0" tIns="0" rIns="0" bIns="0" anchor="t" anchorCtr="0">
            <a:spAutoFit/>
          </a:bodyPr>
          <a:lstStyle/>
          <a:p>
            <a:pPr algn="l"/>
            <a:r>
              <a:rPr lang="en-US" sz="2550" b="1" dirty="0">
                <a:solidFill>
                  <a:srgbClr val="EAF1FF"/>
                </a:solidFill>
                <a:latin typeface="+mj-lt"/>
                <a:ea typeface="+mj-ea"/>
                <a:cs typeface="+mj-cs"/>
              </a:rPr>
              <a:t>A Sensor-Rich Robot in the Crowd</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04 / 10</a:t>
            </a:r>
          </a:p>
        </p:txBody>
      </p:sp>
      <p:grpSp>
        <p:nvGrpSpPr>
          <p:cNvPr id="25" name="Group 25"/>
          <p:cNvGrpSpPr/>
          <p:nvPr/>
        </p:nvGrpSpPr>
        <p:grpSpPr>
          <a:xfrm>
            <a:off x="609600" y="1428750"/>
            <a:ext cx="6858000" cy="1600200"/>
            <a:chOff x="609600" y="1428750"/>
            <a:chExt cx="6858000" cy="1600200"/>
          </a:xfrm>
        </p:grpSpPr>
        <p:sp>
          <p:nvSpPr>
            <p:cNvPr id="9" name="Rectangle 9"/>
            <p:cNvSpPr/>
            <p:nvPr/>
          </p:nvSpPr>
          <p:spPr>
            <a:xfrm>
              <a:off x="609600" y="1428750"/>
              <a:ext cx="6858000" cy="1600200"/>
            </a:xfrm>
            <a:prstGeom prst="roundRect">
              <a:avLst>
                <a:gd name="adj" fmla="val 8333"/>
              </a:avLst>
            </a:prstGeom>
            <a:solidFill>
              <a:schemeClr val="accent5"/>
            </a:solidFill>
            <a:ln w="9525">
              <a:solidFill>
                <a:schemeClr val="accent4"/>
              </a:solidFill>
            </a:ln>
          </p:spPr>
        </p:sp>
        <p:sp>
          <p:nvSpPr>
            <p:cNvPr id="10" name="TextBox 10"/>
            <p:cNvSpPr txBox="1"/>
            <p:nvPr/>
          </p:nvSpPr>
          <p:spPr>
            <a:xfrm>
              <a:off x="851154" y="1623060"/>
              <a:ext cx="5466317" cy="234696"/>
            </a:xfrm>
            <a:prstGeom prst="rect">
              <a:avLst/>
            </a:prstGeom>
            <a:noFill/>
            <a:ln>
              <a:noFill/>
            </a:ln>
          </p:spPr>
          <p:txBody>
            <a:bodyPr wrap="none" lIns="0" tIns="0" rIns="0" bIns="0" anchor="t" anchorCtr="0">
              <a:spAutoFit/>
            </a:bodyPr>
            <a:lstStyle/>
            <a:p>
              <a:pPr algn="l"/>
              <a:r>
                <a:rPr lang="en-US" sz="1200" b="1" dirty="0">
                  <a:solidFill>
                    <a:srgbClr val="EAF1FF"/>
                  </a:solidFill>
                  <a:latin typeface="+mn-lt"/>
                  <a:ea typeface="+mn-ea"/>
                  <a:cs typeface="+mn-cs"/>
                </a:rPr>
                <a:t>Clearpath Husky UGV — remotely operated through downtown Seoul</a:t>
              </a:r>
            </a:p>
          </p:txBody>
        </p:sp>
        <p:sp>
          <p:nvSpPr>
            <p:cNvPr id="11" name="Rectangle 11"/>
            <p:cNvSpPr/>
            <p:nvPr/>
          </p:nvSpPr>
          <p:spPr>
            <a:xfrm>
              <a:off x="857250" y="2038350"/>
              <a:ext cx="1428750" cy="762000"/>
            </a:xfrm>
            <a:prstGeom prst="roundRect">
              <a:avLst>
                <a:gd name="adj" fmla="val 12500"/>
              </a:avLst>
            </a:prstGeom>
            <a:solidFill>
              <a:schemeClr val="accent6"/>
            </a:solidFill>
            <a:ln w="9525">
              <a:solidFill>
                <a:srgbClr val="4F8CFF"/>
              </a:solidFill>
            </a:ln>
          </p:spPr>
        </p:sp>
        <p:sp>
          <p:nvSpPr>
            <p:cNvPr id="12" name="TextBox 12"/>
            <p:cNvSpPr txBox="1"/>
            <p:nvPr/>
          </p:nvSpPr>
          <p:spPr>
            <a:xfrm>
              <a:off x="1427706" y="2165032"/>
              <a:ext cx="287838" cy="322707"/>
            </a:xfrm>
            <a:prstGeom prst="rect">
              <a:avLst/>
            </a:prstGeom>
            <a:noFill/>
            <a:ln>
              <a:noFill/>
            </a:ln>
          </p:spPr>
          <p:txBody>
            <a:bodyPr wrap="none" lIns="0" tIns="0" rIns="0" bIns="0" anchor="t" anchorCtr="0">
              <a:spAutoFit/>
            </a:bodyPr>
            <a:lstStyle/>
            <a:p>
              <a:pPr algn="ctr"/>
              <a:r>
                <a:rPr lang="en-US" sz="1650" b="1" dirty="0">
                  <a:solidFill>
                    <a:srgbClr val="4F8CFF"/>
                  </a:solidFill>
                  <a:latin typeface="+mj-lt"/>
                  <a:ea typeface="+mj-ea"/>
                  <a:cs typeface="+mj-cs"/>
                </a:rPr>
                <a:t>2×</a:t>
              </a:r>
            </a:p>
          </p:txBody>
        </p:sp>
        <p:sp>
          <p:nvSpPr>
            <p:cNvPr id="13" name="TextBox 13"/>
            <p:cNvSpPr txBox="1"/>
            <p:nvPr/>
          </p:nvSpPr>
          <p:spPr>
            <a:xfrm>
              <a:off x="1336186" y="2444591"/>
              <a:ext cx="470878" cy="161925"/>
            </a:xfrm>
            <a:prstGeom prst="rect">
              <a:avLst/>
            </a:prstGeom>
            <a:noFill/>
            <a:ln>
              <a:noFill/>
            </a:ln>
          </p:spPr>
          <p:txBody>
            <a:bodyPr wrap="none" lIns="0" tIns="0" rIns="0" bIns="0" anchor="t" anchorCtr="0">
              <a:spAutoFit/>
            </a:bodyPr>
            <a:lstStyle/>
            <a:p>
              <a:pPr algn="ctr"/>
              <a:r>
                <a:rPr lang="en-US" sz="820" dirty="0">
                  <a:solidFill>
                    <a:srgbClr val="9DB0D0"/>
                  </a:solidFill>
                  <a:latin typeface="+mn-lt"/>
                  <a:ea typeface="+mn-ea"/>
                  <a:cs typeface="+mn-cs"/>
                </a:rPr>
                <a:t>Velodyne</a:t>
              </a:r>
            </a:p>
          </p:txBody>
        </p:sp>
        <p:sp>
          <p:nvSpPr>
            <p:cNvPr id="14" name="TextBox 14"/>
            <p:cNvSpPr txBox="1"/>
            <p:nvPr/>
          </p:nvSpPr>
          <p:spPr>
            <a:xfrm>
              <a:off x="1250627" y="2587466"/>
              <a:ext cx="641997" cy="161925"/>
            </a:xfrm>
            <a:prstGeom prst="rect">
              <a:avLst/>
            </a:prstGeom>
            <a:noFill/>
            <a:ln>
              <a:noFill/>
            </a:ln>
          </p:spPr>
          <p:txBody>
            <a:bodyPr wrap="none" lIns="0" tIns="0" rIns="0" bIns="0" anchor="t" anchorCtr="0">
              <a:spAutoFit/>
            </a:bodyPr>
            <a:lstStyle/>
            <a:p>
              <a:pPr algn="ctr"/>
              <a:r>
                <a:rPr lang="en-US" sz="820" dirty="0">
                  <a:solidFill>
                    <a:srgbClr val="9DB0D0"/>
                  </a:solidFill>
                  <a:latin typeface="+mn-lt"/>
                  <a:ea typeface="+mn-ea"/>
                  <a:cs typeface="+mn-cs"/>
                </a:rPr>
                <a:t>16-ch LiDAR</a:t>
              </a:r>
            </a:p>
          </p:txBody>
        </p:sp>
        <p:sp>
          <p:nvSpPr>
            <p:cNvPr id="15" name="Rectangle 15"/>
            <p:cNvSpPr/>
            <p:nvPr/>
          </p:nvSpPr>
          <p:spPr>
            <a:xfrm>
              <a:off x="2457450" y="2038350"/>
              <a:ext cx="1428750" cy="762000"/>
            </a:xfrm>
            <a:prstGeom prst="roundRect">
              <a:avLst>
                <a:gd name="adj" fmla="val 12500"/>
              </a:avLst>
            </a:prstGeom>
            <a:solidFill>
              <a:schemeClr val="accent6"/>
            </a:solidFill>
            <a:ln w="9525">
              <a:solidFill>
                <a:srgbClr val="34D399"/>
              </a:solidFill>
            </a:ln>
          </p:spPr>
        </p:sp>
        <p:sp>
          <p:nvSpPr>
            <p:cNvPr id="16" name="TextBox 16"/>
            <p:cNvSpPr txBox="1"/>
            <p:nvPr/>
          </p:nvSpPr>
          <p:spPr>
            <a:xfrm>
              <a:off x="3027906" y="2165032"/>
              <a:ext cx="287838" cy="322707"/>
            </a:xfrm>
            <a:prstGeom prst="rect">
              <a:avLst/>
            </a:prstGeom>
            <a:noFill/>
            <a:ln>
              <a:noFill/>
            </a:ln>
          </p:spPr>
          <p:txBody>
            <a:bodyPr wrap="none" lIns="0" tIns="0" rIns="0" bIns="0" anchor="t" anchorCtr="0">
              <a:spAutoFit/>
            </a:bodyPr>
            <a:lstStyle/>
            <a:p>
              <a:pPr algn="ctr"/>
              <a:r>
                <a:rPr lang="en-US" sz="1650" b="1" dirty="0">
                  <a:solidFill>
                    <a:srgbClr val="34D399"/>
                  </a:solidFill>
                  <a:latin typeface="+mj-lt"/>
                  <a:ea typeface="+mj-ea"/>
                  <a:cs typeface="+mj-cs"/>
                </a:rPr>
                <a:t>5×</a:t>
              </a:r>
            </a:p>
          </p:txBody>
        </p:sp>
        <p:sp>
          <p:nvSpPr>
            <p:cNvPr id="17" name="TextBox 17"/>
            <p:cNvSpPr txBox="1"/>
            <p:nvPr/>
          </p:nvSpPr>
          <p:spPr>
            <a:xfrm>
              <a:off x="2756847" y="2444591"/>
              <a:ext cx="829956" cy="161925"/>
            </a:xfrm>
            <a:prstGeom prst="rect">
              <a:avLst/>
            </a:prstGeom>
            <a:noFill/>
            <a:ln>
              <a:noFill/>
            </a:ln>
          </p:spPr>
          <p:txBody>
            <a:bodyPr wrap="none" lIns="0" tIns="0" rIns="0" bIns="0" anchor="t" anchorCtr="0">
              <a:spAutoFit/>
            </a:bodyPr>
            <a:lstStyle/>
            <a:p>
              <a:pPr algn="ctr"/>
              <a:r>
                <a:rPr lang="en-US" sz="820" dirty="0">
                  <a:solidFill>
                    <a:srgbClr val="9DB0D0"/>
                  </a:solidFill>
                  <a:latin typeface="+mn-lt"/>
                  <a:ea typeface="+mn-ea"/>
                  <a:cs typeface="+mn-cs"/>
                </a:rPr>
                <a:t>Basler cameras</a:t>
              </a:r>
            </a:p>
          </p:txBody>
        </p:sp>
        <p:sp>
          <p:nvSpPr>
            <p:cNvPr id="18" name="TextBox 18"/>
            <p:cNvSpPr txBox="1"/>
            <p:nvPr/>
          </p:nvSpPr>
          <p:spPr>
            <a:xfrm>
              <a:off x="2910409" y="2587466"/>
              <a:ext cx="522831" cy="161925"/>
            </a:xfrm>
            <a:prstGeom prst="rect">
              <a:avLst/>
            </a:prstGeom>
            <a:noFill/>
            <a:ln>
              <a:noFill/>
            </a:ln>
          </p:spPr>
          <p:txBody>
            <a:bodyPr wrap="none" lIns="0" tIns="0" rIns="0" bIns="0" anchor="t" anchorCtr="0">
              <a:spAutoFit/>
            </a:bodyPr>
            <a:lstStyle/>
            <a:p>
              <a:pPr algn="ctr"/>
              <a:r>
                <a:rPr lang="en-US" sz="820" dirty="0">
                  <a:solidFill>
                    <a:srgbClr val="9DB0D0"/>
                  </a:solidFill>
                  <a:latin typeface="+mn-lt"/>
                  <a:ea typeface="+mn-ea"/>
                  <a:cs typeface="+mn-cs"/>
                </a:rPr>
                <a:t>360° view</a:t>
              </a:r>
            </a:p>
          </p:txBody>
        </p:sp>
        <p:sp>
          <p:nvSpPr>
            <p:cNvPr id="19" name="Rectangle 19"/>
            <p:cNvSpPr/>
            <p:nvPr/>
          </p:nvSpPr>
          <p:spPr>
            <a:xfrm>
              <a:off x="4057650" y="2038350"/>
              <a:ext cx="1428750" cy="762000"/>
            </a:xfrm>
            <a:prstGeom prst="roundRect">
              <a:avLst>
                <a:gd name="adj" fmla="val 12500"/>
              </a:avLst>
            </a:prstGeom>
            <a:solidFill>
              <a:schemeClr val="accent6"/>
            </a:solidFill>
            <a:ln w="9525">
              <a:solidFill>
                <a:srgbClr val="A78BFA"/>
              </a:solidFill>
            </a:ln>
          </p:spPr>
        </p:sp>
        <p:sp>
          <p:nvSpPr>
            <p:cNvPr id="20" name="TextBox 20"/>
            <p:cNvSpPr txBox="1"/>
            <p:nvPr/>
          </p:nvSpPr>
          <p:spPr>
            <a:xfrm>
              <a:off x="4628106" y="2165032"/>
              <a:ext cx="287838" cy="322707"/>
            </a:xfrm>
            <a:prstGeom prst="rect">
              <a:avLst/>
            </a:prstGeom>
            <a:noFill/>
            <a:ln>
              <a:noFill/>
            </a:ln>
          </p:spPr>
          <p:txBody>
            <a:bodyPr wrap="none" lIns="0" tIns="0" rIns="0" bIns="0" anchor="t" anchorCtr="0">
              <a:spAutoFit/>
            </a:bodyPr>
            <a:lstStyle/>
            <a:p>
              <a:pPr algn="ctr"/>
              <a:r>
                <a:rPr lang="en-US" sz="1650" b="1" dirty="0">
                  <a:solidFill>
                    <a:srgbClr val="A78BFA"/>
                  </a:solidFill>
                  <a:latin typeface="+mj-lt"/>
                  <a:ea typeface="+mj-ea"/>
                  <a:cs typeface="+mj-cs"/>
                </a:rPr>
                <a:t>2×</a:t>
              </a:r>
            </a:p>
          </p:txBody>
        </p:sp>
        <p:sp>
          <p:nvSpPr>
            <p:cNvPr id="21" name="TextBox 21"/>
            <p:cNvSpPr txBox="1"/>
            <p:nvPr/>
          </p:nvSpPr>
          <p:spPr>
            <a:xfrm>
              <a:off x="4673953" y="2444591"/>
              <a:ext cx="196144" cy="161925"/>
            </a:xfrm>
            <a:prstGeom prst="rect">
              <a:avLst/>
            </a:prstGeom>
            <a:noFill/>
            <a:ln>
              <a:noFill/>
            </a:ln>
          </p:spPr>
          <p:txBody>
            <a:bodyPr wrap="none" lIns="0" tIns="0" rIns="0" bIns="0" anchor="t" anchorCtr="0">
              <a:spAutoFit/>
            </a:bodyPr>
            <a:lstStyle/>
            <a:p>
              <a:pPr algn="ctr"/>
              <a:r>
                <a:rPr lang="en-US" sz="820" dirty="0">
                  <a:solidFill>
                    <a:srgbClr val="9DB0D0"/>
                  </a:solidFill>
                  <a:latin typeface="+mn-lt"/>
                  <a:ea typeface="+mn-ea"/>
                  <a:cs typeface="+mn-cs"/>
                </a:rPr>
                <a:t>IMU</a:t>
              </a:r>
            </a:p>
          </p:txBody>
        </p:sp>
        <p:sp>
          <p:nvSpPr>
            <p:cNvPr id="22" name="Rectangle 22"/>
            <p:cNvSpPr/>
            <p:nvPr/>
          </p:nvSpPr>
          <p:spPr>
            <a:xfrm>
              <a:off x="5657850" y="2038350"/>
              <a:ext cx="1428750" cy="762000"/>
            </a:xfrm>
            <a:prstGeom prst="roundRect">
              <a:avLst>
                <a:gd name="adj" fmla="val 12500"/>
              </a:avLst>
            </a:prstGeom>
            <a:solidFill>
              <a:schemeClr val="accent6"/>
            </a:solidFill>
            <a:ln w="9525">
              <a:solidFill>
                <a:srgbClr val="FBBF24"/>
              </a:solidFill>
            </a:ln>
          </p:spPr>
        </p:sp>
        <p:sp>
          <p:nvSpPr>
            <p:cNvPr id="23" name="TextBox 23"/>
            <p:cNvSpPr txBox="1"/>
            <p:nvPr/>
          </p:nvSpPr>
          <p:spPr>
            <a:xfrm>
              <a:off x="6116972" y="2165032"/>
              <a:ext cx="510506" cy="322707"/>
            </a:xfrm>
            <a:prstGeom prst="rect">
              <a:avLst/>
            </a:prstGeom>
            <a:noFill/>
            <a:ln>
              <a:noFill/>
            </a:ln>
          </p:spPr>
          <p:txBody>
            <a:bodyPr wrap="none" lIns="0" tIns="0" rIns="0" bIns="0" anchor="t" anchorCtr="0">
              <a:spAutoFit/>
            </a:bodyPr>
            <a:lstStyle/>
            <a:p>
              <a:pPr algn="ctr"/>
              <a:r>
                <a:rPr lang="en-US" sz="1650" b="1" dirty="0">
                  <a:solidFill>
                    <a:srgbClr val="FBBF24"/>
                  </a:solidFill>
                  <a:latin typeface="+mj-lt"/>
                  <a:ea typeface="+mj-ea"/>
                  <a:cs typeface="+mj-cs"/>
                </a:rPr>
                <a:t>RTK</a:t>
              </a:r>
            </a:p>
          </p:txBody>
        </p:sp>
        <p:sp>
          <p:nvSpPr>
            <p:cNvPr id="24" name="TextBox 24"/>
            <p:cNvSpPr txBox="1"/>
            <p:nvPr/>
          </p:nvSpPr>
          <p:spPr>
            <a:xfrm>
              <a:off x="6074933" y="2444591"/>
              <a:ext cx="594584" cy="161925"/>
            </a:xfrm>
            <a:prstGeom prst="rect">
              <a:avLst/>
            </a:prstGeom>
            <a:noFill/>
            <a:ln>
              <a:noFill/>
            </a:ln>
          </p:spPr>
          <p:txBody>
            <a:bodyPr wrap="none" lIns="0" tIns="0" rIns="0" bIns="0" anchor="t" anchorCtr="0">
              <a:spAutoFit/>
            </a:bodyPr>
            <a:lstStyle/>
            <a:p>
              <a:pPr algn="ctr"/>
              <a:r>
                <a:rPr lang="en-US" sz="820" dirty="0">
                  <a:solidFill>
                    <a:srgbClr val="9DB0D0"/>
                  </a:solidFill>
                  <a:latin typeface="+mn-lt"/>
                  <a:ea typeface="+mn-ea"/>
                  <a:cs typeface="+mn-cs"/>
                </a:rPr>
                <a:t>positioning</a:t>
              </a:r>
            </a:p>
          </p:txBody>
        </p:sp>
      </p:grpSp>
      <p:grpSp>
        <p:nvGrpSpPr>
          <p:cNvPr id="41" name="Group 41"/>
          <p:cNvGrpSpPr/>
          <p:nvPr/>
        </p:nvGrpSpPr>
        <p:grpSpPr>
          <a:xfrm>
            <a:off x="609600" y="3162300"/>
            <a:ext cx="6858000" cy="1428750"/>
            <a:chOff x="609600" y="3162300"/>
            <a:chExt cx="6858000" cy="1428750"/>
          </a:xfrm>
        </p:grpSpPr>
        <p:sp>
          <p:nvSpPr>
            <p:cNvPr id="26" name="Rectangle 26"/>
            <p:cNvSpPr/>
            <p:nvPr/>
          </p:nvSpPr>
          <p:spPr>
            <a:xfrm>
              <a:off x="609600" y="3162300"/>
              <a:ext cx="6858000" cy="1428750"/>
            </a:xfrm>
            <a:prstGeom prst="roundRect">
              <a:avLst>
                <a:gd name="adj" fmla="val 9333"/>
              </a:avLst>
            </a:prstGeom>
            <a:solidFill>
              <a:schemeClr val="accent5"/>
            </a:solidFill>
            <a:ln w="9525">
              <a:solidFill>
                <a:schemeClr val="accent4"/>
              </a:solidFill>
            </a:ln>
          </p:spPr>
        </p:sp>
        <p:sp>
          <p:nvSpPr>
            <p:cNvPr id="27" name="Rectangle 27"/>
            <p:cNvSpPr/>
            <p:nvPr/>
          </p:nvSpPr>
          <p:spPr>
            <a:xfrm>
              <a:off x="609600" y="3314700"/>
              <a:ext cx="47625" cy="1123950"/>
            </a:xfrm>
            <a:prstGeom prst="roundRect">
              <a:avLst>
                <a:gd name="adj" fmla="val 40000"/>
              </a:avLst>
            </a:prstGeom>
            <a:solidFill>
              <a:srgbClr val="4F8CFF"/>
            </a:solidFill>
            <a:ln>
              <a:noFill/>
            </a:ln>
          </p:spPr>
        </p:sp>
        <p:sp>
          <p:nvSpPr>
            <p:cNvPr id="28" name="TextBox 28"/>
            <p:cNvSpPr txBox="1"/>
            <p:nvPr/>
          </p:nvSpPr>
          <p:spPr>
            <a:xfrm>
              <a:off x="851154" y="3356610"/>
              <a:ext cx="2409058" cy="234696"/>
            </a:xfrm>
            <a:prstGeom prst="rect">
              <a:avLst/>
            </a:prstGeom>
            <a:noFill/>
            <a:ln>
              <a:noFill/>
            </a:ln>
          </p:spPr>
          <p:txBody>
            <a:bodyPr wrap="none" lIns="0" tIns="0" rIns="0" bIns="0" anchor="t" anchorCtr="0">
              <a:spAutoFit/>
            </a:bodyPr>
            <a:lstStyle/>
            <a:p>
              <a:pPr algn="l"/>
              <a:r>
                <a:rPr lang="en-US" sz="1200" b="1" dirty="0">
                  <a:solidFill>
                    <a:srgbClr val="4F8CFF"/>
                  </a:solidFill>
                  <a:latin typeface="+mn-lt"/>
                  <a:ea typeface="+mn-ea"/>
                  <a:cs typeface="+mn-cs"/>
                </a:rPr>
                <a:t>Precise time synchronization</a:t>
              </a:r>
            </a:p>
          </p:txBody>
        </p:sp>
        <p:sp>
          <p:nvSpPr>
            <p:cNvPr id="29" name="Rectangle 29"/>
            <p:cNvSpPr/>
            <p:nvPr/>
          </p:nvSpPr>
          <p:spPr>
            <a:xfrm>
              <a:off x="857250" y="3657600"/>
              <a:ext cx="1333500" cy="457200"/>
            </a:xfrm>
            <a:prstGeom prst="roundRect">
              <a:avLst>
                <a:gd name="adj" fmla="val 16667"/>
              </a:avLst>
            </a:prstGeom>
            <a:solidFill>
              <a:srgbClr val="14532D"/>
            </a:solidFill>
            <a:ln w="9525">
              <a:solidFill>
                <a:srgbClr val="34D399"/>
              </a:solidFill>
            </a:ln>
          </p:spPr>
        </p:sp>
        <p:sp>
          <p:nvSpPr>
            <p:cNvPr id="30" name="TextBox 30"/>
            <p:cNvSpPr txBox="1"/>
            <p:nvPr/>
          </p:nvSpPr>
          <p:spPr>
            <a:xfrm>
              <a:off x="1034376" y="3838099"/>
              <a:ext cx="979247" cy="190690"/>
            </a:xfrm>
            <a:prstGeom prst="rect">
              <a:avLst/>
            </a:prstGeom>
            <a:noFill/>
            <a:ln>
              <a:noFill/>
            </a:ln>
          </p:spPr>
          <p:txBody>
            <a:bodyPr wrap="none" lIns="0" tIns="0" rIns="0" bIns="0" anchor="t" anchorCtr="0">
              <a:spAutoFit/>
            </a:bodyPr>
            <a:lstStyle/>
            <a:p>
              <a:pPr algn="ctr"/>
              <a:r>
                <a:rPr lang="en-US" sz="980" b="1" dirty="0">
                  <a:solidFill>
                    <a:srgbClr val="34D399"/>
                  </a:solidFill>
                  <a:latin typeface="+mn-lt"/>
                  <a:ea typeface="+mn-ea"/>
                  <a:cs typeface="+mn-cs"/>
                </a:rPr>
                <a:t>PPS generator</a:t>
              </a:r>
            </a:p>
          </p:txBody>
        </p:sp>
        <p:sp>
          <p:nvSpPr>
            <p:cNvPr id="31" name="Line 31"/>
            <p:cNvSpPr/>
            <p:nvPr/>
          </p:nvSpPr>
          <p:spPr>
            <a:xfrm>
              <a:off x="2190750" y="3886200"/>
              <a:ext cx="666750" cy="9525"/>
            </a:xfrm>
            <a:custGeom>
              <a:avLst/>
              <a:gdLst/>
              <a:ahLst/>
              <a:cxnLst/>
              <a:rect l="l" t="t" r="r" b="b"/>
              <a:pathLst>
                <a:path w="666750" h="9525">
                  <a:moveTo>
                    <a:pt x="0" y="0"/>
                  </a:moveTo>
                  <a:lnTo>
                    <a:pt x="666750" y="0"/>
                  </a:lnTo>
                </a:path>
              </a:pathLst>
            </a:custGeom>
            <a:noFill/>
            <a:ln w="19050" cap="rnd">
              <a:solidFill>
                <a:srgbClr val="34D399"/>
              </a:solidFill>
            </a:ln>
          </p:spPr>
        </p:sp>
        <p:sp>
          <p:nvSpPr>
            <p:cNvPr id="32" name="Rectangle 32"/>
            <p:cNvSpPr/>
            <p:nvPr/>
          </p:nvSpPr>
          <p:spPr>
            <a:xfrm>
              <a:off x="2857500" y="3733800"/>
              <a:ext cx="1143000" cy="304800"/>
            </a:xfrm>
            <a:prstGeom prst="roundRect">
              <a:avLst>
                <a:gd name="adj" fmla="val 25000"/>
              </a:avLst>
            </a:prstGeom>
            <a:solidFill>
              <a:schemeClr val="accent6"/>
            </a:solidFill>
            <a:ln w="9525">
              <a:solidFill>
                <a:schemeClr val="accent4"/>
              </a:solidFill>
            </a:ln>
          </p:spPr>
        </p:sp>
        <p:sp>
          <p:nvSpPr>
            <p:cNvPr id="33" name="TextBox 33"/>
            <p:cNvSpPr txBox="1"/>
            <p:nvPr/>
          </p:nvSpPr>
          <p:spPr>
            <a:xfrm>
              <a:off x="3243051" y="3828574"/>
              <a:ext cx="371898" cy="190690"/>
            </a:xfrm>
            <a:prstGeom prst="rect">
              <a:avLst/>
            </a:prstGeom>
            <a:noFill/>
            <a:ln>
              <a:noFill/>
            </a:ln>
          </p:spPr>
          <p:txBody>
            <a:bodyPr wrap="none" lIns="0" tIns="0" rIns="0" bIns="0" anchor="t" anchorCtr="0">
              <a:spAutoFit/>
            </a:bodyPr>
            <a:lstStyle/>
            <a:p>
              <a:pPr algn="ctr"/>
              <a:r>
                <a:rPr lang="en-US" sz="980" b="1" dirty="0">
                  <a:solidFill>
                    <a:srgbClr val="EAF1FF"/>
                  </a:solidFill>
                  <a:latin typeface="+mn-lt"/>
                  <a:ea typeface="+mn-ea"/>
                  <a:cs typeface="+mn-cs"/>
                </a:rPr>
                <a:t>LiDAR</a:t>
              </a:r>
            </a:p>
          </p:txBody>
        </p:sp>
        <p:sp>
          <p:nvSpPr>
            <p:cNvPr id="34" name="Line 34"/>
            <p:cNvSpPr/>
            <p:nvPr/>
          </p:nvSpPr>
          <p:spPr>
            <a:xfrm>
              <a:off x="2190750" y="3886200"/>
              <a:ext cx="2095500" cy="9525"/>
            </a:xfrm>
            <a:custGeom>
              <a:avLst/>
              <a:gdLst/>
              <a:ahLst/>
              <a:cxnLst/>
              <a:rect l="l" t="t" r="r" b="b"/>
              <a:pathLst>
                <a:path w="2095500" h="9525">
                  <a:moveTo>
                    <a:pt x="0" y="0"/>
                  </a:moveTo>
                  <a:lnTo>
                    <a:pt x="2095500" y="0"/>
                  </a:lnTo>
                </a:path>
              </a:pathLst>
            </a:custGeom>
            <a:noFill/>
            <a:ln w="19050" cap="rnd">
              <a:solidFill>
                <a:srgbClr val="34D399"/>
              </a:solidFill>
            </a:ln>
          </p:spPr>
        </p:sp>
        <p:sp>
          <p:nvSpPr>
            <p:cNvPr id="35" name="Rectangle 35"/>
            <p:cNvSpPr/>
            <p:nvPr/>
          </p:nvSpPr>
          <p:spPr>
            <a:xfrm>
              <a:off x="4286250" y="3733800"/>
              <a:ext cx="1143000" cy="304800"/>
            </a:xfrm>
            <a:prstGeom prst="roundRect">
              <a:avLst>
                <a:gd name="adj" fmla="val 25000"/>
              </a:avLst>
            </a:prstGeom>
            <a:solidFill>
              <a:schemeClr val="accent6"/>
            </a:solidFill>
            <a:ln w="9525">
              <a:solidFill>
                <a:schemeClr val="accent4"/>
              </a:solidFill>
            </a:ln>
          </p:spPr>
        </p:sp>
        <p:sp>
          <p:nvSpPr>
            <p:cNvPr id="36" name="TextBox 36"/>
            <p:cNvSpPr txBox="1"/>
            <p:nvPr/>
          </p:nvSpPr>
          <p:spPr>
            <a:xfrm>
              <a:off x="4572286" y="3828574"/>
              <a:ext cx="570928" cy="190690"/>
            </a:xfrm>
            <a:prstGeom prst="rect">
              <a:avLst/>
            </a:prstGeom>
            <a:noFill/>
            <a:ln>
              <a:noFill/>
            </a:ln>
          </p:spPr>
          <p:txBody>
            <a:bodyPr wrap="none" lIns="0" tIns="0" rIns="0" bIns="0" anchor="t" anchorCtr="0">
              <a:spAutoFit/>
            </a:bodyPr>
            <a:lstStyle/>
            <a:p>
              <a:pPr algn="ctr"/>
              <a:r>
                <a:rPr lang="en-US" sz="980" b="1" dirty="0">
                  <a:solidFill>
                    <a:srgbClr val="EAF1FF"/>
                  </a:solidFill>
                  <a:latin typeface="+mn-lt"/>
                  <a:ea typeface="+mn-ea"/>
                  <a:cs typeface="+mn-cs"/>
                </a:rPr>
                <a:t>cameras</a:t>
              </a:r>
            </a:p>
          </p:txBody>
        </p:sp>
        <p:sp>
          <p:nvSpPr>
            <p:cNvPr id="37" name="Line 37"/>
            <p:cNvSpPr/>
            <p:nvPr/>
          </p:nvSpPr>
          <p:spPr>
            <a:xfrm>
              <a:off x="2190750" y="3886200"/>
              <a:ext cx="3524250" cy="9525"/>
            </a:xfrm>
            <a:custGeom>
              <a:avLst/>
              <a:gdLst/>
              <a:ahLst/>
              <a:cxnLst/>
              <a:rect l="l" t="t" r="r" b="b"/>
              <a:pathLst>
                <a:path w="3524250" h="9525">
                  <a:moveTo>
                    <a:pt x="0" y="0"/>
                  </a:moveTo>
                  <a:lnTo>
                    <a:pt x="3524250" y="0"/>
                  </a:lnTo>
                </a:path>
              </a:pathLst>
            </a:custGeom>
            <a:noFill/>
            <a:ln w="19050" cap="rnd">
              <a:solidFill>
                <a:srgbClr val="34D399"/>
              </a:solidFill>
            </a:ln>
          </p:spPr>
        </p:sp>
        <p:sp>
          <p:nvSpPr>
            <p:cNvPr id="38" name="Rectangle 38"/>
            <p:cNvSpPr/>
            <p:nvPr/>
          </p:nvSpPr>
          <p:spPr>
            <a:xfrm>
              <a:off x="5715000" y="3733800"/>
              <a:ext cx="1143000" cy="304800"/>
            </a:xfrm>
            <a:prstGeom prst="roundRect">
              <a:avLst>
                <a:gd name="adj" fmla="val 25000"/>
              </a:avLst>
            </a:prstGeom>
            <a:solidFill>
              <a:schemeClr val="accent6"/>
            </a:solidFill>
            <a:ln w="9525">
              <a:solidFill>
                <a:schemeClr val="accent4"/>
              </a:solidFill>
            </a:ln>
          </p:spPr>
        </p:sp>
        <p:sp>
          <p:nvSpPr>
            <p:cNvPr id="39" name="TextBox 39"/>
            <p:cNvSpPr txBox="1"/>
            <p:nvPr/>
          </p:nvSpPr>
          <p:spPr>
            <a:xfrm>
              <a:off x="6164455" y="3828574"/>
              <a:ext cx="244090" cy="190690"/>
            </a:xfrm>
            <a:prstGeom prst="rect">
              <a:avLst/>
            </a:prstGeom>
            <a:noFill/>
            <a:ln>
              <a:noFill/>
            </a:ln>
          </p:spPr>
          <p:txBody>
            <a:bodyPr wrap="none" lIns="0" tIns="0" rIns="0" bIns="0" anchor="t" anchorCtr="0">
              <a:spAutoFit/>
            </a:bodyPr>
            <a:lstStyle/>
            <a:p>
              <a:pPr algn="ctr"/>
              <a:r>
                <a:rPr lang="en-US" sz="980" b="1" dirty="0">
                  <a:solidFill>
                    <a:srgbClr val="EAF1FF"/>
                  </a:solidFill>
                  <a:latin typeface="+mn-lt"/>
                  <a:ea typeface="+mn-ea"/>
                  <a:cs typeface="+mn-cs"/>
                </a:rPr>
                <a:t>IMU</a:t>
              </a:r>
            </a:p>
          </p:txBody>
        </p:sp>
        <p:sp>
          <p:nvSpPr>
            <p:cNvPr id="40" name="TextBox 40"/>
            <p:cNvSpPr txBox="1"/>
            <p:nvPr/>
          </p:nvSpPr>
          <p:spPr>
            <a:xfrm>
              <a:off x="852297" y="4352449"/>
              <a:ext cx="6028345" cy="190690"/>
            </a:xfrm>
            <a:prstGeom prst="rect">
              <a:avLst/>
            </a:prstGeom>
            <a:noFill/>
            <a:ln>
              <a:noFill/>
            </a:ln>
          </p:spPr>
          <p:txBody>
            <a:bodyPr wrap="none" lIns="0" tIns="0" rIns="0" bIns="0" anchor="t" anchorCtr="0">
              <a:spAutoFit/>
            </a:bodyPr>
            <a:lstStyle/>
            <a:p>
              <a:pPr algn="l"/>
              <a:r>
                <a:rPr lang="en-US" sz="980" dirty="0">
                  <a:solidFill>
                    <a:srgbClr val="9DB0D0"/>
                  </a:solidFill>
                  <a:latin typeface="+mn-lt"/>
                  <a:ea typeface="+mn-ea"/>
                  <a:cs typeface="+mn-cs"/>
                </a:rPr>
                <a:t>A pulse-per-second trigger aligns every sensor in time, making camera–LiDAR fusion reliable.</a:t>
              </a:r>
            </a:p>
          </p:txBody>
        </p:sp>
      </p:grpSp>
      <p:grpSp>
        <p:nvGrpSpPr>
          <p:cNvPr id="50" name="Group 50"/>
          <p:cNvGrpSpPr/>
          <p:nvPr/>
        </p:nvGrpSpPr>
        <p:grpSpPr>
          <a:xfrm>
            <a:off x="7658100" y="1428750"/>
            <a:ext cx="3924300" cy="1600200"/>
            <a:chOff x="7658100" y="1428750"/>
            <a:chExt cx="3924300" cy="1600200"/>
          </a:xfrm>
        </p:grpSpPr>
        <p:sp>
          <p:nvSpPr>
            <p:cNvPr id="42" name="Rectangle 42"/>
            <p:cNvSpPr/>
            <p:nvPr/>
          </p:nvSpPr>
          <p:spPr>
            <a:xfrm>
              <a:off x="7658100" y="1428750"/>
              <a:ext cx="3924300" cy="1600200"/>
            </a:xfrm>
            <a:prstGeom prst="roundRect">
              <a:avLst>
                <a:gd name="adj" fmla="val 8333"/>
              </a:avLst>
            </a:prstGeom>
            <a:solidFill>
              <a:schemeClr val="accent5"/>
            </a:solidFill>
            <a:ln w="9525">
              <a:solidFill>
                <a:schemeClr val="accent4"/>
              </a:solidFill>
            </a:ln>
          </p:spPr>
        </p:sp>
        <p:sp>
          <p:nvSpPr>
            <p:cNvPr id="43" name="Rectangle 43"/>
            <p:cNvSpPr/>
            <p:nvPr/>
          </p:nvSpPr>
          <p:spPr>
            <a:xfrm>
              <a:off x="7658100" y="1581150"/>
              <a:ext cx="47625" cy="1295400"/>
            </a:xfrm>
            <a:prstGeom prst="roundRect">
              <a:avLst>
                <a:gd name="adj" fmla="val 40000"/>
              </a:avLst>
            </a:prstGeom>
            <a:solidFill>
              <a:srgbClr val="A78BFA"/>
            </a:solidFill>
            <a:ln>
              <a:noFill/>
            </a:ln>
          </p:spPr>
        </p:sp>
        <p:sp>
          <p:nvSpPr>
            <p:cNvPr id="44" name="TextBox 44"/>
            <p:cNvSpPr txBox="1"/>
            <p:nvPr/>
          </p:nvSpPr>
          <p:spPr>
            <a:xfrm>
              <a:off x="7880604" y="1642110"/>
              <a:ext cx="1459802" cy="234696"/>
            </a:xfrm>
            <a:prstGeom prst="rect">
              <a:avLst/>
            </a:prstGeom>
            <a:noFill/>
            <a:ln>
              <a:noFill/>
            </a:ln>
          </p:spPr>
          <p:txBody>
            <a:bodyPr wrap="none" lIns="0" tIns="0" rIns="0" bIns="0" anchor="t" anchorCtr="0">
              <a:spAutoFit/>
            </a:bodyPr>
            <a:lstStyle/>
            <a:p>
              <a:pPr algn="l"/>
              <a:r>
                <a:rPr lang="en-US" sz="1200" b="1" dirty="0">
                  <a:solidFill>
                    <a:srgbClr val="A78BFA"/>
                  </a:solidFill>
                  <a:latin typeface="+mn-lt"/>
                  <a:ea typeface="+mn-ea"/>
                  <a:cs typeface="+mn-cs"/>
                </a:rPr>
                <a:t>Robot ego-motion</a:t>
              </a:r>
            </a:p>
          </p:txBody>
        </p:sp>
        <p:sp>
          <p:nvSpPr>
            <p:cNvPr id="45" name="TextBox 45"/>
            <p:cNvSpPr txBox="1"/>
            <p:nvPr/>
          </p:nvSpPr>
          <p:spPr>
            <a:xfrm>
              <a:off x="7880985" y="1916906"/>
              <a:ext cx="2067832" cy="220028"/>
            </a:xfrm>
            <a:prstGeom prst="rect">
              <a:avLst/>
            </a:prstGeom>
            <a:noFill/>
            <a:ln>
              <a:noFill/>
            </a:ln>
          </p:spPr>
          <p:txBody>
            <a:bodyPr wrap="none" lIns="0" tIns="0" rIns="0" bIns="0" anchor="t" anchorCtr="0">
              <a:spAutoFit/>
            </a:bodyPr>
            <a:lstStyle/>
            <a:p>
              <a:pPr algn="l"/>
              <a:r>
                <a:rPr lang="en-US" sz="1120" dirty="0">
                  <a:solidFill>
                    <a:srgbClr val="EAF1FF"/>
                  </a:solidFill>
                  <a:latin typeface="+mn-lt"/>
                  <a:ea typeface="+mn-ea"/>
                  <a:cs typeface="+mn-cs"/>
                </a:rPr>
                <a:t>Pose from RTK outdoors and</a:t>
              </a:r>
            </a:p>
          </p:txBody>
        </p:sp>
        <p:sp>
          <p:nvSpPr>
            <p:cNvPr id="46" name="TextBox 46"/>
            <p:cNvSpPr txBox="1"/>
            <p:nvPr/>
          </p:nvSpPr>
          <p:spPr>
            <a:xfrm>
              <a:off x="7880985" y="2126456"/>
              <a:ext cx="2185142" cy="220028"/>
            </a:xfrm>
            <a:prstGeom prst="rect">
              <a:avLst/>
            </a:prstGeom>
            <a:noFill/>
            <a:ln>
              <a:noFill/>
            </a:ln>
          </p:spPr>
          <p:txBody>
            <a:bodyPr wrap="none" lIns="0" tIns="0" rIns="0" bIns="0" anchor="t" anchorCtr="0">
              <a:spAutoFit/>
            </a:bodyPr>
            <a:lstStyle/>
            <a:p>
              <a:pPr algn="l"/>
              <a:r>
                <a:rPr lang="en-US" sz="1120" dirty="0">
                  <a:solidFill>
                    <a:srgbClr val="EAF1FF"/>
                  </a:solidFill>
                  <a:latin typeface="+mn-lt"/>
                  <a:ea typeface="+mn-ea"/>
                  <a:cs typeface="+mn-cs"/>
                </a:rPr>
                <a:t>LiDAR-inertial SLAM indoors —</a:t>
              </a:r>
            </a:p>
          </p:txBody>
        </p:sp>
        <p:sp>
          <p:nvSpPr>
            <p:cNvPr id="47" name="TextBox 47"/>
            <p:cNvSpPr txBox="1"/>
            <p:nvPr/>
          </p:nvSpPr>
          <p:spPr>
            <a:xfrm>
              <a:off x="7880985" y="2336006"/>
              <a:ext cx="2491669" cy="220028"/>
            </a:xfrm>
            <a:prstGeom prst="rect">
              <a:avLst/>
            </a:prstGeom>
            <a:noFill/>
            <a:ln>
              <a:noFill/>
            </a:ln>
          </p:spPr>
          <p:txBody>
            <a:bodyPr wrap="none" lIns="0" tIns="0" rIns="0" bIns="0" anchor="t" anchorCtr="0">
              <a:spAutoFit/>
            </a:bodyPr>
            <a:lstStyle/>
            <a:p>
              <a:pPr algn="l"/>
              <a:r>
                <a:rPr lang="en-US" sz="1120" dirty="0">
                  <a:solidFill>
                    <a:srgbClr val="EAF1FF"/>
                  </a:solidFill>
                  <a:latin typeface="+mn-lt"/>
                  <a:ea typeface="+mn-ea"/>
                  <a:cs typeface="+mn-cs"/>
                </a:rPr>
                <a:t>needed to compensate ego-motion</a:t>
              </a:r>
            </a:p>
          </p:txBody>
        </p:sp>
        <p:sp>
          <p:nvSpPr>
            <p:cNvPr id="48" name="TextBox 48"/>
            <p:cNvSpPr txBox="1"/>
            <p:nvPr/>
          </p:nvSpPr>
          <p:spPr>
            <a:xfrm>
              <a:off x="7880985" y="2545556"/>
              <a:ext cx="2461514" cy="220028"/>
            </a:xfrm>
            <a:prstGeom prst="rect">
              <a:avLst/>
            </a:prstGeom>
            <a:noFill/>
            <a:ln>
              <a:noFill/>
            </a:ln>
          </p:spPr>
          <p:txBody>
            <a:bodyPr wrap="none" lIns="0" tIns="0" rIns="0" bIns="0" anchor="t" anchorCtr="0">
              <a:spAutoFit/>
            </a:bodyPr>
            <a:lstStyle/>
            <a:p>
              <a:pPr algn="l"/>
              <a:r>
                <a:rPr lang="en-US" sz="1120" dirty="0">
                  <a:solidFill>
                    <a:srgbClr val="EAF1FF"/>
                  </a:solidFill>
                  <a:latin typeface="+mn-lt"/>
                  <a:ea typeface="+mn-ea"/>
                  <a:cs typeface="+mn-cs"/>
                </a:rPr>
                <a:t>when forming trajectories and to</a:t>
              </a:r>
            </a:p>
          </p:txBody>
        </p:sp>
        <p:sp>
          <p:nvSpPr>
            <p:cNvPr id="49" name="TextBox 49"/>
            <p:cNvSpPr txBox="1"/>
            <p:nvPr/>
          </p:nvSpPr>
          <p:spPr>
            <a:xfrm>
              <a:off x="7880985" y="2755106"/>
              <a:ext cx="1134699" cy="220028"/>
            </a:xfrm>
            <a:prstGeom prst="rect">
              <a:avLst/>
            </a:prstGeom>
            <a:noFill/>
            <a:ln>
              <a:noFill/>
            </a:ln>
          </p:spPr>
          <p:txBody>
            <a:bodyPr wrap="none" lIns="0" tIns="0" rIns="0" bIns="0" anchor="t" anchorCtr="0">
              <a:spAutoFit/>
            </a:bodyPr>
            <a:lstStyle/>
            <a:p>
              <a:pPr algn="l"/>
              <a:r>
                <a:rPr lang="en-US" sz="1120" dirty="0">
                  <a:solidFill>
                    <a:srgbClr val="EAF1FF"/>
                  </a:solidFill>
                  <a:latin typeface="+mn-lt"/>
                  <a:ea typeface="+mn-ea"/>
                  <a:cs typeface="+mn-cs"/>
                </a:rPr>
                <a:t>align the maps.</a:t>
              </a:r>
            </a:p>
          </p:txBody>
        </p:sp>
      </p:grpSp>
      <p:grpSp>
        <p:nvGrpSpPr>
          <p:cNvPr id="58" name="Group 58"/>
          <p:cNvGrpSpPr/>
          <p:nvPr/>
        </p:nvGrpSpPr>
        <p:grpSpPr>
          <a:xfrm>
            <a:off x="7658100" y="3162300"/>
            <a:ext cx="3924300" cy="1428750"/>
            <a:chOff x="7658100" y="3162300"/>
            <a:chExt cx="3924300" cy="1428750"/>
          </a:xfrm>
        </p:grpSpPr>
        <p:sp>
          <p:nvSpPr>
            <p:cNvPr id="51" name="Rectangle 51"/>
            <p:cNvSpPr/>
            <p:nvPr/>
          </p:nvSpPr>
          <p:spPr>
            <a:xfrm>
              <a:off x="7658100" y="3162300"/>
              <a:ext cx="3924300" cy="1428750"/>
            </a:xfrm>
            <a:prstGeom prst="roundRect">
              <a:avLst>
                <a:gd name="adj" fmla="val 9333"/>
              </a:avLst>
            </a:prstGeom>
            <a:solidFill>
              <a:schemeClr val="accent5"/>
            </a:solidFill>
            <a:ln w="9525">
              <a:solidFill>
                <a:schemeClr val="accent4"/>
              </a:solidFill>
            </a:ln>
          </p:spPr>
        </p:sp>
        <p:sp>
          <p:nvSpPr>
            <p:cNvPr id="52" name="Rectangle 52"/>
            <p:cNvSpPr/>
            <p:nvPr/>
          </p:nvSpPr>
          <p:spPr>
            <a:xfrm>
              <a:off x="7658100" y="3314700"/>
              <a:ext cx="47625" cy="1123950"/>
            </a:xfrm>
            <a:prstGeom prst="roundRect">
              <a:avLst>
                <a:gd name="adj" fmla="val 40000"/>
              </a:avLst>
            </a:prstGeom>
            <a:solidFill>
              <a:srgbClr val="FBBF24"/>
            </a:solidFill>
            <a:ln>
              <a:noFill/>
            </a:ln>
          </p:spPr>
        </p:sp>
        <p:sp>
          <p:nvSpPr>
            <p:cNvPr id="53" name="TextBox 53"/>
            <p:cNvSpPr txBox="1"/>
            <p:nvPr/>
          </p:nvSpPr>
          <p:spPr>
            <a:xfrm>
              <a:off x="7880604" y="3356610"/>
              <a:ext cx="1604135" cy="234696"/>
            </a:xfrm>
            <a:prstGeom prst="rect">
              <a:avLst/>
            </a:prstGeom>
            <a:noFill/>
            <a:ln>
              <a:noFill/>
            </a:ln>
          </p:spPr>
          <p:txBody>
            <a:bodyPr wrap="none" lIns="0" tIns="0" rIns="0" bIns="0" anchor="t" anchorCtr="0">
              <a:spAutoFit/>
            </a:bodyPr>
            <a:lstStyle/>
            <a:p>
              <a:pPr algn="l"/>
              <a:r>
                <a:rPr lang="en-US" sz="1200" b="1" dirty="0">
                  <a:solidFill>
                    <a:srgbClr val="FBBF24"/>
                  </a:solidFill>
                  <a:latin typeface="+mn-lt"/>
                  <a:ea typeface="+mn-ea"/>
                  <a:cs typeface="+mn-cs"/>
                </a:rPr>
                <a:t>Maps &amp; annotations</a:t>
              </a:r>
            </a:p>
          </p:txBody>
        </p:sp>
        <p:sp>
          <p:nvSpPr>
            <p:cNvPr id="54" name="TextBox 54"/>
            <p:cNvSpPr txBox="1"/>
            <p:nvPr/>
          </p:nvSpPr>
          <p:spPr>
            <a:xfrm>
              <a:off x="7881366" y="3639502"/>
              <a:ext cx="2413635"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12-layer semantic maps from point</a:t>
              </a:r>
            </a:p>
          </p:txBody>
        </p:sp>
        <p:sp>
          <p:nvSpPr>
            <p:cNvPr id="55" name="TextBox 55"/>
            <p:cNvSpPr txBox="1"/>
            <p:nvPr/>
          </p:nvSpPr>
          <p:spPr>
            <a:xfrm>
              <a:off x="7881366" y="3839528"/>
              <a:ext cx="2389019"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clouds. 3D cuboids labeled at 5 Hz,</a:t>
              </a:r>
            </a:p>
          </p:txBody>
        </p:sp>
        <p:sp>
          <p:nvSpPr>
            <p:cNvPr id="56" name="TextBox 56"/>
            <p:cNvSpPr txBox="1"/>
            <p:nvPr/>
          </p:nvSpPr>
          <p:spPr>
            <a:xfrm>
              <a:off x="7881366" y="4039552"/>
              <a:ext cx="2184467"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interpolated to 10 Hz; 2D boxes</a:t>
              </a:r>
            </a:p>
          </p:txBody>
        </p:sp>
        <p:sp>
          <p:nvSpPr>
            <p:cNvPr id="57" name="TextBox 57"/>
            <p:cNvSpPr txBox="1"/>
            <p:nvPr/>
          </p:nvSpPr>
          <p:spPr>
            <a:xfrm>
              <a:off x="7881366" y="4239578"/>
              <a:ext cx="2386647"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share IDs. Faces &amp; plates blurred.</a:t>
              </a:r>
            </a:p>
          </p:txBody>
        </p:sp>
      </p:grpSp>
      <p:sp>
        <p:nvSpPr>
          <p:cNvPr id="59" name="cue_s05_c1_captured_clearpath_husky_unmanned_gr" title="cue_s05_c1_captured_clearpath_husky_unmanned_gr" descr="cue_s05_c1_captured_clearpath_husky_unmanned_gr The data was captured with a Clearpath Husky unmanned ground vehicle, remotely operated through downtown Seoul. The robot carried two sixteen-channel Velodyne LiDARs, five Basler cameras arranged to cover a full 360 degrees, two inertial measurement units, and"/>
          <p:cNvSpPr/>
          <p:nvPr/>
        </p:nvSpPr>
        <p:spPr>
          <a:xfrm>
            <a:off x="609600" y="1428521"/>
            <a:ext cx="68580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5_c2_fuse_camera_lidar_reliably_pulse_per" title="cue_s05_c2_fuse_camera_lidar_reliably_pulse_per" descr="cue_s05_c2_fuse_camera_lidar_reliably_pulse_per To fuse camera and LiDAR reliably, a pulse-per-second signal generator triggers all the sensors so their data is accurately aligned in time."/>
          <p:cNvSpPr/>
          <p:nvPr/>
        </p:nvSpPr>
        <p:spPr>
          <a:xfrm>
            <a:off x="609600" y="3162223"/>
            <a:ext cx="6858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5_c3_robot_own_pose_recovered_rtk" title="cue_s05_c3_robot_own_pose_recovered_rtk" descr="cue_s05_c3_robot_own_pose_recovered_rtk The robot's own pose is recovered from RTK outdoors and from a LiDAR-inertial SLAM algorithm indoors, which is needed to compensate for the robot's ego-motion when forming pedestrian trajectories and to align the semantic maps."/>
          <p:cNvSpPr/>
          <p:nvPr/>
        </p:nvSpPr>
        <p:spPr>
          <a:xfrm>
            <a:off x="7657795" y="1428521"/>
            <a:ext cx="3924604"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5_c4_those_maps_twelve_layer_hierarchical" title="cue_s05_c4_those_maps_twelve_layer_hierarchical" descr="cue_s05_c4_those_maps_twelve_layer_hierarchical Those maps use a twelve-layer hierarchical structure built from point clouds and segmented by hand. Expert annotators labeled 3D cuboids at five hertz, which were interpolated up to ten hertz, and 2D boxes were generated from the 3D cuboids that share object I"/>
          <p:cNvSpPr/>
          <p:nvPr/>
        </p:nvSpPr>
        <p:spPr>
          <a:xfrm>
            <a:off x="7657795" y="3162223"/>
            <a:ext cx="39246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rgbClr val="4F8CFF"/>
            </a:solidFill>
            <a:ln>
              <a:noFill/>
            </a:ln>
          </p:spPr>
        </p:sp>
      </p:grpSp>
      <p:sp>
        <p:nvSpPr>
          <p:cNvPr id="5" name="TextBox 5"/>
          <p:cNvSpPr txBox="1"/>
          <p:nvPr/>
        </p:nvSpPr>
        <p:spPr>
          <a:xfrm>
            <a:off x="604647" y="485299"/>
            <a:ext cx="2071582" cy="190690"/>
          </a:xfrm>
          <a:prstGeom prst="rect">
            <a:avLst/>
          </a:prstGeom>
          <a:noFill/>
          <a:ln>
            <a:noFill/>
          </a:ln>
        </p:spPr>
        <p:txBody>
          <a:bodyPr wrap="none" lIns="0" tIns="0" rIns="0" bIns="0" anchor="t" anchorCtr="0">
            <a:spAutoFit/>
          </a:bodyPr>
          <a:lstStyle/>
          <a:p>
            <a:pPr algn="l"/>
            <a:r>
              <a:rPr lang="en-US" sz="980" b="1" spc="225" dirty="0">
                <a:solidFill>
                  <a:srgbClr val="4F8CFF"/>
                </a:solidFill>
                <a:latin typeface="+mn-lt"/>
                <a:ea typeface="+mn-ea"/>
                <a:cs typeface="+mn-cs"/>
              </a:rPr>
              <a:t>DATASET &amp; BENCHMARK</a:t>
            </a:r>
          </a:p>
        </p:txBody>
      </p:sp>
      <p:sp>
        <p:nvSpPr>
          <p:cNvPr id="6" name="TextBox 6"/>
          <p:cNvSpPr txBox="1"/>
          <p:nvPr/>
        </p:nvSpPr>
        <p:spPr>
          <a:xfrm>
            <a:off x="596646" y="715328"/>
            <a:ext cx="5993572" cy="498729"/>
          </a:xfrm>
          <a:prstGeom prst="rect">
            <a:avLst/>
          </a:prstGeom>
          <a:noFill/>
          <a:ln>
            <a:noFill/>
          </a:ln>
        </p:spPr>
        <p:txBody>
          <a:bodyPr wrap="none" lIns="0" tIns="0" rIns="0" bIns="0" anchor="t" anchorCtr="0">
            <a:spAutoFit/>
          </a:bodyPr>
          <a:lstStyle/>
          <a:p>
            <a:pPr algn="l"/>
            <a:r>
              <a:rPr lang="en-US" sz="2550" b="1" dirty="0">
                <a:solidFill>
                  <a:srgbClr val="EAF1FF"/>
                </a:solidFill>
                <a:latin typeface="+mj-lt"/>
                <a:ea typeface="+mj-ea"/>
                <a:cs typeface="+mj-cs"/>
              </a:rPr>
              <a:t>Sixty Scenes, Four Benchmarks</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05 / 10</a:t>
            </a:r>
          </a:p>
        </p:txBody>
      </p:sp>
      <p:grpSp>
        <p:nvGrpSpPr>
          <p:cNvPr id="18" name="Group 18"/>
          <p:cNvGrpSpPr/>
          <p:nvPr/>
        </p:nvGrpSpPr>
        <p:grpSpPr>
          <a:xfrm>
            <a:off x="609600" y="1428750"/>
            <a:ext cx="5334000" cy="1600200"/>
            <a:chOff x="609600" y="1428750"/>
            <a:chExt cx="5334000" cy="1600200"/>
          </a:xfrm>
        </p:grpSpPr>
        <p:sp>
          <p:nvSpPr>
            <p:cNvPr id="9" name="Rectangle 9"/>
            <p:cNvSpPr/>
            <p:nvPr/>
          </p:nvSpPr>
          <p:spPr>
            <a:xfrm>
              <a:off x="609600" y="1428750"/>
              <a:ext cx="5334000" cy="1600200"/>
            </a:xfrm>
            <a:prstGeom prst="roundRect">
              <a:avLst>
                <a:gd name="adj" fmla="val 8333"/>
              </a:avLst>
            </a:prstGeom>
            <a:solidFill>
              <a:schemeClr val="accent5"/>
            </a:solidFill>
            <a:ln w="9525">
              <a:solidFill>
                <a:schemeClr val="accent4"/>
              </a:solidFill>
            </a:ln>
          </p:spPr>
        </p:sp>
        <p:sp>
          <p:nvSpPr>
            <p:cNvPr id="10" name="TextBox 10"/>
            <p:cNvSpPr txBox="1"/>
            <p:nvPr/>
          </p:nvSpPr>
          <p:spPr>
            <a:xfrm>
              <a:off x="851154" y="1623060"/>
              <a:ext cx="1145494" cy="234696"/>
            </a:xfrm>
            <a:prstGeom prst="rect">
              <a:avLst/>
            </a:prstGeom>
            <a:noFill/>
            <a:ln>
              <a:noFill/>
            </a:ln>
          </p:spPr>
          <p:txBody>
            <a:bodyPr wrap="none" lIns="0" tIns="0" rIns="0" bIns="0" anchor="t" anchorCtr="0">
              <a:spAutoFit/>
            </a:bodyPr>
            <a:lstStyle/>
            <a:p>
              <a:pPr algn="l"/>
              <a:r>
                <a:rPr lang="en-US" sz="1200" b="1" dirty="0">
                  <a:solidFill>
                    <a:srgbClr val="EAF1FF"/>
                  </a:solidFill>
                  <a:latin typeface="+mn-lt"/>
                  <a:ea typeface="+mn-ea"/>
                  <a:cs typeface="+mn-cs"/>
                </a:rPr>
                <a:t>Dataset scale</a:t>
              </a:r>
            </a:p>
          </p:txBody>
        </p:sp>
        <p:sp>
          <p:nvSpPr>
            <p:cNvPr id="11" name="TextBox 11"/>
            <p:cNvSpPr txBox="1"/>
            <p:nvPr/>
          </p:nvSpPr>
          <p:spPr>
            <a:xfrm>
              <a:off x="977646" y="1972628"/>
              <a:ext cx="444840" cy="498729"/>
            </a:xfrm>
            <a:prstGeom prst="rect">
              <a:avLst/>
            </a:prstGeom>
            <a:noFill/>
            <a:ln>
              <a:noFill/>
            </a:ln>
          </p:spPr>
          <p:txBody>
            <a:bodyPr wrap="none" lIns="0" tIns="0" rIns="0" bIns="0" anchor="t" anchorCtr="0">
              <a:spAutoFit/>
            </a:bodyPr>
            <a:lstStyle/>
            <a:p>
              <a:pPr algn="l"/>
              <a:r>
                <a:rPr lang="en-US" sz="2550" b="1" dirty="0">
                  <a:solidFill>
                    <a:srgbClr val="4F8CFF"/>
                  </a:solidFill>
                  <a:latin typeface="+mj-lt"/>
                  <a:ea typeface="+mj-ea"/>
                  <a:cs typeface="+mj-cs"/>
                </a:rPr>
                <a:t>60</a:t>
              </a:r>
            </a:p>
          </p:txBody>
        </p:sp>
        <p:sp>
          <p:nvSpPr>
            <p:cNvPr id="12" name="TextBox 12"/>
            <p:cNvSpPr txBox="1"/>
            <p:nvPr/>
          </p:nvSpPr>
          <p:spPr>
            <a:xfrm>
              <a:off x="985647" y="2352199"/>
              <a:ext cx="467035" cy="190690"/>
            </a:xfrm>
            <a:prstGeom prst="rect">
              <a:avLst/>
            </a:prstGeom>
            <a:noFill/>
            <a:ln>
              <a:noFill/>
            </a:ln>
          </p:spPr>
          <p:txBody>
            <a:bodyPr wrap="none" lIns="0" tIns="0" rIns="0" bIns="0" anchor="t" anchorCtr="0">
              <a:spAutoFit/>
            </a:bodyPr>
            <a:lstStyle/>
            <a:p>
              <a:pPr algn="l"/>
              <a:r>
                <a:rPr lang="en-US" sz="980" b="1" dirty="0">
                  <a:solidFill>
                    <a:srgbClr val="9DB0D0"/>
                  </a:solidFill>
                  <a:latin typeface="+mn-lt"/>
                  <a:ea typeface="+mn-ea"/>
                  <a:cs typeface="+mn-cs"/>
                </a:rPr>
                <a:t>scenes</a:t>
              </a:r>
            </a:p>
          </p:txBody>
        </p:sp>
        <p:sp>
          <p:nvSpPr>
            <p:cNvPr id="13" name="TextBox 13"/>
            <p:cNvSpPr txBox="1"/>
            <p:nvPr/>
          </p:nvSpPr>
          <p:spPr>
            <a:xfrm>
              <a:off x="2577846" y="1972628"/>
              <a:ext cx="788963" cy="498729"/>
            </a:xfrm>
            <a:prstGeom prst="rect">
              <a:avLst/>
            </a:prstGeom>
            <a:noFill/>
            <a:ln>
              <a:noFill/>
            </a:ln>
          </p:spPr>
          <p:txBody>
            <a:bodyPr wrap="none" lIns="0" tIns="0" rIns="0" bIns="0" anchor="t" anchorCtr="0">
              <a:spAutoFit/>
            </a:bodyPr>
            <a:lstStyle/>
            <a:p>
              <a:pPr algn="l"/>
              <a:r>
                <a:rPr lang="en-US" sz="2550" b="1" dirty="0">
                  <a:solidFill>
                    <a:srgbClr val="34D399"/>
                  </a:solidFill>
                  <a:latin typeface="+mj-lt"/>
                  <a:ea typeface="+mj-ea"/>
                  <a:cs typeface="+mj-cs"/>
                </a:rPr>
                <a:t>60K</a:t>
              </a:r>
            </a:p>
          </p:txBody>
        </p:sp>
        <p:sp>
          <p:nvSpPr>
            <p:cNvPr id="14" name="TextBox 14"/>
            <p:cNvSpPr txBox="1"/>
            <p:nvPr/>
          </p:nvSpPr>
          <p:spPr>
            <a:xfrm>
              <a:off x="2585847" y="2352199"/>
              <a:ext cx="460109" cy="190690"/>
            </a:xfrm>
            <a:prstGeom prst="rect">
              <a:avLst/>
            </a:prstGeom>
            <a:noFill/>
            <a:ln>
              <a:noFill/>
            </a:ln>
          </p:spPr>
          <p:txBody>
            <a:bodyPr wrap="none" lIns="0" tIns="0" rIns="0" bIns="0" anchor="t" anchorCtr="0">
              <a:spAutoFit/>
            </a:bodyPr>
            <a:lstStyle/>
            <a:p>
              <a:pPr algn="l"/>
              <a:r>
                <a:rPr lang="en-US" sz="980" b="1" dirty="0">
                  <a:solidFill>
                    <a:srgbClr val="9DB0D0"/>
                  </a:solidFill>
                  <a:latin typeface="+mn-lt"/>
                  <a:ea typeface="+mn-ea"/>
                  <a:cs typeface="+mn-cs"/>
                </a:rPr>
                <a:t>images</a:t>
              </a:r>
            </a:p>
          </p:txBody>
        </p:sp>
        <p:sp>
          <p:nvSpPr>
            <p:cNvPr id="15" name="TextBox 15"/>
            <p:cNvSpPr txBox="1"/>
            <p:nvPr/>
          </p:nvSpPr>
          <p:spPr>
            <a:xfrm>
              <a:off x="4178046" y="1972628"/>
              <a:ext cx="788963" cy="498729"/>
            </a:xfrm>
            <a:prstGeom prst="rect">
              <a:avLst/>
            </a:prstGeom>
            <a:noFill/>
            <a:ln>
              <a:noFill/>
            </a:ln>
          </p:spPr>
          <p:txBody>
            <a:bodyPr wrap="none" lIns="0" tIns="0" rIns="0" bIns="0" anchor="t" anchorCtr="0">
              <a:spAutoFit/>
            </a:bodyPr>
            <a:lstStyle/>
            <a:p>
              <a:pPr algn="l"/>
              <a:r>
                <a:rPr lang="en-US" sz="2550" b="1" dirty="0">
                  <a:solidFill>
                    <a:srgbClr val="A78BFA"/>
                  </a:solidFill>
                  <a:latin typeface="+mj-lt"/>
                  <a:ea typeface="+mj-ea"/>
                  <a:cs typeface="+mj-cs"/>
                </a:rPr>
                <a:t>12K</a:t>
              </a:r>
            </a:p>
          </p:txBody>
        </p:sp>
        <p:sp>
          <p:nvSpPr>
            <p:cNvPr id="16" name="TextBox 16"/>
            <p:cNvSpPr txBox="1"/>
            <p:nvPr/>
          </p:nvSpPr>
          <p:spPr>
            <a:xfrm>
              <a:off x="4186047" y="2352199"/>
              <a:ext cx="820271" cy="190690"/>
            </a:xfrm>
            <a:prstGeom prst="rect">
              <a:avLst/>
            </a:prstGeom>
            <a:noFill/>
            <a:ln>
              <a:noFill/>
            </a:ln>
          </p:spPr>
          <p:txBody>
            <a:bodyPr wrap="none" lIns="0" tIns="0" rIns="0" bIns="0" anchor="t" anchorCtr="0">
              <a:spAutoFit/>
            </a:bodyPr>
            <a:lstStyle/>
            <a:p>
              <a:pPr algn="l"/>
              <a:r>
                <a:rPr lang="en-US" sz="980" b="1" dirty="0">
                  <a:solidFill>
                    <a:srgbClr val="9DB0D0"/>
                  </a:solidFill>
                  <a:latin typeface="+mn-lt"/>
                  <a:ea typeface="+mn-ea"/>
                  <a:cs typeface="+mn-cs"/>
                </a:rPr>
                <a:t>point clouds</a:t>
              </a:r>
            </a:p>
          </p:txBody>
        </p:sp>
        <p:sp>
          <p:nvSpPr>
            <p:cNvPr id="17" name="TextBox 17"/>
            <p:cNvSpPr txBox="1"/>
            <p:nvPr/>
          </p:nvSpPr>
          <p:spPr>
            <a:xfrm>
              <a:off x="851535" y="2697956"/>
              <a:ext cx="3564572" cy="220028"/>
            </a:xfrm>
            <a:prstGeom prst="rect">
              <a:avLst/>
            </a:prstGeom>
            <a:noFill/>
            <a:ln>
              <a:noFill/>
            </a:ln>
          </p:spPr>
          <p:txBody>
            <a:bodyPr wrap="none" lIns="0" tIns="0" rIns="0" bIns="0" anchor="t" anchorCtr="0">
              <a:spAutoFit/>
            </a:bodyPr>
            <a:lstStyle/>
            <a:p>
              <a:pPr algn="l"/>
              <a:r>
                <a:rPr lang="en-US" sz="1120" b="1" dirty="0">
                  <a:solidFill>
                    <a:srgbClr val="EAF1FF"/>
                  </a:solidFill>
                  <a:latin typeface="+mn-lt"/>
                  <a:ea typeface="+mn-ea"/>
                  <a:cs typeface="+mn-cs"/>
                </a:rPr>
                <a:t>≈ 470K 2D annotations · ≈ 320K 3D annotations</a:t>
              </a:r>
            </a:p>
          </p:txBody>
        </p:sp>
      </p:grpSp>
      <p:grpSp>
        <p:nvGrpSpPr>
          <p:cNvPr id="26" name="Group 26"/>
          <p:cNvGrpSpPr/>
          <p:nvPr/>
        </p:nvGrpSpPr>
        <p:grpSpPr>
          <a:xfrm>
            <a:off x="6134100" y="1428750"/>
            <a:ext cx="5448300" cy="1600200"/>
            <a:chOff x="6134100" y="1428750"/>
            <a:chExt cx="5448300" cy="1600200"/>
          </a:xfrm>
        </p:grpSpPr>
        <p:sp>
          <p:nvSpPr>
            <p:cNvPr id="19" name="Rectangle 19"/>
            <p:cNvSpPr/>
            <p:nvPr/>
          </p:nvSpPr>
          <p:spPr>
            <a:xfrm>
              <a:off x="6134100" y="1428750"/>
              <a:ext cx="5448300" cy="1600200"/>
            </a:xfrm>
            <a:prstGeom prst="roundRect">
              <a:avLst>
                <a:gd name="adj" fmla="val 8333"/>
              </a:avLst>
            </a:prstGeom>
            <a:solidFill>
              <a:schemeClr val="accent5"/>
            </a:solidFill>
            <a:ln w="9525">
              <a:solidFill>
                <a:schemeClr val="accent4"/>
              </a:solidFill>
            </a:ln>
          </p:spPr>
        </p:sp>
        <p:sp>
          <p:nvSpPr>
            <p:cNvPr id="20" name="Rectangle 20"/>
            <p:cNvSpPr/>
            <p:nvPr/>
          </p:nvSpPr>
          <p:spPr>
            <a:xfrm>
              <a:off x="6134100" y="1581150"/>
              <a:ext cx="47625" cy="1295400"/>
            </a:xfrm>
            <a:prstGeom prst="roundRect">
              <a:avLst>
                <a:gd name="adj" fmla="val 40000"/>
              </a:avLst>
            </a:prstGeom>
            <a:solidFill>
              <a:srgbClr val="34D399"/>
            </a:solidFill>
            <a:ln>
              <a:noFill/>
            </a:ln>
          </p:spPr>
        </p:sp>
        <p:sp>
          <p:nvSpPr>
            <p:cNvPr id="21" name="TextBox 21"/>
            <p:cNvSpPr txBox="1"/>
            <p:nvPr/>
          </p:nvSpPr>
          <p:spPr>
            <a:xfrm>
              <a:off x="6394704" y="1623060"/>
              <a:ext cx="1196192" cy="234696"/>
            </a:xfrm>
            <a:prstGeom prst="rect">
              <a:avLst/>
            </a:prstGeom>
            <a:noFill/>
            <a:ln>
              <a:noFill/>
            </a:ln>
          </p:spPr>
          <p:txBody>
            <a:bodyPr wrap="none" lIns="0" tIns="0" rIns="0" bIns="0" anchor="t" anchorCtr="0">
              <a:spAutoFit/>
            </a:bodyPr>
            <a:lstStyle/>
            <a:p>
              <a:pPr algn="l"/>
              <a:r>
                <a:rPr lang="en-US" sz="1200" b="1" dirty="0">
                  <a:solidFill>
                    <a:srgbClr val="34D399"/>
                  </a:solidFill>
                  <a:latin typeface="+mn-lt"/>
                  <a:ea typeface="+mn-ea"/>
                  <a:cs typeface="+mn-cs"/>
                </a:rPr>
                <a:t>Clip structure</a:t>
              </a:r>
            </a:p>
          </p:txBody>
        </p:sp>
        <p:sp>
          <p:nvSpPr>
            <p:cNvPr id="22" name="TextBox 22"/>
            <p:cNvSpPr txBox="1"/>
            <p:nvPr/>
          </p:nvSpPr>
          <p:spPr>
            <a:xfrm>
              <a:off x="6387846" y="1934528"/>
              <a:ext cx="768561" cy="498729"/>
            </a:xfrm>
            <a:prstGeom prst="rect">
              <a:avLst/>
            </a:prstGeom>
            <a:noFill/>
            <a:ln>
              <a:noFill/>
            </a:ln>
          </p:spPr>
          <p:txBody>
            <a:bodyPr wrap="none" lIns="0" tIns="0" rIns="0" bIns="0" anchor="t" anchorCtr="0">
              <a:spAutoFit/>
            </a:bodyPr>
            <a:lstStyle/>
            <a:p>
              <a:pPr algn="l"/>
              <a:r>
                <a:rPr lang="en-US" sz="2550" b="1" dirty="0">
                  <a:solidFill>
                    <a:srgbClr val="34D399"/>
                  </a:solidFill>
                  <a:latin typeface="+mj-lt"/>
                  <a:ea typeface="+mj-ea"/>
                  <a:cs typeface="+mj-cs"/>
                </a:rPr>
                <a:t>20 s</a:t>
              </a:r>
            </a:p>
          </p:txBody>
        </p:sp>
        <p:sp>
          <p:nvSpPr>
            <p:cNvPr id="23" name="TextBox 23"/>
            <p:cNvSpPr txBox="1"/>
            <p:nvPr/>
          </p:nvSpPr>
          <p:spPr>
            <a:xfrm>
              <a:off x="7232904" y="2080260"/>
              <a:ext cx="2240519" cy="234696"/>
            </a:xfrm>
            <a:prstGeom prst="rect">
              <a:avLst/>
            </a:prstGeom>
            <a:noFill/>
            <a:ln>
              <a:noFill/>
            </a:ln>
          </p:spPr>
          <p:txBody>
            <a:bodyPr wrap="none" lIns="0" tIns="0" rIns="0" bIns="0" anchor="t" anchorCtr="0">
              <a:spAutoFit/>
            </a:bodyPr>
            <a:lstStyle/>
            <a:p>
              <a:pPr algn="l"/>
              <a:r>
                <a:rPr lang="en-US" sz="1200" b="1" dirty="0">
                  <a:solidFill>
                    <a:srgbClr val="EAF1FF"/>
                  </a:solidFill>
                  <a:latin typeface="+mn-lt"/>
                  <a:ea typeface="+mn-ea"/>
                  <a:cs typeface="+mn-cs"/>
                </a:rPr>
                <a:t>of sequential data at 10 Hz</a:t>
              </a:r>
            </a:p>
          </p:txBody>
        </p:sp>
        <p:sp>
          <p:nvSpPr>
            <p:cNvPr id="24" name="TextBox 24"/>
            <p:cNvSpPr txBox="1"/>
            <p:nvPr/>
          </p:nvSpPr>
          <p:spPr>
            <a:xfrm>
              <a:off x="6395085" y="2469356"/>
              <a:ext cx="3735558"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 9 s of trajectory, represented as pose vectors.</a:t>
              </a:r>
            </a:p>
          </p:txBody>
        </p:sp>
        <p:sp>
          <p:nvSpPr>
            <p:cNvPr id="25" name="TextBox 25"/>
            <p:cNvSpPr txBox="1"/>
            <p:nvPr/>
          </p:nvSpPr>
          <p:spPr>
            <a:xfrm>
              <a:off x="6395466" y="2744152"/>
              <a:ext cx="3959434" cy="205359"/>
            </a:xfrm>
            <a:prstGeom prst="rect">
              <a:avLst/>
            </a:prstGeom>
            <a:noFill/>
            <a:ln>
              <a:noFill/>
            </a:ln>
          </p:spPr>
          <p:txBody>
            <a:bodyPr wrap="none" lIns="0" tIns="0" rIns="0" bIns="0" anchor="t" anchorCtr="0">
              <a:spAutoFit/>
            </a:bodyPr>
            <a:lstStyle/>
            <a:p>
              <a:pPr algn="l"/>
              <a:r>
                <a:rPr lang="en-US" sz="1050" i="1" dirty="0">
                  <a:solidFill>
                    <a:srgbClr val="6E82A6"/>
                  </a:solidFill>
                  <a:latin typeface="+mn-lt"/>
                  <a:ea typeface="+mn-ea"/>
                  <a:cs typeface="+mn-cs"/>
                </a:rPr>
                <a:t>On top of this data, the paper defines four benchmarks.</a:t>
              </a:r>
            </a:p>
          </p:txBody>
        </p:sp>
      </p:grpSp>
      <p:grpSp>
        <p:nvGrpSpPr>
          <p:cNvPr id="34" name="Group 34"/>
          <p:cNvGrpSpPr/>
          <p:nvPr/>
        </p:nvGrpSpPr>
        <p:grpSpPr>
          <a:xfrm>
            <a:off x="609600" y="3219450"/>
            <a:ext cx="5334000" cy="1828800"/>
            <a:chOff x="609600" y="3219450"/>
            <a:chExt cx="5334000" cy="1828800"/>
          </a:xfrm>
        </p:grpSpPr>
        <p:sp>
          <p:nvSpPr>
            <p:cNvPr id="27" name="Rectangle 27"/>
            <p:cNvSpPr/>
            <p:nvPr/>
          </p:nvSpPr>
          <p:spPr>
            <a:xfrm>
              <a:off x="609600" y="3219450"/>
              <a:ext cx="5334000" cy="1828800"/>
            </a:xfrm>
            <a:prstGeom prst="roundRect">
              <a:avLst>
                <a:gd name="adj" fmla="val 7292"/>
              </a:avLst>
            </a:prstGeom>
            <a:solidFill>
              <a:schemeClr val="accent5"/>
            </a:solidFill>
            <a:ln w="9525">
              <a:solidFill>
                <a:schemeClr val="accent4"/>
              </a:solidFill>
            </a:ln>
          </p:spPr>
        </p:sp>
        <p:sp>
          <p:nvSpPr>
            <p:cNvPr id="28" name="Rectangle 28"/>
            <p:cNvSpPr/>
            <p:nvPr/>
          </p:nvSpPr>
          <p:spPr>
            <a:xfrm>
              <a:off x="609600" y="3371850"/>
              <a:ext cx="47625" cy="1524000"/>
            </a:xfrm>
            <a:prstGeom prst="roundRect">
              <a:avLst>
                <a:gd name="adj" fmla="val 40000"/>
              </a:avLst>
            </a:prstGeom>
            <a:solidFill>
              <a:srgbClr val="4F8CFF"/>
            </a:solidFill>
            <a:ln>
              <a:noFill/>
            </a:ln>
          </p:spPr>
        </p:sp>
        <p:sp>
          <p:nvSpPr>
            <p:cNvPr id="29" name="TextBox 29"/>
            <p:cNvSpPr txBox="1"/>
            <p:nvPr/>
          </p:nvSpPr>
          <p:spPr>
            <a:xfrm>
              <a:off x="870204" y="3432810"/>
              <a:ext cx="1925831" cy="234696"/>
            </a:xfrm>
            <a:prstGeom prst="rect">
              <a:avLst/>
            </a:prstGeom>
            <a:noFill/>
            <a:ln>
              <a:noFill/>
            </a:ln>
          </p:spPr>
          <p:txBody>
            <a:bodyPr wrap="none" lIns="0" tIns="0" rIns="0" bIns="0" anchor="t" anchorCtr="0">
              <a:spAutoFit/>
            </a:bodyPr>
            <a:lstStyle/>
            <a:p>
              <a:pPr algn="l"/>
              <a:r>
                <a:rPr lang="en-US" sz="1200" b="1" dirty="0">
                  <a:solidFill>
                    <a:srgbClr val="4F8CFF"/>
                  </a:solidFill>
                  <a:latin typeface="+mn-lt"/>
                  <a:ea typeface="+mn-ea"/>
                  <a:cs typeface="+mn-cs"/>
                </a:rPr>
                <a:t>Perception benchmarks</a:t>
              </a:r>
            </a:p>
          </p:txBody>
        </p:sp>
        <p:sp>
          <p:nvSpPr>
            <p:cNvPr id="30" name="TextBox 30"/>
            <p:cNvSpPr txBox="1"/>
            <p:nvPr/>
          </p:nvSpPr>
          <p:spPr>
            <a:xfrm>
              <a:off x="870585" y="3783806"/>
              <a:ext cx="2130892" cy="220028"/>
            </a:xfrm>
            <a:prstGeom prst="rect">
              <a:avLst/>
            </a:prstGeom>
            <a:noFill/>
            <a:ln>
              <a:noFill/>
            </a:ln>
          </p:spPr>
          <p:txBody>
            <a:bodyPr wrap="none" lIns="0" tIns="0" rIns="0" bIns="0" anchor="t" anchorCtr="0">
              <a:spAutoFit/>
            </a:bodyPr>
            <a:lstStyle/>
            <a:p>
              <a:pPr algn="l"/>
              <a:r>
                <a:rPr lang="en-US" sz="1120" b="1" dirty="0">
                  <a:solidFill>
                    <a:srgbClr val="EAF1FF"/>
                  </a:solidFill>
                  <a:latin typeface="+mn-lt"/>
                  <a:ea typeface="+mn-ea"/>
                  <a:cs typeface="+mn-cs"/>
                </a:rPr>
                <a:t>1 · 3D pedestrian detection</a:t>
              </a:r>
            </a:p>
          </p:txBody>
        </p:sp>
        <p:sp>
          <p:nvSpPr>
            <p:cNvPr id="31" name="TextBox 31"/>
            <p:cNvSpPr txBox="1"/>
            <p:nvPr/>
          </p:nvSpPr>
          <p:spPr>
            <a:xfrm>
              <a:off x="1042797" y="4009549"/>
              <a:ext cx="2816800" cy="190690"/>
            </a:xfrm>
            <a:prstGeom prst="rect">
              <a:avLst/>
            </a:prstGeom>
            <a:noFill/>
            <a:ln>
              <a:noFill/>
            </a:ln>
          </p:spPr>
          <p:txBody>
            <a:bodyPr wrap="none" lIns="0" tIns="0" rIns="0" bIns="0" anchor="t" anchorCtr="0">
              <a:spAutoFit/>
            </a:bodyPr>
            <a:lstStyle/>
            <a:p>
              <a:pPr algn="l"/>
              <a:r>
                <a:rPr lang="en-US" sz="980" dirty="0">
                  <a:solidFill>
                    <a:srgbClr val="9DB0D0"/>
                  </a:solidFill>
                  <a:latin typeface="+mn-lt"/>
                  <a:ea typeface="+mn-ea"/>
                  <a:cs typeface="+mn-cs"/>
                </a:rPr>
                <a:t>AP on center distance @ 0.25 / 0.5 / 1 / 2 m</a:t>
              </a:r>
            </a:p>
          </p:txBody>
        </p:sp>
        <p:sp>
          <p:nvSpPr>
            <p:cNvPr id="32" name="TextBox 32"/>
            <p:cNvSpPr txBox="1"/>
            <p:nvPr/>
          </p:nvSpPr>
          <p:spPr>
            <a:xfrm>
              <a:off x="870585" y="4374356"/>
              <a:ext cx="2170582" cy="220028"/>
            </a:xfrm>
            <a:prstGeom prst="rect">
              <a:avLst/>
            </a:prstGeom>
            <a:noFill/>
            <a:ln>
              <a:noFill/>
            </a:ln>
          </p:spPr>
          <p:txBody>
            <a:bodyPr wrap="none" lIns="0" tIns="0" rIns="0" bIns="0" anchor="t" anchorCtr="0">
              <a:spAutoFit/>
            </a:bodyPr>
            <a:lstStyle/>
            <a:p>
              <a:pPr algn="l"/>
              <a:r>
                <a:rPr lang="en-US" sz="1120" b="1" dirty="0">
                  <a:solidFill>
                    <a:srgbClr val="EAF1FF"/>
                  </a:solidFill>
                  <a:latin typeface="+mn-lt"/>
                  <a:ea typeface="+mn-ea"/>
                  <a:cs typeface="+mn-cs"/>
                </a:rPr>
                <a:t>2 · 3D multi-object tracking</a:t>
              </a:r>
            </a:p>
          </p:txBody>
        </p:sp>
        <p:sp>
          <p:nvSpPr>
            <p:cNvPr id="33" name="TextBox 33"/>
            <p:cNvSpPr txBox="1"/>
            <p:nvPr/>
          </p:nvSpPr>
          <p:spPr>
            <a:xfrm>
              <a:off x="1042797" y="4600099"/>
              <a:ext cx="3267126" cy="190690"/>
            </a:xfrm>
            <a:prstGeom prst="rect">
              <a:avLst/>
            </a:prstGeom>
            <a:noFill/>
            <a:ln>
              <a:noFill/>
            </a:ln>
          </p:spPr>
          <p:txBody>
            <a:bodyPr wrap="none" lIns="0" tIns="0" rIns="0" bIns="0" anchor="t" anchorCtr="0">
              <a:spAutoFit/>
            </a:bodyPr>
            <a:lstStyle/>
            <a:p>
              <a:pPr algn="l"/>
              <a:r>
                <a:rPr lang="en-US" sz="980" dirty="0">
                  <a:solidFill>
                    <a:srgbClr val="9DB0D0"/>
                  </a:solidFill>
                  <a:latin typeface="+mn-lt"/>
                  <a:ea typeface="+mn-ea"/>
                  <a:cs typeface="+mn-cs"/>
                </a:rPr>
                <a:t>Standard MOT metrics (sAMOTA, AMOTA, MOTA…)</a:t>
              </a:r>
            </a:p>
          </p:txBody>
        </p:sp>
      </p:grpSp>
      <p:grpSp>
        <p:nvGrpSpPr>
          <p:cNvPr id="42" name="Group 42"/>
          <p:cNvGrpSpPr/>
          <p:nvPr/>
        </p:nvGrpSpPr>
        <p:grpSpPr>
          <a:xfrm>
            <a:off x="6134100" y="3219450"/>
            <a:ext cx="5448300" cy="1828800"/>
            <a:chOff x="6134100" y="3219450"/>
            <a:chExt cx="5448300" cy="1828800"/>
          </a:xfrm>
        </p:grpSpPr>
        <p:sp>
          <p:nvSpPr>
            <p:cNvPr id="35" name="Rectangle 35"/>
            <p:cNvSpPr/>
            <p:nvPr/>
          </p:nvSpPr>
          <p:spPr>
            <a:xfrm>
              <a:off x="6134100" y="3219450"/>
              <a:ext cx="5448300" cy="1828800"/>
            </a:xfrm>
            <a:prstGeom prst="roundRect">
              <a:avLst>
                <a:gd name="adj" fmla="val 7292"/>
              </a:avLst>
            </a:prstGeom>
            <a:solidFill>
              <a:schemeClr val="accent5"/>
            </a:solidFill>
            <a:ln w="9525">
              <a:solidFill>
                <a:schemeClr val="accent4"/>
              </a:solidFill>
            </a:ln>
          </p:spPr>
        </p:sp>
        <p:sp>
          <p:nvSpPr>
            <p:cNvPr id="36" name="Rectangle 36"/>
            <p:cNvSpPr/>
            <p:nvPr/>
          </p:nvSpPr>
          <p:spPr>
            <a:xfrm>
              <a:off x="6134100" y="3371850"/>
              <a:ext cx="47625" cy="1524000"/>
            </a:xfrm>
            <a:prstGeom prst="roundRect">
              <a:avLst>
                <a:gd name="adj" fmla="val 40000"/>
              </a:avLst>
            </a:prstGeom>
            <a:solidFill>
              <a:srgbClr val="A78BFA"/>
            </a:solidFill>
            <a:ln>
              <a:noFill/>
            </a:ln>
          </p:spPr>
        </p:sp>
        <p:sp>
          <p:nvSpPr>
            <p:cNvPr id="37" name="TextBox 37"/>
            <p:cNvSpPr txBox="1"/>
            <p:nvPr/>
          </p:nvSpPr>
          <p:spPr>
            <a:xfrm>
              <a:off x="6394704" y="3432810"/>
              <a:ext cx="2019117" cy="234696"/>
            </a:xfrm>
            <a:prstGeom prst="rect">
              <a:avLst/>
            </a:prstGeom>
            <a:noFill/>
            <a:ln>
              <a:noFill/>
            </a:ln>
          </p:spPr>
          <p:txBody>
            <a:bodyPr wrap="none" lIns="0" tIns="0" rIns="0" bIns="0" anchor="t" anchorCtr="0">
              <a:spAutoFit/>
            </a:bodyPr>
            <a:lstStyle/>
            <a:p>
              <a:pPr algn="l"/>
              <a:r>
                <a:rPr lang="en-US" sz="1200" b="1" dirty="0">
                  <a:solidFill>
                    <a:srgbClr val="A78BFA"/>
                  </a:solidFill>
                  <a:latin typeface="+mn-lt"/>
                  <a:ea typeface="+mn-ea"/>
                  <a:cs typeface="+mn-cs"/>
                </a:rPr>
                <a:t>Forecasting benchmarks</a:t>
              </a:r>
            </a:p>
          </p:txBody>
        </p:sp>
        <p:sp>
          <p:nvSpPr>
            <p:cNvPr id="38" name="TextBox 38"/>
            <p:cNvSpPr txBox="1"/>
            <p:nvPr/>
          </p:nvSpPr>
          <p:spPr>
            <a:xfrm>
              <a:off x="6395085" y="3783806"/>
              <a:ext cx="1956254" cy="220028"/>
            </a:xfrm>
            <a:prstGeom prst="rect">
              <a:avLst/>
            </a:prstGeom>
            <a:noFill/>
            <a:ln>
              <a:noFill/>
            </a:ln>
          </p:spPr>
          <p:txBody>
            <a:bodyPr wrap="none" lIns="0" tIns="0" rIns="0" bIns="0" anchor="t" anchorCtr="0">
              <a:spAutoFit/>
            </a:bodyPr>
            <a:lstStyle/>
            <a:p>
              <a:pPr algn="l"/>
              <a:r>
                <a:rPr lang="en-US" sz="1120" b="1" dirty="0">
                  <a:solidFill>
                    <a:srgbClr val="EAF1FF"/>
                  </a:solidFill>
                  <a:latin typeface="+mn-lt"/>
                  <a:ea typeface="+mn-ea"/>
                  <a:cs typeface="+mn-cs"/>
                </a:rPr>
                <a:t>3 · Trajectory prediction</a:t>
              </a:r>
            </a:p>
          </p:txBody>
        </p:sp>
        <p:sp>
          <p:nvSpPr>
            <p:cNvPr id="39" name="TextBox 39"/>
            <p:cNvSpPr txBox="1"/>
            <p:nvPr/>
          </p:nvSpPr>
          <p:spPr>
            <a:xfrm>
              <a:off x="6567297" y="4009549"/>
              <a:ext cx="3211303" cy="190690"/>
            </a:xfrm>
            <a:prstGeom prst="rect">
              <a:avLst/>
            </a:prstGeom>
            <a:noFill/>
            <a:ln>
              <a:noFill/>
            </a:ln>
          </p:spPr>
          <p:txBody>
            <a:bodyPr wrap="none" lIns="0" tIns="0" rIns="0" bIns="0" anchor="t" anchorCtr="0">
              <a:spAutoFit/>
            </a:bodyPr>
            <a:lstStyle/>
            <a:p>
              <a:pPr algn="l"/>
              <a:r>
                <a:rPr lang="en-US" sz="980" dirty="0">
                  <a:solidFill>
                    <a:srgbClr val="9DB0D0"/>
                  </a:solidFill>
                  <a:latin typeface="+mn-lt"/>
                  <a:ea typeface="+mn-ea"/>
                  <a:cs typeface="+mn-cs"/>
                </a:rPr>
                <a:t>2 s of past → 7 s ahead, ADE / FDE over best-of-K</a:t>
              </a:r>
            </a:p>
          </p:txBody>
        </p:sp>
        <p:sp>
          <p:nvSpPr>
            <p:cNvPr id="40" name="TextBox 40"/>
            <p:cNvSpPr txBox="1"/>
            <p:nvPr/>
          </p:nvSpPr>
          <p:spPr>
            <a:xfrm>
              <a:off x="6395085" y="4374356"/>
              <a:ext cx="1159349" cy="220028"/>
            </a:xfrm>
            <a:prstGeom prst="rect">
              <a:avLst/>
            </a:prstGeom>
            <a:noFill/>
            <a:ln>
              <a:noFill/>
            </a:ln>
          </p:spPr>
          <p:txBody>
            <a:bodyPr wrap="none" lIns="0" tIns="0" rIns="0" bIns="0" anchor="t" anchorCtr="0">
              <a:spAutoFit/>
            </a:bodyPr>
            <a:lstStyle/>
            <a:p>
              <a:pPr algn="l"/>
              <a:r>
                <a:rPr lang="en-US" sz="1120" b="1" dirty="0">
                  <a:solidFill>
                    <a:srgbClr val="EAF1FF"/>
                  </a:solidFill>
                  <a:latin typeface="+mn-lt"/>
                  <a:ea typeface="+mn-ea"/>
                  <a:cs typeface="+mn-cs"/>
                </a:rPr>
                <a:t>4 · End-to-end</a:t>
              </a:r>
            </a:p>
          </p:txBody>
        </p:sp>
        <p:sp>
          <p:nvSpPr>
            <p:cNvPr id="41" name="TextBox 41"/>
            <p:cNvSpPr txBox="1"/>
            <p:nvPr/>
          </p:nvSpPr>
          <p:spPr>
            <a:xfrm>
              <a:off x="6567297" y="4600099"/>
              <a:ext cx="3339071" cy="190690"/>
            </a:xfrm>
            <a:prstGeom prst="rect">
              <a:avLst/>
            </a:prstGeom>
            <a:noFill/>
            <a:ln>
              <a:noFill/>
            </a:ln>
          </p:spPr>
          <p:txBody>
            <a:bodyPr wrap="none" lIns="0" tIns="0" rIns="0" bIns="0" anchor="t" anchorCtr="0">
              <a:spAutoFit/>
            </a:bodyPr>
            <a:lstStyle/>
            <a:p>
              <a:pPr algn="l"/>
              <a:r>
                <a:rPr lang="en-US" sz="980" dirty="0">
                  <a:solidFill>
                    <a:srgbClr val="9DB0D0"/>
                  </a:solidFill>
                  <a:latin typeface="+mn-lt"/>
                  <a:ea typeface="+mn-ea"/>
                  <a:cs typeface="+mn-cs"/>
                </a:rPr>
                <a:t>Raw sensors → future bounding boxes &amp; trajectories</a:t>
              </a:r>
            </a:p>
          </p:txBody>
        </p:sp>
      </p:grpSp>
      <p:sp>
        <p:nvSpPr>
          <p:cNvPr id="43" name="cue_s06_c1_total_sit_contains_60_scenes" title="cue_s06_c1_total_sit_contains_60_scenes" descr="cue_s06_c1_total_sit_contains_60_scenes In total, SiT contains 60 scenes, which amounts to about sixty thousand images and twelve thousand point cloud frames, carrying roughly four hundred and seventy thousand two-dimensional annotations and three hundred and twenty thousand three-dimensional annota"/>
          <p:cNvSpPr/>
          <p:nvPr/>
        </p:nvSpPr>
        <p:spPr>
          <a:xfrm>
            <a:off x="609600" y="1428521"/>
            <a:ext cx="53340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6_c2_clip_twenty_seconds_sequential_sampl" title="cue_s06_c2_clip_twenty_seconds_sequential_sampl" descr="cue_s06_c2_clip_twenty_seconds_sequential_sampl Each clip is twenty seconds of sequential data sampled at ten hertz, producing nine seconds of trajectory represented as pose vectors. On top of this data, the paper defines four benchmarks."/>
          <p:cNvSpPr/>
          <p:nvPr/>
        </p:nvSpPr>
        <p:spPr>
          <a:xfrm>
            <a:off x="6133795" y="1428521"/>
            <a:ext cx="5448604"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6_c3_three_d_pedestrian_detection_scored" title="cue_s06_c3_three_d_pedestrian_detection_scored" descr="cue_s06_c3_three_d_pedestrian_detection_scored Three-D pedestrian detection is scored with average precision based on center distance at thresholds of a quarter, a half, one, and two meters. Three-D tracking uses standard multi-object tracking metrics."/>
          <p:cNvSpPr/>
          <p:nvPr/>
        </p:nvSpPr>
        <p:spPr>
          <a:xfrm>
            <a:off x="609600" y="3219145"/>
            <a:ext cx="533400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6_c4_trajectory_prediction_takes_two_seco" title="cue_s06_c4_trajectory_prediction_takes_two_seco" descr="cue_s06_c4_trajectory_prediction_takes_two_seco Trajectory prediction takes two seconds of past motion and predicts seven seconds ahead, scored with average and final displacement error over the best of K candidate trajectories. And an end-to-end task runs from raw sensors all the way to future bounding box"/>
          <p:cNvSpPr/>
          <p:nvPr/>
        </p:nvSpPr>
        <p:spPr>
          <a:xfrm>
            <a:off x="6133795" y="3219145"/>
            <a:ext cx="5448604"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rgbClr val="4F8CFF"/>
            </a:solidFill>
            <a:ln>
              <a:noFill/>
            </a:ln>
          </p:spPr>
        </p:sp>
      </p:grpSp>
      <p:sp>
        <p:nvSpPr>
          <p:cNvPr id="5" name="TextBox 5"/>
          <p:cNvSpPr txBox="1"/>
          <p:nvPr/>
        </p:nvSpPr>
        <p:spPr>
          <a:xfrm>
            <a:off x="604647" y="485299"/>
            <a:ext cx="1066358" cy="190690"/>
          </a:xfrm>
          <a:prstGeom prst="rect">
            <a:avLst/>
          </a:prstGeom>
          <a:noFill/>
          <a:ln>
            <a:noFill/>
          </a:ln>
        </p:spPr>
        <p:txBody>
          <a:bodyPr wrap="none" lIns="0" tIns="0" rIns="0" bIns="0" anchor="t" anchorCtr="0">
            <a:spAutoFit/>
          </a:bodyPr>
          <a:lstStyle/>
          <a:p>
            <a:pPr algn="l"/>
            <a:r>
              <a:rPr lang="en-US" sz="980" b="1" spc="225" dirty="0">
                <a:solidFill>
                  <a:srgbClr val="4F8CFF"/>
                </a:solidFill>
                <a:latin typeface="+mn-lt"/>
                <a:ea typeface="+mn-ea"/>
                <a:cs typeface="+mn-cs"/>
              </a:rPr>
              <a:t>KEY RESULT</a:t>
            </a:r>
          </a:p>
        </p:txBody>
      </p:sp>
      <p:sp>
        <p:nvSpPr>
          <p:cNvPr id="6" name="TextBox 6"/>
          <p:cNvSpPr txBox="1"/>
          <p:nvPr/>
        </p:nvSpPr>
        <p:spPr>
          <a:xfrm>
            <a:off x="596646" y="715328"/>
            <a:ext cx="8307789" cy="498729"/>
          </a:xfrm>
          <a:prstGeom prst="rect">
            <a:avLst/>
          </a:prstGeom>
          <a:noFill/>
          <a:ln>
            <a:noFill/>
          </a:ln>
        </p:spPr>
        <p:txBody>
          <a:bodyPr wrap="none" lIns="0" tIns="0" rIns="0" bIns="0" anchor="t" anchorCtr="0">
            <a:spAutoFit/>
          </a:bodyPr>
          <a:lstStyle/>
          <a:p>
            <a:pPr algn="l"/>
            <a:r>
              <a:rPr lang="en-US" sz="2550" b="1" dirty="0">
                <a:solidFill>
                  <a:srgbClr val="EAF1FF"/>
                </a:solidFill>
                <a:latin typeface="+mj-lt"/>
                <a:ea typeface="+mj-ea"/>
                <a:cs typeface="+mj-cs"/>
              </a:rPr>
              <a:t>It Captures the Interaction — and Maps Help</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06 / 10</a:t>
            </a:r>
          </a:p>
        </p:txBody>
      </p:sp>
      <p:grpSp>
        <p:nvGrpSpPr>
          <p:cNvPr id="12" name="Group 12"/>
          <p:cNvGrpSpPr/>
          <p:nvPr/>
        </p:nvGrpSpPr>
        <p:grpSpPr>
          <a:xfrm>
            <a:off x="609600" y="1428750"/>
            <a:ext cx="10972800" cy="552450"/>
            <a:chOff x="609600" y="1428750"/>
            <a:chExt cx="10972800" cy="552450"/>
          </a:xfrm>
        </p:grpSpPr>
        <p:sp>
          <p:nvSpPr>
            <p:cNvPr id="9" name="Rectangle 9"/>
            <p:cNvSpPr/>
            <p:nvPr/>
          </p:nvSpPr>
          <p:spPr>
            <a:xfrm>
              <a:off x="609600" y="1428750"/>
              <a:ext cx="10972800" cy="552450"/>
            </a:xfrm>
            <a:prstGeom prst="roundRect">
              <a:avLst>
                <a:gd name="adj" fmla="val 24138"/>
              </a:avLst>
            </a:prstGeom>
            <a:solidFill>
              <a:schemeClr val="accent5"/>
            </a:solidFill>
            <a:ln w="9525">
              <a:solidFill>
                <a:schemeClr val="accent4"/>
              </a:solidFill>
            </a:ln>
          </p:spPr>
        </p:sp>
        <p:sp>
          <p:nvSpPr>
            <p:cNvPr id="10" name="Rectangle 10"/>
            <p:cNvSpPr/>
            <p:nvPr/>
          </p:nvSpPr>
          <p:spPr>
            <a:xfrm>
              <a:off x="609600" y="1581150"/>
              <a:ext cx="47625" cy="247650"/>
            </a:xfrm>
            <a:prstGeom prst="roundRect">
              <a:avLst>
                <a:gd name="adj" fmla="val 40000"/>
              </a:avLst>
            </a:prstGeom>
            <a:solidFill>
              <a:srgbClr val="34D399"/>
            </a:solidFill>
            <a:ln>
              <a:noFill/>
            </a:ln>
          </p:spPr>
        </p:sp>
        <p:sp>
          <p:nvSpPr>
            <p:cNvPr id="11" name="TextBox 11"/>
            <p:cNvSpPr txBox="1"/>
            <p:nvPr/>
          </p:nvSpPr>
          <p:spPr>
            <a:xfrm>
              <a:off x="850392" y="1625918"/>
              <a:ext cx="9087527" cy="264033"/>
            </a:xfrm>
            <a:prstGeom prst="rect">
              <a:avLst/>
            </a:prstGeom>
            <a:noFill/>
            <a:ln>
              <a:noFill/>
            </a:ln>
          </p:spPr>
          <p:txBody>
            <a:bodyPr wrap="none" lIns="0" tIns="0" rIns="0" bIns="0" anchor="t" anchorCtr="0">
              <a:spAutoFit/>
            </a:bodyPr>
            <a:lstStyle/>
            <a:p>
              <a:pPr algn="l"/>
              <a:r>
                <a:rPr lang="en-US" sz="1350" b="1" dirty="0">
                  <a:solidFill>
                    <a:srgbClr val="EAF1FF"/>
                  </a:solidFill>
                  <a:latin typeface="+mn-lt"/>
                  <a:ea typeface="+mn-ea"/>
                  <a:cs typeface="+mn-cs"/>
                </a:rPr>
                <a:t>The data analysis confirms SiT captures exactly the close human-robot interaction it set out to.</a:t>
              </a:r>
            </a:p>
          </p:txBody>
        </p:sp>
      </p:grpSp>
      <p:grpSp>
        <p:nvGrpSpPr>
          <p:cNvPr id="35" name="Group 35"/>
          <p:cNvGrpSpPr/>
          <p:nvPr/>
        </p:nvGrpSpPr>
        <p:grpSpPr>
          <a:xfrm>
            <a:off x="609600" y="2190750"/>
            <a:ext cx="5334000" cy="2857500"/>
            <a:chOff x="609600" y="2190750"/>
            <a:chExt cx="5334000" cy="2857500"/>
          </a:xfrm>
        </p:grpSpPr>
        <p:sp>
          <p:nvSpPr>
            <p:cNvPr id="13" name="Rectangle 13"/>
            <p:cNvSpPr/>
            <p:nvPr/>
          </p:nvSpPr>
          <p:spPr>
            <a:xfrm>
              <a:off x="609600" y="2190750"/>
              <a:ext cx="5334000" cy="2857500"/>
            </a:xfrm>
            <a:prstGeom prst="roundRect">
              <a:avLst>
                <a:gd name="adj" fmla="val 4667"/>
              </a:avLst>
            </a:prstGeom>
            <a:solidFill>
              <a:schemeClr val="accent5"/>
            </a:solidFill>
            <a:ln w="9525">
              <a:solidFill>
                <a:schemeClr val="accent4"/>
              </a:solidFill>
            </a:ln>
          </p:spPr>
        </p:sp>
        <p:sp>
          <p:nvSpPr>
            <p:cNvPr id="14" name="TextBox 14"/>
            <p:cNvSpPr txBox="1"/>
            <p:nvPr/>
          </p:nvSpPr>
          <p:spPr>
            <a:xfrm>
              <a:off x="851535" y="2393156"/>
              <a:ext cx="3388953" cy="220028"/>
            </a:xfrm>
            <a:prstGeom prst="rect">
              <a:avLst/>
            </a:prstGeom>
            <a:noFill/>
            <a:ln>
              <a:noFill/>
            </a:ln>
          </p:spPr>
          <p:txBody>
            <a:bodyPr wrap="none" lIns="0" tIns="0" rIns="0" bIns="0" anchor="t" anchorCtr="0">
              <a:spAutoFit/>
            </a:bodyPr>
            <a:lstStyle/>
            <a:p>
              <a:pPr algn="l"/>
              <a:r>
                <a:rPr lang="en-US" sz="1120" b="1" dirty="0">
                  <a:solidFill>
                    <a:srgbClr val="EAF1FF"/>
                  </a:solidFill>
                  <a:latin typeface="+mn-lt"/>
                  <a:ea typeface="+mn-ea"/>
                  <a:cs typeface="+mn-cs"/>
                </a:rPr>
                <a:t>Where pedestrians appear (relative to ego)</a:t>
              </a:r>
            </a:p>
          </p:txBody>
        </p:sp>
        <p:sp>
          <p:nvSpPr>
            <p:cNvPr id="15" name="Ellipse 15"/>
            <p:cNvSpPr/>
            <p:nvPr/>
          </p:nvSpPr>
          <p:spPr>
            <a:xfrm>
              <a:off x="1162050" y="3067050"/>
              <a:ext cx="1485900" cy="1485900"/>
            </a:xfrm>
            <a:prstGeom prst="ellipse">
              <a:avLst/>
            </a:prstGeom>
            <a:solidFill>
              <a:schemeClr val="accent6"/>
            </a:solidFill>
            <a:ln w="9525">
              <a:solidFill>
                <a:schemeClr val="accent4"/>
              </a:solidFill>
            </a:ln>
          </p:spPr>
        </p:sp>
        <p:sp>
          <p:nvSpPr>
            <p:cNvPr id="16" name="Ellipse 16"/>
            <p:cNvSpPr/>
            <p:nvPr/>
          </p:nvSpPr>
          <p:spPr>
            <a:xfrm>
              <a:off x="1876425" y="3781425"/>
              <a:ext cx="57150" cy="57150"/>
            </a:xfrm>
            <a:prstGeom prst="ellipse">
              <a:avLst/>
            </a:prstGeom>
            <a:solidFill>
              <a:srgbClr val="34D399"/>
            </a:solidFill>
            <a:ln>
              <a:noFill/>
            </a:ln>
          </p:spPr>
        </p:sp>
        <p:sp>
          <p:nvSpPr>
            <p:cNvPr id="17" name="Ellipse 17"/>
            <p:cNvSpPr/>
            <p:nvPr/>
          </p:nvSpPr>
          <p:spPr>
            <a:xfrm>
              <a:off x="2081106" y="3700431"/>
              <a:ext cx="66675" cy="66675"/>
            </a:xfrm>
            <a:prstGeom prst="ellipse">
              <a:avLst/>
            </a:prstGeom>
            <a:solidFill>
              <a:srgbClr val="34D399"/>
            </a:solidFill>
            <a:ln>
              <a:noFill/>
            </a:ln>
          </p:spPr>
        </p:sp>
        <p:sp>
          <p:nvSpPr>
            <p:cNvPr id="18" name="Ellipse 18"/>
            <p:cNvSpPr/>
            <p:nvPr/>
          </p:nvSpPr>
          <p:spPr>
            <a:xfrm>
              <a:off x="1925848" y="3469364"/>
              <a:ext cx="66675" cy="66675"/>
            </a:xfrm>
            <a:prstGeom prst="ellipse">
              <a:avLst/>
            </a:prstGeom>
            <a:solidFill>
              <a:srgbClr val="34D399"/>
            </a:solidFill>
            <a:ln>
              <a:noFill/>
            </a:ln>
          </p:spPr>
        </p:sp>
        <p:sp>
          <p:nvSpPr>
            <p:cNvPr id="19" name="Ellipse 19"/>
            <p:cNvSpPr/>
            <p:nvPr/>
          </p:nvSpPr>
          <p:spPr>
            <a:xfrm>
              <a:off x="1712305" y="3642946"/>
              <a:ext cx="66675" cy="66675"/>
            </a:xfrm>
            <a:prstGeom prst="ellipse">
              <a:avLst/>
            </a:prstGeom>
            <a:solidFill>
              <a:srgbClr val="34D399"/>
            </a:solidFill>
            <a:ln>
              <a:noFill/>
            </a:ln>
          </p:spPr>
        </p:sp>
        <p:sp>
          <p:nvSpPr>
            <p:cNvPr id="20" name="Ellipse 20"/>
            <p:cNvSpPr/>
            <p:nvPr/>
          </p:nvSpPr>
          <p:spPr>
            <a:xfrm>
              <a:off x="1522590" y="3903714"/>
              <a:ext cx="66675" cy="66675"/>
            </a:xfrm>
            <a:prstGeom prst="ellipse">
              <a:avLst/>
            </a:prstGeom>
            <a:solidFill>
              <a:srgbClr val="34D399"/>
            </a:solidFill>
            <a:ln>
              <a:noFill/>
            </a:ln>
          </p:spPr>
        </p:sp>
        <p:sp>
          <p:nvSpPr>
            <p:cNvPr id="21" name="Ellipse 21"/>
            <p:cNvSpPr/>
            <p:nvPr/>
          </p:nvSpPr>
          <p:spPr>
            <a:xfrm>
              <a:off x="1829089" y="4018111"/>
              <a:ext cx="66675" cy="66675"/>
            </a:xfrm>
            <a:prstGeom prst="ellipse">
              <a:avLst/>
            </a:prstGeom>
            <a:solidFill>
              <a:srgbClr val="34D399"/>
            </a:solidFill>
            <a:ln>
              <a:noFill/>
            </a:ln>
          </p:spPr>
        </p:sp>
        <p:sp>
          <p:nvSpPr>
            <p:cNvPr id="22" name="Ellipse 22"/>
            <p:cNvSpPr/>
            <p:nvPr/>
          </p:nvSpPr>
          <p:spPr>
            <a:xfrm>
              <a:off x="2127772" y="3991564"/>
              <a:ext cx="66675" cy="66675"/>
            </a:xfrm>
            <a:prstGeom prst="ellipse">
              <a:avLst/>
            </a:prstGeom>
            <a:solidFill>
              <a:srgbClr val="34D399"/>
            </a:solidFill>
            <a:ln>
              <a:noFill/>
            </a:ln>
          </p:spPr>
        </p:sp>
        <p:sp>
          <p:nvSpPr>
            <p:cNvPr id="23" name="Ellipse 23"/>
            <p:cNvSpPr/>
            <p:nvPr/>
          </p:nvSpPr>
          <p:spPr>
            <a:xfrm>
              <a:off x="2054578" y="3744410"/>
              <a:ext cx="66675" cy="66675"/>
            </a:xfrm>
            <a:prstGeom prst="ellipse">
              <a:avLst/>
            </a:prstGeom>
            <a:solidFill>
              <a:srgbClr val="34D399"/>
            </a:solidFill>
            <a:ln>
              <a:noFill/>
            </a:ln>
          </p:spPr>
        </p:sp>
        <p:sp>
          <p:nvSpPr>
            <p:cNvPr id="24" name="Ellipse 24"/>
            <p:cNvSpPr/>
            <p:nvPr/>
          </p:nvSpPr>
          <p:spPr>
            <a:xfrm>
              <a:off x="1593631" y="3727638"/>
              <a:ext cx="66675" cy="66675"/>
            </a:xfrm>
            <a:prstGeom prst="ellipse">
              <a:avLst/>
            </a:prstGeom>
            <a:solidFill>
              <a:srgbClr val="34D399"/>
            </a:solidFill>
            <a:ln>
              <a:noFill/>
            </a:ln>
          </p:spPr>
        </p:sp>
        <p:sp>
          <p:nvSpPr>
            <p:cNvPr id="25" name="TextBox 25"/>
            <p:cNvSpPr txBox="1"/>
            <p:nvPr/>
          </p:nvSpPr>
          <p:spPr>
            <a:xfrm>
              <a:off x="1110445" y="4684395"/>
              <a:ext cx="1589111" cy="176212"/>
            </a:xfrm>
            <a:prstGeom prst="rect">
              <a:avLst/>
            </a:prstGeom>
            <a:noFill/>
            <a:ln>
              <a:noFill/>
            </a:ln>
          </p:spPr>
          <p:txBody>
            <a:bodyPr wrap="none" lIns="0" tIns="0" rIns="0" bIns="0" anchor="t" anchorCtr="0">
              <a:spAutoFit/>
            </a:bodyPr>
            <a:lstStyle/>
            <a:p>
              <a:pPr algn="ctr"/>
              <a:r>
                <a:rPr lang="en-US" sz="900" b="1" dirty="0">
                  <a:solidFill>
                    <a:srgbClr val="34D399"/>
                  </a:solidFill>
                  <a:latin typeface="+mn-lt"/>
                  <a:ea typeface="+mn-ea"/>
                  <a:cs typeface="+mn-cs"/>
                </a:rPr>
                <a:t>SiT — close, all directions</a:t>
              </a:r>
            </a:p>
          </p:txBody>
        </p:sp>
        <p:sp>
          <p:nvSpPr>
            <p:cNvPr id="26" name="Ellipse 26"/>
            <p:cNvSpPr/>
            <p:nvPr/>
          </p:nvSpPr>
          <p:spPr>
            <a:xfrm>
              <a:off x="3733800" y="3067050"/>
              <a:ext cx="1485900" cy="1485900"/>
            </a:xfrm>
            <a:prstGeom prst="ellipse">
              <a:avLst/>
            </a:prstGeom>
            <a:solidFill>
              <a:schemeClr val="accent6"/>
            </a:solidFill>
            <a:ln w="9525">
              <a:solidFill>
                <a:schemeClr val="accent4"/>
              </a:solidFill>
            </a:ln>
          </p:spPr>
        </p:sp>
        <p:sp>
          <p:nvSpPr>
            <p:cNvPr id="27" name="Ellipse 27"/>
            <p:cNvSpPr/>
            <p:nvPr/>
          </p:nvSpPr>
          <p:spPr>
            <a:xfrm>
              <a:off x="4448175" y="3781425"/>
              <a:ext cx="57150" cy="57150"/>
            </a:xfrm>
            <a:prstGeom prst="ellipse">
              <a:avLst/>
            </a:prstGeom>
            <a:solidFill>
              <a:srgbClr val="FBBF24"/>
            </a:solidFill>
            <a:ln>
              <a:noFill/>
            </a:ln>
          </p:spPr>
        </p:sp>
        <p:sp>
          <p:nvSpPr>
            <p:cNvPr id="28" name="Ellipse 28"/>
            <p:cNvSpPr/>
            <p:nvPr/>
          </p:nvSpPr>
          <p:spPr>
            <a:xfrm>
              <a:off x="5089284" y="3603602"/>
              <a:ext cx="66675" cy="66675"/>
            </a:xfrm>
            <a:prstGeom prst="ellipse">
              <a:avLst/>
            </a:prstGeom>
            <a:solidFill>
              <a:srgbClr val="FBBF24"/>
            </a:solidFill>
            <a:ln>
              <a:noFill/>
            </a:ln>
          </p:spPr>
        </p:sp>
        <p:sp>
          <p:nvSpPr>
            <p:cNvPr id="29" name="Ellipse 29"/>
            <p:cNvSpPr/>
            <p:nvPr/>
          </p:nvSpPr>
          <p:spPr>
            <a:xfrm>
              <a:off x="5106650" y="4018061"/>
              <a:ext cx="66675" cy="66675"/>
            </a:xfrm>
            <a:prstGeom prst="ellipse">
              <a:avLst/>
            </a:prstGeom>
            <a:solidFill>
              <a:srgbClr val="FBBF24"/>
            </a:solidFill>
            <a:ln>
              <a:noFill/>
            </a:ln>
          </p:spPr>
        </p:sp>
        <p:sp>
          <p:nvSpPr>
            <p:cNvPr id="30" name="Ellipse 30"/>
            <p:cNvSpPr/>
            <p:nvPr/>
          </p:nvSpPr>
          <p:spPr>
            <a:xfrm>
              <a:off x="5036835" y="3560674"/>
              <a:ext cx="66675" cy="66675"/>
            </a:xfrm>
            <a:prstGeom prst="ellipse">
              <a:avLst/>
            </a:prstGeom>
            <a:solidFill>
              <a:srgbClr val="FBBF24"/>
            </a:solidFill>
            <a:ln>
              <a:noFill/>
            </a:ln>
          </p:spPr>
        </p:sp>
        <p:sp>
          <p:nvSpPr>
            <p:cNvPr id="31" name="Ellipse 31"/>
            <p:cNvSpPr/>
            <p:nvPr/>
          </p:nvSpPr>
          <p:spPr>
            <a:xfrm>
              <a:off x="5116542" y="3895353"/>
              <a:ext cx="66675" cy="66675"/>
            </a:xfrm>
            <a:prstGeom prst="ellipse">
              <a:avLst/>
            </a:prstGeom>
            <a:solidFill>
              <a:srgbClr val="FBBF24"/>
            </a:solidFill>
            <a:ln>
              <a:noFill/>
            </a:ln>
          </p:spPr>
        </p:sp>
        <p:sp>
          <p:nvSpPr>
            <p:cNvPr id="32" name="Ellipse 32"/>
            <p:cNvSpPr/>
            <p:nvPr/>
          </p:nvSpPr>
          <p:spPr>
            <a:xfrm>
              <a:off x="5028743" y="3673453"/>
              <a:ext cx="66675" cy="66675"/>
            </a:xfrm>
            <a:prstGeom prst="ellipse">
              <a:avLst/>
            </a:prstGeom>
            <a:solidFill>
              <a:srgbClr val="FBBF24"/>
            </a:solidFill>
            <a:ln>
              <a:noFill/>
            </a:ln>
          </p:spPr>
        </p:sp>
        <p:sp>
          <p:nvSpPr>
            <p:cNvPr id="33" name="Ellipse 33"/>
            <p:cNvSpPr/>
            <p:nvPr/>
          </p:nvSpPr>
          <p:spPr>
            <a:xfrm>
              <a:off x="5109523" y="3718385"/>
              <a:ext cx="66675" cy="66675"/>
            </a:xfrm>
            <a:prstGeom prst="ellipse">
              <a:avLst/>
            </a:prstGeom>
            <a:solidFill>
              <a:srgbClr val="FBBF24"/>
            </a:solidFill>
            <a:ln>
              <a:noFill/>
            </a:ln>
          </p:spPr>
        </p:sp>
        <p:sp>
          <p:nvSpPr>
            <p:cNvPr id="34" name="TextBox 34"/>
            <p:cNvSpPr txBox="1"/>
            <p:nvPr/>
          </p:nvSpPr>
          <p:spPr>
            <a:xfrm>
              <a:off x="3476488" y="4692491"/>
              <a:ext cx="2000524" cy="161925"/>
            </a:xfrm>
            <a:prstGeom prst="rect">
              <a:avLst/>
            </a:prstGeom>
            <a:noFill/>
            <a:ln>
              <a:noFill/>
            </a:ln>
          </p:spPr>
          <p:txBody>
            <a:bodyPr wrap="none" lIns="0" tIns="0" rIns="0" bIns="0" anchor="t" anchorCtr="0">
              <a:spAutoFit/>
            </a:bodyPr>
            <a:lstStyle/>
            <a:p>
              <a:pPr algn="ctr"/>
              <a:r>
                <a:rPr lang="en-US" sz="820" b="1" dirty="0">
                  <a:solidFill>
                    <a:srgbClr val="FBBF24"/>
                  </a:solidFill>
                  <a:latin typeface="+mn-lt"/>
                  <a:ea typeface="+mn-ea"/>
                  <a:cs typeface="+mn-cs"/>
                </a:rPr>
                <a:t>Waymo / nuScenes — off to the side</a:t>
              </a:r>
            </a:p>
          </p:txBody>
        </p:sp>
      </p:grpSp>
      <p:grpSp>
        <p:nvGrpSpPr>
          <p:cNvPr id="44" name="Group 44"/>
          <p:cNvGrpSpPr/>
          <p:nvPr/>
        </p:nvGrpSpPr>
        <p:grpSpPr>
          <a:xfrm>
            <a:off x="6134100" y="2190750"/>
            <a:ext cx="5448300" cy="1352550"/>
            <a:chOff x="6134100" y="2190750"/>
            <a:chExt cx="5448300" cy="1352550"/>
          </a:xfrm>
        </p:grpSpPr>
        <p:sp>
          <p:nvSpPr>
            <p:cNvPr id="36" name="Rectangle 36"/>
            <p:cNvSpPr/>
            <p:nvPr/>
          </p:nvSpPr>
          <p:spPr>
            <a:xfrm>
              <a:off x="6134100" y="2190750"/>
              <a:ext cx="5448300" cy="1352550"/>
            </a:xfrm>
            <a:prstGeom prst="roundRect">
              <a:avLst>
                <a:gd name="adj" fmla="val 9859"/>
              </a:avLst>
            </a:prstGeom>
            <a:solidFill>
              <a:schemeClr val="accent5"/>
            </a:solidFill>
            <a:ln w="9525">
              <a:solidFill>
                <a:schemeClr val="accent4"/>
              </a:solidFill>
            </a:ln>
          </p:spPr>
        </p:sp>
        <p:sp>
          <p:nvSpPr>
            <p:cNvPr id="37" name="Rectangle 37"/>
            <p:cNvSpPr/>
            <p:nvPr/>
          </p:nvSpPr>
          <p:spPr>
            <a:xfrm>
              <a:off x="6134100" y="2343150"/>
              <a:ext cx="47625" cy="1047750"/>
            </a:xfrm>
            <a:prstGeom prst="roundRect">
              <a:avLst>
                <a:gd name="adj" fmla="val 40000"/>
              </a:avLst>
            </a:prstGeom>
            <a:solidFill>
              <a:srgbClr val="4F8CFF"/>
            </a:solidFill>
            <a:ln>
              <a:noFill/>
            </a:ln>
          </p:spPr>
        </p:sp>
        <p:sp>
          <p:nvSpPr>
            <p:cNvPr id="38" name="TextBox 38"/>
            <p:cNvSpPr txBox="1"/>
            <p:nvPr/>
          </p:nvSpPr>
          <p:spPr>
            <a:xfrm>
              <a:off x="6395085" y="2412206"/>
              <a:ext cx="2898554" cy="220028"/>
            </a:xfrm>
            <a:prstGeom prst="rect">
              <a:avLst/>
            </a:prstGeom>
            <a:noFill/>
            <a:ln>
              <a:noFill/>
            </a:ln>
          </p:spPr>
          <p:txBody>
            <a:bodyPr wrap="none" lIns="0" tIns="0" rIns="0" bIns="0" anchor="t" anchorCtr="0">
              <a:spAutoFit/>
            </a:bodyPr>
            <a:lstStyle/>
            <a:p>
              <a:pPr algn="l"/>
              <a:r>
                <a:rPr lang="en-US" sz="1120" b="1" dirty="0">
                  <a:solidFill>
                    <a:srgbClr val="4F8CFF"/>
                  </a:solidFill>
                  <a:latin typeface="+mn-lt"/>
                  <a:ea typeface="+mn-ea"/>
                  <a:cs typeface="+mn-cs"/>
                </a:rPr>
                <a:t>Space-sharing + within-2 m instances</a:t>
              </a:r>
            </a:p>
          </p:txBody>
        </p:sp>
        <p:sp>
          <p:nvSpPr>
            <p:cNvPr id="39" name="Rectangle 39"/>
            <p:cNvSpPr/>
            <p:nvPr/>
          </p:nvSpPr>
          <p:spPr>
            <a:xfrm>
              <a:off x="6400800" y="2857500"/>
              <a:ext cx="3619500" cy="228600"/>
            </a:xfrm>
            <a:prstGeom prst="roundRect">
              <a:avLst>
                <a:gd name="adj" fmla="val 20833"/>
              </a:avLst>
            </a:prstGeom>
            <a:solidFill>
              <a:srgbClr val="34D399"/>
            </a:solidFill>
            <a:ln>
              <a:noFill/>
            </a:ln>
          </p:spPr>
        </p:sp>
        <p:sp>
          <p:nvSpPr>
            <p:cNvPr id="40" name="TextBox 40"/>
            <p:cNvSpPr txBox="1"/>
            <p:nvPr/>
          </p:nvSpPr>
          <p:spPr>
            <a:xfrm>
              <a:off x="6510147" y="2914174"/>
              <a:ext cx="211158" cy="190690"/>
            </a:xfrm>
            <a:prstGeom prst="rect">
              <a:avLst/>
            </a:prstGeom>
            <a:noFill/>
            <a:ln>
              <a:noFill/>
            </a:ln>
          </p:spPr>
          <p:txBody>
            <a:bodyPr wrap="none" lIns="0" tIns="0" rIns="0" bIns="0" anchor="t" anchorCtr="0">
              <a:spAutoFit/>
            </a:bodyPr>
            <a:lstStyle/>
            <a:p>
              <a:pPr algn="l"/>
              <a:r>
                <a:rPr lang="en-US" sz="980" b="1" dirty="0">
                  <a:solidFill>
                    <a:srgbClr val="062012"/>
                  </a:solidFill>
                  <a:latin typeface="+mn-lt"/>
                  <a:ea typeface="+mn-ea"/>
                  <a:cs typeface="+mn-cs"/>
                </a:rPr>
                <a:t>SiT</a:t>
              </a:r>
            </a:p>
          </p:txBody>
        </p:sp>
        <p:sp>
          <p:nvSpPr>
            <p:cNvPr id="41" name="TextBox 41"/>
            <p:cNvSpPr txBox="1"/>
            <p:nvPr/>
          </p:nvSpPr>
          <p:spPr>
            <a:xfrm>
              <a:off x="10129647" y="2914174"/>
              <a:ext cx="612485" cy="190690"/>
            </a:xfrm>
            <a:prstGeom prst="rect">
              <a:avLst/>
            </a:prstGeom>
            <a:noFill/>
            <a:ln>
              <a:noFill/>
            </a:ln>
          </p:spPr>
          <p:txBody>
            <a:bodyPr wrap="none" lIns="0" tIns="0" rIns="0" bIns="0" anchor="t" anchorCtr="0">
              <a:spAutoFit/>
            </a:bodyPr>
            <a:lstStyle/>
            <a:p>
              <a:pPr algn="l"/>
              <a:r>
                <a:rPr lang="en-US" sz="980" b="1" dirty="0">
                  <a:solidFill>
                    <a:srgbClr val="34D399"/>
                  </a:solidFill>
                  <a:latin typeface="+mn-lt"/>
                  <a:ea typeface="+mn-ea"/>
                  <a:cs typeface="+mn-cs"/>
                </a:rPr>
                <a:t>far more</a:t>
              </a:r>
            </a:p>
          </p:txBody>
        </p:sp>
        <p:sp>
          <p:nvSpPr>
            <p:cNvPr id="42" name="Rectangle 42"/>
            <p:cNvSpPr/>
            <p:nvPr/>
          </p:nvSpPr>
          <p:spPr>
            <a:xfrm>
              <a:off x="6400800" y="3181350"/>
              <a:ext cx="651510" cy="228600"/>
            </a:xfrm>
            <a:prstGeom prst="roundRect">
              <a:avLst>
                <a:gd name="adj" fmla="val 20833"/>
              </a:avLst>
            </a:prstGeom>
            <a:solidFill>
              <a:srgbClr val="FBBF24"/>
            </a:solidFill>
            <a:ln>
              <a:noFill/>
            </a:ln>
          </p:spPr>
        </p:sp>
        <p:sp>
          <p:nvSpPr>
            <p:cNvPr id="43" name="TextBox 43"/>
            <p:cNvSpPr txBox="1"/>
            <p:nvPr/>
          </p:nvSpPr>
          <p:spPr>
            <a:xfrm>
              <a:off x="7161848" y="3246120"/>
              <a:ext cx="1906853" cy="176212"/>
            </a:xfrm>
            <a:prstGeom prst="rect">
              <a:avLst/>
            </a:prstGeom>
            <a:noFill/>
            <a:ln>
              <a:noFill/>
            </a:ln>
          </p:spPr>
          <p:txBody>
            <a:bodyPr wrap="none" lIns="0" tIns="0" rIns="0" bIns="0" anchor="t" anchorCtr="0">
              <a:spAutoFit/>
            </a:bodyPr>
            <a:lstStyle/>
            <a:p>
              <a:pPr algn="l"/>
              <a:r>
                <a:rPr lang="en-US" sz="900" b="1" dirty="0">
                  <a:solidFill>
                    <a:srgbClr val="9DB0D0"/>
                  </a:solidFill>
                  <a:latin typeface="+mn-lt"/>
                  <a:ea typeface="+mn-ea"/>
                  <a:cs typeface="+mn-cs"/>
                </a:rPr>
                <a:t>nuScenes / Waymo / Argoverse</a:t>
              </a:r>
            </a:p>
          </p:txBody>
        </p:sp>
      </p:grpSp>
      <p:grpSp>
        <p:nvGrpSpPr>
          <p:cNvPr id="52" name="Group 52"/>
          <p:cNvGrpSpPr/>
          <p:nvPr/>
        </p:nvGrpSpPr>
        <p:grpSpPr>
          <a:xfrm>
            <a:off x="6134100" y="3695700"/>
            <a:ext cx="5448300" cy="1352550"/>
            <a:chOff x="6134100" y="3695700"/>
            <a:chExt cx="5448300" cy="1352550"/>
          </a:xfrm>
        </p:grpSpPr>
        <p:sp>
          <p:nvSpPr>
            <p:cNvPr id="45" name="Rectangle 45"/>
            <p:cNvSpPr/>
            <p:nvPr/>
          </p:nvSpPr>
          <p:spPr>
            <a:xfrm>
              <a:off x="6134100" y="3695700"/>
              <a:ext cx="5448300" cy="1352550"/>
            </a:xfrm>
            <a:prstGeom prst="roundRect">
              <a:avLst>
                <a:gd name="adj" fmla="val 9859"/>
              </a:avLst>
            </a:prstGeom>
            <a:solidFill>
              <a:srgbClr val="14532D"/>
            </a:solidFill>
            <a:ln w="9525">
              <a:solidFill>
                <a:srgbClr val="34D399"/>
              </a:solidFill>
            </a:ln>
          </p:spPr>
        </p:sp>
        <p:sp>
          <p:nvSpPr>
            <p:cNvPr id="46" name="TextBox 46"/>
            <p:cNvSpPr txBox="1"/>
            <p:nvPr/>
          </p:nvSpPr>
          <p:spPr>
            <a:xfrm>
              <a:off x="6395085" y="3917156"/>
              <a:ext cx="2620764" cy="220028"/>
            </a:xfrm>
            <a:prstGeom prst="rect">
              <a:avLst/>
            </a:prstGeom>
            <a:noFill/>
            <a:ln>
              <a:noFill/>
            </a:ln>
          </p:spPr>
          <p:txBody>
            <a:bodyPr wrap="none" lIns="0" tIns="0" rIns="0" bIns="0" anchor="t" anchorCtr="0">
              <a:spAutoFit/>
            </a:bodyPr>
            <a:lstStyle/>
            <a:p>
              <a:pPr algn="l"/>
              <a:r>
                <a:rPr lang="en-US" sz="1120" b="1" dirty="0">
                  <a:solidFill>
                    <a:srgbClr val="34D399"/>
                  </a:solidFill>
                  <a:latin typeface="+mn-lt"/>
                  <a:ea typeface="+mn-ea"/>
                  <a:cs typeface="+mn-cs"/>
                </a:rPr>
                <a:t>Semantic map improves prediction</a:t>
              </a:r>
            </a:p>
          </p:txBody>
        </p:sp>
        <p:sp>
          <p:nvSpPr>
            <p:cNvPr id="47" name="TextBox 47"/>
            <p:cNvSpPr txBox="1"/>
            <p:nvPr/>
          </p:nvSpPr>
          <p:spPr>
            <a:xfrm>
              <a:off x="6385560" y="4191000"/>
              <a:ext cx="1016203" cy="586740"/>
            </a:xfrm>
            <a:prstGeom prst="rect">
              <a:avLst/>
            </a:prstGeom>
            <a:noFill/>
            <a:ln>
              <a:noFill/>
            </a:ln>
          </p:spPr>
          <p:txBody>
            <a:bodyPr wrap="none" lIns="0" tIns="0" rIns="0" bIns="0" anchor="t" anchorCtr="0">
              <a:spAutoFit/>
            </a:bodyPr>
            <a:lstStyle/>
            <a:p>
              <a:pPr algn="l"/>
              <a:r>
                <a:rPr lang="en-US" sz="3000" b="1" dirty="0">
                  <a:solidFill>
                    <a:srgbClr val="34D399"/>
                  </a:solidFill>
                  <a:latin typeface="+mj-lt"/>
                  <a:ea typeface="+mj-ea"/>
                  <a:cs typeface="+mj-cs"/>
                </a:rPr>
                <a:t>0.52</a:t>
              </a:r>
            </a:p>
          </p:txBody>
        </p:sp>
        <p:sp>
          <p:nvSpPr>
            <p:cNvPr id="48" name="TextBox 48"/>
            <p:cNvSpPr txBox="1"/>
            <p:nvPr/>
          </p:nvSpPr>
          <p:spPr>
            <a:xfrm>
              <a:off x="7157085" y="4393406"/>
              <a:ext cx="471434" cy="220028"/>
            </a:xfrm>
            <a:prstGeom prst="rect">
              <a:avLst/>
            </a:prstGeom>
            <a:noFill/>
            <a:ln>
              <a:noFill/>
            </a:ln>
          </p:spPr>
          <p:txBody>
            <a:bodyPr wrap="none" lIns="0" tIns="0" rIns="0" bIns="0" anchor="t" anchorCtr="0">
              <a:spAutoFit/>
            </a:bodyPr>
            <a:lstStyle/>
            <a:p>
              <a:pPr algn="l"/>
              <a:r>
                <a:rPr lang="en-US" sz="1120" b="1" dirty="0">
                  <a:solidFill>
                    <a:srgbClr val="EAF1FF"/>
                  </a:solidFill>
                  <a:latin typeface="+mn-lt"/>
                  <a:ea typeface="+mn-ea"/>
                  <a:cs typeface="+mn-cs"/>
                </a:rPr>
                <a:t>ADE₂₀</a:t>
              </a:r>
            </a:p>
          </p:txBody>
        </p:sp>
        <p:sp>
          <p:nvSpPr>
            <p:cNvPr id="49" name="TextBox 49"/>
            <p:cNvSpPr txBox="1"/>
            <p:nvPr/>
          </p:nvSpPr>
          <p:spPr>
            <a:xfrm>
              <a:off x="8100060" y="4191000"/>
              <a:ext cx="1016203" cy="586740"/>
            </a:xfrm>
            <a:prstGeom prst="rect">
              <a:avLst/>
            </a:prstGeom>
            <a:noFill/>
            <a:ln>
              <a:noFill/>
            </a:ln>
          </p:spPr>
          <p:txBody>
            <a:bodyPr wrap="none" lIns="0" tIns="0" rIns="0" bIns="0" anchor="t" anchorCtr="0">
              <a:spAutoFit/>
            </a:bodyPr>
            <a:lstStyle/>
            <a:p>
              <a:pPr algn="l"/>
              <a:r>
                <a:rPr lang="en-US" sz="3000" b="1" dirty="0">
                  <a:solidFill>
                    <a:srgbClr val="34D399"/>
                  </a:solidFill>
                  <a:latin typeface="+mj-lt"/>
                  <a:ea typeface="+mj-ea"/>
                  <a:cs typeface="+mj-cs"/>
                </a:rPr>
                <a:t>0.93</a:t>
              </a:r>
            </a:p>
          </p:txBody>
        </p:sp>
        <p:sp>
          <p:nvSpPr>
            <p:cNvPr id="50" name="TextBox 50"/>
            <p:cNvSpPr txBox="1"/>
            <p:nvPr/>
          </p:nvSpPr>
          <p:spPr>
            <a:xfrm>
              <a:off x="8871585" y="4393406"/>
              <a:ext cx="471434" cy="220028"/>
            </a:xfrm>
            <a:prstGeom prst="rect">
              <a:avLst/>
            </a:prstGeom>
            <a:noFill/>
            <a:ln>
              <a:noFill/>
            </a:ln>
          </p:spPr>
          <p:txBody>
            <a:bodyPr wrap="none" lIns="0" tIns="0" rIns="0" bIns="0" anchor="t" anchorCtr="0">
              <a:spAutoFit/>
            </a:bodyPr>
            <a:lstStyle/>
            <a:p>
              <a:pPr algn="l"/>
              <a:r>
                <a:rPr lang="en-US" sz="1120" b="1" dirty="0">
                  <a:solidFill>
                    <a:srgbClr val="EAF1FF"/>
                  </a:solidFill>
                  <a:latin typeface="+mn-lt"/>
                  <a:ea typeface="+mn-ea"/>
                  <a:cs typeface="+mn-cs"/>
                </a:rPr>
                <a:t>FDE₂₀</a:t>
              </a:r>
            </a:p>
          </p:txBody>
        </p:sp>
        <p:sp>
          <p:nvSpPr>
            <p:cNvPr id="51" name="TextBox 51"/>
            <p:cNvSpPr txBox="1"/>
            <p:nvPr/>
          </p:nvSpPr>
          <p:spPr>
            <a:xfrm>
              <a:off x="6395847" y="4714399"/>
              <a:ext cx="4179280" cy="190690"/>
            </a:xfrm>
            <a:prstGeom prst="rect">
              <a:avLst/>
            </a:prstGeom>
            <a:noFill/>
            <a:ln>
              <a:noFill/>
            </a:ln>
          </p:spPr>
          <p:txBody>
            <a:bodyPr wrap="none" lIns="0" tIns="0" rIns="0" bIns="0" anchor="t" anchorCtr="0">
              <a:spAutoFit/>
            </a:bodyPr>
            <a:lstStyle/>
            <a:p>
              <a:pPr algn="l"/>
              <a:r>
                <a:rPr lang="en-US" sz="980" dirty="0">
                  <a:solidFill>
                    <a:srgbClr val="9DB0D0"/>
                  </a:solidFill>
                  <a:latin typeface="+mn-lt"/>
                  <a:ea typeface="+mn-ea"/>
                  <a:cs typeface="+mn-cs"/>
                </a:rPr>
                <a:t>Best model NSP-SFM with the map — clearly better than without.</a:t>
              </a:r>
            </a:p>
          </p:txBody>
        </p:sp>
      </p:grpSp>
      <p:sp>
        <p:nvSpPr>
          <p:cNvPr id="53" name="cue_s07_c1_analysis_confirms_sit_captures_exact" title="cue_s07_c1_analysis_confirms_sit_captures_exact" descr="cue_s07_c1_analysis_confirms_sit_captures_exact The data analysis confirms that SiT captures exactly the interactions it set out to."/>
          <p:cNvSpPr/>
          <p:nvPr/>
        </p:nvSpPr>
        <p:spPr>
          <a:xfrm>
            <a:off x="609600" y="1428521"/>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7_c2_when_you_plot_where_pedestrians" title="cue_s07_c2_when_you_plot_where_pedestrians" descr="cue_s07_c2_when_you_plot_where_pedestrians When you plot where pedestrians appear relative to the robot, they cluster close in, from all directions, whereas in Waymo Open and nuScenes pedestrians tend to sit off to the side on separate paths."/>
          <p:cNvSpPr/>
          <p:nvPr/>
        </p:nvSpPr>
        <p:spPr>
          <a:xfrm>
            <a:off x="609600" y="2190445"/>
            <a:ext cx="533400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3_counting_instances_satisfy_both_spac" title="cue_s07_c3_counting_instances_satisfy_both_spac" descr="cue_s07_c3_counting_instances_satisfy_both_spac Counting instances that satisfy both a space-sharing condition and a within-two-meter proximity condition, SiT has dramatically more than the three autonomous-driving datasets, which means driving data underrepresents the human-robot interaction that social na"/>
          <p:cNvSpPr/>
          <p:nvPr/>
        </p:nvSpPr>
        <p:spPr>
          <a:xfrm>
            <a:off x="6133795" y="2190445"/>
            <a:ext cx="5448604"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4_benchmark_itself_standout_finding_su" title="cue_s07_c4_benchmark_itself_standout_finding_su" descr="cue_s07_c4_benchmark_itself_standout_finding_su On the benchmark itself, the standout finding is that supplying the semantic map improves trajectory prediction: the best model, NSP-SFM with the map, reaches an ADE-twenty of about 0.52 and an FDE-twenty of about 0.93, clearly better than the same model witho"/>
          <p:cNvSpPr/>
          <p:nvPr/>
        </p:nvSpPr>
        <p:spPr>
          <a:xfrm>
            <a:off x="6133795" y="3695776"/>
            <a:ext cx="5448604"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rgbClr val="4F8CFF"/>
            </a:solidFill>
            <a:ln>
              <a:noFill/>
            </a:ln>
          </p:spPr>
        </p:sp>
      </p:grpSp>
      <p:sp>
        <p:nvSpPr>
          <p:cNvPr id="5" name="TextBox 5"/>
          <p:cNvSpPr txBox="1"/>
          <p:nvPr/>
        </p:nvSpPr>
        <p:spPr>
          <a:xfrm>
            <a:off x="604647" y="485299"/>
            <a:ext cx="870622" cy="190690"/>
          </a:xfrm>
          <a:prstGeom prst="rect">
            <a:avLst/>
          </a:prstGeom>
          <a:noFill/>
          <a:ln>
            <a:noFill/>
          </a:ln>
        </p:spPr>
        <p:txBody>
          <a:bodyPr wrap="none" lIns="0" tIns="0" rIns="0" bIns="0" anchor="t" anchorCtr="0">
            <a:spAutoFit/>
          </a:bodyPr>
          <a:lstStyle/>
          <a:p>
            <a:pPr algn="l"/>
            <a:r>
              <a:rPr lang="en-US" sz="980" b="1" spc="225" dirty="0">
                <a:solidFill>
                  <a:srgbClr val="4F8CFF"/>
                </a:solidFill>
                <a:latin typeface="+mn-lt"/>
                <a:ea typeface="+mn-ea"/>
                <a:cs typeface="+mn-cs"/>
              </a:rPr>
              <a:t>ABLATION</a:t>
            </a:r>
          </a:p>
        </p:txBody>
      </p:sp>
      <p:sp>
        <p:nvSpPr>
          <p:cNvPr id="6" name="TextBox 6"/>
          <p:cNvSpPr txBox="1"/>
          <p:nvPr/>
        </p:nvSpPr>
        <p:spPr>
          <a:xfrm>
            <a:off x="596646" y="715328"/>
            <a:ext cx="5329599" cy="498729"/>
          </a:xfrm>
          <a:prstGeom prst="rect">
            <a:avLst/>
          </a:prstGeom>
          <a:noFill/>
          <a:ln>
            <a:noFill/>
          </a:ln>
        </p:spPr>
        <p:txBody>
          <a:bodyPr wrap="none" lIns="0" tIns="0" rIns="0" bIns="0" anchor="t" anchorCtr="0">
            <a:spAutoFit/>
          </a:bodyPr>
          <a:lstStyle/>
          <a:p>
            <a:pPr algn="l"/>
            <a:r>
              <a:rPr lang="en-US" sz="2550" b="1" dirty="0">
                <a:solidFill>
                  <a:srgbClr val="EAF1FF"/>
                </a:solidFill>
                <a:latin typeface="+mj-lt"/>
                <a:ea typeface="+mj-ea"/>
                <a:cs typeface="+mj-cs"/>
              </a:rPr>
              <a:t>The Map Helps — Fusion Wins</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07 / 10</a:t>
            </a:r>
          </a:p>
        </p:txBody>
      </p:sp>
      <p:grpSp>
        <p:nvGrpSpPr>
          <p:cNvPr id="11" name="Group 11"/>
          <p:cNvGrpSpPr/>
          <p:nvPr/>
        </p:nvGrpSpPr>
        <p:grpSpPr>
          <a:xfrm>
            <a:off x="609600" y="1428750"/>
            <a:ext cx="10972800" cy="533400"/>
            <a:chOff x="609600" y="1428750"/>
            <a:chExt cx="10972800" cy="533400"/>
          </a:xfrm>
        </p:grpSpPr>
        <p:sp>
          <p:nvSpPr>
            <p:cNvPr id="9" name="Rectangle 9"/>
            <p:cNvSpPr/>
            <p:nvPr/>
          </p:nvSpPr>
          <p:spPr>
            <a:xfrm>
              <a:off x="609600" y="1428750"/>
              <a:ext cx="10972800" cy="533400"/>
            </a:xfrm>
            <a:prstGeom prst="roundRect">
              <a:avLst>
                <a:gd name="adj" fmla="val 25000"/>
              </a:avLst>
            </a:prstGeom>
            <a:solidFill>
              <a:srgbClr val="2A4A8A"/>
            </a:solidFill>
            <a:ln w="9525">
              <a:solidFill>
                <a:srgbClr val="4F8CFF"/>
              </a:solidFill>
            </a:ln>
          </p:spPr>
        </p:sp>
        <p:sp>
          <p:nvSpPr>
            <p:cNvPr id="10" name="TextBox 10"/>
            <p:cNvSpPr txBox="1"/>
            <p:nvPr/>
          </p:nvSpPr>
          <p:spPr>
            <a:xfrm>
              <a:off x="850392" y="1625918"/>
              <a:ext cx="9179742" cy="264033"/>
            </a:xfrm>
            <a:prstGeom prst="rect">
              <a:avLst/>
            </a:prstGeom>
            <a:noFill/>
            <a:ln>
              <a:noFill/>
            </a:ln>
          </p:spPr>
          <p:txBody>
            <a:bodyPr wrap="none" lIns="0" tIns="0" rIns="0" bIns="0" anchor="t" anchorCtr="0">
              <a:spAutoFit/>
            </a:bodyPr>
            <a:lstStyle/>
            <a:p>
              <a:pPr algn="l"/>
              <a:r>
                <a:rPr lang="en-US" sz="1350" b="1" dirty="0">
                  <a:solidFill>
                    <a:srgbClr val="EAF1FF"/>
                  </a:solidFill>
                  <a:latin typeface="+mn-lt"/>
                  <a:ea typeface="+mn-ea"/>
                  <a:cs typeface="+mn-cs"/>
                </a:rPr>
                <a:t>The most informative comparison: turning the semantic map on and off for trajectory prediction.</a:t>
              </a:r>
            </a:p>
          </p:txBody>
        </p:sp>
      </p:grpSp>
      <p:grpSp>
        <p:nvGrpSpPr>
          <p:cNvPr id="30" name="Group 30"/>
          <p:cNvGrpSpPr/>
          <p:nvPr/>
        </p:nvGrpSpPr>
        <p:grpSpPr>
          <a:xfrm>
            <a:off x="609600" y="2190750"/>
            <a:ext cx="5334000" cy="2857500"/>
            <a:chOff x="609600" y="2190750"/>
            <a:chExt cx="5334000" cy="2857500"/>
          </a:xfrm>
        </p:grpSpPr>
        <p:sp>
          <p:nvSpPr>
            <p:cNvPr id="12" name="Rectangle 12"/>
            <p:cNvSpPr/>
            <p:nvPr/>
          </p:nvSpPr>
          <p:spPr>
            <a:xfrm>
              <a:off x="609600" y="2190750"/>
              <a:ext cx="5334000" cy="2857500"/>
            </a:xfrm>
            <a:prstGeom prst="roundRect">
              <a:avLst>
                <a:gd name="adj" fmla="val 4667"/>
              </a:avLst>
            </a:prstGeom>
            <a:solidFill>
              <a:schemeClr val="accent5"/>
            </a:solidFill>
            <a:ln w="9525">
              <a:solidFill>
                <a:schemeClr val="accent4"/>
              </a:solidFill>
            </a:ln>
          </p:spPr>
        </p:sp>
        <p:sp>
          <p:nvSpPr>
            <p:cNvPr id="13" name="Rectangle 13"/>
            <p:cNvSpPr/>
            <p:nvPr/>
          </p:nvSpPr>
          <p:spPr>
            <a:xfrm>
              <a:off x="609600" y="2343150"/>
              <a:ext cx="47625" cy="2552700"/>
            </a:xfrm>
            <a:prstGeom prst="roundRect">
              <a:avLst>
                <a:gd name="adj" fmla="val 40000"/>
              </a:avLst>
            </a:prstGeom>
            <a:solidFill>
              <a:srgbClr val="A78BFA"/>
            </a:solidFill>
            <a:ln>
              <a:noFill/>
            </a:ln>
          </p:spPr>
        </p:sp>
        <p:sp>
          <p:nvSpPr>
            <p:cNvPr id="14" name="TextBox 14"/>
            <p:cNvSpPr txBox="1"/>
            <p:nvPr/>
          </p:nvSpPr>
          <p:spPr>
            <a:xfrm>
              <a:off x="870204" y="2404110"/>
              <a:ext cx="2349156" cy="234696"/>
            </a:xfrm>
            <a:prstGeom prst="rect">
              <a:avLst/>
            </a:prstGeom>
            <a:noFill/>
            <a:ln>
              <a:noFill/>
            </a:ln>
          </p:spPr>
          <p:txBody>
            <a:bodyPr wrap="none" lIns="0" tIns="0" rIns="0" bIns="0" anchor="t" anchorCtr="0">
              <a:spAutoFit/>
            </a:bodyPr>
            <a:lstStyle/>
            <a:p>
              <a:pPr algn="l"/>
              <a:r>
                <a:rPr lang="en-US" sz="1200" b="1" dirty="0">
                  <a:solidFill>
                    <a:srgbClr val="A78BFA"/>
                  </a:solidFill>
                  <a:latin typeface="+mn-lt"/>
                  <a:ea typeface="+mn-ea"/>
                  <a:cs typeface="+mn-cs"/>
                </a:rPr>
                <a:t>Y-Net · with vs without map</a:t>
              </a:r>
            </a:p>
          </p:txBody>
        </p:sp>
        <p:sp>
          <p:nvSpPr>
            <p:cNvPr id="15" name="TextBox 15"/>
            <p:cNvSpPr txBox="1"/>
            <p:nvPr/>
          </p:nvSpPr>
          <p:spPr>
            <a:xfrm>
              <a:off x="870966" y="2801302"/>
              <a:ext cx="441922" cy="205359"/>
            </a:xfrm>
            <a:prstGeom prst="rect">
              <a:avLst/>
            </a:prstGeom>
            <a:noFill/>
            <a:ln>
              <a:noFill/>
            </a:ln>
          </p:spPr>
          <p:txBody>
            <a:bodyPr wrap="none" lIns="0" tIns="0" rIns="0" bIns="0" anchor="t" anchorCtr="0">
              <a:spAutoFit/>
            </a:bodyPr>
            <a:lstStyle/>
            <a:p>
              <a:pPr algn="l"/>
              <a:r>
                <a:rPr lang="en-US" sz="1050" b="1" dirty="0">
                  <a:solidFill>
                    <a:srgbClr val="9DB0D0"/>
                  </a:solidFill>
                  <a:latin typeface="+mn-lt"/>
                  <a:ea typeface="+mn-ea"/>
                  <a:cs typeface="+mn-cs"/>
                </a:rPr>
                <a:t>ADE₂₀</a:t>
              </a:r>
            </a:p>
          </p:txBody>
        </p:sp>
        <p:sp>
          <p:nvSpPr>
            <p:cNvPr id="16" name="Rectangle 16"/>
            <p:cNvSpPr/>
            <p:nvPr/>
          </p:nvSpPr>
          <p:spPr>
            <a:xfrm>
              <a:off x="876300" y="3048000"/>
              <a:ext cx="1200150" cy="190500"/>
            </a:xfrm>
            <a:prstGeom prst="roundRect">
              <a:avLst>
                <a:gd name="adj" fmla="val 20000"/>
              </a:avLst>
            </a:prstGeom>
            <a:solidFill>
              <a:srgbClr val="F87171"/>
            </a:solidFill>
            <a:ln>
              <a:noFill/>
            </a:ln>
          </p:spPr>
        </p:sp>
        <p:sp>
          <p:nvSpPr>
            <p:cNvPr id="17" name="TextBox 17"/>
            <p:cNvSpPr txBox="1"/>
            <p:nvPr/>
          </p:nvSpPr>
          <p:spPr>
            <a:xfrm>
              <a:off x="2166747" y="3095149"/>
              <a:ext cx="314659" cy="190690"/>
            </a:xfrm>
            <a:prstGeom prst="rect">
              <a:avLst/>
            </a:prstGeom>
            <a:noFill/>
            <a:ln>
              <a:noFill/>
            </a:ln>
          </p:spPr>
          <p:txBody>
            <a:bodyPr wrap="none" lIns="0" tIns="0" rIns="0" bIns="0" anchor="t" anchorCtr="0">
              <a:spAutoFit/>
            </a:bodyPr>
            <a:lstStyle/>
            <a:p>
              <a:pPr algn="l"/>
              <a:r>
                <a:rPr lang="en-US" sz="980" b="1" dirty="0">
                  <a:solidFill>
                    <a:srgbClr val="F87171"/>
                  </a:solidFill>
                  <a:latin typeface="+mn-lt"/>
                  <a:ea typeface="+mn-ea"/>
                  <a:cs typeface="+mn-cs"/>
                </a:rPr>
                <a:t>0.84</a:t>
              </a:r>
            </a:p>
          </p:txBody>
        </p:sp>
        <p:sp>
          <p:nvSpPr>
            <p:cNvPr id="18" name="TextBox 18"/>
            <p:cNvSpPr txBox="1"/>
            <p:nvPr/>
          </p:nvSpPr>
          <p:spPr>
            <a:xfrm>
              <a:off x="4395788" y="3111341"/>
              <a:ext cx="386225" cy="161925"/>
            </a:xfrm>
            <a:prstGeom prst="rect">
              <a:avLst/>
            </a:prstGeom>
            <a:noFill/>
            <a:ln>
              <a:noFill/>
            </a:ln>
          </p:spPr>
          <p:txBody>
            <a:bodyPr wrap="none" lIns="0" tIns="0" rIns="0" bIns="0" anchor="t" anchorCtr="0">
              <a:spAutoFit/>
            </a:bodyPr>
            <a:lstStyle/>
            <a:p>
              <a:pPr algn="l"/>
              <a:r>
                <a:rPr lang="en-US" sz="820" b="1" dirty="0">
                  <a:solidFill>
                    <a:srgbClr val="6E82A6"/>
                  </a:solidFill>
                  <a:latin typeface="+mn-lt"/>
                  <a:ea typeface="+mn-ea"/>
                  <a:cs typeface="+mn-cs"/>
                </a:rPr>
                <a:t>no map</a:t>
              </a:r>
            </a:p>
          </p:txBody>
        </p:sp>
        <p:sp>
          <p:nvSpPr>
            <p:cNvPr id="19" name="Rectangle 19"/>
            <p:cNvSpPr/>
            <p:nvPr/>
          </p:nvSpPr>
          <p:spPr>
            <a:xfrm>
              <a:off x="876300" y="3295650"/>
              <a:ext cx="971550" cy="190500"/>
            </a:xfrm>
            <a:prstGeom prst="roundRect">
              <a:avLst>
                <a:gd name="adj" fmla="val 20000"/>
              </a:avLst>
            </a:prstGeom>
            <a:solidFill>
              <a:srgbClr val="34D399"/>
            </a:solidFill>
            <a:ln>
              <a:noFill/>
            </a:ln>
          </p:spPr>
        </p:sp>
        <p:sp>
          <p:nvSpPr>
            <p:cNvPr id="20" name="TextBox 20"/>
            <p:cNvSpPr txBox="1"/>
            <p:nvPr/>
          </p:nvSpPr>
          <p:spPr>
            <a:xfrm>
              <a:off x="1938147" y="3342799"/>
              <a:ext cx="314659" cy="190690"/>
            </a:xfrm>
            <a:prstGeom prst="rect">
              <a:avLst/>
            </a:prstGeom>
            <a:noFill/>
            <a:ln>
              <a:noFill/>
            </a:ln>
          </p:spPr>
          <p:txBody>
            <a:bodyPr wrap="none" lIns="0" tIns="0" rIns="0" bIns="0" anchor="t" anchorCtr="0">
              <a:spAutoFit/>
            </a:bodyPr>
            <a:lstStyle/>
            <a:p>
              <a:pPr algn="l"/>
              <a:r>
                <a:rPr lang="en-US" sz="980" b="1" dirty="0">
                  <a:solidFill>
                    <a:srgbClr val="34D399"/>
                  </a:solidFill>
                  <a:latin typeface="+mn-lt"/>
                  <a:ea typeface="+mn-ea"/>
                  <a:cs typeface="+mn-cs"/>
                </a:rPr>
                <a:t>0.68</a:t>
              </a:r>
            </a:p>
          </p:txBody>
        </p:sp>
        <p:sp>
          <p:nvSpPr>
            <p:cNvPr id="21" name="TextBox 21"/>
            <p:cNvSpPr txBox="1"/>
            <p:nvPr/>
          </p:nvSpPr>
          <p:spPr>
            <a:xfrm>
              <a:off x="4395788" y="3358991"/>
              <a:ext cx="322476" cy="161925"/>
            </a:xfrm>
            <a:prstGeom prst="rect">
              <a:avLst/>
            </a:prstGeom>
            <a:noFill/>
            <a:ln>
              <a:noFill/>
            </a:ln>
          </p:spPr>
          <p:txBody>
            <a:bodyPr wrap="none" lIns="0" tIns="0" rIns="0" bIns="0" anchor="t" anchorCtr="0">
              <a:spAutoFit/>
            </a:bodyPr>
            <a:lstStyle/>
            <a:p>
              <a:pPr algn="l"/>
              <a:r>
                <a:rPr lang="en-US" sz="820" b="1" dirty="0">
                  <a:solidFill>
                    <a:srgbClr val="34D399"/>
                  </a:solidFill>
                  <a:latin typeface="+mn-lt"/>
                  <a:ea typeface="+mn-ea"/>
                  <a:cs typeface="+mn-cs"/>
                </a:rPr>
                <a:t>+ map</a:t>
              </a:r>
            </a:p>
          </p:txBody>
        </p:sp>
        <p:sp>
          <p:nvSpPr>
            <p:cNvPr id="22" name="TextBox 22"/>
            <p:cNvSpPr txBox="1"/>
            <p:nvPr/>
          </p:nvSpPr>
          <p:spPr>
            <a:xfrm>
              <a:off x="870966" y="3620452"/>
              <a:ext cx="441922" cy="205359"/>
            </a:xfrm>
            <a:prstGeom prst="rect">
              <a:avLst/>
            </a:prstGeom>
            <a:noFill/>
            <a:ln>
              <a:noFill/>
            </a:ln>
          </p:spPr>
          <p:txBody>
            <a:bodyPr wrap="none" lIns="0" tIns="0" rIns="0" bIns="0" anchor="t" anchorCtr="0">
              <a:spAutoFit/>
            </a:bodyPr>
            <a:lstStyle/>
            <a:p>
              <a:pPr algn="l"/>
              <a:r>
                <a:rPr lang="en-US" sz="1050" b="1" dirty="0">
                  <a:solidFill>
                    <a:srgbClr val="9DB0D0"/>
                  </a:solidFill>
                  <a:latin typeface="+mn-lt"/>
                  <a:ea typeface="+mn-ea"/>
                  <a:cs typeface="+mn-cs"/>
                </a:rPr>
                <a:t>FDE₂₀</a:t>
              </a:r>
            </a:p>
          </p:txBody>
        </p:sp>
        <p:sp>
          <p:nvSpPr>
            <p:cNvPr id="23" name="Rectangle 23"/>
            <p:cNvSpPr/>
            <p:nvPr/>
          </p:nvSpPr>
          <p:spPr>
            <a:xfrm>
              <a:off x="876300" y="3867150"/>
              <a:ext cx="2686050" cy="190500"/>
            </a:xfrm>
            <a:prstGeom prst="roundRect">
              <a:avLst>
                <a:gd name="adj" fmla="val 20000"/>
              </a:avLst>
            </a:prstGeom>
            <a:solidFill>
              <a:srgbClr val="F87171"/>
            </a:solidFill>
            <a:ln>
              <a:noFill/>
            </a:ln>
          </p:spPr>
        </p:sp>
        <p:sp>
          <p:nvSpPr>
            <p:cNvPr id="24" name="TextBox 24"/>
            <p:cNvSpPr txBox="1"/>
            <p:nvPr/>
          </p:nvSpPr>
          <p:spPr>
            <a:xfrm>
              <a:off x="3652647" y="3914299"/>
              <a:ext cx="314659" cy="190690"/>
            </a:xfrm>
            <a:prstGeom prst="rect">
              <a:avLst/>
            </a:prstGeom>
            <a:noFill/>
            <a:ln>
              <a:noFill/>
            </a:ln>
          </p:spPr>
          <p:txBody>
            <a:bodyPr wrap="none" lIns="0" tIns="0" rIns="0" bIns="0" anchor="t" anchorCtr="0">
              <a:spAutoFit/>
            </a:bodyPr>
            <a:lstStyle/>
            <a:p>
              <a:pPr algn="l"/>
              <a:r>
                <a:rPr lang="en-US" sz="980" b="1" dirty="0">
                  <a:solidFill>
                    <a:srgbClr val="F87171"/>
                  </a:solidFill>
                  <a:latin typeface="+mn-lt"/>
                  <a:ea typeface="+mn-ea"/>
                  <a:cs typeface="+mn-cs"/>
                </a:rPr>
                <a:t>1.88</a:t>
              </a:r>
            </a:p>
          </p:txBody>
        </p:sp>
        <p:sp>
          <p:nvSpPr>
            <p:cNvPr id="25" name="TextBox 25"/>
            <p:cNvSpPr txBox="1"/>
            <p:nvPr/>
          </p:nvSpPr>
          <p:spPr>
            <a:xfrm>
              <a:off x="4395788" y="3930491"/>
              <a:ext cx="386225" cy="161925"/>
            </a:xfrm>
            <a:prstGeom prst="rect">
              <a:avLst/>
            </a:prstGeom>
            <a:noFill/>
            <a:ln>
              <a:noFill/>
            </a:ln>
          </p:spPr>
          <p:txBody>
            <a:bodyPr wrap="none" lIns="0" tIns="0" rIns="0" bIns="0" anchor="t" anchorCtr="0">
              <a:spAutoFit/>
            </a:bodyPr>
            <a:lstStyle/>
            <a:p>
              <a:pPr algn="l"/>
              <a:r>
                <a:rPr lang="en-US" sz="820" b="1" dirty="0">
                  <a:solidFill>
                    <a:srgbClr val="6E82A6"/>
                  </a:solidFill>
                  <a:latin typeface="+mn-lt"/>
                  <a:ea typeface="+mn-ea"/>
                  <a:cs typeface="+mn-cs"/>
                </a:rPr>
                <a:t>no map</a:t>
              </a:r>
            </a:p>
          </p:txBody>
        </p:sp>
        <p:sp>
          <p:nvSpPr>
            <p:cNvPr id="26" name="Rectangle 26"/>
            <p:cNvSpPr/>
            <p:nvPr/>
          </p:nvSpPr>
          <p:spPr>
            <a:xfrm>
              <a:off x="876300" y="4114800"/>
              <a:ext cx="2214562" cy="190500"/>
            </a:xfrm>
            <a:prstGeom prst="roundRect">
              <a:avLst>
                <a:gd name="adj" fmla="val 20000"/>
              </a:avLst>
            </a:prstGeom>
            <a:solidFill>
              <a:srgbClr val="34D399"/>
            </a:solidFill>
            <a:ln>
              <a:noFill/>
            </a:ln>
          </p:spPr>
        </p:sp>
        <p:sp>
          <p:nvSpPr>
            <p:cNvPr id="27" name="TextBox 27"/>
            <p:cNvSpPr txBox="1"/>
            <p:nvPr/>
          </p:nvSpPr>
          <p:spPr>
            <a:xfrm>
              <a:off x="3181160" y="4161949"/>
              <a:ext cx="314659" cy="190690"/>
            </a:xfrm>
            <a:prstGeom prst="rect">
              <a:avLst/>
            </a:prstGeom>
            <a:noFill/>
            <a:ln>
              <a:noFill/>
            </a:ln>
          </p:spPr>
          <p:txBody>
            <a:bodyPr wrap="none" lIns="0" tIns="0" rIns="0" bIns="0" anchor="t" anchorCtr="0">
              <a:spAutoFit/>
            </a:bodyPr>
            <a:lstStyle/>
            <a:p>
              <a:pPr algn="l"/>
              <a:r>
                <a:rPr lang="en-US" sz="980" b="1" dirty="0">
                  <a:solidFill>
                    <a:srgbClr val="34D399"/>
                  </a:solidFill>
                  <a:latin typeface="+mn-lt"/>
                  <a:ea typeface="+mn-ea"/>
                  <a:cs typeface="+mn-cs"/>
                </a:rPr>
                <a:t>1.55</a:t>
              </a:r>
            </a:p>
          </p:txBody>
        </p:sp>
        <p:sp>
          <p:nvSpPr>
            <p:cNvPr id="28" name="TextBox 28"/>
            <p:cNvSpPr txBox="1"/>
            <p:nvPr/>
          </p:nvSpPr>
          <p:spPr>
            <a:xfrm>
              <a:off x="4395788" y="4178141"/>
              <a:ext cx="322476" cy="161925"/>
            </a:xfrm>
            <a:prstGeom prst="rect">
              <a:avLst/>
            </a:prstGeom>
            <a:noFill/>
            <a:ln>
              <a:noFill/>
            </a:ln>
          </p:spPr>
          <p:txBody>
            <a:bodyPr wrap="none" lIns="0" tIns="0" rIns="0" bIns="0" anchor="t" anchorCtr="0">
              <a:spAutoFit/>
            </a:bodyPr>
            <a:lstStyle/>
            <a:p>
              <a:pPr algn="l"/>
              <a:r>
                <a:rPr lang="en-US" sz="820" b="1" dirty="0">
                  <a:solidFill>
                    <a:srgbClr val="34D399"/>
                  </a:solidFill>
                  <a:latin typeface="+mn-lt"/>
                  <a:ea typeface="+mn-ea"/>
                  <a:cs typeface="+mn-cs"/>
                </a:rPr>
                <a:t>+ map</a:t>
              </a:r>
            </a:p>
          </p:txBody>
        </p:sp>
        <p:sp>
          <p:nvSpPr>
            <p:cNvPr id="29" name="TextBox 29"/>
            <p:cNvSpPr txBox="1"/>
            <p:nvPr/>
          </p:nvSpPr>
          <p:spPr>
            <a:xfrm>
              <a:off x="871347" y="4657249"/>
              <a:ext cx="2303477" cy="190690"/>
            </a:xfrm>
            <a:prstGeom prst="rect">
              <a:avLst/>
            </a:prstGeom>
            <a:noFill/>
            <a:ln>
              <a:noFill/>
            </a:ln>
          </p:spPr>
          <p:txBody>
            <a:bodyPr wrap="none" lIns="0" tIns="0" rIns="0" bIns="0" anchor="t" anchorCtr="0">
              <a:spAutoFit/>
            </a:bodyPr>
            <a:lstStyle/>
            <a:p>
              <a:pPr algn="l"/>
              <a:r>
                <a:rPr lang="en-US" sz="980" i="1" dirty="0">
                  <a:solidFill>
                    <a:srgbClr val="9DB0D0"/>
                  </a:solidFill>
                  <a:latin typeface="+mn-lt"/>
                  <a:ea typeface="+mn-ea"/>
                  <a:cs typeface="+mn-cs"/>
                </a:rPr>
                <a:t>Adding the map lowers both errors.</a:t>
              </a:r>
            </a:p>
          </p:txBody>
        </p:sp>
      </p:grpSp>
      <p:grpSp>
        <p:nvGrpSpPr>
          <p:cNvPr id="39" name="Group 39"/>
          <p:cNvGrpSpPr/>
          <p:nvPr/>
        </p:nvGrpSpPr>
        <p:grpSpPr>
          <a:xfrm>
            <a:off x="6134100" y="2190750"/>
            <a:ext cx="5448300" cy="1352550"/>
            <a:chOff x="6134100" y="2190750"/>
            <a:chExt cx="5448300" cy="1352550"/>
          </a:xfrm>
        </p:grpSpPr>
        <p:sp>
          <p:nvSpPr>
            <p:cNvPr id="31" name="Rectangle 31"/>
            <p:cNvSpPr/>
            <p:nvPr/>
          </p:nvSpPr>
          <p:spPr>
            <a:xfrm>
              <a:off x="6134100" y="2190750"/>
              <a:ext cx="5448300" cy="1352550"/>
            </a:xfrm>
            <a:prstGeom prst="roundRect">
              <a:avLst>
                <a:gd name="adj" fmla="val 9859"/>
              </a:avLst>
            </a:prstGeom>
            <a:solidFill>
              <a:schemeClr val="accent5"/>
            </a:solidFill>
            <a:ln w="9525">
              <a:solidFill>
                <a:schemeClr val="accent4"/>
              </a:solidFill>
            </a:ln>
          </p:spPr>
        </p:sp>
        <p:sp>
          <p:nvSpPr>
            <p:cNvPr id="32" name="Rectangle 32"/>
            <p:cNvSpPr/>
            <p:nvPr/>
          </p:nvSpPr>
          <p:spPr>
            <a:xfrm>
              <a:off x="6134100" y="2343150"/>
              <a:ext cx="47625" cy="1047750"/>
            </a:xfrm>
            <a:prstGeom prst="roundRect">
              <a:avLst>
                <a:gd name="adj" fmla="val 40000"/>
              </a:avLst>
            </a:prstGeom>
            <a:solidFill>
              <a:srgbClr val="34D399"/>
            </a:solidFill>
            <a:ln>
              <a:noFill/>
            </a:ln>
          </p:spPr>
        </p:sp>
        <p:sp>
          <p:nvSpPr>
            <p:cNvPr id="33" name="TextBox 33"/>
            <p:cNvSpPr txBox="1"/>
            <p:nvPr/>
          </p:nvSpPr>
          <p:spPr>
            <a:xfrm>
              <a:off x="6394704" y="2404110"/>
              <a:ext cx="2595788" cy="234696"/>
            </a:xfrm>
            <a:prstGeom prst="rect">
              <a:avLst/>
            </a:prstGeom>
            <a:noFill/>
            <a:ln>
              <a:noFill/>
            </a:ln>
          </p:spPr>
          <p:txBody>
            <a:bodyPr wrap="none" lIns="0" tIns="0" rIns="0" bIns="0" anchor="t" anchorCtr="0">
              <a:spAutoFit/>
            </a:bodyPr>
            <a:lstStyle/>
            <a:p>
              <a:pPr algn="l"/>
              <a:r>
                <a:rPr lang="en-US" sz="1200" b="1" dirty="0">
                  <a:solidFill>
                    <a:srgbClr val="34D399"/>
                  </a:solidFill>
                  <a:latin typeface="+mn-lt"/>
                  <a:ea typeface="+mn-ea"/>
                  <a:cs typeface="+mn-cs"/>
                </a:rPr>
                <a:t>NSP-SFM · with vs without map</a:t>
              </a:r>
            </a:p>
          </p:txBody>
        </p:sp>
        <p:sp>
          <p:nvSpPr>
            <p:cNvPr id="34" name="TextBox 34"/>
            <p:cNvSpPr txBox="1"/>
            <p:nvPr/>
          </p:nvSpPr>
          <p:spPr>
            <a:xfrm>
              <a:off x="6393942" y="2768918"/>
              <a:ext cx="1747693" cy="264033"/>
            </a:xfrm>
            <a:prstGeom prst="rect">
              <a:avLst/>
            </a:prstGeom>
            <a:noFill/>
            <a:ln>
              <a:noFill/>
            </a:ln>
          </p:spPr>
          <p:txBody>
            <a:bodyPr wrap="none" lIns="0" tIns="0" rIns="0" bIns="0" anchor="t" anchorCtr="0">
              <a:spAutoFit/>
            </a:bodyPr>
            <a:lstStyle/>
            <a:p>
              <a:pPr algn="l"/>
              <a:r>
                <a:rPr lang="en-US" sz="1350" b="1" dirty="0">
                  <a:solidFill>
                    <a:srgbClr val="EAF1FF"/>
                  </a:solidFill>
                  <a:latin typeface="+mn-lt"/>
                  <a:ea typeface="+mn-ea"/>
                  <a:cs typeface="+mn-cs"/>
                </a:rPr>
                <a:t>ADE₂₀ 0.63 → 0.52</a:t>
              </a:r>
            </a:p>
          </p:txBody>
        </p:sp>
        <p:sp>
          <p:nvSpPr>
            <p:cNvPr id="35" name="TextBox 35"/>
            <p:cNvSpPr txBox="1"/>
            <p:nvPr/>
          </p:nvSpPr>
          <p:spPr>
            <a:xfrm>
              <a:off x="6393942" y="3054668"/>
              <a:ext cx="1747693" cy="264033"/>
            </a:xfrm>
            <a:prstGeom prst="rect">
              <a:avLst/>
            </a:prstGeom>
            <a:noFill/>
            <a:ln>
              <a:noFill/>
            </a:ln>
          </p:spPr>
          <p:txBody>
            <a:bodyPr wrap="none" lIns="0" tIns="0" rIns="0" bIns="0" anchor="t" anchorCtr="0">
              <a:spAutoFit/>
            </a:bodyPr>
            <a:lstStyle/>
            <a:p>
              <a:pPr algn="l"/>
              <a:r>
                <a:rPr lang="en-US" sz="1350" b="1" dirty="0">
                  <a:solidFill>
                    <a:srgbClr val="EAF1FF"/>
                  </a:solidFill>
                  <a:latin typeface="+mn-lt"/>
                  <a:ea typeface="+mn-ea"/>
                  <a:cs typeface="+mn-cs"/>
                </a:rPr>
                <a:t>FDE₂₀ 1.09 → 0.93</a:t>
              </a:r>
            </a:p>
          </p:txBody>
        </p:sp>
        <p:sp>
          <p:nvSpPr>
            <p:cNvPr id="36" name="TextBox 36"/>
            <p:cNvSpPr txBox="1"/>
            <p:nvPr/>
          </p:nvSpPr>
          <p:spPr>
            <a:xfrm>
              <a:off x="9136380" y="2752725"/>
              <a:ext cx="131855" cy="293370"/>
            </a:xfrm>
            <a:prstGeom prst="rect">
              <a:avLst/>
            </a:prstGeom>
            <a:noFill/>
            <a:ln>
              <a:noFill/>
            </a:ln>
          </p:spPr>
          <p:txBody>
            <a:bodyPr wrap="none" lIns="0" tIns="0" rIns="0" bIns="0" anchor="t" anchorCtr="0">
              <a:spAutoFit/>
            </a:bodyPr>
            <a:lstStyle/>
            <a:p>
              <a:pPr algn="l"/>
              <a:r>
                <a:rPr lang="en-US" sz="1500" b="1" dirty="0">
                  <a:solidFill>
                    <a:srgbClr val="34D399"/>
                  </a:solidFill>
                  <a:latin typeface="+mn-lt"/>
                  <a:ea typeface="+mn-ea"/>
                  <a:cs typeface="+mn-cs"/>
                </a:rPr>
                <a:t>↓</a:t>
              </a:r>
            </a:p>
          </p:txBody>
        </p:sp>
        <p:sp>
          <p:nvSpPr>
            <p:cNvPr id="37" name="TextBox 37"/>
            <p:cNvSpPr txBox="1"/>
            <p:nvPr/>
          </p:nvSpPr>
          <p:spPr>
            <a:xfrm>
              <a:off x="9136380" y="3038475"/>
              <a:ext cx="131855" cy="293370"/>
            </a:xfrm>
            <a:prstGeom prst="rect">
              <a:avLst/>
            </a:prstGeom>
            <a:noFill/>
            <a:ln>
              <a:noFill/>
            </a:ln>
          </p:spPr>
          <p:txBody>
            <a:bodyPr wrap="none" lIns="0" tIns="0" rIns="0" bIns="0" anchor="t" anchorCtr="0">
              <a:spAutoFit/>
            </a:bodyPr>
            <a:lstStyle/>
            <a:p>
              <a:pPr algn="l"/>
              <a:r>
                <a:rPr lang="en-US" sz="1500" b="1" dirty="0">
                  <a:solidFill>
                    <a:srgbClr val="34D399"/>
                  </a:solidFill>
                  <a:latin typeface="+mn-lt"/>
                  <a:ea typeface="+mn-ea"/>
                  <a:cs typeface="+mn-cs"/>
                </a:rPr>
                <a:t>↓</a:t>
              </a:r>
            </a:p>
          </p:txBody>
        </p:sp>
        <p:sp>
          <p:nvSpPr>
            <p:cNvPr id="38" name="TextBox 38"/>
            <p:cNvSpPr txBox="1"/>
            <p:nvPr/>
          </p:nvSpPr>
          <p:spPr>
            <a:xfrm>
              <a:off x="9367647" y="2952274"/>
              <a:ext cx="1582153" cy="190690"/>
            </a:xfrm>
            <a:prstGeom prst="rect">
              <a:avLst/>
            </a:prstGeom>
            <a:noFill/>
            <a:ln>
              <a:noFill/>
            </a:ln>
          </p:spPr>
          <p:txBody>
            <a:bodyPr wrap="none" lIns="0" tIns="0" rIns="0" bIns="0" anchor="t" anchorCtr="0">
              <a:spAutoFit/>
            </a:bodyPr>
            <a:lstStyle/>
            <a:p>
              <a:pPr algn="l"/>
              <a:r>
                <a:rPr lang="en-US" sz="980" b="1" dirty="0">
                  <a:solidFill>
                    <a:srgbClr val="34D399"/>
                  </a:solidFill>
                  <a:latin typeface="+mn-lt"/>
                  <a:ea typeface="+mn-ea"/>
                  <a:cs typeface="+mn-cs"/>
                </a:rPr>
                <a:t>map helps in both cases</a:t>
              </a:r>
            </a:p>
          </p:txBody>
        </p:sp>
      </p:grpSp>
      <p:grpSp>
        <p:nvGrpSpPr>
          <p:cNvPr id="49" name="Group 49"/>
          <p:cNvGrpSpPr/>
          <p:nvPr/>
        </p:nvGrpSpPr>
        <p:grpSpPr>
          <a:xfrm>
            <a:off x="6134100" y="3695700"/>
            <a:ext cx="5448300" cy="1352550"/>
            <a:chOff x="6134100" y="3695700"/>
            <a:chExt cx="5448300" cy="1352550"/>
          </a:xfrm>
        </p:grpSpPr>
        <p:sp>
          <p:nvSpPr>
            <p:cNvPr id="40" name="Rectangle 40"/>
            <p:cNvSpPr/>
            <p:nvPr/>
          </p:nvSpPr>
          <p:spPr>
            <a:xfrm>
              <a:off x="6134100" y="3695700"/>
              <a:ext cx="5448300" cy="1352550"/>
            </a:xfrm>
            <a:prstGeom prst="roundRect">
              <a:avLst>
                <a:gd name="adj" fmla="val 9859"/>
              </a:avLst>
            </a:prstGeom>
            <a:solidFill>
              <a:schemeClr val="accent5"/>
            </a:solidFill>
            <a:ln w="9525">
              <a:solidFill>
                <a:schemeClr val="accent4"/>
              </a:solidFill>
            </a:ln>
          </p:spPr>
        </p:sp>
        <p:sp>
          <p:nvSpPr>
            <p:cNvPr id="41" name="Rectangle 41"/>
            <p:cNvSpPr/>
            <p:nvPr/>
          </p:nvSpPr>
          <p:spPr>
            <a:xfrm>
              <a:off x="6134100" y="3848100"/>
              <a:ext cx="47625" cy="1047750"/>
            </a:xfrm>
            <a:prstGeom prst="roundRect">
              <a:avLst>
                <a:gd name="adj" fmla="val 40000"/>
              </a:avLst>
            </a:prstGeom>
            <a:solidFill>
              <a:srgbClr val="FBBF24"/>
            </a:solidFill>
            <a:ln>
              <a:noFill/>
            </a:ln>
          </p:spPr>
        </p:sp>
        <p:sp>
          <p:nvSpPr>
            <p:cNvPr id="42" name="TextBox 42"/>
            <p:cNvSpPr txBox="1"/>
            <p:nvPr/>
          </p:nvSpPr>
          <p:spPr>
            <a:xfrm>
              <a:off x="6394704" y="3909060"/>
              <a:ext cx="1526847" cy="234696"/>
            </a:xfrm>
            <a:prstGeom prst="rect">
              <a:avLst/>
            </a:prstGeom>
            <a:noFill/>
            <a:ln>
              <a:noFill/>
            </a:ln>
          </p:spPr>
          <p:txBody>
            <a:bodyPr wrap="none" lIns="0" tIns="0" rIns="0" bIns="0" anchor="t" anchorCtr="0">
              <a:spAutoFit/>
            </a:bodyPr>
            <a:lstStyle/>
            <a:p>
              <a:pPr algn="l"/>
              <a:r>
                <a:rPr lang="en-US" sz="1200" b="1" dirty="0">
                  <a:solidFill>
                    <a:srgbClr val="FBBF24"/>
                  </a:solidFill>
                  <a:latin typeface="+mn-lt"/>
                  <a:ea typeface="+mn-ea"/>
                  <a:cs typeface="+mn-cs"/>
                </a:rPr>
                <a:t>Detection findings</a:t>
              </a:r>
            </a:p>
          </p:txBody>
        </p:sp>
        <p:sp>
          <p:nvSpPr>
            <p:cNvPr id="43" name="Ellipse 43"/>
            <p:cNvSpPr/>
            <p:nvPr/>
          </p:nvSpPr>
          <p:spPr>
            <a:xfrm>
              <a:off x="6477000" y="4229100"/>
              <a:ext cx="76200" cy="76200"/>
            </a:xfrm>
            <a:prstGeom prst="ellipse">
              <a:avLst/>
            </a:prstGeom>
            <a:solidFill>
              <a:srgbClr val="FBBF24"/>
            </a:solidFill>
            <a:ln>
              <a:noFill/>
            </a:ln>
          </p:spPr>
        </p:sp>
        <p:sp>
          <p:nvSpPr>
            <p:cNvPr id="44" name="TextBox 44"/>
            <p:cNvSpPr txBox="1"/>
            <p:nvPr/>
          </p:nvSpPr>
          <p:spPr>
            <a:xfrm>
              <a:off x="6643116" y="4191952"/>
              <a:ext cx="3434213"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Camera + LiDAR fusion beats single-sensor models</a:t>
              </a:r>
            </a:p>
          </p:txBody>
        </p:sp>
        <p:sp>
          <p:nvSpPr>
            <p:cNvPr id="45" name="Ellipse 45"/>
            <p:cNvSpPr/>
            <p:nvPr/>
          </p:nvSpPr>
          <p:spPr>
            <a:xfrm>
              <a:off x="6477000" y="4476750"/>
              <a:ext cx="76200" cy="76200"/>
            </a:xfrm>
            <a:prstGeom prst="ellipse">
              <a:avLst/>
            </a:prstGeom>
            <a:solidFill>
              <a:srgbClr val="FBBF24"/>
            </a:solidFill>
            <a:ln>
              <a:noFill/>
            </a:ln>
          </p:spPr>
        </p:sp>
        <p:sp>
          <p:nvSpPr>
            <p:cNvPr id="46" name="TextBox 46"/>
            <p:cNvSpPr txBox="1"/>
            <p:nvPr/>
          </p:nvSpPr>
          <p:spPr>
            <a:xfrm>
              <a:off x="6643116" y="4439602"/>
              <a:ext cx="2686784"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Voxel backbones beat pillar-based ones</a:t>
              </a:r>
            </a:p>
          </p:txBody>
        </p:sp>
        <p:sp>
          <p:nvSpPr>
            <p:cNvPr id="47" name="Ellipse 47"/>
            <p:cNvSpPr/>
            <p:nvPr/>
          </p:nvSpPr>
          <p:spPr>
            <a:xfrm>
              <a:off x="6477000" y="4724400"/>
              <a:ext cx="76200" cy="76200"/>
            </a:xfrm>
            <a:prstGeom prst="ellipse">
              <a:avLst/>
            </a:prstGeom>
            <a:solidFill>
              <a:srgbClr val="FBBF24"/>
            </a:solidFill>
            <a:ln>
              <a:noFill/>
            </a:ln>
          </p:spPr>
        </p:sp>
        <p:sp>
          <p:nvSpPr>
            <p:cNvPr id="48" name="TextBox 48"/>
            <p:cNvSpPr txBox="1"/>
            <p:nvPr/>
          </p:nvSpPr>
          <p:spPr>
            <a:xfrm>
              <a:off x="6643116" y="4687252"/>
              <a:ext cx="3553968" cy="205359"/>
            </a:xfrm>
            <a:prstGeom prst="rect">
              <a:avLst/>
            </a:prstGeom>
            <a:noFill/>
            <a:ln>
              <a:noFill/>
            </a:ln>
          </p:spPr>
          <p:txBody>
            <a:bodyPr wrap="none" lIns="0" tIns="0" rIns="0" bIns="0" anchor="t" anchorCtr="0">
              <a:spAutoFit/>
            </a:bodyPr>
            <a:lstStyle/>
            <a:p>
              <a:pPr algn="l"/>
              <a:r>
                <a:rPr lang="en-US" sz="1050" dirty="0">
                  <a:solidFill>
                    <a:srgbClr val="EAF1FF"/>
                  </a:solidFill>
                  <a:latin typeface="+mn-lt"/>
                  <a:ea typeface="+mn-ea"/>
                  <a:cs typeface="+mn-cs"/>
                </a:rPr>
                <a:t>TransFusion (voxel) gives the best detection score</a:t>
              </a:r>
            </a:p>
          </p:txBody>
        </p:sp>
      </p:grpSp>
      <p:sp>
        <p:nvSpPr>
          <p:cNvPr id="50" name="cue_s08_c1_most_informative_comparison_turning" title="cue_s08_c1_most_informative_comparison_turning" descr="cue_s08_c1_most_informative_comparison_turning The most informative comparison in the paper is turning the semantic map on and off for trajectory prediction."/>
          <p:cNvSpPr/>
          <p:nvPr/>
        </p:nvSpPr>
        <p:spPr>
          <a:xfrm>
            <a:off x="609600" y="1428521"/>
            <a:ext cx="1097280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2_y_net_adding_map_lowers_ade_twenty" title="cue_s08_c2_y_net_adding_map_lowers_ade_twenty" descr="cue_s08_c2_y_net_adding_map_lowers_ade_twenty For Y-Net, adding the map lowers the ADE-twenty from about 0.84 down to 0.68 and the FDE-twenty from about 1.88 to 1.55."/>
          <p:cNvSpPr/>
          <p:nvPr/>
        </p:nvSpPr>
        <p:spPr>
          <a:xfrm>
            <a:off x="609600" y="2190445"/>
            <a:ext cx="533400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3_nsp_sfm_map_brings_ade_twenty_about" title="cue_s08_c3_nsp_sfm_map_brings_ade_twenty_about" descr="cue_s08_c3_nsp_sfm_map_brings_ade_twenty_about For NSP-SFM, the map brings ADE-twenty from about 0.63 to 0.52 and FDE-twenty from about 1.09 to 0.93. In both cases the map helps, confirming the value of the scene context that SiT provides."/>
          <p:cNvSpPr/>
          <p:nvPr/>
        </p:nvSpPr>
        <p:spPr>
          <a:xfrm>
            <a:off x="6133795" y="2190445"/>
            <a:ext cx="5448604"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8_c4_detection_side_models_fuse_camera" title="cue_s08_c4_detection_side_models_fuse_camera" descr="cue_s08_c4_detection_side_models_fuse_camera On the detection side, models that fuse camera and LiDAR outperform single-sensor models, and voxel-based backbones outperform pillar-based ones, with TransFusion using a voxel backbone giving the best detection score."/>
          <p:cNvSpPr/>
          <p:nvPr/>
        </p:nvSpPr>
        <p:spPr>
          <a:xfrm>
            <a:off x="6133795" y="3695776"/>
            <a:ext cx="5448604"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rgbClr val="4F8CFF"/>
            </a:solidFill>
            <a:ln>
              <a:noFill/>
            </a:ln>
          </p:spPr>
        </p:sp>
      </p:grpSp>
      <p:sp>
        <p:nvSpPr>
          <p:cNvPr id="5" name="TextBox 5"/>
          <p:cNvSpPr txBox="1"/>
          <p:nvPr/>
        </p:nvSpPr>
        <p:spPr>
          <a:xfrm>
            <a:off x="604647" y="485299"/>
            <a:ext cx="1509059" cy="190690"/>
          </a:xfrm>
          <a:prstGeom prst="rect">
            <a:avLst/>
          </a:prstGeom>
          <a:noFill/>
          <a:ln>
            <a:noFill/>
          </a:ln>
        </p:spPr>
        <p:txBody>
          <a:bodyPr wrap="none" lIns="0" tIns="0" rIns="0" bIns="0" anchor="t" anchorCtr="0">
            <a:spAutoFit/>
          </a:bodyPr>
          <a:lstStyle/>
          <a:p>
            <a:pPr algn="l"/>
            <a:r>
              <a:rPr lang="en-US" sz="980" b="1" spc="225" dirty="0">
                <a:solidFill>
                  <a:srgbClr val="4F8CFF"/>
                </a:solidFill>
                <a:latin typeface="+mn-lt"/>
                <a:ea typeface="+mn-ea"/>
                <a:cs typeface="+mn-cs"/>
              </a:rPr>
              <a:t>BY THE NUMBERS</a:t>
            </a:r>
          </a:p>
        </p:txBody>
      </p:sp>
      <p:sp>
        <p:nvSpPr>
          <p:cNvPr id="6" name="TextBox 6"/>
          <p:cNvSpPr txBox="1"/>
          <p:nvPr/>
        </p:nvSpPr>
        <p:spPr>
          <a:xfrm>
            <a:off x="596646" y="715328"/>
            <a:ext cx="5428503" cy="498729"/>
          </a:xfrm>
          <a:prstGeom prst="rect">
            <a:avLst/>
          </a:prstGeom>
          <a:noFill/>
          <a:ln>
            <a:noFill/>
          </a:ln>
        </p:spPr>
        <p:txBody>
          <a:bodyPr wrap="none" lIns="0" tIns="0" rIns="0" bIns="0" anchor="t" anchorCtr="0">
            <a:spAutoFit/>
          </a:bodyPr>
          <a:lstStyle/>
          <a:p>
            <a:pPr algn="l"/>
            <a:r>
              <a:rPr lang="en-US" sz="2550" b="1" dirty="0">
                <a:solidFill>
                  <a:srgbClr val="EAF1FF"/>
                </a:solidFill>
                <a:latin typeface="+mj-lt"/>
                <a:ea typeface="+mj-ea"/>
                <a:cs typeface="+mj-cs"/>
              </a:rPr>
              <a:t>Numbers Worth Remembering</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08 / 10</a:t>
            </a:r>
          </a:p>
        </p:txBody>
      </p:sp>
      <p:grpSp>
        <p:nvGrpSpPr>
          <p:cNvPr id="11" name="Group 11"/>
          <p:cNvGrpSpPr/>
          <p:nvPr/>
        </p:nvGrpSpPr>
        <p:grpSpPr>
          <a:xfrm>
            <a:off x="609600" y="1428750"/>
            <a:ext cx="10972800" cy="514350"/>
            <a:chOff x="609600" y="1428750"/>
            <a:chExt cx="10972800" cy="514350"/>
          </a:xfrm>
        </p:grpSpPr>
        <p:sp>
          <p:nvSpPr>
            <p:cNvPr id="9" name="Rectangle 9"/>
            <p:cNvSpPr/>
            <p:nvPr/>
          </p:nvSpPr>
          <p:spPr>
            <a:xfrm>
              <a:off x="609600" y="1428750"/>
              <a:ext cx="10972800" cy="514350"/>
            </a:xfrm>
            <a:prstGeom prst="roundRect">
              <a:avLst>
                <a:gd name="adj" fmla="val 25926"/>
              </a:avLst>
            </a:prstGeom>
            <a:solidFill>
              <a:srgbClr val="2A4A8A"/>
            </a:solidFill>
            <a:ln w="9525">
              <a:solidFill>
                <a:srgbClr val="4F8CFF"/>
              </a:solidFill>
            </a:ln>
          </p:spPr>
        </p:sp>
        <p:sp>
          <p:nvSpPr>
            <p:cNvPr id="10" name="TextBox 10"/>
            <p:cNvSpPr txBox="1"/>
            <p:nvPr/>
          </p:nvSpPr>
          <p:spPr>
            <a:xfrm>
              <a:off x="850392" y="1616392"/>
              <a:ext cx="7084951" cy="264033"/>
            </a:xfrm>
            <a:prstGeom prst="rect">
              <a:avLst/>
            </a:prstGeom>
            <a:noFill/>
            <a:ln>
              <a:noFill/>
            </a:ln>
          </p:spPr>
          <p:txBody>
            <a:bodyPr wrap="none" lIns="0" tIns="0" rIns="0" bIns="0" anchor="t" anchorCtr="0">
              <a:spAutoFit/>
            </a:bodyPr>
            <a:lstStyle/>
            <a:p>
              <a:pPr algn="l"/>
              <a:r>
                <a:rPr lang="en-US" sz="1350" b="1" dirty="0">
                  <a:solidFill>
                    <a:srgbClr val="EAF1FF"/>
                  </a:solidFill>
                  <a:latin typeface="+mn-lt"/>
                  <a:ea typeface="+mn-ea"/>
                  <a:cs typeface="+mn-cs"/>
                </a:rPr>
                <a:t>A few numbers worth remembering from the SiT dataset and its benchmark.</a:t>
              </a:r>
            </a:p>
          </p:txBody>
        </p:sp>
      </p:grpSp>
      <p:grpSp>
        <p:nvGrpSpPr>
          <p:cNvPr id="19" name="Group 19"/>
          <p:cNvGrpSpPr/>
          <p:nvPr/>
        </p:nvGrpSpPr>
        <p:grpSpPr>
          <a:xfrm>
            <a:off x="609600" y="2228850"/>
            <a:ext cx="3467100" cy="2762250"/>
            <a:chOff x="609600" y="2228850"/>
            <a:chExt cx="3467100" cy="2762250"/>
          </a:xfrm>
        </p:grpSpPr>
        <p:sp>
          <p:nvSpPr>
            <p:cNvPr id="12" name="Rectangle 12"/>
            <p:cNvSpPr/>
            <p:nvPr/>
          </p:nvSpPr>
          <p:spPr>
            <a:xfrm>
              <a:off x="609600" y="2228850"/>
              <a:ext cx="3467100" cy="2762250"/>
            </a:xfrm>
            <a:prstGeom prst="roundRect">
              <a:avLst>
                <a:gd name="adj" fmla="val 4828"/>
              </a:avLst>
            </a:prstGeom>
            <a:solidFill>
              <a:schemeClr val="accent5"/>
            </a:solidFill>
            <a:ln w="9525">
              <a:solidFill>
                <a:schemeClr val="accent4"/>
              </a:solidFill>
            </a:ln>
          </p:spPr>
        </p:sp>
        <p:sp>
          <p:nvSpPr>
            <p:cNvPr id="13" name="Rectangle 13"/>
            <p:cNvSpPr/>
            <p:nvPr/>
          </p:nvSpPr>
          <p:spPr>
            <a:xfrm>
              <a:off x="609600" y="2228850"/>
              <a:ext cx="3467100" cy="57150"/>
            </a:xfrm>
            <a:prstGeom prst="roundRect">
              <a:avLst>
                <a:gd name="adj" fmla="val 50000"/>
              </a:avLst>
            </a:prstGeom>
            <a:solidFill>
              <a:srgbClr val="4F8CFF"/>
            </a:solidFill>
            <a:ln>
              <a:noFill/>
            </a:ln>
          </p:spPr>
        </p:sp>
        <p:sp>
          <p:nvSpPr>
            <p:cNvPr id="14" name="TextBox 14"/>
            <p:cNvSpPr txBox="1"/>
            <p:nvPr/>
          </p:nvSpPr>
          <p:spPr>
            <a:xfrm>
              <a:off x="1168161" y="3110865"/>
              <a:ext cx="2349978" cy="645414"/>
            </a:xfrm>
            <a:prstGeom prst="rect">
              <a:avLst/>
            </a:prstGeom>
            <a:noFill/>
            <a:ln>
              <a:noFill/>
            </a:ln>
          </p:spPr>
          <p:txBody>
            <a:bodyPr wrap="none" lIns="0" tIns="0" rIns="0" bIns="0" anchor="t" anchorCtr="0">
              <a:spAutoFit/>
            </a:bodyPr>
            <a:lstStyle/>
            <a:p>
              <a:pPr algn="ctr"/>
              <a:r>
                <a:rPr lang="en-US" sz="3300" b="1" dirty="0">
                  <a:solidFill>
                    <a:srgbClr val="4F8CFF"/>
                  </a:solidFill>
                  <a:latin typeface="+mj-lt"/>
                  <a:ea typeface="+mj-ea"/>
                  <a:cs typeface="+mj-cs"/>
                </a:rPr>
                <a:t>60 scenes</a:t>
              </a:r>
            </a:p>
          </p:txBody>
        </p:sp>
        <p:sp>
          <p:nvSpPr>
            <p:cNvPr id="15" name="Line 15"/>
            <p:cNvSpPr/>
            <p:nvPr/>
          </p:nvSpPr>
          <p:spPr>
            <a:xfrm>
              <a:off x="1085850" y="3752850"/>
              <a:ext cx="2514600" cy="9525"/>
            </a:xfrm>
            <a:custGeom>
              <a:avLst/>
              <a:gdLst/>
              <a:ahLst/>
              <a:cxnLst/>
              <a:rect l="l" t="t" r="r" b="b"/>
              <a:pathLst>
                <a:path w="2514600" h="9525">
                  <a:moveTo>
                    <a:pt x="0" y="0"/>
                  </a:moveTo>
                  <a:lnTo>
                    <a:pt x="2514600" y="0"/>
                  </a:lnTo>
                </a:path>
              </a:pathLst>
            </a:custGeom>
            <a:noFill/>
            <a:ln w="9525" cap="rnd">
              <a:solidFill>
                <a:schemeClr val="accent4"/>
              </a:solidFill>
            </a:ln>
          </p:spPr>
        </p:sp>
        <p:sp>
          <p:nvSpPr>
            <p:cNvPr id="16" name="TextBox 16"/>
            <p:cNvSpPr txBox="1"/>
            <p:nvPr/>
          </p:nvSpPr>
          <p:spPr>
            <a:xfrm>
              <a:off x="889635" y="3974306"/>
              <a:ext cx="2699328"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about 60K images and 12K point cloud</a:t>
              </a:r>
            </a:p>
          </p:txBody>
        </p:sp>
        <p:sp>
          <p:nvSpPr>
            <p:cNvPr id="17" name="TextBox 17"/>
            <p:cNvSpPr txBox="1"/>
            <p:nvPr/>
          </p:nvSpPr>
          <p:spPr>
            <a:xfrm>
              <a:off x="889635" y="4193381"/>
              <a:ext cx="266220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frames, with ≈470K 2D and ≈320K 3D</a:t>
              </a:r>
            </a:p>
          </p:txBody>
        </p:sp>
        <p:sp>
          <p:nvSpPr>
            <p:cNvPr id="18" name="TextBox 18"/>
            <p:cNvSpPr txBox="1"/>
            <p:nvPr/>
          </p:nvSpPr>
          <p:spPr>
            <a:xfrm>
              <a:off x="889635" y="4412456"/>
              <a:ext cx="96884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annotations.</a:t>
              </a:r>
            </a:p>
          </p:txBody>
        </p:sp>
      </p:grpSp>
      <p:grpSp>
        <p:nvGrpSpPr>
          <p:cNvPr id="27" name="Group 27"/>
          <p:cNvGrpSpPr/>
          <p:nvPr/>
        </p:nvGrpSpPr>
        <p:grpSpPr>
          <a:xfrm>
            <a:off x="4362450" y="2228850"/>
            <a:ext cx="3467100" cy="2762250"/>
            <a:chOff x="4362450" y="2228850"/>
            <a:chExt cx="3467100" cy="2762250"/>
          </a:xfrm>
        </p:grpSpPr>
        <p:sp>
          <p:nvSpPr>
            <p:cNvPr id="20" name="Rectangle 20"/>
            <p:cNvSpPr/>
            <p:nvPr/>
          </p:nvSpPr>
          <p:spPr>
            <a:xfrm>
              <a:off x="4362450" y="2228850"/>
              <a:ext cx="3467100" cy="2762250"/>
            </a:xfrm>
            <a:prstGeom prst="roundRect">
              <a:avLst>
                <a:gd name="adj" fmla="val 4828"/>
              </a:avLst>
            </a:prstGeom>
            <a:solidFill>
              <a:schemeClr val="accent5"/>
            </a:solidFill>
            <a:ln w="9525">
              <a:solidFill>
                <a:schemeClr val="accent4"/>
              </a:solidFill>
            </a:ln>
          </p:spPr>
        </p:sp>
        <p:sp>
          <p:nvSpPr>
            <p:cNvPr id="21" name="Rectangle 21"/>
            <p:cNvSpPr/>
            <p:nvPr/>
          </p:nvSpPr>
          <p:spPr>
            <a:xfrm>
              <a:off x="4362450" y="2228850"/>
              <a:ext cx="3467100" cy="57150"/>
            </a:xfrm>
            <a:prstGeom prst="roundRect">
              <a:avLst>
                <a:gd name="adj" fmla="val 50000"/>
              </a:avLst>
            </a:prstGeom>
            <a:solidFill>
              <a:srgbClr val="A78BFA"/>
            </a:solidFill>
            <a:ln>
              <a:noFill/>
            </a:ln>
          </p:spPr>
        </p:sp>
        <p:sp>
          <p:nvSpPr>
            <p:cNvPr id="22" name="TextBox 22"/>
            <p:cNvSpPr txBox="1"/>
            <p:nvPr/>
          </p:nvSpPr>
          <p:spPr>
            <a:xfrm>
              <a:off x="4711545" y="3110865"/>
              <a:ext cx="2768910" cy="645414"/>
            </a:xfrm>
            <a:prstGeom prst="rect">
              <a:avLst/>
            </a:prstGeom>
            <a:noFill/>
            <a:ln>
              <a:noFill/>
            </a:ln>
          </p:spPr>
          <p:txBody>
            <a:bodyPr wrap="none" lIns="0" tIns="0" rIns="0" bIns="0" anchor="t" anchorCtr="0">
              <a:spAutoFit/>
            </a:bodyPr>
            <a:lstStyle/>
            <a:p>
              <a:pPr algn="ctr"/>
              <a:r>
                <a:rPr lang="en-US" sz="3300" b="1" dirty="0">
                  <a:solidFill>
                    <a:srgbClr val="A78BFA"/>
                  </a:solidFill>
                  <a:latin typeface="+mj-lt"/>
                  <a:ea typeface="+mj-ea"/>
                  <a:cs typeface="+mj-cs"/>
                </a:rPr>
                <a:t>0.52 / 0.93</a:t>
              </a:r>
            </a:p>
          </p:txBody>
        </p:sp>
        <p:sp>
          <p:nvSpPr>
            <p:cNvPr id="23" name="Line 23"/>
            <p:cNvSpPr/>
            <p:nvPr/>
          </p:nvSpPr>
          <p:spPr>
            <a:xfrm>
              <a:off x="4838700" y="3752850"/>
              <a:ext cx="2514600" cy="9525"/>
            </a:xfrm>
            <a:custGeom>
              <a:avLst/>
              <a:gdLst/>
              <a:ahLst/>
              <a:cxnLst/>
              <a:rect l="l" t="t" r="r" b="b"/>
              <a:pathLst>
                <a:path w="2514600" h="9525">
                  <a:moveTo>
                    <a:pt x="0" y="0"/>
                  </a:moveTo>
                  <a:lnTo>
                    <a:pt x="2514600" y="0"/>
                  </a:lnTo>
                </a:path>
              </a:pathLst>
            </a:custGeom>
            <a:noFill/>
            <a:ln w="9525" cap="rnd">
              <a:solidFill>
                <a:schemeClr val="accent4"/>
              </a:solidFill>
            </a:ln>
          </p:spPr>
        </p:sp>
        <p:sp>
          <p:nvSpPr>
            <p:cNvPr id="24" name="TextBox 24"/>
            <p:cNvSpPr txBox="1"/>
            <p:nvPr/>
          </p:nvSpPr>
          <p:spPr>
            <a:xfrm>
              <a:off x="4642485" y="3974306"/>
              <a:ext cx="264244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best trajectory prediction with the</a:t>
              </a:r>
            </a:p>
          </p:txBody>
        </p:sp>
        <p:sp>
          <p:nvSpPr>
            <p:cNvPr id="25" name="TextBox 25"/>
            <p:cNvSpPr txBox="1"/>
            <p:nvPr/>
          </p:nvSpPr>
          <p:spPr>
            <a:xfrm>
              <a:off x="4642485" y="4193381"/>
              <a:ext cx="2326784"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semantic map: ADE₂₀ and FDE₂₀</a:t>
              </a:r>
            </a:p>
          </p:txBody>
        </p:sp>
        <p:sp>
          <p:nvSpPr>
            <p:cNvPr id="26" name="TextBox 26"/>
            <p:cNvSpPr txBox="1"/>
            <p:nvPr/>
          </p:nvSpPr>
          <p:spPr>
            <a:xfrm>
              <a:off x="4642485" y="4412456"/>
              <a:ext cx="91949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(NSP-SFM).</a:t>
              </a:r>
            </a:p>
          </p:txBody>
        </p:sp>
      </p:grpSp>
      <p:grpSp>
        <p:nvGrpSpPr>
          <p:cNvPr id="35" name="Group 35"/>
          <p:cNvGrpSpPr/>
          <p:nvPr/>
        </p:nvGrpSpPr>
        <p:grpSpPr>
          <a:xfrm>
            <a:off x="8115300" y="2228850"/>
            <a:ext cx="3467100" cy="2762250"/>
            <a:chOff x="8115300" y="2228850"/>
            <a:chExt cx="3467100" cy="2762250"/>
          </a:xfrm>
        </p:grpSpPr>
        <p:sp>
          <p:nvSpPr>
            <p:cNvPr id="28" name="Rectangle 28"/>
            <p:cNvSpPr/>
            <p:nvPr/>
          </p:nvSpPr>
          <p:spPr>
            <a:xfrm>
              <a:off x="8115300" y="2228850"/>
              <a:ext cx="3467100" cy="2762250"/>
            </a:xfrm>
            <a:prstGeom prst="roundRect">
              <a:avLst>
                <a:gd name="adj" fmla="val 4828"/>
              </a:avLst>
            </a:prstGeom>
            <a:solidFill>
              <a:schemeClr val="accent5"/>
            </a:solidFill>
            <a:ln w="9525">
              <a:solidFill>
                <a:schemeClr val="accent4"/>
              </a:solidFill>
            </a:ln>
          </p:spPr>
        </p:sp>
        <p:sp>
          <p:nvSpPr>
            <p:cNvPr id="29" name="Rectangle 29"/>
            <p:cNvSpPr/>
            <p:nvPr/>
          </p:nvSpPr>
          <p:spPr>
            <a:xfrm>
              <a:off x="8115300" y="2228850"/>
              <a:ext cx="3467100" cy="57150"/>
            </a:xfrm>
            <a:prstGeom prst="roundRect">
              <a:avLst>
                <a:gd name="adj" fmla="val 50000"/>
              </a:avLst>
            </a:prstGeom>
            <a:solidFill>
              <a:srgbClr val="34D399"/>
            </a:solidFill>
            <a:ln>
              <a:noFill/>
            </a:ln>
          </p:spPr>
        </p:sp>
        <p:sp>
          <p:nvSpPr>
            <p:cNvPr id="30" name="TextBox 30"/>
            <p:cNvSpPr txBox="1"/>
            <p:nvPr/>
          </p:nvSpPr>
          <p:spPr>
            <a:xfrm>
              <a:off x="8464395" y="3110865"/>
              <a:ext cx="2768910" cy="645414"/>
            </a:xfrm>
            <a:prstGeom prst="rect">
              <a:avLst/>
            </a:prstGeom>
            <a:noFill/>
            <a:ln>
              <a:noFill/>
            </a:ln>
          </p:spPr>
          <p:txBody>
            <a:bodyPr wrap="none" lIns="0" tIns="0" rIns="0" bIns="0" anchor="t" anchorCtr="0">
              <a:spAutoFit/>
            </a:bodyPr>
            <a:lstStyle/>
            <a:p>
              <a:pPr algn="ctr"/>
              <a:r>
                <a:rPr lang="en-US" sz="3300" b="1" dirty="0">
                  <a:solidFill>
                    <a:srgbClr val="34D399"/>
                  </a:solidFill>
                  <a:latin typeface="+mj-lt"/>
                  <a:ea typeface="+mj-ea"/>
                  <a:cs typeface="+mj-cs"/>
                </a:rPr>
                <a:t>0.53 · 0.61</a:t>
              </a:r>
            </a:p>
          </p:txBody>
        </p:sp>
        <p:sp>
          <p:nvSpPr>
            <p:cNvPr id="31" name="Line 31"/>
            <p:cNvSpPr/>
            <p:nvPr/>
          </p:nvSpPr>
          <p:spPr>
            <a:xfrm>
              <a:off x="8591550" y="3752850"/>
              <a:ext cx="2514600" cy="9525"/>
            </a:xfrm>
            <a:custGeom>
              <a:avLst/>
              <a:gdLst/>
              <a:ahLst/>
              <a:cxnLst/>
              <a:rect l="l" t="t" r="r" b="b"/>
              <a:pathLst>
                <a:path w="2514600" h="9525">
                  <a:moveTo>
                    <a:pt x="0" y="0"/>
                  </a:moveTo>
                  <a:lnTo>
                    <a:pt x="2514600" y="0"/>
                  </a:lnTo>
                </a:path>
              </a:pathLst>
            </a:custGeom>
            <a:noFill/>
            <a:ln w="9525" cap="rnd">
              <a:solidFill>
                <a:schemeClr val="accent4"/>
              </a:solidFill>
            </a:ln>
          </p:spPr>
        </p:sp>
        <p:sp>
          <p:nvSpPr>
            <p:cNvPr id="32" name="TextBox 32"/>
            <p:cNvSpPr txBox="1"/>
            <p:nvPr/>
          </p:nvSpPr>
          <p:spPr>
            <a:xfrm>
              <a:off x="8395335" y="3974306"/>
              <a:ext cx="286283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best camera+LiDAR detection mAP, and</a:t>
              </a:r>
            </a:p>
          </p:txBody>
        </p:sp>
        <p:sp>
          <p:nvSpPr>
            <p:cNvPr id="33" name="TextBox 33"/>
            <p:cNvSpPr txBox="1"/>
            <p:nvPr/>
          </p:nvSpPr>
          <p:spPr>
            <a:xfrm>
              <a:off x="8395335" y="4193381"/>
              <a:ext cx="2873454"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CenterPoint tracking sAMOTA — leading</a:t>
              </a:r>
            </a:p>
          </p:txBody>
        </p:sp>
        <p:sp>
          <p:nvSpPr>
            <p:cNvPr id="34" name="TextBox 34"/>
            <p:cNvSpPr txBox="1"/>
            <p:nvPr/>
          </p:nvSpPr>
          <p:spPr>
            <a:xfrm>
              <a:off x="8395335" y="4412456"/>
              <a:ext cx="1164854"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the benchmark.</a:t>
              </a:r>
            </a:p>
          </p:txBody>
        </p:sp>
      </p:grpSp>
      <p:sp>
        <p:nvSpPr>
          <p:cNvPr id="36" name="cue_s09_c1_numbers_worth_remembering" title="cue_s09_c1_numbers_worth_remembering" descr="cue_s09_c1_numbers_worth_remembering Here are the numbers worth remembering."/>
          <p:cNvSpPr/>
          <p:nvPr/>
        </p:nvSpPr>
        <p:spPr>
          <a:xfrm>
            <a:off x="609600" y="1428521"/>
            <a:ext cx="10972800" cy="5143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9_c2_sit_sixty_scenes_about_sixty" title="cue_s09_c2_sit_sixty_scenes_about_sixty" descr="cue_s09_c2_sit_sixty_scenes_about_sixty SiT has sixty scenes, about sixty thousand images and twelve thousand point cloud frames, with roughly four hundred and seventy thousand two-dimensional and three hundred and twenty thousand three-dimensional annotations."/>
          <p:cNvSpPr/>
          <p:nvPr/>
        </p:nvSpPr>
        <p:spPr>
          <a:xfrm>
            <a:off x="609600" y="2228850"/>
            <a:ext cx="3467404" cy="27624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9_c3_trajectory_benchmark_best_semantic_m" title="cue_s09_c3_trajectory_benchmark_best_semantic_m" descr="cue_s09_c3_trajectory_benchmark_best_semantic_m On the trajectory benchmark, the best model with the semantic map reaches an ADE-twenty of about 0.52 and an FDE-twenty of about 0.93."/>
          <p:cNvSpPr/>
          <p:nvPr/>
        </p:nvSpPr>
        <p:spPr>
          <a:xfrm>
            <a:off x="4362297" y="2228850"/>
            <a:ext cx="3467404" cy="27624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9_c4_detection_best_camera_plus_lidar_fus" title="cue_s09_c4_detection_best_camera_plus_lidar_fus" descr="cue_s09_c4_detection_best_camera_plus_lidar_fus On detection, the best camera-plus-LiDAR fusion model reaches a mean average precision of about 0.53. And on tracking, the CenterPoint tracker leads with an sAMOTA around 0.61."/>
          <p:cNvSpPr/>
          <p:nvPr/>
        </p:nvSpPr>
        <p:spPr>
          <a:xfrm>
            <a:off x="8114995" y="2228850"/>
            <a:ext cx="3467404" cy="27624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rgbClr val="4F8CFF"/>
            </a:solidFill>
            <a:ln>
              <a:noFill/>
            </a:ln>
          </p:spPr>
        </p:sp>
      </p:grpSp>
      <p:sp>
        <p:nvSpPr>
          <p:cNvPr id="5" name="TextBox 5"/>
          <p:cNvSpPr txBox="1"/>
          <p:nvPr/>
        </p:nvSpPr>
        <p:spPr>
          <a:xfrm>
            <a:off x="604647" y="485299"/>
            <a:ext cx="907213" cy="190690"/>
          </a:xfrm>
          <a:prstGeom prst="rect">
            <a:avLst/>
          </a:prstGeom>
          <a:noFill/>
          <a:ln>
            <a:noFill/>
          </a:ln>
        </p:spPr>
        <p:txBody>
          <a:bodyPr wrap="none" lIns="0" tIns="0" rIns="0" bIns="0" anchor="t" anchorCtr="0">
            <a:spAutoFit/>
          </a:bodyPr>
          <a:lstStyle/>
          <a:p>
            <a:pPr algn="l"/>
            <a:r>
              <a:rPr lang="en-US" sz="980" b="1" spc="225" dirty="0">
                <a:solidFill>
                  <a:srgbClr val="4F8CFF"/>
                </a:solidFill>
                <a:latin typeface="+mn-lt"/>
                <a:ea typeface="+mn-ea"/>
                <a:cs typeface="+mn-cs"/>
              </a:rPr>
              <a:t>TAKEAWAY</a:t>
            </a:r>
          </a:p>
        </p:txBody>
      </p:sp>
      <p:sp>
        <p:nvSpPr>
          <p:cNvPr id="6" name="TextBox 6"/>
          <p:cNvSpPr txBox="1"/>
          <p:nvPr/>
        </p:nvSpPr>
        <p:spPr>
          <a:xfrm>
            <a:off x="596646" y="715328"/>
            <a:ext cx="7410881" cy="498729"/>
          </a:xfrm>
          <a:prstGeom prst="rect">
            <a:avLst/>
          </a:prstGeom>
          <a:noFill/>
          <a:ln>
            <a:noFill/>
          </a:ln>
        </p:spPr>
        <p:txBody>
          <a:bodyPr wrap="none" lIns="0" tIns="0" rIns="0" bIns="0" anchor="t" anchorCtr="0">
            <a:spAutoFit/>
          </a:bodyPr>
          <a:lstStyle/>
          <a:p>
            <a:pPr algn="l"/>
            <a:r>
              <a:rPr lang="en-US" sz="2550" b="1" dirty="0">
                <a:solidFill>
                  <a:srgbClr val="EAF1FF"/>
                </a:solidFill>
                <a:latin typeface="+mj-lt"/>
                <a:ea typeface="+mj-ea"/>
                <a:cs typeface="+mj-cs"/>
              </a:rPr>
              <a:t>Data From the Crowd, Not the Rooftop</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09 / 10</a:t>
            </a:r>
          </a:p>
        </p:txBody>
      </p:sp>
      <p:grpSp>
        <p:nvGrpSpPr>
          <p:cNvPr id="14" name="Group 14"/>
          <p:cNvGrpSpPr/>
          <p:nvPr/>
        </p:nvGrpSpPr>
        <p:grpSpPr>
          <a:xfrm>
            <a:off x="609600" y="1428750"/>
            <a:ext cx="7810500" cy="1066800"/>
            <a:chOff x="609600" y="1428750"/>
            <a:chExt cx="7810500" cy="1066800"/>
          </a:xfrm>
        </p:grpSpPr>
        <p:sp>
          <p:nvSpPr>
            <p:cNvPr id="9" name="Rectangle 9"/>
            <p:cNvSpPr/>
            <p:nvPr/>
          </p:nvSpPr>
          <p:spPr>
            <a:xfrm>
              <a:off x="609600" y="1428750"/>
              <a:ext cx="7810500" cy="1066800"/>
            </a:xfrm>
            <a:prstGeom prst="roundRect">
              <a:avLst>
                <a:gd name="adj" fmla="val 12500"/>
              </a:avLst>
            </a:prstGeom>
            <a:solidFill>
              <a:schemeClr val="accent5"/>
            </a:solidFill>
            <a:ln w="9525">
              <a:solidFill>
                <a:schemeClr val="accent4"/>
              </a:solidFill>
            </a:ln>
          </p:spPr>
        </p:sp>
        <p:sp>
          <p:nvSpPr>
            <p:cNvPr id="10" name="Rectangle 10"/>
            <p:cNvSpPr/>
            <p:nvPr/>
          </p:nvSpPr>
          <p:spPr>
            <a:xfrm>
              <a:off x="609600" y="1581150"/>
              <a:ext cx="47625" cy="762000"/>
            </a:xfrm>
            <a:prstGeom prst="roundRect">
              <a:avLst>
                <a:gd name="adj" fmla="val 40000"/>
              </a:avLst>
            </a:prstGeom>
            <a:solidFill>
              <a:srgbClr val="4F8CFF"/>
            </a:solidFill>
            <a:ln>
              <a:noFill/>
            </a:ln>
          </p:spPr>
        </p:sp>
        <p:sp>
          <p:nvSpPr>
            <p:cNvPr id="11" name="TextBox 11"/>
            <p:cNvSpPr txBox="1"/>
            <p:nvPr/>
          </p:nvSpPr>
          <p:spPr>
            <a:xfrm>
              <a:off x="869061" y="1655921"/>
              <a:ext cx="2228958" cy="278702"/>
            </a:xfrm>
            <a:prstGeom prst="rect">
              <a:avLst/>
            </a:prstGeom>
            <a:noFill/>
            <a:ln>
              <a:noFill/>
            </a:ln>
          </p:spPr>
          <p:txBody>
            <a:bodyPr wrap="none" lIns="0" tIns="0" rIns="0" bIns="0" anchor="t" anchorCtr="0">
              <a:spAutoFit/>
            </a:bodyPr>
            <a:lstStyle/>
            <a:p>
              <a:pPr algn="l"/>
              <a:r>
                <a:rPr lang="en-US" sz="1420" b="1" dirty="0">
                  <a:solidFill>
                    <a:srgbClr val="4F8CFF"/>
                  </a:solidFill>
                  <a:latin typeface="+mn-lt"/>
                  <a:ea typeface="+mn-ea"/>
                  <a:cs typeface="+mn-cs"/>
                </a:rPr>
                <a:t>The takeaway is simple</a:t>
              </a:r>
            </a:p>
          </p:txBody>
        </p:sp>
        <p:sp>
          <p:nvSpPr>
            <p:cNvPr id="12" name="TextBox 12"/>
            <p:cNvSpPr txBox="1"/>
            <p:nvPr/>
          </p:nvSpPr>
          <p:spPr>
            <a:xfrm>
              <a:off x="870585" y="1974056"/>
              <a:ext cx="541433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Social navigation needs data that shows the robot up close in the crowd —</a:t>
              </a:r>
            </a:p>
          </p:txBody>
        </p:sp>
        <p:sp>
          <p:nvSpPr>
            <p:cNvPr id="13" name="TextBox 13"/>
            <p:cNvSpPr txBox="1"/>
            <p:nvPr/>
          </p:nvSpPr>
          <p:spPr>
            <a:xfrm>
              <a:off x="870585" y="2183606"/>
              <a:ext cx="248413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not a camera bolted to a building.</a:t>
              </a:r>
            </a:p>
          </p:txBody>
        </p:sp>
      </p:grpSp>
      <p:grpSp>
        <p:nvGrpSpPr>
          <p:cNvPr id="21" name="Group 21"/>
          <p:cNvGrpSpPr/>
          <p:nvPr/>
        </p:nvGrpSpPr>
        <p:grpSpPr>
          <a:xfrm>
            <a:off x="609600" y="2628900"/>
            <a:ext cx="7810500" cy="1184434"/>
            <a:chOff x="609600" y="2628900"/>
            <a:chExt cx="7810500" cy="1184434"/>
          </a:xfrm>
        </p:grpSpPr>
        <p:sp>
          <p:nvSpPr>
            <p:cNvPr id="15" name="Rectangle 15"/>
            <p:cNvSpPr/>
            <p:nvPr/>
          </p:nvSpPr>
          <p:spPr>
            <a:xfrm>
              <a:off x="609600" y="2628900"/>
              <a:ext cx="7810500" cy="1066800"/>
            </a:xfrm>
            <a:prstGeom prst="roundRect">
              <a:avLst>
                <a:gd name="adj" fmla="val 12500"/>
              </a:avLst>
            </a:prstGeom>
            <a:solidFill>
              <a:schemeClr val="accent5"/>
            </a:solidFill>
            <a:ln w="9525">
              <a:solidFill>
                <a:schemeClr val="accent4"/>
              </a:solidFill>
            </a:ln>
          </p:spPr>
        </p:sp>
        <p:sp>
          <p:nvSpPr>
            <p:cNvPr id="16" name="Rectangle 16"/>
            <p:cNvSpPr/>
            <p:nvPr/>
          </p:nvSpPr>
          <p:spPr>
            <a:xfrm>
              <a:off x="609600" y="2781300"/>
              <a:ext cx="47625" cy="762000"/>
            </a:xfrm>
            <a:prstGeom prst="roundRect">
              <a:avLst>
                <a:gd name="adj" fmla="val 40000"/>
              </a:avLst>
            </a:prstGeom>
            <a:solidFill>
              <a:srgbClr val="34D399"/>
            </a:solidFill>
            <a:ln>
              <a:noFill/>
            </a:ln>
          </p:spPr>
        </p:sp>
        <p:sp>
          <p:nvSpPr>
            <p:cNvPr id="17" name="TextBox 17"/>
            <p:cNvSpPr txBox="1"/>
            <p:nvPr/>
          </p:nvSpPr>
          <p:spPr>
            <a:xfrm>
              <a:off x="869061" y="2856071"/>
              <a:ext cx="2550688" cy="278702"/>
            </a:xfrm>
            <a:prstGeom prst="rect">
              <a:avLst/>
            </a:prstGeom>
            <a:noFill/>
            <a:ln>
              <a:noFill/>
            </a:ln>
          </p:spPr>
          <p:txBody>
            <a:bodyPr wrap="none" lIns="0" tIns="0" rIns="0" bIns="0" anchor="t" anchorCtr="0">
              <a:spAutoFit/>
            </a:bodyPr>
            <a:lstStyle/>
            <a:p>
              <a:pPr algn="l"/>
              <a:r>
                <a:rPr lang="en-US" sz="1420" b="1" dirty="0">
                  <a:solidFill>
                    <a:srgbClr val="34D399"/>
                  </a:solidFill>
                  <a:latin typeface="+mn-lt"/>
                  <a:ea typeface="+mn-ea"/>
                  <a:cs typeface="+mn-cs"/>
                </a:rPr>
                <a:t>What such data must have</a:t>
              </a:r>
            </a:p>
          </p:txBody>
        </p:sp>
        <p:sp>
          <p:nvSpPr>
            <p:cNvPr id="18" name="TextBox 18"/>
            <p:cNvSpPr txBox="1"/>
            <p:nvPr/>
          </p:nvSpPr>
          <p:spPr>
            <a:xfrm>
              <a:off x="870585" y="3174206"/>
              <a:ext cx="524086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To build robots that move safely and gracefully among people, you need</a:t>
              </a:r>
            </a:p>
          </p:txBody>
        </p:sp>
        <p:sp>
          <p:nvSpPr>
            <p:cNvPr id="19" name="TextBox 19"/>
            <p:cNvSpPr txBox="1"/>
            <p:nvPr/>
          </p:nvSpPr>
          <p:spPr>
            <a:xfrm>
              <a:off x="870585" y="3383756"/>
              <a:ext cx="527345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close-crowd trajectories, sensors aligned in time, and the surrounding</a:t>
              </a:r>
            </a:p>
          </p:txBody>
        </p:sp>
        <p:sp>
          <p:nvSpPr>
            <p:cNvPr id="20" name="TextBox 20"/>
            <p:cNvSpPr txBox="1"/>
            <p:nvPr/>
          </p:nvSpPr>
          <p:spPr>
            <a:xfrm>
              <a:off x="870585" y="3593306"/>
              <a:ext cx="188103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scene captured as a map.</a:t>
              </a:r>
            </a:p>
          </p:txBody>
        </p:sp>
      </p:grpSp>
      <p:grpSp>
        <p:nvGrpSpPr>
          <p:cNvPr id="28" name="Group 28"/>
          <p:cNvGrpSpPr/>
          <p:nvPr/>
        </p:nvGrpSpPr>
        <p:grpSpPr>
          <a:xfrm>
            <a:off x="609600" y="3829050"/>
            <a:ext cx="7810500" cy="1184434"/>
            <a:chOff x="609600" y="3829050"/>
            <a:chExt cx="7810500" cy="1184434"/>
          </a:xfrm>
        </p:grpSpPr>
        <p:sp>
          <p:nvSpPr>
            <p:cNvPr id="22" name="Rectangle 22"/>
            <p:cNvSpPr/>
            <p:nvPr/>
          </p:nvSpPr>
          <p:spPr>
            <a:xfrm>
              <a:off x="609600" y="3829050"/>
              <a:ext cx="7810500" cy="1066800"/>
            </a:xfrm>
            <a:prstGeom prst="roundRect">
              <a:avLst>
                <a:gd name="adj" fmla="val 12500"/>
              </a:avLst>
            </a:prstGeom>
            <a:solidFill>
              <a:schemeClr val="accent5"/>
            </a:solidFill>
            <a:ln w="9525">
              <a:solidFill>
                <a:schemeClr val="accent4"/>
              </a:solidFill>
            </a:ln>
          </p:spPr>
        </p:sp>
        <p:sp>
          <p:nvSpPr>
            <p:cNvPr id="23" name="Rectangle 23"/>
            <p:cNvSpPr/>
            <p:nvPr/>
          </p:nvSpPr>
          <p:spPr>
            <a:xfrm>
              <a:off x="609600" y="3981450"/>
              <a:ext cx="47625" cy="762000"/>
            </a:xfrm>
            <a:prstGeom prst="roundRect">
              <a:avLst>
                <a:gd name="adj" fmla="val 40000"/>
              </a:avLst>
            </a:prstGeom>
            <a:solidFill>
              <a:srgbClr val="A78BFA"/>
            </a:solidFill>
            <a:ln>
              <a:noFill/>
            </a:ln>
          </p:spPr>
        </p:sp>
        <p:sp>
          <p:nvSpPr>
            <p:cNvPr id="24" name="TextBox 24"/>
            <p:cNvSpPr txBox="1"/>
            <p:nvPr/>
          </p:nvSpPr>
          <p:spPr>
            <a:xfrm>
              <a:off x="869061" y="4056221"/>
              <a:ext cx="2736958" cy="278702"/>
            </a:xfrm>
            <a:prstGeom prst="rect">
              <a:avLst/>
            </a:prstGeom>
            <a:noFill/>
            <a:ln>
              <a:noFill/>
            </a:ln>
          </p:spPr>
          <p:txBody>
            <a:bodyPr wrap="none" lIns="0" tIns="0" rIns="0" bIns="0" anchor="t" anchorCtr="0">
              <a:spAutoFit/>
            </a:bodyPr>
            <a:lstStyle/>
            <a:p>
              <a:pPr algn="l"/>
              <a:r>
                <a:rPr lang="en-US" sz="1420" b="1" dirty="0">
                  <a:solidFill>
                    <a:srgbClr val="A78BFA"/>
                  </a:solidFill>
                  <a:latin typeface="+mn-lt"/>
                  <a:ea typeface="+mn-ea"/>
                  <a:cs typeface="+mn-cs"/>
                </a:rPr>
                <a:t>SiT is the first to deliver it</a:t>
              </a:r>
            </a:p>
          </p:txBody>
        </p:sp>
        <p:sp>
          <p:nvSpPr>
            <p:cNvPr id="25" name="TextBox 25"/>
            <p:cNvSpPr txBox="1"/>
            <p:nvPr/>
          </p:nvSpPr>
          <p:spPr>
            <a:xfrm>
              <a:off x="870585" y="4374356"/>
              <a:ext cx="532887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SiT is the first dataset to combine all three, with a benchmark spanning</a:t>
              </a:r>
            </a:p>
          </p:txBody>
        </p:sp>
        <p:sp>
          <p:nvSpPr>
            <p:cNvPr id="26" name="TextBox 26"/>
            <p:cNvSpPr txBox="1"/>
            <p:nvPr/>
          </p:nvSpPr>
          <p:spPr>
            <a:xfrm>
              <a:off x="870585" y="4583906"/>
              <a:ext cx="546946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detection, tracking, prediction, and end-to-end forecasting — all publicly</a:t>
              </a:r>
            </a:p>
          </p:txBody>
        </p:sp>
        <p:sp>
          <p:nvSpPr>
            <p:cNvPr id="27" name="TextBox 27"/>
            <p:cNvSpPr txBox="1"/>
            <p:nvPr/>
          </p:nvSpPr>
          <p:spPr>
            <a:xfrm>
              <a:off x="870585" y="4793456"/>
              <a:ext cx="72007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released.</a:t>
              </a:r>
            </a:p>
          </p:txBody>
        </p:sp>
      </p:grpSp>
      <p:sp>
        <p:nvSpPr>
          <p:cNvPr id="29" name="Rectangle 29"/>
          <p:cNvSpPr/>
          <p:nvPr/>
        </p:nvSpPr>
        <p:spPr>
          <a:xfrm>
            <a:off x="8648700" y="1428750"/>
            <a:ext cx="2933700" cy="3581400"/>
          </a:xfrm>
          <a:prstGeom prst="roundRect">
            <a:avLst>
              <a:gd name="adj" fmla="val 4545"/>
            </a:avLst>
          </a:prstGeom>
          <a:solidFill>
            <a:schemeClr val="accent6"/>
          </a:solidFill>
          <a:ln w="9525">
            <a:solidFill>
              <a:schemeClr val="accent4"/>
            </a:solidFill>
          </a:ln>
        </p:spPr>
        <p:txBody>
          <a:bodyPr/>
          <a:p/>
        </p:txBody>
      </p:sp>
      <p:sp>
        <p:nvSpPr>
          <p:cNvPr id="30" name="TextBox 30"/>
          <p:cNvSpPr txBox="1"/>
          <p:nvPr/>
        </p:nvSpPr>
        <p:spPr>
          <a:xfrm>
            <a:off x="9797918" y="1591628"/>
            <a:ext cx="635264" cy="498729"/>
          </a:xfrm>
          <a:prstGeom prst="rect">
            <a:avLst/>
          </a:prstGeom>
          <a:noFill/>
          <a:ln>
            <a:noFill/>
          </a:ln>
        </p:spPr>
        <p:txBody>
          <a:bodyPr wrap="none" lIns="0" tIns="0" rIns="0" bIns="0" anchor="t" anchorCtr="0">
            <a:spAutoFit/>
          </a:bodyPr>
          <a:lstStyle/>
          <a:p>
            <a:pPr algn="ctr"/>
            <a:r>
              <a:rPr lang="en-US" sz="2550" b="1" dirty="0">
                <a:solidFill>
                  <a:srgbClr val="EAF1FF"/>
                </a:solidFill>
                <a:latin typeface="+mj-lt"/>
                <a:ea typeface="+mj-ea"/>
                <a:cs typeface="+mj-cs"/>
              </a:rPr>
              <a:t>SiT</a:t>
            </a:r>
          </a:p>
        </p:txBody>
      </p:sp>
      <p:sp>
        <p:nvSpPr>
          <p:cNvPr id="31" name="TextBox 31"/>
          <p:cNvSpPr txBox="1"/>
          <p:nvPr/>
        </p:nvSpPr>
        <p:spPr>
          <a:xfrm>
            <a:off x="9467069" y="2001202"/>
            <a:ext cx="1296962" cy="205359"/>
          </a:xfrm>
          <a:prstGeom prst="rect">
            <a:avLst/>
          </a:prstGeom>
          <a:noFill/>
          <a:ln>
            <a:noFill/>
          </a:ln>
        </p:spPr>
        <p:txBody>
          <a:bodyPr wrap="none" lIns="0" tIns="0" rIns="0" bIns="0" anchor="t" anchorCtr="0">
            <a:spAutoFit/>
          </a:bodyPr>
          <a:lstStyle/>
          <a:p>
            <a:pPr algn="ctr"/>
            <a:r>
              <a:rPr lang="en-US" sz="1050" dirty="0">
                <a:solidFill>
                  <a:srgbClr val="9DB0D0"/>
                </a:solidFill>
                <a:latin typeface="+mn-lt"/>
                <a:ea typeface="+mn-ea"/>
                <a:cs typeface="+mn-cs"/>
              </a:rPr>
              <a:t>robot in the crowd</a:t>
            </a:r>
          </a:p>
        </p:txBody>
      </p:sp>
      <p:sp>
        <p:nvSpPr>
          <p:cNvPr id="32" name="Line 32"/>
          <p:cNvSpPr/>
          <p:nvPr/>
        </p:nvSpPr>
        <p:spPr>
          <a:xfrm>
            <a:off x="9124950" y="2324100"/>
            <a:ext cx="1981200" cy="9525"/>
          </a:xfrm>
          <a:custGeom>
            <a:avLst/>
            <a:gdLst/>
            <a:ahLst/>
            <a:cxnLst/>
            <a:rect l="l" t="t" r="r" b="b"/>
            <a:pathLst>
              <a:path w="1981200" h="9525">
                <a:moveTo>
                  <a:pt x="0" y="0"/>
                </a:moveTo>
                <a:lnTo>
                  <a:pt x="1981200" y="0"/>
                </a:lnTo>
              </a:path>
            </a:pathLst>
          </a:custGeom>
          <a:noFill/>
          <a:ln w="9525" cap="rnd">
            <a:solidFill>
              <a:schemeClr val="accent4"/>
            </a:solidFill>
          </a:ln>
        </p:spPr>
        <p:txBody>
          <a:bodyPr/>
          <a:p/>
        </p:txBody>
      </p:sp>
      <p:sp>
        <p:nvSpPr>
          <p:cNvPr id="33" name="TextBox 33"/>
          <p:cNvSpPr txBox="1"/>
          <p:nvPr/>
        </p:nvSpPr>
        <p:spPr>
          <a:xfrm>
            <a:off x="9119616" y="2648902"/>
            <a:ext cx="500449" cy="205359"/>
          </a:xfrm>
          <a:prstGeom prst="rect">
            <a:avLst/>
          </a:prstGeom>
          <a:noFill/>
          <a:ln>
            <a:noFill/>
          </a:ln>
        </p:spPr>
        <p:txBody>
          <a:bodyPr wrap="none" lIns="0" tIns="0" rIns="0" bIns="0" anchor="t" anchorCtr="0">
            <a:spAutoFit/>
          </a:bodyPr>
          <a:lstStyle/>
          <a:p>
            <a:pPr algn="l"/>
            <a:r>
              <a:rPr lang="en-US" sz="1050" b="1" dirty="0">
                <a:solidFill>
                  <a:srgbClr val="6E82A6"/>
                </a:solidFill>
                <a:latin typeface="+mn-lt"/>
                <a:ea typeface="+mn-ea"/>
                <a:cs typeface="+mn-cs"/>
              </a:rPr>
              <a:t>scenes</a:t>
            </a:r>
          </a:p>
        </p:txBody>
      </p:sp>
      <p:sp>
        <p:nvSpPr>
          <p:cNvPr id="34" name="TextBox 34"/>
          <p:cNvSpPr txBox="1"/>
          <p:nvPr/>
        </p:nvSpPr>
        <p:spPr>
          <a:xfrm>
            <a:off x="10926291" y="2640806"/>
            <a:ext cx="185574" cy="220028"/>
          </a:xfrm>
          <a:prstGeom prst="rect">
            <a:avLst/>
          </a:prstGeom>
          <a:noFill/>
          <a:ln>
            <a:noFill/>
          </a:ln>
        </p:spPr>
        <p:txBody>
          <a:bodyPr wrap="none" lIns="0" tIns="0" rIns="0" bIns="0" anchor="t" anchorCtr="0">
            <a:spAutoFit/>
          </a:bodyPr>
          <a:lstStyle/>
          <a:p>
            <a:pPr algn="r"/>
            <a:r>
              <a:rPr lang="en-US" sz="1120" b="1" dirty="0">
                <a:solidFill>
                  <a:srgbClr val="4F8CFF"/>
                </a:solidFill>
                <a:latin typeface="+mn-lt"/>
                <a:ea typeface="+mn-ea"/>
                <a:cs typeface="+mn-cs"/>
              </a:rPr>
              <a:t>60</a:t>
            </a:r>
          </a:p>
        </p:txBody>
      </p:sp>
      <p:sp>
        <p:nvSpPr>
          <p:cNvPr id="35" name="Line 35"/>
          <p:cNvSpPr/>
          <p:nvPr/>
        </p:nvSpPr>
        <p:spPr>
          <a:xfrm>
            <a:off x="9124950" y="2914650"/>
            <a:ext cx="1981200" cy="9525"/>
          </a:xfrm>
          <a:custGeom>
            <a:avLst/>
            <a:gdLst/>
            <a:ahLst/>
            <a:cxnLst/>
            <a:rect l="l" t="t" r="r" b="b"/>
            <a:pathLst>
              <a:path w="1981200" h="9525">
                <a:moveTo>
                  <a:pt x="0" y="0"/>
                </a:moveTo>
                <a:lnTo>
                  <a:pt x="1981200" y="0"/>
                </a:lnTo>
              </a:path>
            </a:pathLst>
          </a:custGeom>
          <a:noFill/>
          <a:ln w="9525" cap="rnd">
            <a:solidFill>
              <a:schemeClr val="accent4"/>
            </a:solidFill>
          </a:ln>
        </p:spPr>
        <p:txBody>
          <a:bodyPr/>
          <a:p/>
        </p:txBody>
      </p:sp>
      <p:sp>
        <p:nvSpPr>
          <p:cNvPr id="36" name="TextBox 36"/>
          <p:cNvSpPr txBox="1"/>
          <p:nvPr/>
        </p:nvSpPr>
        <p:spPr>
          <a:xfrm>
            <a:off x="9119616" y="3163252"/>
            <a:ext cx="582079" cy="205359"/>
          </a:xfrm>
          <a:prstGeom prst="rect">
            <a:avLst/>
          </a:prstGeom>
          <a:noFill/>
          <a:ln>
            <a:noFill/>
          </a:ln>
        </p:spPr>
        <p:txBody>
          <a:bodyPr wrap="none" lIns="0" tIns="0" rIns="0" bIns="0" anchor="t" anchorCtr="0">
            <a:spAutoFit/>
          </a:bodyPr>
          <a:lstStyle/>
          <a:p>
            <a:pPr algn="l"/>
            <a:r>
              <a:rPr lang="en-US" sz="1050" b="1" dirty="0">
                <a:solidFill>
                  <a:srgbClr val="6E82A6"/>
                </a:solidFill>
                <a:latin typeface="+mn-lt"/>
                <a:ea typeface="+mn-ea"/>
                <a:cs typeface="+mn-cs"/>
              </a:rPr>
              <a:t>sensors</a:t>
            </a:r>
          </a:p>
        </p:txBody>
      </p:sp>
      <p:sp>
        <p:nvSpPr>
          <p:cNvPr id="37" name="TextBox 37"/>
          <p:cNvSpPr txBox="1"/>
          <p:nvPr/>
        </p:nvSpPr>
        <p:spPr>
          <a:xfrm>
            <a:off x="9935924" y="3155156"/>
            <a:ext cx="1175941" cy="220028"/>
          </a:xfrm>
          <a:prstGeom prst="rect">
            <a:avLst/>
          </a:prstGeom>
          <a:noFill/>
          <a:ln>
            <a:noFill/>
          </a:ln>
        </p:spPr>
        <p:txBody>
          <a:bodyPr wrap="none" lIns="0" tIns="0" rIns="0" bIns="0" anchor="t" anchorCtr="0">
            <a:spAutoFit/>
          </a:bodyPr>
          <a:lstStyle/>
          <a:p>
            <a:pPr algn="r"/>
            <a:r>
              <a:rPr lang="en-US" sz="1120" b="1" dirty="0">
                <a:solidFill>
                  <a:srgbClr val="34D399"/>
                </a:solidFill>
                <a:latin typeface="+mn-lt"/>
                <a:ea typeface="+mn-ea"/>
                <a:cs typeface="+mn-cs"/>
              </a:rPr>
              <a:t>LiDAR+cam+RTK</a:t>
            </a:r>
          </a:p>
        </p:txBody>
      </p:sp>
      <p:sp>
        <p:nvSpPr>
          <p:cNvPr id="38" name="Line 38"/>
          <p:cNvSpPr/>
          <p:nvPr/>
        </p:nvSpPr>
        <p:spPr>
          <a:xfrm>
            <a:off x="9124950" y="3429000"/>
            <a:ext cx="1981200" cy="9525"/>
          </a:xfrm>
          <a:custGeom>
            <a:avLst/>
            <a:gdLst/>
            <a:ahLst/>
            <a:cxnLst/>
            <a:rect l="l" t="t" r="r" b="b"/>
            <a:pathLst>
              <a:path w="1981200" h="9525">
                <a:moveTo>
                  <a:pt x="0" y="0"/>
                </a:moveTo>
                <a:lnTo>
                  <a:pt x="1981200" y="0"/>
                </a:lnTo>
              </a:path>
            </a:pathLst>
          </a:custGeom>
          <a:noFill/>
          <a:ln w="9525" cap="rnd">
            <a:solidFill>
              <a:schemeClr val="accent4"/>
            </a:solidFill>
          </a:ln>
        </p:spPr>
        <p:txBody>
          <a:bodyPr/>
          <a:p/>
        </p:txBody>
      </p:sp>
      <p:sp>
        <p:nvSpPr>
          <p:cNvPr id="39" name="TextBox 39"/>
          <p:cNvSpPr txBox="1"/>
          <p:nvPr/>
        </p:nvSpPr>
        <p:spPr>
          <a:xfrm>
            <a:off x="9119616" y="3677602"/>
            <a:ext cx="366873" cy="205359"/>
          </a:xfrm>
          <a:prstGeom prst="rect">
            <a:avLst/>
          </a:prstGeom>
          <a:noFill/>
          <a:ln>
            <a:noFill/>
          </a:ln>
        </p:spPr>
        <p:txBody>
          <a:bodyPr wrap="none" lIns="0" tIns="0" rIns="0" bIns="0" anchor="t" anchorCtr="0">
            <a:spAutoFit/>
          </a:bodyPr>
          <a:lstStyle/>
          <a:p>
            <a:pPr algn="l"/>
            <a:r>
              <a:rPr lang="en-US" sz="1050" b="1" dirty="0">
                <a:solidFill>
                  <a:srgbClr val="6E82A6"/>
                </a:solidFill>
                <a:latin typeface="+mn-lt"/>
                <a:ea typeface="+mn-ea"/>
                <a:cs typeface="+mn-cs"/>
              </a:rPr>
              <a:t>maps</a:t>
            </a:r>
          </a:p>
        </p:txBody>
      </p:sp>
      <p:sp>
        <p:nvSpPr>
          <p:cNvPr id="40" name="TextBox 40"/>
          <p:cNvSpPr txBox="1"/>
          <p:nvPr/>
        </p:nvSpPr>
        <p:spPr>
          <a:xfrm>
            <a:off x="10395942" y="3669506"/>
            <a:ext cx="715923" cy="220028"/>
          </a:xfrm>
          <a:prstGeom prst="rect">
            <a:avLst/>
          </a:prstGeom>
          <a:noFill/>
          <a:ln>
            <a:noFill/>
          </a:ln>
        </p:spPr>
        <p:txBody>
          <a:bodyPr wrap="none" lIns="0" tIns="0" rIns="0" bIns="0" anchor="t" anchorCtr="0">
            <a:spAutoFit/>
          </a:bodyPr>
          <a:lstStyle/>
          <a:p>
            <a:pPr algn="r"/>
            <a:r>
              <a:rPr lang="en-US" sz="1120" b="1" dirty="0">
                <a:solidFill>
                  <a:srgbClr val="A78BFA"/>
                </a:solidFill>
                <a:latin typeface="+mn-lt"/>
                <a:ea typeface="+mn-ea"/>
                <a:cs typeface="+mn-cs"/>
              </a:rPr>
              <a:t>12 layers</a:t>
            </a:r>
          </a:p>
        </p:txBody>
      </p:sp>
      <p:sp>
        <p:nvSpPr>
          <p:cNvPr id="41" name="Line 41"/>
          <p:cNvSpPr/>
          <p:nvPr/>
        </p:nvSpPr>
        <p:spPr>
          <a:xfrm>
            <a:off x="9124950" y="3943350"/>
            <a:ext cx="1981200" cy="9525"/>
          </a:xfrm>
          <a:custGeom>
            <a:avLst/>
            <a:gdLst/>
            <a:ahLst/>
            <a:cxnLst/>
            <a:rect l="l" t="t" r="r" b="b"/>
            <a:pathLst>
              <a:path w="1981200" h="9525">
                <a:moveTo>
                  <a:pt x="0" y="0"/>
                </a:moveTo>
                <a:lnTo>
                  <a:pt x="1981200" y="0"/>
                </a:lnTo>
              </a:path>
            </a:pathLst>
          </a:custGeom>
          <a:noFill/>
          <a:ln w="9525" cap="rnd">
            <a:solidFill>
              <a:schemeClr val="accent4"/>
            </a:solidFill>
          </a:ln>
        </p:spPr>
        <p:txBody>
          <a:bodyPr/>
          <a:p/>
        </p:txBody>
      </p:sp>
      <p:sp>
        <p:nvSpPr>
          <p:cNvPr id="42" name="TextBox 42"/>
          <p:cNvSpPr txBox="1"/>
          <p:nvPr/>
        </p:nvSpPr>
        <p:spPr>
          <a:xfrm>
            <a:off x="9119616" y="4191952"/>
            <a:ext cx="775024" cy="205359"/>
          </a:xfrm>
          <a:prstGeom prst="rect">
            <a:avLst/>
          </a:prstGeom>
          <a:noFill/>
          <a:ln>
            <a:noFill/>
          </a:ln>
        </p:spPr>
        <p:txBody>
          <a:bodyPr wrap="none" lIns="0" tIns="0" rIns="0" bIns="0" anchor="t" anchorCtr="0">
            <a:spAutoFit/>
          </a:bodyPr>
          <a:lstStyle/>
          <a:p>
            <a:pPr algn="l"/>
            <a:r>
              <a:rPr lang="en-US" sz="1050" b="1" dirty="0">
                <a:solidFill>
                  <a:srgbClr val="6E82A6"/>
                </a:solidFill>
                <a:latin typeface="+mn-lt"/>
                <a:ea typeface="+mn-ea"/>
                <a:cs typeface="+mn-cs"/>
              </a:rPr>
              <a:t>benchmark</a:t>
            </a:r>
          </a:p>
        </p:txBody>
      </p:sp>
      <p:sp>
        <p:nvSpPr>
          <p:cNvPr id="43" name="TextBox 43"/>
          <p:cNvSpPr txBox="1"/>
          <p:nvPr/>
        </p:nvSpPr>
        <p:spPr>
          <a:xfrm>
            <a:off x="10530508" y="4183856"/>
            <a:ext cx="581357" cy="220028"/>
          </a:xfrm>
          <a:prstGeom prst="rect">
            <a:avLst/>
          </a:prstGeom>
          <a:noFill/>
          <a:ln>
            <a:noFill/>
          </a:ln>
        </p:spPr>
        <p:txBody>
          <a:bodyPr wrap="none" lIns="0" tIns="0" rIns="0" bIns="0" anchor="t" anchorCtr="0">
            <a:spAutoFit/>
          </a:bodyPr>
          <a:lstStyle/>
          <a:p>
            <a:pPr algn="r"/>
            <a:r>
              <a:rPr lang="en-US" sz="1120" b="1" dirty="0">
                <a:solidFill>
                  <a:srgbClr val="FBBF24"/>
                </a:solidFill>
                <a:latin typeface="+mn-lt"/>
                <a:ea typeface="+mn-ea"/>
                <a:cs typeface="+mn-cs"/>
              </a:rPr>
              <a:t>4 tasks</a:t>
            </a:r>
          </a:p>
        </p:txBody>
      </p:sp>
      <p:sp>
        <p:nvSpPr>
          <p:cNvPr id="44" name="Line 44"/>
          <p:cNvSpPr/>
          <p:nvPr/>
        </p:nvSpPr>
        <p:spPr>
          <a:xfrm>
            <a:off x="9124950" y="4457700"/>
            <a:ext cx="1981200" cy="9525"/>
          </a:xfrm>
          <a:custGeom>
            <a:avLst/>
            <a:gdLst/>
            <a:ahLst/>
            <a:cxnLst/>
            <a:rect l="l" t="t" r="r" b="b"/>
            <a:pathLst>
              <a:path w="1981200" h="9525">
                <a:moveTo>
                  <a:pt x="0" y="0"/>
                </a:moveTo>
                <a:lnTo>
                  <a:pt x="1981200" y="0"/>
                </a:lnTo>
              </a:path>
            </a:pathLst>
          </a:custGeom>
          <a:noFill/>
          <a:ln w="9525" cap="rnd">
            <a:solidFill>
              <a:schemeClr val="accent4"/>
            </a:solidFill>
          </a:ln>
        </p:spPr>
        <p:txBody>
          <a:bodyPr/>
          <a:p/>
        </p:txBody>
      </p:sp>
      <p:sp>
        <p:nvSpPr>
          <p:cNvPr id="45" name="TextBox 45"/>
          <p:cNvSpPr txBox="1"/>
          <p:nvPr/>
        </p:nvSpPr>
        <p:spPr>
          <a:xfrm>
            <a:off x="9021174" y="4825841"/>
            <a:ext cx="2188752" cy="161925"/>
          </a:xfrm>
          <a:prstGeom prst="rect">
            <a:avLst/>
          </a:prstGeom>
          <a:noFill/>
          <a:ln>
            <a:noFill/>
          </a:ln>
        </p:spPr>
        <p:txBody>
          <a:bodyPr wrap="none" lIns="0" tIns="0" rIns="0" bIns="0" anchor="t" anchorCtr="0">
            <a:spAutoFit/>
          </a:bodyPr>
          <a:lstStyle/>
          <a:p>
            <a:pPr algn="ctr"/>
            <a:r>
              <a:rPr lang="en-US" sz="820" dirty="0">
                <a:solidFill>
                  <a:srgbClr val="6E82A6"/>
                </a:solidFill>
                <a:latin typeface="+mn-lt"/>
                <a:ea typeface="+mn-ea"/>
                <a:cs typeface="+mn-cs"/>
              </a:rPr>
              <a:t>github.com/SPALaboratory/SiT-Dataset</a:t>
            </a:r>
          </a:p>
        </p:txBody>
      </p:sp>
      <p:sp>
        <p:nvSpPr>
          <p:cNvPr id="46" name="cue_s10_c1_takeaway_simple" title="cue_s10_c1_takeaway_simple" descr="cue_s10_c1_takeaway_simple The takeaway is simple."/>
          <p:cNvSpPr/>
          <p:nvPr/>
        </p:nvSpPr>
        <p:spPr>
          <a:xfrm>
            <a:off x="609600" y="1428521"/>
            <a:ext cx="7810195"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10_c2_you_want_build_robots_move" title="cue_s10_c2_you_want_build_robots_move" descr="cue_s10_c2_you_want_build_robots_move If you want to build robots that move safely and gracefully among people, you need training data that shows the robot up close in the crowd, with all its sensors aligned in time and with the surrounding scene captured as a map."/>
          <p:cNvSpPr/>
          <p:nvPr/>
        </p:nvSpPr>
        <p:spPr>
          <a:xfrm>
            <a:off x="609600" y="2628671"/>
            <a:ext cx="7810195" cy="1184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10_c3_sit_first_dataset_deliver_combinatio" title="cue_s10_c3_sit_first_dataset_deliver_combinatio" descr="cue_s10_c3_sit_first_dataset_deliver_combinatio SiT is the first dataset to deliver that combination, together with a benchmark that spans detection, tracking, prediction, and end-to-end forecasting, and it is all publicly released so the community can build on it."/>
          <p:cNvSpPr/>
          <p:nvPr/>
        </p:nvSpPr>
        <p:spPr>
          <a:xfrm>
            <a:off x="609600" y="3828821"/>
            <a:ext cx="7810195" cy="1184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000000"/>
      </a:dk1>
      <a:lt1>
        <a:srgbClr val="0B1220"/>
      </a:lt1>
      <a:dk2>
        <a:srgbClr val="1F497D"/>
      </a:dk2>
      <a:lt2>
        <a:srgbClr val="0B1220"/>
      </a:lt2>
      <a:accent1>
        <a:srgbClr val="4F81BD"/>
      </a:accent1>
      <a:accent2>
        <a:srgbClr val="C0504D"/>
      </a:accent2>
      <a:accent3>
        <a:srgbClr val="9BBB59"/>
      </a:accent3>
      <a:accent4>
        <a:srgbClr val="2A3B5C"/>
      </a:accent4>
      <a:accent5>
        <a:srgbClr val="152238"/>
      </a:accent5>
      <a:accent6>
        <a:srgbClr val="1B2B47"/>
      </a:accent6>
      <a:hlink>
        <a:srgbClr val="0000FF"/>
      </a:hlink>
      <a:folHlink>
        <a:srgbClr val="800080"/>
      </a:folHlink>
    </a:clrScheme>
    <a:fontScheme name="Free Design">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2026-07-16T06:54:19Z</dcterms:created>
  <dcterms:modified xsi:type="dcterms:W3CDTF">2026-07-16T06:54:19Z</dcterms:modified>
  <cp:category/>
  <cp:contentStatus/>
</cp:coreProperties>
</file>
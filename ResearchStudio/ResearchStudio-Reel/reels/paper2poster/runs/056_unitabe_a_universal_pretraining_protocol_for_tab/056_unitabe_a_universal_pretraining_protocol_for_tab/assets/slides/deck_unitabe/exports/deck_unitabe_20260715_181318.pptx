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_unitab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_unitab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445e49c22d92a58.png"/>
  <Relationship Id="rId3" Type="http://schemas.openxmlformats.org/officeDocument/2006/relationships/image" Target="../media/image_d1e394e3eec25124.png"/>
  <Relationship Id="rId4" Type="http://schemas.openxmlformats.org/officeDocument/2006/relationships/image" Target="../media/image_094c17dafa35d860.png"/>
  <Relationship Id="rId5" Type="http://schemas.openxmlformats.org/officeDocument/2006/relationships/image" Target="../media/image_20821e04f7aeb785.png"/>
  <Relationship Id="rId6" Type="http://schemas.openxmlformats.org/officeDocument/2006/relationships/image" Target="../media/image_6d82f11b135f23b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445e49c22d92a58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17ba62e645690a2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33350" cy="6858000"/>
            <a:chOff x="0" y="0"/>
            <a:chExt cx="13335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57047" y="961549"/>
            <a:ext cx="4409409" cy="412908"/>
            <a:chOff x="757047" y="961549"/>
            <a:chExt cx="4409409" cy="412908"/>
          </a:xfrm>
        </p:grpSpPr>
        <p:sp>
          <p:nvSpPr>
            <p:cNvPr id="4" name="TextBox 4"/>
            <p:cNvSpPr txBox="1"/>
            <p:nvPr/>
          </p:nvSpPr>
          <p:spPr>
            <a:xfrm>
              <a:off x="757047" y="961549"/>
              <a:ext cx="1780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PAPER · DEEP READ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7238" y="1198245"/>
              <a:ext cx="44092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TABULAR FOUNDATION MODELS · ICLR 2024 · arXiv:2307.09249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4474" y="1532572"/>
            <a:ext cx="8442274" cy="1208151"/>
            <a:chOff x="744474" y="1532572"/>
            <a:chExt cx="8442274" cy="1208151"/>
          </a:xfrm>
        </p:grpSpPr>
        <p:sp>
          <p:nvSpPr>
            <p:cNvPr id="7" name="TextBox 7"/>
            <p:cNvSpPr txBox="1"/>
            <p:nvPr/>
          </p:nvSpPr>
          <p:spPr>
            <a:xfrm>
              <a:off x="744474" y="1532572"/>
              <a:ext cx="844227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UniTabE: A Universal Pretraining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4474" y="2065972"/>
              <a:ext cx="720389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Protocol for Tabular Models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3999" y="2781300"/>
            <a:ext cx="7353737" cy="766668"/>
            <a:chOff x="753999" y="2781300"/>
            <a:chExt cx="7353737" cy="766668"/>
          </a:xfrm>
        </p:grpSpPr>
        <p:sp>
          <p:nvSpPr>
            <p:cNvPr id="10" name="Line 10"/>
            <p:cNvSpPr/>
            <p:nvPr/>
          </p:nvSpPr>
          <p:spPr>
            <a:xfrm>
              <a:off x="781050" y="27813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3999" y="2973229"/>
              <a:ext cx="57521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i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Foundation models transformed language and vision,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3999" y="3239929"/>
              <a:ext cx="73537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i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yet tabular data, the workhorse of data science, was left behind.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3657600"/>
            <a:ext cx="7048500" cy="886206"/>
            <a:chOff x="762000" y="3657600"/>
            <a:chExt cx="7048500" cy="886206"/>
          </a:xfrm>
        </p:grpSpPr>
        <p:sp>
          <p:nvSpPr>
            <p:cNvPr id="14" name="Rectangle 14"/>
            <p:cNvSpPr/>
            <p:nvPr/>
          </p:nvSpPr>
          <p:spPr>
            <a:xfrm>
              <a:off x="762000" y="3657600"/>
              <a:ext cx="704850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36576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5647" y="3838099"/>
              <a:ext cx="1486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GAP → UNITABE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504" y="4080510"/>
              <a:ext cx="501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table has a different schema, so models don't transfer.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504" y="4309110"/>
              <a:ext cx="3825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UniTabE processes any table in one uniform way.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648200"/>
            <a:ext cx="7048500" cy="571500"/>
            <a:chOff x="762000" y="4648200"/>
            <a:chExt cx="7048500" cy="571500"/>
          </a:xfrm>
        </p:grpSpPr>
        <p:sp>
          <p:nvSpPr>
            <p:cNvPr id="20" name="Rectangle 20"/>
            <p:cNvSpPr/>
            <p:nvPr/>
          </p:nvSpPr>
          <p:spPr>
            <a:xfrm>
              <a:off x="762000" y="4648200"/>
              <a:ext cx="7048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5838" y="4798695"/>
              <a:ext cx="3169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4885" y="4983956"/>
              <a:ext cx="6585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TabUnit encodes each cell · Transformer refines the table · text prompts adapt to tasks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5334000"/>
            <a:ext cx="7048500" cy="819150"/>
            <a:chOff x="762000" y="5334000"/>
            <a:chExt cx="7048500" cy="819150"/>
          </a:xfrm>
        </p:grpSpPr>
        <p:sp>
          <p:nvSpPr>
            <p:cNvPr id="24" name="Rectangle 24"/>
            <p:cNvSpPr/>
            <p:nvPr/>
          </p:nvSpPr>
          <p:spPr>
            <a:xfrm>
              <a:off x="762000" y="5334000"/>
              <a:ext cx="7048500" cy="819150"/>
            </a:xfrm>
            <a:prstGeom prst="roundRect">
              <a:avLst>
                <a:gd name="adj" fmla="val 11628"/>
              </a:avLst>
            </a:prstGeom>
            <a:solidFill>
              <a:srgbClr val="EEF6F3"/>
            </a:solidFill>
            <a:ln w="9525">
              <a:solidFill>
                <a:srgbClr val="2E9E5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5334000"/>
              <a:ext cx="57150" cy="8191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5647" y="5514499"/>
              <a:ext cx="1390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HEADLINE FINDING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123" y="5767864"/>
              <a:ext cx="6728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Pretrained on </a:t>
              </a:r>
              <a:r>
                <a:rPr lang="en-US" sz="1280" b="1" dirty="0">
                  <a:solidFill>
                    <a:srgbClr val="2E9E5B"/>
                  </a:solidFill>
                  <a:latin typeface="+mn-lt"/>
                  <a:ea typeface="+mn-ea"/>
                  <a:cs typeface="+mn-cs"/>
                </a:rPr>
                <a:t>13B Kaggle samples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, UniTabE </a:t>
              </a:r>
              <a:r>
                <a:rPr lang="en-US" sz="1280" b="1" dirty="0">
                  <a:solidFill>
                    <a:srgbClr val="2E9E5B"/>
                  </a:solidFill>
                  <a:latin typeface="+mn-lt"/>
                  <a:ea typeface="+mn-ea"/>
                  <a:cs typeface="+mn-cs"/>
                </a:rPr>
                <a:t>beats XGBoost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across benchmarks.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53400" y="1428750"/>
            <a:ext cx="3467100" cy="4724400"/>
            <a:chOff x="8153400" y="1428750"/>
            <a:chExt cx="3467100" cy="4724400"/>
          </a:xfrm>
        </p:grpSpPr>
        <p:sp>
          <p:nvSpPr>
            <p:cNvPr id="29" name="Rectangle 29"/>
            <p:cNvSpPr/>
            <p:nvPr/>
          </p:nvSpPr>
          <p:spPr>
            <a:xfrm>
              <a:off x="8153400" y="1428750"/>
              <a:ext cx="3467100" cy="4724400"/>
            </a:xfrm>
            <a:prstGeom prst="roundRect">
              <a:avLst>
                <a:gd name="adj" fmla="val 384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7238" y="1655445"/>
              <a:ext cx="1943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ARCHITECTURE AT A GLANCE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0" y="1866900"/>
              <a:ext cx="3238500" cy="1009650"/>
            </a:xfrm>
            <a:prstGeom prst="roundRect">
              <a:avLst>
                <a:gd name="adj" fmla="val 754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0" y="1905000"/>
              <a:ext cx="3162300" cy="923925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8377238" y="2977991"/>
              <a:ext cx="25917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Cells → TabUnit → Transformer → shallow decoder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382000" y="3238500"/>
              <a:ext cx="3009900" cy="55245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24494" y="3389948"/>
              <a:ext cx="6033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13B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77197" y="3380899"/>
              <a:ext cx="1346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pretraining samples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867150"/>
              <a:ext cx="3009900" cy="55245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24494" y="4018598"/>
              <a:ext cx="7978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283K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77197" y="4009549"/>
              <a:ext cx="432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tables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77388" y="4197191"/>
              <a:ext cx="6442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303 domains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382000" y="4495800"/>
              <a:ext cx="3009900" cy="552450"/>
            </a:xfrm>
            <a:prstGeom prst="roundRect">
              <a:avLst>
                <a:gd name="adj" fmla="val 1379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24494" y="4647248"/>
              <a:ext cx="6605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0.83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77197" y="4638199"/>
              <a:ext cx="522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avg AUC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7388" y="4825841"/>
              <a:ext cx="732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 benchmarks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0" y="5143500"/>
              <a:ext cx="609600" cy="609600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9101138" y="5255895"/>
              <a:ext cx="11160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READ THE PAPER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01138" y="5454491"/>
              <a:ext cx="9640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arXiv:2307.09249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01138" y="5625941"/>
              <a:ext cx="6867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Scan to open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8970" y="6191250"/>
            <a:ext cx="4342359" cy="400050"/>
            <a:chOff x="768970" y="6191250"/>
            <a:chExt cx="4342359" cy="400050"/>
          </a:xfrm>
        </p:grpSpPr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970" y="6286500"/>
              <a:ext cx="1414811" cy="276225"/>
            </a:xfrm>
            <a:prstGeom prst="rect">
              <a:avLst/>
            </a:prstGeom>
          </p:spPr>
        </p:pic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81250" y="6191250"/>
              <a:ext cx="857250" cy="400050"/>
            </a:xfrm>
            <a:prstGeom prst="rect">
              <a:avLst/>
            </a:prstGeom>
          </p:spPr>
        </p:pic>
        <p:pic>
          <p:nvPicPr>
            <p:cNvPr id="52" name="Image 5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29000" y="6229350"/>
              <a:ext cx="304800" cy="304800"/>
            </a:xfrm>
            <a:prstGeom prst="rect">
              <a:avLst/>
            </a:prstGeom>
          </p:spPr>
        </p:pic>
        <p:sp>
          <p:nvSpPr>
            <p:cNvPr id="53" name="TextBox 53"/>
            <p:cNvSpPr txBox="1"/>
            <p:nvPr/>
          </p:nvSpPr>
          <p:spPr>
            <a:xfrm>
              <a:off x="3824288" y="6349841"/>
              <a:ext cx="12870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HKU · BAAI · Creatify AI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94310" y="6597491"/>
            <a:ext cx="1309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7467148" cy="656939"/>
            <a:chOff x="571500" y="533400"/>
            <a:chExt cx="7467148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72515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problem: tables resist pretraining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3421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FOUNDATION MODEL FOR TABULAR DATA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447800"/>
            <a:ext cx="5429250" cy="2057400"/>
            <a:chOff x="571500" y="1447800"/>
            <a:chExt cx="5429250" cy="2057400"/>
          </a:xfrm>
        </p:grpSpPr>
        <p:sp>
          <p:nvSpPr>
            <p:cNvPr id="6" name="Rectangle 6"/>
            <p:cNvSpPr/>
            <p:nvPr/>
          </p:nvSpPr>
          <p:spPr>
            <a:xfrm>
              <a:off x="571500" y="1447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47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2297" y="1723549"/>
              <a:ext cx="18115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WHERE TABLES 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7344" y="2018348"/>
              <a:ext cx="36091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Tables run the real world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773" y="2491264"/>
              <a:ext cx="25516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Stock prediction, real-estate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0773" y="27389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forecasting, and credit scoring all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0773" y="2986564"/>
              <a:ext cx="275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rest on rows-and-columns data.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91250" y="1447800"/>
            <a:ext cx="5429250" cy="2057400"/>
            <a:chOff x="6191250" y="1447800"/>
            <a:chExt cx="5429250" cy="2057400"/>
          </a:xfrm>
        </p:grpSpPr>
        <p:sp>
          <p:nvSpPr>
            <p:cNvPr id="14" name="Rectangle 14"/>
            <p:cNvSpPr/>
            <p:nvPr/>
          </p:nvSpPr>
          <p:spPr>
            <a:xfrm>
              <a:off x="6191250" y="1447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91250" y="1447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2047" y="1723549"/>
              <a:ext cx="1479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MISSING PIECE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7094" y="2018348"/>
              <a:ext cx="34343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 foundation model yet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523" y="2491264"/>
              <a:ext cx="264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Unlike text and images, tabular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523" y="273891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 still has no widely adopted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523" y="2986564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pretrained foundation model.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3733800"/>
            <a:ext cx="5429250" cy="2057400"/>
            <a:chOff x="571500" y="3733800"/>
            <a:chExt cx="5429250" cy="2057400"/>
          </a:xfrm>
        </p:grpSpPr>
        <p:sp>
          <p:nvSpPr>
            <p:cNvPr id="22" name="Rectangle 22"/>
            <p:cNvSpPr/>
            <p:nvPr/>
          </p:nvSpPr>
          <p:spPr>
            <a:xfrm>
              <a:off x="571500" y="3733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rgbClr val="FBEEEC"/>
            </a:solidFill>
            <a:ln w="9525">
              <a:solidFill>
                <a:srgbClr val="E7B6AE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71500" y="3733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297" y="4009549"/>
              <a:ext cx="1329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ROOT CAUSE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344" y="4304348"/>
              <a:ext cx="42657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Endless, mismatched schemas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73" y="4777264"/>
              <a:ext cx="3146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Different column names, data types,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0773" y="5024914"/>
              <a:ext cx="2959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counts mean a model trained 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0773" y="5272564"/>
              <a:ext cx="32179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table can't be reused on another.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91250" y="3733800"/>
            <a:ext cx="5429250" cy="2057400"/>
            <a:chOff x="6191250" y="3733800"/>
            <a:chExt cx="5429250" cy="2057400"/>
          </a:xfrm>
        </p:grpSpPr>
        <p:sp>
          <p:nvSpPr>
            <p:cNvPr id="30" name="Rectangle 30"/>
            <p:cNvSpPr/>
            <p:nvPr/>
          </p:nvSpPr>
          <p:spPr>
            <a:xfrm>
              <a:off x="6191250" y="3733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91250" y="3733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72047" y="4009549"/>
              <a:ext cx="19299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WHY WORKAROUNDS FAIL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7094" y="4304348"/>
              <a:ext cx="35373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flawed workarounds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0523" y="4777264"/>
              <a:ext cx="3353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Flatten to text → lose numeric meaning.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523" y="5024914"/>
              <a:ext cx="3198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Assume a fixed schema → no transfer.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523" y="5272564"/>
              <a:ext cx="2680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Both block knowledge transfer.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38" name="TextBox 38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8421050" cy="656939"/>
            <a:chOff x="571500" y="533400"/>
            <a:chExt cx="8421050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8205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Can the pretraining recipe work for tables?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31775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 ONCE, TRANSFER TO MANY TASKS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447800"/>
            <a:ext cx="5429250" cy="2057400"/>
            <a:chOff x="571500" y="1447800"/>
            <a:chExt cx="5429250" cy="2057400"/>
          </a:xfrm>
        </p:grpSpPr>
        <p:sp>
          <p:nvSpPr>
            <p:cNvPr id="6" name="Rectangle 6"/>
            <p:cNvSpPr/>
            <p:nvPr/>
          </p:nvSpPr>
          <p:spPr>
            <a:xfrm>
              <a:off x="571500" y="1447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2488" y="1731645"/>
              <a:ext cx="22089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PROMISE OF PRETRAINING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015490"/>
              <a:ext cx="37627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Learn once, transfer widely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1154" y="2480310"/>
              <a:ext cx="3167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A model absorbs general knowledge from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154" y="2727960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huge unlabeled data, then transfers 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154" y="2975610"/>
              <a:ext cx="2839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cheaply to many downstream tasks.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91250" y="1447800"/>
            <a:ext cx="5429250" cy="2057400"/>
            <a:chOff x="6191250" y="1447800"/>
            <a:chExt cx="5429250" cy="2057400"/>
          </a:xfrm>
        </p:grpSpPr>
        <p:sp>
          <p:nvSpPr>
            <p:cNvPr id="13" name="Rectangle 13"/>
            <p:cNvSpPr/>
            <p:nvPr/>
          </p:nvSpPr>
          <p:spPr>
            <a:xfrm>
              <a:off x="6191250" y="1447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accent5"/>
            </a:solidFill>
            <a:ln w="952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91250" y="1447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72047" y="1723549"/>
              <a:ext cx="1136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7094" y="2018348"/>
              <a:ext cx="35246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Does it work for tables?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523" y="2491264"/>
              <a:ext cx="2956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authors ask whether this same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523" y="2738914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pretrain-then-transfer recipe can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523" y="2986564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carry over to structured tables.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733800"/>
            <a:ext cx="5429250" cy="2057400"/>
            <a:chOff x="571500" y="3733800"/>
            <a:chExt cx="5429250" cy="2057400"/>
          </a:xfrm>
        </p:grpSpPr>
        <p:sp>
          <p:nvSpPr>
            <p:cNvPr id="21" name="Rectangle 21"/>
            <p:cNvSpPr/>
            <p:nvPr/>
          </p:nvSpPr>
          <p:spPr>
            <a:xfrm>
              <a:off x="571500" y="3733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3733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2297" y="4009549"/>
              <a:ext cx="15235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THREE INGREDIENTS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344" y="4304348"/>
              <a:ext cx="19794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What it takes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154" y="4785360"/>
              <a:ext cx="2740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Represent any table, any schema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154" y="5033010"/>
              <a:ext cx="2764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A framework for many objectives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154" y="5280660"/>
              <a:ext cx="2489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Data large enough to pretrain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3733800"/>
            <a:ext cx="5429250" cy="2057400"/>
            <a:chOff x="6191250" y="3733800"/>
            <a:chExt cx="5429250" cy="2057400"/>
          </a:xfrm>
        </p:grpSpPr>
        <p:sp>
          <p:nvSpPr>
            <p:cNvPr id="29" name="Rectangle 29"/>
            <p:cNvSpPr/>
            <p:nvPr/>
          </p:nvSpPr>
          <p:spPr>
            <a:xfrm>
              <a:off x="6191250" y="3733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191250" y="3733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72047" y="4009549"/>
              <a:ext cx="9509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PAYOFF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094" y="4304348"/>
              <a:ext cx="33080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One model, many tasks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0523" y="4777264"/>
              <a:ext cx="3370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Classification · regression · imputation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0523" y="5024914"/>
              <a:ext cx="3209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zero-shot · tables that gain columns,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523" y="5272564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 without redesigning per task.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8284371" cy="656939"/>
            <a:chOff x="571500" y="533400"/>
            <a:chExt cx="8284371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80687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Method: TabUnit + Transformer + prompts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45594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FIGURE 1 · STRUCTURE-FREE, CELL-LEVEL 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428750"/>
            <a:ext cx="11049000" cy="3257550"/>
            <a:chOff x="571500" y="1428750"/>
            <a:chExt cx="11049000" cy="32575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11049000" cy="325755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5270" y="1504950"/>
              <a:ext cx="10661459" cy="310515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571500" y="4819650"/>
            <a:ext cx="2647950" cy="1504950"/>
            <a:chOff x="571500" y="4819650"/>
            <a:chExt cx="2647950" cy="1504950"/>
          </a:xfrm>
        </p:grpSpPr>
        <p:sp>
          <p:nvSpPr>
            <p:cNvPr id="9" name="Rectangle 9"/>
            <p:cNvSpPr/>
            <p:nvPr/>
          </p:nvSpPr>
          <p:spPr>
            <a:xfrm>
              <a:off x="571500" y="4819650"/>
              <a:ext cx="2647950" cy="1504950"/>
            </a:xfrm>
            <a:prstGeom prst="roundRect">
              <a:avLst>
                <a:gd name="adj" fmla="val 632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48196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14375" y="50387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508" y="5099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423" y="5091589"/>
              <a:ext cx="15004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TabUnit per cell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5423297"/>
              <a:ext cx="178548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Each cell is a key-value pair: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5632847"/>
              <a:ext cx="147109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column name is the key,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5842397"/>
              <a:ext cx="13129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 is the value.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43275" y="4819650"/>
            <a:ext cx="2647950" cy="1504950"/>
            <a:chOff x="3343275" y="4819650"/>
            <a:chExt cx="2647950" cy="1504950"/>
          </a:xfrm>
        </p:grpSpPr>
        <p:sp>
          <p:nvSpPr>
            <p:cNvPr id="18" name="Rectangle 18"/>
            <p:cNvSpPr/>
            <p:nvPr/>
          </p:nvSpPr>
          <p:spPr>
            <a:xfrm>
              <a:off x="3343275" y="4819650"/>
              <a:ext cx="2647950" cy="1504950"/>
            </a:xfrm>
            <a:prstGeom prst="roundRect">
              <a:avLst>
                <a:gd name="adj" fmla="val 632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43275" y="48196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486150" y="50387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76283" y="5099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70198" y="5091589"/>
              <a:ext cx="1413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Fuse data type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29012" y="5423297"/>
              <a:ext cx="20580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is embedded + mean-pooled;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29012" y="5632847"/>
              <a:ext cx="205951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data-type gate marks numeric,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29012" y="5842397"/>
              <a:ext cx="14521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categorical or textual.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15050" y="4819650"/>
            <a:ext cx="2647950" cy="1504950"/>
            <a:chOff x="6115050" y="4819650"/>
            <a:chExt cx="2647950" cy="1504950"/>
          </a:xfrm>
        </p:grpSpPr>
        <p:sp>
          <p:nvSpPr>
            <p:cNvPr id="27" name="Rectangle 27"/>
            <p:cNvSpPr/>
            <p:nvPr/>
          </p:nvSpPr>
          <p:spPr>
            <a:xfrm>
              <a:off x="6115050" y="4819650"/>
              <a:ext cx="2647950" cy="1504950"/>
            </a:xfrm>
            <a:prstGeom prst="roundRect">
              <a:avLst>
                <a:gd name="adj" fmla="val 632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15050" y="48196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rgbClr val="3B7DD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257925" y="5038725"/>
              <a:ext cx="285750" cy="285750"/>
            </a:xfrm>
            <a:prstGeom prst="ellipse">
              <a:avLst/>
            </a:prstGeom>
            <a:solidFill>
              <a:srgbClr val="3B7D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8058" y="5099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41973" y="5091589"/>
              <a:ext cx="1262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Link + encode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00788" y="5423297"/>
              <a:ext cx="18483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linking layer ties columns to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00788" y="5632847"/>
              <a:ext cx="162264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values; all cells plus a CLS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0788" y="5842397"/>
              <a:ext cx="220948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pass a Transformer encoder.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886825" y="4819650"/>
            <a:ext cx="2647950" cy="1504950"/>
            <a:chOff x="8886825" y="4819650"/>
            <a:chExt cx="2647950" cy="1504950"/>
          </a:xfrm>
        </p:grpSpPr>
        <p:sp>
          <p:nvSpPr>
            <p:cNvPr id="36" name="Rectangle 36"/>
            <p:cNvSpPr/>
            <p:nvPr/>
          </p:nvSpPr>
          <p:spPr>
            <a:xfrm>
              <a:off x="8886825" y="4819650"/>
              <a:ext cx="2647950" cy="1504950"/>
            </a:xfrm>
            <a:prstGeom prst="roundRect">
              <a:avLst>
                <a:gd name="adj" fmla="val 632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886825" y="4819650"/>
              <a:ext cx="2647950" cy="571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029700" y="5038725"/>
              <a:ext cx="285750" cy="2857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19833" y="5099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13748" y="5091589"/>
              <a:ext cx="1507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Shallow decoder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72562" y="5423297"/>
              <a:ext cx="179217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Weak LSTM decoder + prompt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2562" y="5632847"/>
              <a:ext cx="20025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keeps knowledge in the encoder.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2562" y="5842397"/>
              <a:ext cx="20766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Pretrain: masking + contrastive.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8549317" cy="656939"/>
            <a:chOff x="571500" y="533400"/>
            <a:chExt cx="8549317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83336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Kaggle-scale corpus, held-out benchmarks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3729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FIGURE 2 · DOMAIN &amp; DATA-TYPE DISTRIBUTION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447800"/>
            <a:ext cx="6858000" cy="4457700"/>
            <a:chOff x="571500" y="1447800"/>
            <a:chExt cx="6858000" cy="4457700"/>
          </a:xfrm>
        </p:grpSpPr>
        <p:sp>
          <p:nvSpPr>
            <p:cNvPr id="6" name="Rectangle 6"/>
            <p:cNvSpPr/>
            <p:nvPr/>
          </p:nvSpPr>
          <p:spPr>
            <a:xfrm>
              <a:off x="571500" y="1447800"/>
              <a:ext cx="6858000" cy="4457700"/>
            </a:xfrm>
            <a:prstGeom prst="roundRect">
              <a:avLst>
                <a:gd name="adj" fmla="val 256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5338" y="1674495"/>
              <a:ext cx="33241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DISTRIBUTION OF DOMAINS &amp; CELL DATA TYPES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382" y="1905000"/>
              <a:ext cx="6544235" cy="27813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95147" y="4942999"/>
              <a:ext cx="36013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Left: tables per domain. Right: numeric / categorical /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147" y="5152549"/>
              <a:ext cx="36906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textual cell proportions across train / dev / test splits.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0" y="1447800"/>
            <a:ext cx="4000500" cy="1409700"/>
            <a:chOff x="7620000" y="1447800"/>
            <a:chExt cx="4000500" cy="1409700"/>
          </a:xfrm>
        </p:grpSpPr>
        <p:sp>
          <p:nvSpPr>
            <p:cNvPr id="12" name="Rectangle 12"/>
            <p:cNvSpPr/>
            <p:nvPr/>
          </p:nvSpPr>
          <p:spPr>
            <a:xfrm>
              <a:off x="7620000" y="1447800"/>
              <a:ext cx="400050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0" y="14478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00797" y="1723549"/>
              <a:ext cx="9509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CORPUS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96987" y="2042636"/>
              <a:ext cx="218270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 TB from Kaggle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00035" y="2393156"/>
              <a:ext cx="1896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303 domains · 283K tables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0035" y="2602706"/>
              <a:ext cx="1773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≈13B individual examples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0" y="2971800"/>
            <a:ext cx="4000500" cy="1409700"/>
            <a:chOff x="7620000" y="2971800"/>
            <a:chExt cx="4000500" cy="1409700"/>
          </a:xfrm>
        </p:grpSpPr>
        <p:sp>
          <p:nvSpPr>
            <p:cNvPr id="19" name="Rectangle 19"/>
            <p:cNvSpPr/>
            <p:nvPr/>
          </p:nvSpPr>
          <p:spPr>
            <a:xfrm>
              <a:off x="7620000" y="2971800"/>
              <a:ext cx="400050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0" y="29718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0797" y="3247549"/>
              <a:ext cx="1018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TABLE SHAPE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6987" y="3566636"/>
              <a:ext cx="25478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≈29 numeric columns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00035" y="3917156"/>
              <a:ext cx="1728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Plus ~8 textual columns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00035" y="4126706"/>
              <a:ext cx="260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Top: investing, finance, economics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0" y="4495800"/>
            <a:ext cx="4000500" cy="1409700"/>
            <a:chOff x="7620000" y="4495800"/>
            <a:chExt cx="4000500" cy="1409700"/>
          </a:xfrm>
        </p:grpSpPr>
        <p:sp>
          <p:nvSpPr>
            <p:cNvPr id="26" name="Rectangle 26"/>
            <p:cNvSpPr/>
            <p:nvPr/>
          </p:nvSpPr>
          <p:spPr>
            <a:xfrm>
              <a:off x="7620000" y="4495800"/>
              <a:ext cx="400050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20000" y="44958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3B7DD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00797" y="4771549"/>
              <a:ext cx="9509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EVALUATION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6987" y="5090636"/>
              <a:ext cx="26762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 held-out + 7 public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0035" y="5441156"/>
              <a:ext cx="2242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classification + 6 regression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00035" y="5650706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never seen, plus 7 public sets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33" name="TextBox 33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7515063" cy="656939"/>
            <a:chOff x="571500" y="533400"/>
            <a:chExt cx="7515063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72994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Key result: pretraining beats XGBoost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4039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AVERAGE AUC OVER 7 PUBLIC TABULAR BENCHMARKS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428750"/>
            <a:ext cx="5829300" cy="4476750"/>
            <a:chOff x="571500" y="1428750"/>
            <a:chExt cx="5829300" cy="44767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829300" cy="4476750"/>
            </a:xfrm>
            <a:prstGeom prst="roundRect">
              <a:avLst>
                <a:gd name="adj" fmla="val 255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2297" y="1704499"/>
              <a:ext cx="2305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AVERAGE AUC · 7 BENCHMARKS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524000" y="523875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738" y="51796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0.70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524000" y="428625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7738" y="42271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0.75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524000" y="333375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7738" y="32746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24000" y="238125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7738" y="232219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0.85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14500" y="2762250"/>
              <a:ext cx="1047750" cy="2476500"/>
            </a:xfrm>
            <a:prstGeom prst="roundRect">
              <a:avLst>
                <a:gd name="adj" fmla="val 5455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84324" y="248602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0.83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8030" y="5362099"/>
              <a:ext cx="5206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UniTabE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33750" y="3143250"/>
              <a:ext cx="1047750" cy="2095500"/>
            </a:xfrm>
            <a:prstGeom prst="roundRect">
              <a:avLst>
                <a:gd name="adj" fmla="val 5455"/>
              </a:avLst>
            </a:prstGeom>
            <a:solidFill>
              <a:srgbClr val="3B7D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03574" y="286702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0.81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7304" y="5362099"/>
              <a:ext cx="9006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baseline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53000" y="3524250"/>
              <a:ext cx="1047750" cy="1714500"/>
            </a:xfrm>
            <a:prstGeom prst="roundRect">
              <a:avLst>
                <a:gd name="adj" fmla="val 5455"/>
              </a:avLst>
            </a:prstGeom>
            <a:solidFill>
              <a:srgbClr val="E08A1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22824" y="324802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0.79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98795" y="5362099"/>
              <a:ext cx="5561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XGBoost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297" y="5628799"/>
              <a:ext cx="43082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Beats Tapas, FT-Transformer and the industry-favorite XGBoost.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29400" y="1428750"/>
            <a:ext cx="4991100" cy="786384"/>
            <a:chOff x="6629400" y="1428750"/>
            <a:chExt cx="4991100" cy="786384"/>
          </a:xfrm>
        </p:grpSpPr>
        <p:sp>
          <p:nvSpPr>
            <p:cNvPr id="27" name="Rectangle 27"/>
            <p:cNvSpPr/>
            <p:nvPr/>
          </p:nvSpPr>
          <p:spPr>
            <a:xfrm>
              <a:off x="6629400" y="1428750"/>
              <a:ext cx="4991100" cy="781050"/>
            </a:xfrm>
            <a:prstGeom prst="roundRect">
              <a:avLst>
                <a:gd name="adj" fmla="val 1463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3238" y="1674495"/>
              <a:ext cx="914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VERDICT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48856" y="1863090"/>
              <a:ext cx="2888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Pretraining pays off.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29400" y="2362200"/>
            <a:ext cx="4991100" cy="1788128"/>
            <a:chOff x="6629400" y="2362200"/>
            <a:chExt cx="4991100" cy="1788128"/>
          </a:xfrm>
        </p:grpSpPr>
        <p:sp>
          <p:nvSpPr>
            <p:cNvPr id="31" name="Rectangle 31"/>
            <p:cNvSpPr/>
            <p:nvPr/>
          </p:nvSpPr>
          <p:spPr>
            <a:xfrm>
              <a:off x="6629400" y="2362200"/>
              <a:ext cx="4991100" cy="1695450"/>
            </a:xfrm>
            <a:prstGeom prst="roundRect">
              <a:avLst>
                <a:gd name="adj" fmla="val 6742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29400" y="2362200"/>
              <a:ext cx="57150" cy="16954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10197" y="2637949"/>
              <a:ext cx="22278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HELD-OUT KAGGLE TASKS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05244" y="2932748"/>
              <a:ext cx="30278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Wins on unseen tasks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08673" y="3405664"/>
              <a:ext cx="31803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Across classification and regression,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8673" y="3653314"/>
              <a:ext cx="2726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UniTabE again beats XGBoost and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8673" y="3900964"/>
              <a:ext cx="2316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strong TransTab variant.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29400" y="4210050"/>
            <a:ext cx="4991100" cy="1788128"/>
            <a:chOff x="6629400" y="4210050"/>
            <a:chExt cx="4991100" cy="1788128"/>
          </a:xfrm>
        </p:grpSpPr>
        <p:sp>
          <p:nvSpPr>
            <p:cNvPr id="39" name="Rectangle 39"/>
            <p:cNvSpPr/>
            <p:nvPr/>
          </p:nvSpPr>
          <p:spPr>
            <a:xfrm>
              <a:off x="6629400" y="4210050"/>
              <a:ext cx="4991100" cy="1695450"/>
            </a:xfrm>
            <a:prstGeom prst="roundRect">
              <a:avLst>
                <a:gd name="adj" fmla="val 6742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29400" y="4210050"/>
              <a:ext cx="57150" cy="1695450"/>
            </a:xfrm>
            <a:prstGeom prst="roundRect">
              <a:avLst>
                <a:gd name="adj" fmla="val 50000"/>
              </a:avLst>
            </a:prstGeom>
            <a:solidFill>
              <a:srgbClr val="3B7DD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10197" y="4485799"/>
              <a:ext cx="920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ZERO-SHOT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05244" y="4780598"/>
              <a:ext cx="39278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Predicts with no finetuning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8673" y="5253514"/>
              <a:ext cx="2482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some datasets it predicts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08673" y="5501164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accurately with zero task-specific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8673" y="5748814"/>
              <a:ext cx="226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finetuning, real transfer.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47" name="TextBox 47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8096730" cy="656939"/>
            <a:chOff x="571500" y="533400"/>
            <a:chExt cx="8096730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78810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Ablation: every component earns its 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4641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LINKING LAYER, FUSE GATE, OBJECTIVES, DECODER DEPTH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447800"/>
            <a:ext cx="5429250" cy="2057400"/>
            <a:chOff x="571500" y="1447800"/>
            <a:chExt cx="5429250" cy="2057400"/>
          </a:xfrm>
        </p:grpSpPr>
        <p:sp>
          <p:nvSpPr>
            <p:cNvPr id="6" name="Rectangle 6"/>
            <p:cNvSpPr/>
            <p:nvPr/>
          </p:nvSpPr>
          <p:spPr>
            <a:xfrm>
              <a:off x="571500" y="1447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rgbClr val="FBEEEC"/>
            </a:solidFill>
            <a:ln w="9525">
              <a:solidFill>
                <a:srgbClr val="E7B6A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47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2297" y="1723549"/>
              <a:ext cx="2467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BIGGEST DROP · LINKING LAYER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487" y="2061686"/>
              <a:ext cx="35164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Removing column–value links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160" y="25908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E9E5B"/>
                  </a:solidFill>
                  <a:latin typeface="+mj-lt"/>
                  <a:ea typeface="+mj-ea"/>
                  <a:cs typeface="+mj-cs"/>
                </a:rPr>
                <a:t>0.83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26920" y="26146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66010" y="25908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C0392B"/>
                  </a:solidFill>
                  <a:latin typeface="+mj-lt"/>
                  <a:ea typeface="+mj-ea"/>
                  <a:cs typeface="+mj-cs"/>
                </a:rPr>
                <a:t>0.75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685" y="3155156"/>
              <a:ext cx="3682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average AUC falls when the linking layer is ablated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91250" y="1447800"/>
            <a:ext cx="5429250" cy="2057400"/>
            <a:chOff x="6191250" y="1447800"/>
            <a:chExt cx="5429250" cy="2057400"/>
          </a:xfrm>
        </p:grpSpPr>
        <p:sp>
          <p:nvSpPr>
            <p:cNvPr id="15" name="Rectangle 15"/>
            <p:cNvSpPr/>
            <p:nvPr/>
          </p:nvSpPr>
          <p:spPr>
            <a:xfrm>
              <a:off x="6191250" y="1447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447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72047" y="1723549"/>
              <a:ext cx="8252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FUSE GATE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7094" y="2018348"/>
              <a:ext cx="37415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Data-type fusion matters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523" y="2491264"/>
              <a:ext cx="3042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Dropping the fuse layer that injects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523" y="2738914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data-type information also hurts,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0523" y="2986564"/>
              <a:ext cx="2778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removing both is worse still.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3733800"/>
            <a:ext cx="5429250" cy="2057400"/>
            <a:chOff x="571500" y="3733800"/>
            <a:chExt cx="5429250" cy="2057400"/>
          </a:xfrm>
        </p:grpSpPr>
        <p:sp>
          <p:nvSpPr>
            <p:cNvPr id="23" name="Rectangle 23"/>
            <p:cNvSpPr/>
            <p:nvPr/>
          </p:nvSpPr>
          <p:spPr>
            <a:xfrm>
              <a:off x="571500" y="3733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3733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2297" y="4009549"/>
              <a:ext cx="19983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PRETRAINING OBJECTIVES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7344" y="4304348"/>
              <a:ext cx="40322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signals, complementary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0773" y="4777264"/>
              <a:ext cx="3085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Dropping either objective, multi-cell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0773" y="5024914"/>
              <a:ext cx="2778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masking or contrastive learning,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0773" y="5272564"/>
              <a:ext cx="2235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reduces performance too.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91250" y="3733800"/>
            <a:ext cx="5429250" cy="2057400"/>
            <a:chOff x="6191250" y="3733800"/>
            <a:chExt cx="5429250" cy="2057400"/>
          </a:xfrm>
        </p:grpSpPr>
        <p:sp>
          <p:nvSpPr>
            <p:cNvPr id="31" name="Rectangle 31"/>
            <p:cNvSpPr/>
            <p:nvPr/>
          </p:nvSpPr>
          <p:spPr>
            <a:xfrm>
              <a:off x="6191250" y="3733800"/>
              <a:ext cx="5429250" cy="2057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91250" y="3733800"/>
              <a:ext cx="57150" cy="2057400"/>
            </a:xfrm>
            <a:prstGeom prst="roundRect">
              <a:avLst>
                <a:gd name="adj" fmla="val 50000"/>
              </a:avLst>
            </a:prstGeom>
            <a:solidFill>
              <a:srgbClr val="3B7DD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2047" y="4009549"/>
              <a:ext cx="12402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DECODER DEPTH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7094" y="4304348"/>
              <a:ext cx="30110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Shallow decoder wins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523" y="4777264"/>
              <a:ext cx="2604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1-layer decoder beats 3- and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523" y="5024914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6-layer ones, confirming the choice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0523" y="5272564"/>
              <a:ext cx="28733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keep knowledge in the encoder.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39" name="TextBox 39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533400"/>
            <a:ext cx="7850469" cy="656939"/>
            <a:chOff x="571500" y="533400"/>
            <a:chExt cx="7850469" cy="656939"/>
          </a:xfrm>
        </p:grpSpPr>
        <p:sp>
          <p:nvSpPr>
            <p:cNvPr id="2" name="Rectangle 2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87146" y="562928"/>
              <a:ext cx="76348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Takeaway: a foundation model for tables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95147" y="999649"/>
              <a:ext cx="4210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RESPECT STRUCTURE, PRETRAIN AT SCALE, TRANSFER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447800"/>
            <a:ext cx="11049000" cy="1428750"/>
            <a:chOff x="571500" y="1447800"/>
            <a:chExt cx="11049000" cy="1428750"/>
          </a:xfrm>
        </p:grpSpPr>
        <p:sp>
          <p:nvSpPr>
            <p:cNvPr id="6" name="Rectangle 6"/>
            <p:cNvSpPr/>
            <p:nvPr/>
          </p:nvSpPr>
          <p:spPr>
            <a:xfrm>
              <a:off x="571500" y="1447800"/>
              <a:ext cx="1104900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4478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638" y="1769745"/>
              <a:ext cx="1282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BIG PICTURE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4494" y="2094548"/>
              <a:ext cx="75548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The pretraining paradigm that reshaped language and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4494" y="2437448"/>
              <a:ext cx="65726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vision can extend to structured tabular data.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3086100"/>
            <a:ext cx="5429250" cy="2819400"/>
            <a:chOff x="571500" y="3086100"/>
            <a:chExt cx="5429250" cy="2819400"/>
          </a:xfrm>
        </p:grpSpPr>
        <p:sp>
          <p:nvSpPr>
            <p:cNvPr id="12" name="Rectangle 12"/>
            <p:cNvSpPr/>
            <p:nvPr/>
          </p:nvSpPr>
          <p:spPr>
            <a:xfrm>
              <a:off x="571500" y="3086100"/>
              <a:ext cx="5429250" cy="2819400"/>
            </a:xfrm>
            <a:prstGeom prst="roundRect">
              <a:avLst>
                <a:gd name="adj" fmla="val 405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3086100"/>
              <a:ext cx="57150" cy="2819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2297" y="3361849"/>
              <a:ext cx="11378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PRINCIPLE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7344" y="3656648"/>
              <a:ext cx="32742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Respect the structure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773" y="4129564"/>
              <a:ext cx="2655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Don't flatten tables into text.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0773" y="4377214"/>
              <a:ext cx="2181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Represent each cell by its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0773" y="4624864"/>
              <a:ext cx="3002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column name, value, and data type,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0773" y="4872514"/>
              <a:ext cx="2672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refine with a Transformer, and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0773" y="5120164"/>
              <a:ext cx="2985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 through free-form prompts.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191250" y="3086100"/>
            <a:ext cx="5429250" cy="2819400"/>
            <a:chOff x="6191250" y="3086100"/>
            <a:chExt cx="5429250" cy="2819400"/>
          </a:xfrm>
        </p:grpSpPr>
        <p:sp>
          <p:nvSpPr>
            <p:cNvPr id="22" name="Rectangle 22"/>
            <p:cNvSpPr/>
            <p:nvPr/>
          </p:nvSpPr>
          <p:spPr>
            <a:xfrm>
              <a:off x="6191250" y="3086100"/>
              <a:ext cx="5429250" cy="2819400"/>
            </a:xfrm>
            <a:prstGeom prst="roundRect">
              <a:avLst>
                <a:gd name="adj" fmla="val 4054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91250" y="3086100"/>
              <a:ext cx="57150" cy="28194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72047" y="3361849"/>
              <a:ext cx="1105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OUTCOME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7094" y="3656648"/>
              <a:ext cx="33607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general tabular model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0523" y="4129564"/>
              <a:ext cx="2939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Pretrained on billions of examples,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0523" y="4377214"/>
              <a:ext cx="2795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UniTabE transfers across tasks,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523" y="4624864"/>
              <a:ext cx="27526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beats the long-standing XGBoost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0523" y="4872514"/>
              <a:ext cx="2701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baseline, and gracefully handles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0523" y="5120164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missing values and new columns.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738" y="6597491"/>
            <a:ext cx="11058524" cy="161925"/>
            <a:chOff x="566738" y="6597491"/>
            <a:chExt cx="11058524" cy="161925"/>
          </a:xfrm>
        </p:grpSpPr>
        <p:sp>
          <p:nvSpPr>
            <p:cNvPr id="32" name="TextBox 32"/>
            <p:cNvSpPr txBox="1"/>
            <p:nvPr/>
          </p:nvSpPr>
          <p:spPr>
            <a:xfrm>
              <a:off x="566738" y="6597491"/>
              <a:ext cx="526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UniTabE: A Universal Pretraining Protocol for Tabular Foundation Models · Yang et al. · ICLR 2024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94310" y="65974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_unitabe">
  <a:themeElements>
    <a:clrScheme name="deck_unitabe">
      <a:dk1>
        <a:srgbClr val="1A202C"/>
      </a:dk1>
      <a:lt1>
        <a:srgbClr val="FFFFFF"/>
      </a:lt1>
      <a:dk2>
        <a:srgbClr val="4A5568"/>
      </a:dk2>
      <a:lt2>
        <a:srgbClr val="F4F6F9"/>
      </a:lt2>
      <a:accent1>
        <a:srgbClr val="16324F"/>
      </a:accent1>
      <a:accent2>
        <a:srgbClr val="1F9E8F"/>
      </a:accent2>
      <a:accent3>
        <a:srgbClr val="5FB0A6"/>
      </a:accent3>
      <a:accent4>
        <a:srgbClr val="E2E8F0"/>
      </a:accent4>
      <a:accent5>
        <a:srgbClr val="E7F4F1"/>
      </a:accent5>
      <a:accent6>
        <a:srgbClr val="94A3B8"/>
      </a:accent6>
      <a:hlink>
        <a:srgbClr val="1F9E8F"/>
      </a:hlink>
      <a:folHlink>
        <a:srgbClr val="5FB0A6"/>
      </a:folHlink>
    </a:clrScheme>
    <a:fontScheme name="deck_unitabe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_unitab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2026-07-15T18:13:19Z</dcterms:created>
  <dcterms:modified xsi:type="dcterms:W3CDTF">2026-07-15T18:13:19Z</dcterms:modified>
  <cp:category/>
  <cp:contentStatus/>
</cp:coreProperties>
</file>
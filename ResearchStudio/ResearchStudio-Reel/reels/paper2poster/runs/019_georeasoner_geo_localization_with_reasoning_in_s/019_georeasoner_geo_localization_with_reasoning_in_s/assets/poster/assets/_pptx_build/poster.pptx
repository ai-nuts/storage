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6280785"/>
          </a:xfrm>
          <a:prstGeom prst="roundRect">
            <a:avLst>
              <a:gd name="adj" fmla="val 2264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7454126"/>
            <a:ext cx="16349682" cy="7576363"/>
          </a:xfrm>
          <a:prstGeom prst="roundRect">
            <a:avLst>
              <a:gd name="adj" fmla="val 1564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7454126"/>
            <a:ext cx="16349682" cy="15592921"/>
          </a:xfrm>
          <a:prstGeom prst="roundRect">
            <a:avLst>
              <a:gd name="adj" fmla="val 760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7454126"/>
            <a:ext cx="16349821" cy="6721673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14507646"/>
            <a:ext cx="16349821" cy="4437916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5362336"/>
            <a:ext cx="16349682" cy="14709616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19277409"/>
            <a:ext cx="16349821" cy="4090233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3378894"/>
            <a:ext cx="16349682" cy="669305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3699489"/>
            <a:ext cx="16349821" cy="6372463"/>
          </a:xfrm>
          <a:prstGeom prst="roundRect">
            <a:avLst>
              <a:gd name="adj" fmla="val 1860"/>
            </a:avLst>
          </a:prstGeom>
          <a:solidFill>
            <a:srgbClr val="F7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3699489"/>
            <a:ext cx="16349821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952" y="23699489"/>
            <a:ext cx="35560" cy="6372463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3699489"/>
            <a:ext cx="53340" cy="6372463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002" y="5157727"/>
            <a:ext cx="4347210" cy="1466850"/>
          </a:xfrm>
          <a:prstGeom prst="rect">
            <a:avLst/>
          </a:prstGeom>
        </p:spPr>
      </p:pic>
      <p:pic>
        <p:nvPicPr>
          <p:cNvPr id="16" name="Picture 15" descr="the-hong-kong-university-of-science-and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9186" y="5157757"/>
            <a:ext cx="944424" cy="1466791"/>
          </a:xfrm>
          <a:prstGeom prst="rect">
            <a:avLst/>
          </a:prstGeom>
        </p:spPr>
      </p:pic>
      <p:pic>
        <p:nvPicPr>
          <p:cNvPr id="17" name="Picture 16" descr="tongji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0584" y="5157727"/>
            <a:ext cx="1466850" cy="1466850"/>
          </a:xfrm>
          <a:prstGeom prst="rect">
            <a:avLst/>
          </a:prstGeom>
        </p:spPr>
      </p:pic>
      <p:pic>
        <p:nvPicPr>
          <p:cNvPr id="18" name="Picture 17" descr="pla-information-engineering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4408" y="5157727"/>
            <a:ext cx="1466850" cy="14668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04189" y="7119362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12830" y="7119362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46444" y="7119362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43063" y="12493505"/>
            <a:ext cx="15520134" cy="3018572"/>
          </a:xfrm>
          <a:prstGeom prst="roundRect">
            <a:avLst>
              <a:gd name="adj" fmla="val 6081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19465" y="12606714"/>
            <a:ext cx="15520273" cy="1252101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052228" y="14172882"/>
            <a:ext cx="4654748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8388" y="15027572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541122" y="18942645"/>
            <a:ext cx="5676960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619465" y="19787056"/>
            <a:ext cx="15520273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34887" y="23044130"/>
            <a:ext cx="6336347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773359" y="23364725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6661" y="11266963"/>
            <a:ext cx="7451486" cy="3348752"/>
          </a:xfrm>
          <a:prstGeom prst="roundRect">
            <a:avLst>
              <a:gd name="adj" fmla="val 622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35308" y="11266963"/>
            <a:ext cx="7451487" cy="2592547"/>
          </a:xfrm>
          <a:prstGeom prst="roundRect">
            <a:avLst>
              <a:gd name="adj" fmla="val 8046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843063" y="16156463"/>
            <a:ext cx="15520134" cy="4911725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43119" y="16156463"/>
            <a:ext cx="15520022" cy="491172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66661" y="19821505"/>
            <a:ext cx="15520134" cy="8292981"/>
          </a:xfrm>
          <a:prstGeom prst="roundRect">
            <a:avLst>
              <a:gd name="adj" fmla="val 42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681" y="19821505"/>
            <a:ext cx="15520093" cy="8292981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4534732" y="20009306"/>
            <a:ext cx="5359142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534732" y="20009306"/>
            <a:ext cx="11557" cy="2305288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843063" y="28052256"/>
            <a:ext cx="3684488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788278" y="28052256"/>
            <a:ext cx="3684489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733494" y="28052256"/>
            <a:ext cx="3684488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678709" y="28052256"/>
            <a:ext cx="3684488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619465" y="8157686"/>
            <a:ext cx="6594436" cy="100998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619465" y="9158783"/>
            <a:ext cx="65944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13901" y="8157686"/>
            <a:ext cx="5405953" cy="100998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213901" y="9158783"/>
            <a:ext cx="540595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19854" y="8157686"/>
            <a:ext cx="3519884" cy="100998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19854" y="9158783"/>
            <a:ext cx="35198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619465" y="9167673"/>
            <a:ext cx="6594436" cy="10144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619465" y="10173215"/>
            <a:ext cx="65944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213901" y="9167673"/>
            <a:ext cx="5405953" cy="10144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213901" y="10173215"/>
            <a:ext cx="540595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619854" y="9167673"/>
            <a:ext cx="3519884" cy="10144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19854" y="10173215"/>
            <a:ext cx="35198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619465" y="10182105"/>
            <a:ext cx="6594436" cy="10144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619465" y="11187648"/>
            <a:ext cx="65944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213901" y="10182105"/>
            <a:ext cx="5405953" cy="10144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213901" y="11187648"/>
            <a:ext cx="540595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619854" y="10182105"/>
            <a:ext cx="3519884" cy="10144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19854" y="11187648"/>
            <a:ext cx="35198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619465" y="11196538"/>
            <a:ext cx="6594436" cy="101443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619465" y="12202080"/>
            <a:ext cx="65944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213901" y="11196538"/>
            <a:ext cx="5405953" cy="101443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213901" y="12202080"/>
            <a:ext cx="540595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6619854" y="11196538"/>
            <a:ext cx="3519884" cy="101443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619854" y="12202080"/>
            <a:ext cx="35198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619465" y="15167451"/>
            <a:ext cx="7888486" cy="58437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619465" y="15742939"/>
            <a:ext cx="78884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507951" y="15167451"/>
            <a:ext cx="4607382" cy="58437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507951" y="15742939"/>
            <a:ext cx="460738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115333" y="15167451"/>
            <a:ext cx="3024405" cy="58437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115333" y="15742939"/>
            <a:ext cx="30244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619465" y="15751829"/>
            <a:ext cx="7888486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619465" y="16331763"/>
            <a:ext cx="78884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507951" y="15751829"/>
            <a:ext cx="4607382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507951" y="16331763"/>
            <a:ext cx="460738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115333" y="15751829"/>
            <a:ext cx="3024405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115333" y="16331763"/>
            <a:ext cx="30244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19465" y="16340653"/>
            <a:ext cx="7888486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619465" y="16920587"/>
            <a:ext cx="78884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507951" y="16340653"/>
            <a:ext cx="4607382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507951" y="16920587"/>
            <a:ext cx="460738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7115333" y="16340653"/>
            <a:ext cx="3024405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115333" y="16920587"/>
            <a:ext cx="30244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619465" y="16929477"/>
            <a:ext cx="7888486" cy="588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619465" y="17509410"/>
            <a:ext cx="78884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507951" y="16929477"/>
            <a:ext cx="4607382" cy="588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507951" y="17509410"/>
            <a:ext cx="460738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7115333" y="16929477"/>
            <a:ext cx="3024405" cy="588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7115333" y="17509410"/>
            <a:ext cx="30244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619465" y="17518300"/>
            <a:ext cx="7888486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619465" y="18098234"/>
            <a:ext cx="78884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507951" y="17518300"/>
            <a:ext cx="4607382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2507951" y="18098234"/>
            <a:ext cx="460738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115333" y="17518300"/>
            <a:ext cx="3024405" cy="588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7115333" y="18098234"/>
            <a:ext cx="30244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10163" y="12218610"/>
            <a:ext cx="6876395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Tunnels, blank walls, generic vegetation — no locatable clues.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78811" y="12218610"/>
            <a:ext cx="6777245" cy="153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coordinate is returned with no explanation to inspect.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5581" y="1007487"/>
            <a:ext cx="49001957" cy="27590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97"/>
              </a:lnSpc>
              <a:spcBef>
                <a:spcPts val="0"/>
              </a:spcBef>
              <a:spcAft>
                <a:spcPts val="0"/>
              </a:spcAft>
            </a:pPr>
            <a:r>
              <a:rPr sz="7634" b="1" spc="-85">
                <a:solidFill>
                  <a:srgbClr val="8F2437"/>
                </a:solidFill>
                <a:latin typeface="Arial"/>
              </a:rPr>
              <a:t>GeoReasoner: Geo-localization with Reasoning in Street Views using a Large Vision-Language</a:t>
            </a:r>
          </a:p>
          <a:p>
            <a:pPr algn="ctr">
              <a:lnSpc>
                <a:spcPts val="8397"/>
              </a:lnSpc>
              <a:spcBef>
                <a:spcPts val="0"/>
              </a:spcBef>
              <a:spcAft>
                <a:spcPts val="0"/>
              </a:spcAft>
            </a:pPr>
            <a:r>
              <a:rPr sz="7634" b="1" spc="-85">
                <a:solidFill>
                  <a:srgbClr val="8F2437"/>
                </a:solidFill>
                <a:latin typeface="Arial"/>
              </a:rPr>
              <a:t>Model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15581" y="3646566"/>
            <a:ext cx="49001957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Ling Li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Yu Ye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Yao Zhou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Bingchuan Jiang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4106" b="0">
                <a:solidFill>
                  <a:srgbClr val="1B2331"/>
                </a:solidFill>
                <a:latin typeface="Arial"/>
              </a:rPr>
              <a:t>, Wei Zeng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15581" y="4381380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HKUST (Guangzhou)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Tongji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Independent Researcher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Information Engineering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HKUST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04189" y="7119362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312830" y="7119362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446444" y="7119362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6661" y="7963773"/>
            <a:ext cx="1594685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Geo-localization models are </a:t>
            </a:r>
            <a:r>
              <a:rPr sz="4106" b="1">
                <a:solidFill>
                  <a:srgbClr val="111111"/>
                </a:solidFill>
                <a:latin typeface="Arial"/>
              </a:rPr>
              <a:t>black boxes</a:t>
            </a:r>
            <a:r>
              <a:rPr sz="4106" b="0">
                <a:solidFill>
                  <a:srgbClr val="1C1C1C"/>
                </a:solidFill>
                <a:latin typeface="Arial"/>
              </a:rPr>
              <a:t> that output a location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with no reasoning, and their training data is polluted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low-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quality images</a:t>
            </a:r>
            <a:r>
              <a:rPr sz="4106" b="0">
                <a:solidFill>
                  <a:srgbClr val="1C1C1C"/>
                </a:solidFill>
                <a:latin typeface="Arial"/>
              </a:rPr>
              <a:t> carrying no visual clues. Retrieval galleries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costly to curate; classification ignores signboard text.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619465" y="12606714"/>
            <a:ext cx="15946993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+25.02% country · +38.61% city F1 over Qwen-VL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052228" y="14172882"/>
            <a:ext cx="4794390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08388" y="15027572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502659" y="15151060"/>
            <a:ext cx="4326970" cy="296481"/>
          </a:xfrm>
          <a:prstGeom prst="rect">
            <a:avLst/>
          </a:prstGeom>
          <a:noFill/>
        </p:spPr>
        <p:txBody>
          <a:bodyPr wrap="square" lIns="321273" rIns="321273" tIns="55075" bIns="55075">
            <a:spAutoFit/>
          </a:bodyPr>
          <a:lstStyle/>
          <a:p>
            <a:pPr algn="ctr">
              <a:lnSpc>
                <a:spcPts val="2620"/>
              </a:lnSpc>
              <a:spcBef>
                <a:spcPts val="0"/>
              </a:spcBef>
              <a:spcAft>
                <a:spcPts val="0"/>
              </a:spcAft>
            </a:pPr>
            <a:r>
              <a:rPr sz="1806" b="0" i="1">
                <a:solidFill>
                  <a:srgbClr val="555555"/>
                </a:solidFill>
                <a:latin typeface="Cambria Math"/>
              </a:rPr>
              <a:t>segment-area ratios × clue-relevance weights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619465" y="18288813"/>
            <a:ext cx="15946993" cy="662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537"/>
              </a:lnSpc>
              <a:spcBef>
                <a:spcPts val="0"/>
              </a:spcBef>
              <a:spcAft>
                <a:spcPts val="0"/>
              </a:spcAft>
            </a:pPr>
            <a:r>
              <a:rPr sz="3490" b="0" i="1">
                <a:solidFill>
                  <a:srgbClr val="555555"/>
                </a:solidFill>
                <a:latin typeface="Arial"/>
              </a:rPr>
              <a:t>Location tuning drives city accuracy; reasoning tuning adds a further lift.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541122" y="18942645"/>
            <a:ext cx="5847268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619465" y="22660332"/>
            <a:ext cx="15946993" cy="71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 open Im2GPS, only 10K Flickr images rival models trained on millions.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434887" y="23044130"/>
            <a:ext cx="65264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Dataset / Benchmark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773359" y="23364725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637245" y="24209136"/>
            <a:ext cx="15929213" cy="6087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Curating high-locatability street views and injecting human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from geo-games lets a two-stage fine-tuned LVLM </a:t>
            </a:r>
            <a:r>
              <a:rPr sz="4106" b="1">
                <a:solidFill>
                  <a:srgbClr val="111111"/>
                </a:solidFill>
                <a:latin typeface="Arial"/>
              </a:rPr>
              <a:t>beat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prior models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explain</a:t>
            </a:r>
            <a:r>
              <a:rPr sz="4106" b="0">
                <a:solidFill>
                  <a:srgbClr val="1C1C1C"/>
                </a:solidFill>
                <a:latin typeface="Arial"/>
              </a:rPr>
              <a:t> its predictions — with a fraction of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data. Data quality plus human reasoning knowledge substitutes for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sheer scale, pointing toward interpretable and resource-efficient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geo-localization. The locatability metric and borrowed geo-game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are the two keys.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843045" y="7963773"/>
            <a:ext cx="1594687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Built on </a:t>
            </a:r>
            <a:r>
              <a:rPr sz="4106" b="1">
                <a:solidFill>
                  <a:srgbClr val="111111"/>
                </a:solidFill>
                <a:latin typeface="Arial"/>
              </a:rPr>
              <a:t>Qwen-VL</a:t>
            </a:r>
            <a:r>
              <a:rPr sz="4106" b="0">
                <a:solidFill>
                  <a:srgbClr val="1C1C1C"/>
                </a:solidFill>
                <a:latin typeface="Arial"/>
              </a:rPr>
              <a:t>, fine-tuned in two stages with stacked </a:t>
            </a:r>
            <a:r>
              <a:rPr sz="4106" b="1">
                <a:solidFill>
                  <a:srgbClr val="111111"/>
                </a:solidFill>
                <a:latin typeface="Arial"/>
              </a:rPr>
              <a:t>LoRA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adapters (LoRA 1 + LoRA 2).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843045" y="9658707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Reasoning tuning</a:t>
            </a:r>
            <a:r>
              <a:rPr sz="4106" b="0">
                <a:solidFill>
                  <a:srgbClr val="1C1C1C"/>
                </a:solidFill>
                <a:latin typeface="Arial"/>
              </a:rPr>
              <a:t> (3K game pairs) teaches country-level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reasoning; </a:t>
            </a:r>
            <a:r>
              <a:rPr sz="4106" b="1">
                <a:solidFill>
                  <a:srgbClr val="111111"/>
                </a:solidFill>
                <a:latin typeface="Arial"/>
              </a:rPr>
              <a:t>location tuning</a:t>
            </a:r>
            <a:r>
              <a:rPr sz="4106" b="0">
                <a:solidFill>
                  <a:srgbClr val="1C1C1C"/>
                </a:solidFill>
                <a:latin typeface="Arial"/>
              </a:rPr>
              <a:t> (70K GSV images) sharpens city-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level prediction. A </a:t>
            </a:r>
            <a:r>
              <a:rPr sz="4106" b="1">
                <a:solidFill>
                  <a:srgbClr val="111111"/>
                </a:solidFill>
                <a:latin typeface="Arial"/>
              </a:rPr>
              <a:t>locatability metric</a:t>
            </a:r>
            <a:r>
              <a:rPr sz="4106" b="0">
                <a:solidFill>
                  <a:srgbClr val="1C1C1C"/>
                </a:solidFill>
                <a:latin typeface="Arial"/>
              </a:rPr>
              <a:t> filters the data upstream.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48442" y="11266963"/>
            <a:ext cx="367269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8F2437"/>
                </a:solidFill>
                <a:latin typeface="Arial"/>
              </a:rPr>
              <a:t>+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66642" y="15871983"/>
            <a:ext cx="1594687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Large vision-language models excel at joint visual-textual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— a natural fit for </a:t>
            </a:r>
            <a:r>
              <a:rPr sz="4106" b="1">
                <a:solidFill>
                  <a:srgbClr val="111111"/>
                </a:solidFill>
                <a:latin typeface="Arial"/>
              </a:rPr>
              <a:t>interpretable</a:t>
            </a:r>
            <a:r>
              <a:rPr sz="4106" b="0">
                <a:solidFill>
                  <a:srgbClr val="1C1C1C"/>
                </a:solidFill>
                <a:latin typeface="Arial"/>
              </a:rPr>
              <a:t> geo-localization.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6642" y="17566917"/>
            <a:ext cx="1594687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Online geo-games (</a:t>
            </a:r>
            <a:r>
              <a:rPr sz="4106" b="1">
                <a:solidFill>
                  <a:srgbClr val="111111"/>
                </a:solidFill>
                <a:latin typeface="Arial"/>
              </a:rPr>
              <a:t>GeoGuessr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Tuxun</a:t>
            </a:r>
            <a:r>
              <a:rPr sz="4106" b="0">
                <a:solidFill>
                  <a:srgbClr val="1C1C1C"/>
                </a:solidFill>
                <a:latin typeface="Arial"/>
              </a:rPr>
              <a:t>) hold rich human clues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prior street-view dataset provides.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463835" y="21217790"/>
            <a:ext cx="14705171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GeoReasoner's two-stage fine-tuning: reasoning tuning then location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tuning.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843045" y="23888541"/>
            <a:ext cx="1594687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130K+</a:t>
            </a:r>
            <a:r>
              <a:rPr sz="4106" b="0">
                <a:solidFill>
                  <a:srgbClr val="1C1C1C"/>
                </a:solidFill>
                <a:latin typeface="Arial"/>
              </a:rPr>
              <a:t> geo-tagged GSV images from </a:t>
            </a:r>
            <a:r>
              <a:rPr sz="4106" b="1">
                <a:solidFill>
                  <a:srgbClr val="111111"/>
                </a:solidFill>
                <a:latin typeface="Arial"/>
              </a:rPr>
              <a:t>72 cities</a:t>
            </a:r>
            <a:r>
              <a:rPr sz="4106" b="0">
                <a:solidFill>
                  <a:srgbClr val="1C1C1C"/>
                </a:solidFill>
                <a:latin typeface="Arial"/>
              </a:rPr>
              <a:t> / </a:t>
            </a:r>
            <a:r>
              <a:rPr sz="4106" b="1">
                <a:solidFill>
                  <a:srgbClr val="111111"/>
                </a:solidFill>
                <a:latin typeface="Arial"/>
              </a:rPr>
              <a:t>48 countries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filtered to </a:t>
            </a:r>
            <a:r>
              <a:rPr sz="4106" b="1">
                <a:solidFill>
                  <a:srgbClr val="111111"/>
                </a:solidFill>
                <a:latin typeface="Arial"/>
              </a:rPr>
              <a:t>70K</a:t>
            </a:r>
            <a:r>
              <a:rPr sz="4106" b="0">
                <a:solidFill>
                  <a:srgbClr val="1C1C1C"/>
                </a:solidFill>
                <a:latin typeface="Arial"/>
              </a:rPr>
              <a:t> high-locatability images at threshold 0.4.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843045" y="25583475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3K</a:t>
            </a:r>
            <a:r>
              <a:rPr sz="4106" b="0">
                <a:solidFill>
                  <a:srgbClr val="1C1C1C"/>
                </a:solidFill>
                <a:latin typeface="Arial"/>
              </a:rPr>
              <a:t> reasoned text-image clue pairs mined from GeoGuessr &amp;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Tuxun and cleaned with BERT-based NER; evaluated on 1K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held-out GSV plus Im2GPS / Im2GPS3k.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87433" y="28264088"/>
            <a:ext cx="14705171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Three geo-localization paradigms: retrieval-based, classification-based,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and our LVLM-based approach with reasoning.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10163" y="11484352"/>
            <a:ext cx="717341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DATA PROBLEM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78811" y="11484352"/>
            <a:ext cx="717341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REASONING PROBLEM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865329" y="20009306"/>
            <a:ext cx="9368592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0.9033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865329" y="21384200"/>
            <a:ext cx="9368592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Country-level F1 (full GeoReasoner)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865329" y="21905654"/>
            <a:ext cx="9368592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+25.02% country and +38.61% city F1 over Qwen-VL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051561" y="28208664"/>
            <a:ext cx="33655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130K+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996777" y="28208664"/>
            <a:ext cx="336551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70K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941992" y="28208664"/>
            <a:ext cx="33655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3K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887207" y="28208664"/>
            <a:ext cx="33655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72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051561" y="29110860"/>
            <a:ext cx="33655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raw GSV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96777" y="29110860"/>
            <a:ext cx="336551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high-locatability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941992" y="29110860"/>
            <a:ext cx="33655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reasoned pairs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9887207" y="29110860"/>
            <a:ext cx="33655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cities · 48 countries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619465" y="8157686"/>
            <a:ext cx="6792269" cy="1161485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Method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213901" y="8157686"/>
            <a:ext cx="5568131" cy="1161485"/>
          </a:xfrm>
          <a:prstGeom prst="rect">
            <a:avLst/>
          </a:prstGeom>
          <a:noFill/>
        </p:spPr>
        <p:txBody>
          <a:bodyPr wrap="squar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Country F1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19854" y="8157686"/>
            <a:ext cx="3625480" cy="1161485"/>
          </a:xfrm>
          <a:prstGeom prst="rect">
            <a:avLst/>
          </a:prstGeom>
          <a:noFill/>
        </p:spPr>
        <p:txBody>
          <a:bodyPr wrap="squar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City F1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619465" y="9167673"/>
            <a:ext cx="6792269" cy="1166596"/>
          </a:xfrm>
          <a:prstGeom prst="rect">
            <a:avLst/>
          </a:prstGeom>
          <a:noFill/>
        </p:spPr>
        <p:txBody>
          <a:bodyPr wrap="square" lIns="71120" rIns="71120" tIns="151130" bIns="15113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Qwen-VL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213901" y="9167673"/>
            <a:ext cx="5568131" cy="1166596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0.7225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619854" y="9167673"/>
            <a:ext cx="3625480" cy="1166596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0.5270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619465" y="10182105"/>
            <a:ext cx="6792269" cy="1166597"/>
          </a:xfrm>
          <a:prstGeom prst="rect">
            <a:avLst/>
          </a:prstGeom>
          <a:noFill/>
        </p:spPr>
        <p:txBody>
          <a:bodyPr wrap="square" lIns="71120" rIns="71120" tIns="151130" bIns="15113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StreetCLIP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213901" y="10182105"/>
            <a:ext cx="5568131" cy="1166597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0.8854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619854" y="10182105"/>
            <a:ext cx="3625480" cy="1166597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0.8543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619465" y="11196538"/>
            <a:ext cx="6792269" cy="1166596"/>
          </a:xfrm>
          <a:prstGeom prst="rect">
            <a:avLst/>
          </a:prstGeom>
          <a:noFill/>
        </p:spPr>
        <p:txBody>
          <a:bodyPr wrap="square" lIns="71120" rIns="71120" tIns="151130" bIns="15113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GeoReasoner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213901" y="11196538"/>
            <a:ext cx="5568131" cy="1166596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0.9033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619854" y="11196538"/>
            <a:ext cx="3625480" cy="1166596"/>
          </a:xfrm>
          <a:prstGeom prst="rect">
            <a:avLst/>
          </a:prstGeom>
          <a:noFill/>
        </p:spPr>
        <p:txBody>
          <a:bodyPr wrap="none" lIns="71120" rIns="71120" tIns="151130" bIns="15113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0.8585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619465" y="15167451"/>
            <a:ext cx="8125140" cy="672034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Stage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507951" y="15167451"/>
            <a:ext cx="4745603" cy="672034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Country F1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115333" y="15167451"/>
            <a:ext cx="3115137" cy="672034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City F1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619465" y="15751829"/>
            <a:ext cx="8125140" cy="677147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1C1C1C"/>
                </a:solidFill>
                <a:latin typeface="Arial"/>
              </a:rPr>
              <a:t>Qwen-VL baseline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507951" y="15751829"/>
            <a:ext cx="4745603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0.7225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115333" y="15751829"/>
            <a:ext cx="3115137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0.5270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619465" y="16340653"/>
            <a:ext cx="8125140" cy="677147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1C1C1C"/>
                </a:solidFill>
                <a:latin typeface="Arial"/>
              </a:rPr>
              <a:t>+ Reasoning tuning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507951" y="16340653"/>
            <a:ext cx="4745603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0.8215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115333" y="16340653"/>
            <a:ext cx="3115137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0.5813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619465" y="16929477"/>
            <a:ext cx="8125140" cy="677146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1C1C1C"/>
                </a:solidFill>
                <a:latin typeface="Arial"/>
              </a:rPr>
              <a:t>+ Location tuning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2507951" y="16929477"/>
            <a:ext cx="4745603" cy="677146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0.8766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115333" y="16929477"/>
            <a:ext cx="3115137" cy="677146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1C1C1C"/>
                </a:solidFill>
                <a:latin typeface="Arial"/>
              </a:rPr>
              <a:t>0.8255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619465" y="17518300"/>
            <a:ext cx="8125140" cy="677147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Full (both stages)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2507951" y="17518300"/>
            <a:ext cx="4745603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0.9033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115333" y="17518300"/>
            <a:ext cx="3115137" cy="67714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1">
                <a:solidFill>
                  <a:srgbClr val="8F2437"/>
                </a:solidFill>
                <a:latin typeface="Arial"/>
              </a:rPr>
              <a:t>0.8585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012987" y="20009306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0.8585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6830436" y="20142656"/>
            <a:ext cx="116003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City F1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012987" y="20864552"/>
            <a:ext cx="2193314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+38.61%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7324942" y="20997902"/>
            <a:ext cx="264599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city vs Qwen-VL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012987" y="21719936"/>
            <a:ext cx="101338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70K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179382" y="21853286"/>
            <a:ext cx="256487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images vs 1.1M</a:t>
            </a:r>
          </a:p>
        </p:txBody>
      </p:sp>
      <p:pic>
        <p:nvPicPr>
          <p:cNvPr id="170" name="Picture 169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73104" y="13016349"/>
            <a:ext cx="14860052" cy="1640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
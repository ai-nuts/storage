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186773"/>
          </a:xfrm>
          <a:prstGeom prst="roundRect">
            <a:avLst>
              <a:gd name="adj" fmla="val 3397"/>
            </a:avLst>
          </a:prstGeom>
          <a:solidFill>
            <a:srgbClr val="F6E7EA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5360114"/>
            <a:ext cx="10804961" cy="10601881"/>
          </a:xfrm>
          <a:prstGeom prst="roundRect">
            <a:avLst>
              <a:gd name="adj" fmla="val 1565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3568" y="5360114"/>
            <a:ext cx="13506133" cy="24711838"/>
          </a:xfrm>
          <a:prstGeom prst="roundRect">
            <a:avLst>
              <a:gd name="adj" fmla="val 1228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816421" y="5360114"/>
            <a:ext cx="13506271" cy="24711838"/>
          </a:xfrm>
          <a:prstGeom prst="roundRect">
            <a:avLst>
              <a:gd name="adj" fmla="val 1228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49412" y="5360114"/>
            <a:ext cx="10804962" cy="6523593"/>
          </a:xfrm>
          <a:prstGeom prst="roundRect">
            <a:avLst>
              <a:gd name="adj" fmla="val 2543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49412" y="12073314"/>
            <a:ext cx="10804962" cy="5777667"/>
          </a:xfrm>
          <a:prstGeom prst="roundRect">
            <a:avLst>
              <a:gd name="adj" fmla="val 2872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1887" y="16293842"/>
            <a:ext cx="10804961" cy="13778110"/>
          </a:xfrm>
          <a:prstGeom prst="roundRect">
            <a:avLst>
              <a:gd name="adj" fmla="val 1535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749412" y="18040588"/>
            <a:ext cx="10804962" cy="8036004"/>
          </a:xfrm>
          <a:prstGeom prst="roundRect">
            <a:avLst>
              <a:gd name="adj" fmla="val 2065"/>
            </a:avLst>
          </a:prstGeom>
          <a:solidFill>
            <a:srgbClr val="F7EDEE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49412" y="18040588"/>
            <a:ext cx="53340" cy="8036004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749412" y="26266199"/>
            <a:ext cx="10804962" cy="3805753"/>
          </a:xfrm>
          <a:prstGeom prst="roundRect">
            <a:avLst>
              <a:gd name="adj" fmla="val 4360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lumbia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3061" y="1385108"/>
            <a:ext cx="2086511" cy="2720192"/>
          </a:xfrm>
          <a:prstGeom prst="rect">
            <a:avLst/>
          </a:prstGeom>
        </p:spPr>
      </p:pic>
      <p:pic>
        <p:nvPicPr>
          <p:cNvPr id="13" name="Picture 12" descr="new-york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6546" y="1385034"/>
            <a:ext cx="8009890" cy="2720340"/>
          </a:xfrm>
          <a:prstGeom prst="rect">
            <a:avLst/>
          </a:prstGeom>
        </p:spPr>
      </p:pic>
      <p:pic>
        <p:nvPicPr>
          <p:cNvPr id="14" name="Picture 13" descr="_ven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369" y="1797042"/>
            <a:ext cx="5620424" cy="189646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039991" y="5748218"/>
            <a:ext cx="10028753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991" y="6658471"/>
            <a:ext cx="10028753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271672" y="5748218"/>
            <a:ext cx="12729925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271672" y="6658471"/>
            <a:ext cx="12729925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204525" y="5748218"/>
            <a:ext cx="12730063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204525" y="6658471"/>
            <a:ext cx="12730063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137516" y="5748218"/>
            <a:ext cx="10028754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137516" y="6658471"/>
            <a:ext cx="10028754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9991" y="9447708"/>
            <a:ext cx="10028753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9991" y="9447708"/>
            <a:ext cx="124460" cy="215902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137516" y="12461418"/>
            <a:ext cx="10028754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137516" y="13371671"/>
            <a:ext cx="10028754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0137516" y="13709491"/>
            <a:ext cx="10028754" cy="3372088"/>
          </a:xfrm>
          <a:prstGeom prst="roundRect">
            <a:avLst>
              <a:gd name="adj" fmla="val 2109"/>
            </a:avLst>
          </a:prstGeom>
          <a:gradFill rotWithShape="1" flip="none">
            <a:gsLst>
              <a:gs pos="0">
                <a:srgbClr val="F2E5E7"/>
              </a:gs>
              <a:gs pos="100000">
                <a:srgbClr val="F8F2F3"/>
              </a:gs>
            </a:gsLst>
            <a:lin ang="5400000" scaled="0"/>
          </a:gradFill>
          <a:ln w="8890">
            <a:solidFill>
              <a:srgbClr val="E3C8CD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39991" y="16681946"/>
            <a:ext cx="10028753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9991" y="17592198"/>
            <a:ext cx="10028753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39991" y="17930018"/>
            <a:ext cx="10028753" cy="2325985"/>
          </a:xfrm>
          <a:prstGeom prst="roundRect">
            <a:avLst>
              <a:gd name="adj" fmla="val 8969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181966" y="18428692"/>
            <a:ext cx="9984304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181966" y="19338944"/>
            <a:ext cx="9984304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0181966" y="19685377"/>
            <a:ext cx="9984304" cy="2346821"/>
          </a:xfrm>
          <a:prstGeom prst="roundRect">
            <a:avLst>
              <a:gd name="adj" fmla="val 8889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2271672" y="21822588"/>
            <a:ext cx="12729925" cy="2385576"/>
          </a:xfrm>
          <a:prstGeom prst="roundRect">
            <a:avLst>
              <a:gd name="adj" fmla="val 9444"/>
            </a:avLst>
          </a:prstGeom>
          <a:solidFill>
            <a:srgbClr val="F8F2F3"/>
          </a:solidFill>
          <a:ln w="8890">
            <a:solidFill>
              <a:srgbClr val="DBB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271672" y="24566681"/>
            <a:ext cx="12729925" cy="3332500"/>
          </a:xfrm>
          <a:prstGeom prst="roundRect">
            <a:avLst>
              <a:gd name="adj" fmla="val 5477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271672" y="24566681"/>
            <a:ext cx="124460" cy="3332500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6204525" y="25688349"/>
            <a:ext cx="12730063" cy="1942187"/>
          </a:xfrm>
          <a:prstGeom prst="roundRect">
            <a:avLst>
              <a:gd name="adj" fmla="val 50000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204525" y="27927518"/>
            <a:ext cx="12730063" cy="16408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204525" y="27927518"/>
            <a:ext cx="12730063" cy="11557"/>
          </a:xfrm>
          <a:prstGeom prst="rect">
            <a:avLst/>
          </a:prstGeom>
          <a:solidFill>
            <a:srgbClr val="D8B3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0137516" y="6996291"/>
            <a:ext cx="3169007" cy="1604922"/>
          </a:xfrm>
          <a:prstGeom prst="roundRect">
            <a:avLst>
              <a:gd name="adj" fmla="val 16248"/>
            </a:avLst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3567250" y="6996291"/>
            <a:ext cx="3169146" cy="1604922"/>
          </a:xfrm>
          <a:prstGeom prst="roundRect">
            <a:avLst>
              <a:gd name="adj" fmla="val 16248"/>
            </a:avLst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6997123" y="6996291"/>
            <a:ext cx="3169147" cy="1604922"/>
          </a:xfrm>
          <a:prstGeom prst="roundRect">
            <a:avLst>
              <a:gd name="adj" fmla="val 16248"/>
            </a:avLst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6204525" y="9740384"/>
            <a:ext cx="12730063" cy="9132808"/>
          </a:xfrm>
          <a:prstGeom prst="roundRect">
            <a:avLst>
              <a:gd name="adj" fmla="val 38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04592" y="9740384"/>
            <a:ext cx="12729928" cy="9132808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45724187" y="13931741"/>
            <a:ext cx="4196218" cy="29750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4187" y="13931741"/>
            <a:ext cx="11557" cy="2975094"/>
          </a:xfrm>
          <a:prstGeom prst="rect">
            <a:avLst/>
          </a:prstGeom>
          <a:solidFill>
            <a:srgbClr val="E3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2761178" y="24723090"/>
            <a:ext cx="1374616" cy="620494"/>
          </a:xfrm>
          <a:prstGeom prst="roundRect">
            <a:avLst>
              <a:gd name="adj" fmla="val 14709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FREE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271672" y="16012001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271672" y="17933630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2271672" y="19855259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204525" y="21932602"/>
            <a:ext cx="12730063" cy="920254"/>
          </a:xfrm>
          <a:prstGeom prst="rect">
            <a:avLst/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0090149" y="26476503"/>
            <a:ext cx="5026739" cy="5154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0090149" y="26974204"/>
            <a:ext cx="5026739" cy="17780"/>
          </a:xfrm>
          <a:prstGeom prst="rect">
            <a:avLst/>
          </a:prstGeom>
          <a:solidFill>
            <a:srgbClr val="E6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5495964" y="26535816"/>
            <a:ext cx="2145684" cy="2145685"/>
          </a:xfrm>
          <a:prstGeom prst="roundRect">
            <a:avLst>
              <a:gd name="adj" fmla="val 7181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pap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14497" y="26654349"/>
            <a:ext cx="1908618" cy="1908619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48044338" y="26535816"/>
            <a:ext cx="2145684" cy="2145685"/>
          </a:xfrm>
          <a:prstGeom prst="roundRect">
            <a:avLst>
              <a:gd name="adj" fmla="val 7181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62871" y="26654349"/>
            <a:ext cx="1908618" cy="1908619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45940880" y="28823741"/>
            <a:ext cx="1255991" cy="509508"/>
          </a:xfrm>
          <a:prstGeom prst="roundRect">
            <a:avLst>
              <a:gd name="adj" fmla="val 50000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8F2437"/>
                </a:solidFill>
                <a:latin typeface="Arial"/>
              </a:rPr>
              <a:t>Paper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8533565" y="28823741"/>
            <a:ext cx="1167369" cy="509508"/>
          </a:xfrm>
          <a:prstGeom prst="roundRect">
            <a:avLst>
              <a:gd name="adj" fmla="val 50000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8F2437"/>
                </a:solidFill>
                <a:latin typeface="Arial"/>
              </a:rPr>
              <a:t>Code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204525" y="20724395"/>
            <a:ext cx="6150907" cy="1208207"/>
          </a:xfrm>
          <a:prstGeom prst="rect">
            <a:avLst/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6204525" y="21923712"/>
            <a:ext cx="6150907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2355432" y="20724395"/>
            <a:ext cx="3413899" cy="1208207"/>
          </a:xfrm>
          <a:prstGeom prst="rect">
            <a:avLst/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2355432" y="21923712"/>
            <a:ext cx="3413899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5769331" y="20724395"/>
            <a:ext cx="3165257" cy="1208207"/>
          </a:xfrm>
          <a:prstGeom prst="rect">
            <a:avLst/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5769331" y="21923712"/>
            <a:ext cx="3165257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6204525" y="21932602"/>
            <a:ext cx="6150907" cy="92025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6204525" y="22843966"/>
            <a:ext cx="6150907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355432" y="21932602"/>
            <a:ext cx="3413899" cy="92025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2355432" y="22843966"/>
            <a:ext cx="3413899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5769331" y="21932602"/>
            <a:ext cx="3165257" cy="92025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5769331" y="22843966"/>
            <a:ext cx="3165257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6204525" y="22852856"/>
            <a:ext cx="6150907" cy="92025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6204525" y="23764220"/>
            <a:ext cx="6150907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2355432" y="22852856"/>
            <a:ext cx="3413899" cy="92025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2355432" y="23764220"/>
            <a:ext cx="3413899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5769331" y="22852856"/>
            <a:ext cx="3165257" cy="92025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5769331" y="23764220"/>
            <a:ext cx="3165257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6204525" y="23773110"/>
            <a:ext cx="6150907" cy="16138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6204525" y="25378032"/>
            <a:ext cx="6150907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2355432" y="23773110"/>
            <a:ext cx="3413899" cy="16138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2355432" y="25378032"/>
            <a:ext cx="3413899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5769331" y="23773110"/>
            <a:ext cx="3165257" cy="16138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5769331" y="25378032"/>
            <a:ext cx="3165257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40090149" y="27181591"/>
            <a:ext cx="4276923" cy="1040408"/>
          </a:xfrm>
          <a:prstGeom prst="roundRect">
            <a:avLst>
              <a:gd name="adj" fmla="val 13671"/>
            </a:avLst>
          </a:prstGeom>
          <a:solidFill>
            <a:srgbClr val="F6E7EA"/>
          </a:solidFill>
          <a:ln w="1778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40090149" y="28352293"/>
            <a:ext cx="3962995" cy="1040408"/>
          </a:xfrm>
          <a:prstGeom prst="roundRect">
            <a:avLst>
              <a:gd name="adj" fmla="val 13671"/>
            </a:avLst>
          </a:prstGeom>
          <a:solidFill>
            <a:srgbClr val="F6E7EA"/>
          </a:solidFill>
          <a:ln w="1778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8F2437"/>
                </a:solidFill>
                <a:latin typeface="Arial"/>
              </a:rPr>
              <a:t>Transformers, Parallel Computation, and</a:t>
            </a:r>
          </a:p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8F2437"/>
                </a:solidFill>
                <a:latin typeface="Arial"/>
              </a:rPr>
              <a:t>Logarithmic Depth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Clayton Sanford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   Daniel Hsu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   Matus Telgarsky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3446402" y="4042310"/>
            <a:ext cx="24740176" cy="5341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658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Department of Computer Science, Columbia University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Courant Institute, New York University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9991" y="5748218"/>
            <a:ext cx="10329615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Problem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271672" y="5748218"/>
            <a:ext cx="13111822" cy="1067237"/>
          </a:xfrm>
          <a:prstGeom prst="rect">
            <a:avLst/>
          </a:prstGeom>
          <a:noFill/>
        </p:spPr>
        <p:txBody>
          <a:bodyPr wrap="non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Method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6204525" y="5748218"/>
            <a:ext cx="13111964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Key Results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137516" y="5748218"/>
            <a:ext cx="10329616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Ablation Study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39991" y="6996291"/>
            <a:ext cx="10329615" cy="25192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What </a:t>
            </a:r>
            <a:r>
              <a:rPr sz="4106" b="1">
                <a:solidFill>
                  <a:srgbClr val="111111"/>
                </a:solidFill>
                <a:latin typeface="Arial"/>
              </a:rPr>
              <a:t>fundamentally distinguishes transformers</a:t>
            </a:r>
            <a:r>
              <a:rPr sz="4106" b="0">
                <a:solidFill>
                  <a:srgbClr val="1C1C1C"/>
                </a:solidFill>
                <a:latin typeface="Arial"/>
              </a:rPr>
              <a:t> from other sequence models stays unclear.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6204525" y="7012265"/>
            <a:ext cx="13111964" cy="25192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On the new </a:t>
            </a:r>
            <a:r>
              <a:rPr sz="4106" b="1">
                <a:solidFill>
                  <a:srgbClr val="111111"/>
                </a:solidFill>
                <a:latin typeface="Arial"/>
              </a:rPr>
              <a:t>k-hop induction heads</a:t>
            </a:r>
            <a:r>
              <a:rPr sz="4106" b="0">
                <a:solidFill>
                  <a:srgbClr val="1C1C1C"/>
                </a:solidFill>
                <a:latin typeface="Arial"/>
              </a:rPr>
              <a:t> benchmark (N = 100, |Σ| = 4, k ∈ {0, …, 16}), depth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L = Θ(log k)</a:t>
            </a:r>
            <a:r>
              <a:rPr sz="4106" b="0">
                <a:solidFill>
                  <a:srgbClr val="1C1C1C"/>
                </a:solidFill>
                <a:latin typeface="Arial"/>
              </a:rPr>
              <a:t> is proven both necessary and sufficient to solve the task.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39991" y="9447708"/>
            <a:ext cx="10329615" cy="2482873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No existing theory isolates the one property that sets transformers apart from recurrent networks.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137516" y="12461418"/>
            <a:ext cx="10329616" cy="1067237"/>
          </a:xfrm>
          <a:prstGeom prst="rect">
            <a:avLst/>
          </a:prstGeom>
          <a:noFill/>
        </p:spPr>
        <p:txBody>
          <a:bodyPr wrap="square" lIns="0" rIns="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Headline Numbers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39991" y="16681946"/>
            <a:ext cx="10329615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Motivation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0137516" y="17206733"/>
            <a:ext cx="10329616" cy="5038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449"/>
              </a:lnSpc>
              <a:spcBef>
                <a:spcPts val="0"/>
              </a:spcBef>
              <a:spcAft>
                <a:spcPts val="0"/>
              </a:spcAft>
            </a:pPr>
            <a:r>
              <a:rPr sz="2464" b="0" i="1">
                <a:solidFill>
                  <a:srgbClr val="555555"/>
                </a:solidFill>
                <a:latin typeface="Arial"/>
              </a:rPr>
              <a:t>Both proven and observed in trained transformers of depth 2–6.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39991" y="17930018"/>
            <a:ext cx="10329615" cy="2674882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Make the attention ↔ MPC link precise and you get one lens for both the power </a:t>
            </a:r>
            <a:r>
              <a:rPr sz="4106" b="0" i="1">
                <a:solidFill>
                  <a:srgbClr val="8F2437"/>
                </a:solidFill>
                <a:latin typeface="Arial"/>
              </a:rPr>
              <a:t>and</a:t>
            </a:r>
            <a:r>
              <a:rPr sz="4106" b="0">
                <a:solidFill>
                  <a:srgbClr val="8F2437"/>
                </a:solidFill>
                <a:latin typeface="Arial"/>
              </a:rPr>
              <a:t> the limits of transformers.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0181966" y="18428692"/>
            <a:ext cx="10283833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Takeaway 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181966" y="19685377"/>
            <a:ext cx="10283833" cy="2698844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The real edge of the transformer is not scale — it is the ability to do many things at once.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0181966" y="22040810"/>
            <a:ext cx="10283833" cy="41988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Parallelism is the defining strength of transformers.</a:t>
            </a:r>
            <a:r>
              <a:rPr sz="4106" b="0">
                <a:solidFill>
                  <a:srgbClr val="1C1C1C"/>
                </a:solidFill>
                <a:latin typeface="Arial"/>
              </a:rPr>
              <a:t> Up to logarithmic depth they are equivalent to Massively Parallel Computation, solving in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log k</a:t>
            </a:r>
            <a:r>
              <a:rPr sz="4106" b="0">
                <a:solidFill>
                  <a:srgbClr val="1C1C1C"/>
                </a:solidFill>
                <a:latin typeface="Arial"/>
              </a:rPr>
              <a:t> depth what serial models need order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k</a:t>
            </a:r>
            <a:r>
              <a:rPr sz="4106" b="0">
                <a:solidFill>
                  <a:srgbClr val="1C1C1C"/>
                </a:solidFill>
                <a:latin typeface="Arial"/>
              </a:rPr>
              <a:t> to match.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3430845" y="23758525"/>
            <a:ext cx="10723926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104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A tailored causal construction of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constant width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solves k-hop at depth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6204525" y="25688349"/>
            <a:ext cx="13111964" cy="2233515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8F2437"/>
                </a:solidFill>
                <a:latin typeface="Arial"/>
              </a:rPr>
              <a:t>Trained models obey the threshold </a:t>
            </a:r>
            <a:r>
              <a:rPr sz="4024" b="1">
                <a:solidFill>
                  <a:srgbClr val="111111"/>
                </a:solidFill>
                <a:latin typeface="Arial"/>
              </a:rPr>
              <a:t>to the layer</a:t>
            </a:r>
            <a:r>
              <a:rPr sz="4024" b="1">
                <a:solidFill>
                  <a:srgbClr val="8F2437"/>
                </a:solidFill>
                <a:latin typeface="Arial"/>
              </a:rPr>
              <a:t> — six layers solve every k ≤ 16.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6204525" y="27927518"/>
            <a:ext cx="13111964" cy="1887033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Learned attention patterns are interpretable, mirroring the proof's intermediate find</a:t>
            </a:r>
            <a:r>
              <a:rPr sz="5289" b="0" i="1" baseline="-25000">
                <a:solidFill>
                  <a:srgbClr val="1C1C1C"/>
                </a:solidFill>
                <a:latin typeface="Arial"/>
              </a:rPr>
              <a:t>j</a:t>
            </a:r>
            <a:r>
              <a:rPr sz="3778" b="0" i="1">
                <a:solidFill>
                  <a:srgbClr val="1C1C1C"/>
                </a:solidFill>
                <a:latin typeface="Arial"/>
              </a:rPr>
              <a:t> pointers.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271672" y="28116986"/>
            <a:ext cx="13111822" cy="1679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 short, a transformer's depth budget is precisely its budget of parallel communication rounds.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090149" y="29437429"/>
            <a:ext cx="10427192" cy="4196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874"/>
              </a:lnSpc>
              <a:spcBef>
                <a:spcPts val="0"/>
              </a:spcBef>
              <a:spcAft>
                <a:spcPts val="0"/>
              </a:spcAft>
            </a:pPr>
            <a:r>
              <a:rPr sz="2053" b="0" i="1">
                <a:solidFill>
                  <a:srgbClr val="555555"/>
                </a:solidFill>
                <a:latin typeface="Arial"/>
              </a:rPr>
              <a:t>Scan a code to open the paper or the code release.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271654" y="7214096"/>
            <a:ext cx="13111841" cy="25192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Routing gadget (Lemma 3.2).</a:t>
            </a:r>
            <a:r>
              <a:rPr sz="4106" b="0">
                <a:solidFill>
                  <a:srgbClr val="1C1C1C"/>
                </a:solidFill>
                <a:latin typeface="Arial"/>
              </a:rPr>
              <a:t> A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single</a:t>
            </a:r>
            <a:r>
              <a:rPr sz="4106" b="0">
                <a:solidFill>
                  <a:srgbClr val="1C1C1C"/>
                </a:solidFill>
                <a:latin typeface="Arial"/>
              </a:rPr>
              <a:t> self-attention layer implements MPC's simultaneous message routing.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0137498" y="8601213"/>
            <a:ext cx="10329635" cy="33590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Depth is the driver.</a:t>
            </a:r>
            <a:r>
              <a:rPr sz="4106" b="0">
                <a:solidFill>
                  <a:srgbClr val="1C1C1C"/>
                </a:solidFill>
                <a:latin typeface="Arial"/>
              </a:rPr>
              <a:t> Doubling width (m, H) from 128/4 to 256/8 barely moves the ⌊log₂ k⌋ + 2 boundary; deeper models also generalize better.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271654" y="9587309"/>
            <a:ext cx="13111841" cy="33590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Multiple hashing</a:t>
            </a:r>
            <a:r>
              <a:rPr sz="4106" b="0">
                <a:solidFill>
                  <a:srgbClr val="1C1C1C"/>
                </a:solidFill>
                <a:latin typeface="Arial"/>
              </a:rPr>
              <a:t> encodes each message redundantly in fixed packets; </a:t>
            </a:r>
            <a:r>
              <a:rPr sz="4106" b="1">
                <a:solidFill>
                  <a:srgbClr val="111111"/>
                </a:solidFill>
                <a:latin typeface="Arial"/>
              </a:rPr>
              <a:t>sparse propagation</a:t>
            </a:r>
            <a:r>
              <a:rPr sz="4106" b="0">
                <a:solidFill>
                  <a:srgbClr val="1C1C1C"/>
                </a:solidFill>
                <a:latin typeface="Arial"/>
              </a:rPr>
              <a:t> keeps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Q, K, V</a:t>
            </a:r>
            <a:r>
              <a:rPr sz="4106" b="0">
                <a:solidFill>
                  <a:srgbClr val="1C1C1C"/>
                </a:solidFill>
                <a:latin typeface="Arial"/>
              </a:rPr>
              <a:t> tall-and-skinny, so embedding width stays small.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39972" y="11606728"/>
            <a:ext cx="10329635" cy="1679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Universality results</a:t>
            </a:r>
            <a:r>
              <a:rPr sz="4106" b="0">
                <a:solidFill>
                  <a:srgbClr val="1C1C1C"/>
                </a:solidFill>
                <a:latin typeface="Arial"/>
              </a:rPr>
              <a:t> hold only for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impractically large</a:t>
            </a:r>
            <a:r>
              <a:rPr sz="4106" b="0">
                <a:solidFill>
                  <a:srgbClr val="1C1C1C"/>
                </a:solidFill>
                <a:latin typeface="Arial"/>
              </a:rPr>
              <a:t> models.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2271654" y="12690752"/>
            <a:ext cx="13111841" cy="33590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Reverse direction (Thm 3.4).</a:t>
            </a:r>
            <a:r>
              <a:rPr sz="4106" b="0">
                <a:solidFill>
                  <a:srgbClr val="1C1C1C"/>
                </a:solidFill>
                <a:latin typeface="Arial"/>
              </a:rPr>
              <a:t> Each transformer layer packs into a single MPC round, so a depth-</a:t>
            </a:r>
            <a:r>
              <a:rPr sz="4106" b="0" i="1">
                <a:solidFill>
                  <a:srgbClr val="1C1C1C"/>
                </a:solidFill>
                <a:latin typeface="Arial"/>
              </a:rPr>
              <a:t>L</a:t>
            </a:r>
            <a:r>
              <a:rPr sz="4106" b="0">
                <a:solidFill>
                  <a:srgbClr val="1C1C1C"/>
                </a:solidFill>
                <a:latin typeface="Arial"/>
              </a:rPr>
              <a:t> transformer is captured by an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O(L)</a:t>
            </a:r>
            <a:r>
              <a:rPr sz="4106" b="0">
                <a:solidFill>
                  <a:srgbClr val="1C1C1C"/>
                </a:solidFill>
                <a:latin typeface="Arial"/>
              </a:rPr>
              <a:t>-round protocol, giving matching lower bounds.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39972" y="13249711"/>
            <a:ext cx="10329635" cy="25192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Constant-depth, growing-context</a:t>
            </a:r>
            <a:r>
              <a:rPr sz="4106" b="0">
                <a:solidFill>
                  <a:srgbClr val="1C1C1C"/>
                </a:solidFill>
                <a:latin typeface="Arial"/>
              </a:rPr>
              <a:t> analyses land in a regime where even matching parentheses is impossible.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3233815" y="16012001"/>
            <a:ext cx="12120815" cy="1850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Encode</a:t>
            </a:r>
            <a:r>
              <a:rPr sz="4106" b="0">
                <a:solidFill>
                  <a:srgbClr val="1C1C1C"/>
                </a:solidFill>
                <a:latin typeface="Arial"/>
              </a:rPr>
              <a:t> each machine's message into redundant packets via multiple hashing.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3233815" y="17933630"/>
            <a:ext cx="12120815" cy="1850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Route</a:t>
            </a:r>
            <a:r>
              <a:rPr sz="4106" b="0">
                <a:solidFill>
                  <a:srgbClr val="1C1C1C"/>
                </a:solidFill>
                <a:latin typeface="Arial"/>
              </a:rPr>
              <a:t> — one attention layer moves all packets at once (one layer = one MPC round).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6713755" y="19022794"/>
            <a:ext cx="12062951" cy="191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1" i="1">
                <a:solidFill>
                  <a:srgbClr val="111111"/>
                </a:solidFill>
                <a:latin typeface="Arial"/>
              </a:rPr>
              <a:t>Figure 2.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Token-wise error of trained transformers (depths L = 2–6) vs. hop count k. Each added layer roughly doubles the largest learnable k — the boundary lands at ⌊log₂ k⌋ + 2.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3233815" y="19855259"/>
            <a:ext cx="12120815" cy="1850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Stack</a:t>
            </a:r>
            <a:r>
              <a:rPr sz="4106" b="0">
                <a:solidFill>
                  <a:srgbClr val="1C1C1C"/>
                </a:solidFill>
                <a:latin typeface="Arial"/>
              </a:rPr>
              <a:t> R such layers to simulate an R-round protocol in depth R + 1.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39972" y="20256003"/>
            <a:ext cx="10329635" cy="25192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Attention is a parallel operation</a:t>
            </a:r>
            <a:r>
              <a:rPr sz="4106" b="0">
                <a:solidFill>
                  <a:srgbClr val="1C1C1C"/>
                </a:solidFill>
                <a:latin typeface="Arial"/>
              </a:rPr>
              <a:t> — every pair of tokens interacts in one layer via a query–key inner product.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39972" y="22629217"/>
            <a:ext cx="10329635" cy="25192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Recurrence is serial</a:t>
            </a:r>
            <a:r>
              <a:rPr sz="4106" b="0">
                <a:solidFill>
                  <a:srgbClr val="1C1C1C"/>
                </a:solidFill>
                <a:latin typeface="Arial"/>
              </a:rPr>
              <a:t>, threading information through the sequence one step at a time.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39972" y="25002430"/>
            <a:ext cx="10329635" cy="33590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That parallelism mirrors </a:t>
            </a:r>
            <a:r>
              <a:rPr sz="4106" b="1">
                <a:solidFill>
                  <a:srgbClr val="111111"/>
                </a:solidFill>
                <a:latin typeface="Arial"/>
              </a:rPr>
              <a:t>Massively Parallel Computation (MPC)</a:t>
            </a:r>
            <a:r>
              <a:rPr sz="4106" b="0">
                <a:solidFill>
                  <a:srgbClr val="1C1C1C"/>
                </a:solidFill>
                <a:latin typeface="Arial"/>
              </a:rPr>
              <a:t>, the MapReduce-style model for distributed algorithms.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761178" y="25552082"/>
            <a:ext cx="12231634" cy="25192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MPC link instantly gives log-depth transformers for </a:t>
            </a:r>
            <a:r>
              <a:rPr sz="4106" b="1">
                <a:solidFill>
                  <a:srgbClr val="111111"/>
                </a:solidFill>
                <a:latin typeface="Arial"/>
              </a:rPr>
              <a:t>graph connectivity</a:t>
            </a:r>
            <a:r>
              <a:rPr sz="4106" b="0">
                <a:solidFill>
                  <a:srgbClr val="1C1C1C"/>
                </a:solidFill>
                <a:latin typeface="Arial"/>
              </a:rPr>
              <a:t>, near-optimal under a standard conjecture.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39972" y="28105873"/>
            <a:ext cx="10329635" cy="16795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MPC precisely captures what a few self-attention layers compute.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0346014" y="7152699"/>
            <a:ext cx="2834571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8F2437"/>
                </a:solidFill>
                <a:latin typeface="Arial"/>
              </a:rPr>
              <a:t>2→6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3775749" y="7152699"/>
            <a:ext cx="2834713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8F2437"/>
                </a:solidFill>
                <a:latin typeface="Arial"/>
              </a:rPr>
              <a:t>×2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7205622" y="7152699"/>
            <a:ext cx="2834713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8F2437"/>
                </a:solidFill>
                <a:latin typeface="Arial"/>
              </a:rPr>
              <a:t>1–3k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0346014" y="8054895"/>
            <a:ext cx="2834571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depth sweep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3775749" y="8054895"/>
            <a:ext cx="2834713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width (m, H)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7205622" y="8054895"/>
            <a:ext cx="2834713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train samples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0383380" y="14525704"/>
            <a:ext cx="4910137" cy="8285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674"/>
              </a:lnSpc>
              <a:spcBef>
                <a:spcPts val="0"/>
              </a:spcBef>
              <a:spcAft>
                <a:spcPts val="0"/>
              </a:spcAft>
            </a:pPr>
            <a:r>
              <a:rPr sz="5973" b="1" spc="-119">
                <a:solidFill>
                  <a:srgbClr val="8F2437"/>
                </a:solidFill>
                <a:latin typeface="Arial"/>
              </a:rPr>
              <a:t>×2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0383380" y="15269825"/>
            <a:ext cx="4910137" cy="119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larger learnable k per added layer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0090149" y="26476503"/>
            <a:ext cx="5177541" cy="5928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8F2437"/>
                </a:solidFill>
                <a:latin typeface="Arial"/>
              </a:rPr>
              <a:t>Scan to Read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6202441" y="13931741"/>
            <a:ext cx="939562" cy="5725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920" b="1" spc="-39">
                <a:solidFill>
                  <a:srgbClr val="AE2622"/>
                </a:solidFill>
                <a:latin typeface="Arial"/>
              </a:rPr>
              <a:t>R+1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7297161" y="14020641"/>
            <a:ext cx="2701941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run R-round MPC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6202441" y="15134808"/>
            <a:ext cx="626518" cy="114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920" b="1" spc="-39">
                <a:solidFill>
                  <a:srgbClr val="AE2622"/>
                </a:solidFill>
                <a:latin typeface="Arial"/>
              </a:rPr>
              <a:t>≥ k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6993234" y="15223708"/>
            <a:ext cx="3014986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RNN / Mamba depth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6202441" y="16391215"/>
            <a:ext cx="280137" cy="5725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920" b="1" spc="-39">
                <a:solidFill>
                  <a:srgbClr val="AE2622"/>
                </a:solidFill>
                <a:latin typeface="Arial"/>
              </a:rPr>
              <a:t>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656942" y="16480115"/>
            <a:ext cx="195195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solve k ≤ 16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6204525" y="20724395"/>
            <a:ext cx="6335434" cy="138943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ARCHITECTURE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2355432" y="20724395"/>
            <a:ext cx="3516315" cy="138943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DEPTH FOR K-HOP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5769331" y="20724395"/>
            <a:ext cx="3260214" cy="138943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IN K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6204525" y="21932602"/>
            <a:ext cx="6335434" cy="1058292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461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Transformer </a:t>
            </a:r>
            <a:r>
              <a:rPr sz="3901" b="1" i="1">
                <a:solidFill>
                  <a:srgbClr val="1C1C1C"/>
                </a:solidFill>
                <a:latin typeface="Arial"/>
              </a:rPr>
              <a:t>(this work)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2355432" y="21932602"/>
            <a:ext cx="3516315" cy="1058292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461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⌊log₂ k⌋ + 2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5769331" y="21932602"/>
            <a:ext cx="3260214" cy="1058292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461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logarithmic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6204525" y="22852856"/>
            <a:ext cx="6335434" cy="1058292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461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Multi-layer RNN / Mamba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2355432" y="22852856"/>
            <a:ext cx="3516315" cy="1058292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461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≥ k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5769331" y="22852856"/>
            <a:ext cx="3260214" cy="1058292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461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linear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6204525" y="23773110"/>
            <a:ext cx="6335434" cy="1855883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461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Sub-quadratic attn (Performer)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2355432" y="23773110"/>
            <a:ext cx="3516315" cy="1855883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461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≥ 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5769331" y="23773110"/>
            <a:ext cx="3260214" cy="1855883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461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linear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0090149" y="27181591"/>
            <a:ext cx="4405230" cy="1196469"/>
          </a:xfrm>
          <a:prstGeom prst="rect">
            <a:avLst/>
          </a:prstGeom>
          <a:noFill/>
        </p:spPr>
        <p:txBody>
          <a:bodyPr wrap="none" lIns="237066" rIns="237066" tIns="154093" bIns="154093">
            <a:spAutoFit/>
          </a:bodyPr>
          <a:lstStyle/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8F2437"/>
                </a:solidFill>
                <a:latin typeface="Arial"/>
              </a:rPr>
              <a:t>Paper</a:t>
            </a:r>
          </a:p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053" b="0">
                <a:solidFill>
                  <a:srgbClr val="555555"/>
                </a:solidFill>
                <a:latin typeface="JetBrains Mono"/>
              </a:rPr>
              <a:t>arxiv.org/abs/2402.09268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0090149" y="28352293"/>
            <a:ext cx="4081884" cy="1196469"/>
          </a:xfrm>
          <a:prstGeom prst="rect">
            <a:avLst/>
          </a:prstGeom>
          <a:noFill/>
        </p:spPr>
        <p:txBody>
          <a:bodyPr wrap="none" lIns="237066" rIns="237066" tIns="154093" bIns="154093">
            <a:spAutoFit/>
          </a:bodyPr>
          <a:lstStyle/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8F2437"/>
                </a:solidFill>
                <a:latin typeface="Arial"/>
              </a:rPr>
              <a:t>Code</a:t>
            </a:r>
          </a:p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053" b="0">
                <a:solidFill>
                  <a:srgbClr val="555555"/>
                </a:solidFill>
                <a:latin typeface="JetBrains Mono"/>
              </a:rPr>
              <a:t>github.com/chsanford/…</a:t>
            </a:r>
          </a:p>
        </p:txBody>
      </p:sp>
      <p:pic>
        <p:nvPicPr>
          <p:cNvPr id="152" name="Picture 151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30757" y="21907877"/>
            <a:ext cx="11811754" cy="1750357"/>
          </a:xfrm>
          <a:prstGeom prst="rect">
            <a:avLst/>
          </a:prstGeom>
        </p:spPr>
      </p:pic>
      <p:pic>
        <p:nvPicPr>
          <p:cNvPr id="153" name="Picture 152" descr="eq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68781" y="23696295"/>
            <a:ext cx="2403217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